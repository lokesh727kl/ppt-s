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y="5143500" cx="9144000"/>
  <p:notesSz cx="6858000" cy="9144000"/>
  <p:embeddedFontLst>
    <p:embeddedFont>
      <p:font typeface="PT Sans Narrow"/>
      <p:regular r:id="rId28"/>
      <p:bold r:id="rId29"/>
    </p:embeddedFont>
    <p:embeddedFont>
      <p:font typeface="Open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993FBAA-2120-40D3-B795-C16E72C8DBBE}">
  <a:tblStyle styleId="{A993FBAA-2120-40D3-B795-C16E72C8DBB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PTSansNarrow-regular.fntdata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PTSansNarrow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OpenSans-bold.fntdata"/><Relationship Id="rId30" Type="http://schemas.openxmlformats.org/officeDocument/2006/relationships/font" Target="fonts/OpenSans-regular.fntdata"/><Relationship Id="rId11" Type="http://schemas.openxmlformats.org/officeDocument/2006/relationships/slide" Target="slides/slide4.xml"/><Relationship Id="rId33" Type="http://schemas.openxmlformats.org/officeDocument/2006/relationships/font" Target="fonts/OpenSans-boldItalic.fntdata"/><Relationship Id="rId10" Type="http://schemas.openxmlformats.org/officeDocument/2006/relationships/slide" Target="slides/slide3.xml"/><Relationship Id="rId32" Type="http://schemas.openxmlformats.org/officeDocument/2006/relationships/font" Target="fonts/OpenSans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d5dfd61dc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d5dfd61dc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d5dfd61dc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d5dfd61dc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d5dfd61dc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d5dfd61dc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d6fe8b7b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bd6fe8b7b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d6fe8b7b6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d6fe8b7b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d6fe8b7b6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d6fe8b7b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d6fe8b7b6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bd6fe8b7b6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d6fe8b7b6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d6fe8b7b6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d6fe8b7b6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d6fe8b7b6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d6fe8b7b6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bd6fe8b7b6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d6fe8b7b6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bd6fe8b7b6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d6fe8b7b6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bd6fe8b7b6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d6fe8b7b6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bd6fe8b7b6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d6fe8b7b6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bd6fe8b7b6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d6fe8b7b6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bd6fe8b7b6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d6fe8b7b6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bd6fe8b7b6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d6fe8b7b6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bd6fe8b7b6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bd6fe8b7b6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bd6fe8b7b6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bd6fe8b7b6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bd6fe8b7b6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bd5dfd61dc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bd5dfd61dc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4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" name="Google Shape;56;p14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7" name="Google Shape;57;p14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58" name="Google Shape;58;p14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" name="Google Shape;59;p14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0" name="Google Shape;60;p14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61" name="Google Shape;61;p14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" name="Google Shape;62;p14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3" name="Google Shape;63;p14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17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" name="Google Shape;8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9" name="Google Shape;8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" name="Google Shape;92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21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4" name="Google Shape;94;p21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5" name="Google Shape;95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99" name="Google Shape;9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3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23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4" name="Google Shape;10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622"/>
          </a:p>
          <a:p>
            <a:pPr indent="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622"/>
              <a:t>   eMMC</a:t>
            </a:r>
            <a:endParaRPr sz="562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622"/>
              <a:t>(E</a:t>
            </a:r>
            <a:r>
              <a:rPr lang="en-GB" sz="5622"/>
              <a:t>mbedded Multi Media Card)</a:t>
            </a:r>
            <a:endParaRPr/>
          </a:p>
        </p:txBody>
      </p:sp>
      <p:sp>
        <p:nvSpPr>
          <p:cNvPr id="112" name="Google Shape;112;p25"/>
          <p:cNvSpPr txBox="1"/>
          <p:nvPr>
            <p:ph idx="1" type="subTitle"/>
          </p:nvPr>
        </p:nvSpPr>
        <p:spPr>
          <a:xfrm>
            <a:off x="3494400" y="2877375"/>
            <a:ext cx="4297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/>
          </a:bodyPr>
          <a:lstStyle/>
          <a:p>
            <a:pPr indent="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   K.LOKESH</a:t>
            </a:r>
            <a:endParaRPr b="1" sz="3600">
              <a:solidFill>
                <a:schemeClr val="accen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57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Chipweave Technologies Private Limited</a:t>
            </a:r>
            <a:endParaRPr b="1" sz="2257">
              <a:solidFill>
                <a:schemeClr val="accen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/>
          <p:nvPr>
            <p:ph type="title"/>
          </p:nvPr>
        </p:nvSpPr>
        <p:spPr>
          <a:xfrm>
            <a:off x="277350" y="0"/>
            <a:ext cx="8589300" cy="8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26"/>
          <p:cNvSpPr txBox="1"/>
          <p:nvPr>
            <p:ph idx="1" type="body"/>
          </p:nvPr>
        </p:nvSpPr>
        <p:spPr>
          <a:xfrm>
            <a:off x="115600" y="717750"/>
            <a:ext cx="8925900" cy="4013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embedded MultiMediaCard (eMMC) is a small storage device made up of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NAND flash memory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a </a:t>
            </a: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 controller.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Designed primarily for portable devices such as: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○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</a:t>
            </a: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phones 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Tablets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 the flash memory and controller are contained on a single integrated circuit (IC).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IC is permanently embedded (soldered) onto the device PCB.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compact, low-power, and cost-effective storage for embedded systems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eMMC Block Diagram</a:t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27"/>
          <p:cNvSpPr txBox="1"/>
          <p:nvPr>
            <p:ph idx="1" type="body"/>
          </p:nvPr>
        </p:nvSpPr>
        <p:spPr>
          <a:xfrm>
            <a:off x="115600" y="522800"/>
            <a:ext cx="8925900" cy="4507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5" name="Google Shape;12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000" y="839175"/>
            <a:ext cx="3571048" cy="3116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6750" y="839163"/>
            <a:ext cx="4476750" cy="351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8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How do eMMC Work?</a:t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28"/>
          <p:cNvSpPr txBox="1"/>
          <p:nvPr>
            <p:ph idx="1" type="body"/>
          </p:nvPr>
        </p:nvSpPr>
        <p:spPr>
          <a:xfrm>
            <a:off x="115600" y="522800"/>
            <a:ext cx="8925900" cy="4507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eMMC acts as the primary storage for portable and embedded  devices.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storage can be expanded with a removable Secure Digital (SD) card or microSD multimedia card in larger systems.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eMMC is the sole storage for very small sensors connected to IoT devices.</a:t>
            </a:r>
            <a:endParaRPr b="1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1" lang="en-GB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Connection &amp; Architecture:</a:t>
            </a:r>
            <a:endParaRPr b="1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eMMC IC is </a:t>
            </a:r>
            <a:r>
              <a:rPr b="1" lang="en-GB" sz="16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directly soldered</a:t>
            </a:r>
            <a:r>
              <a:rPr lang="en-GB" sz="16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onto the device PCB</a:t>
            </a:r>
            <a:endParaRPr sz="16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Communicates with the host using a </a:t>
            </a:r>
            <a:r>
              <a:rPr b="1" lang="en-GB" sz="16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parallel interface</a:t>
            </a:r>
            <a:r>
              <a:rPr lang="en-GB" sz="16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No external storage controller is required.</a:t>
            </a:r>
            <a:endParaRPr sz="16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the Integrated Controller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2021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eMMC includes an internal controller and firmware</a:t>
            </a:r>
            <a:endParaRPr sz="1600">
              <a:solidFill>
                <a:srgbClr val="20212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2021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Handles:</a:t>
            </a:r>
            <a:endParaRPr sz="1600">
              <a:solidFill>
                <a:srgbClr val="20212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2" marL="1371600" rtl="0" algn="just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600"/>
              <a:buFont typeface="Times New Roman"/>
              <a:buChar char="■"/>
            </a:pPr>
            <a:r>
              <a:rPr lang="en-GB" sz="1600">
                <a:solidFill>
                  <a:srgbClr val="2021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 placement</a:t>
            </a:r>
            <a:endParaRPr sz="1600">
              <a:solidFill>
                <a:srgbClr val="20212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2" marL="1371600" rtl="0" algn="just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600"/>
              <a:buFont typeface="Times New Roman"/>
              <a:buChar char="■"/>
            </a:pPr>
            <a:r>
              <a:rPr lang="en-GB" sz="1600">
                <a:solidFill>
                  <a:srgbClr val="2021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Wear leveling</a:t>
            </a:r>
            <a:endParaRPr sz="1600">
              <a:solidFill>
                <a:srgbClr val="20212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2" marL="1371600" rtl="0" algn="just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600"/>
              <a:buFont typeface="Times New Roman"/>
              <a:buChar char="■"/>
            </a:pPr>
            <a:r>
              <a:rPr lang="en-GB" sz="1600">
                <a:solidFill>
                  <a:srgbClr val="2021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Error correction</a:t>
            </a:r>
            <a:endParaRPr sz="1600">
              <a:solidFill>
                <a:srgbClr val="20212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b="1" lang="en-GB" sz="1600">
                <a:solidFill>
                  <a:srgbClr val="2021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Reduces CPU workload</a:t>
            </a:r>
            <a:r>
              <a:rPr lang="en-GB" sz="1600">
                <a:solidFill>
                  <a:srgbClr val="2021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allowing the CPU to focus on application tasks</a:t>
            </a:r>
            <a:endParaRPr sz="16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9"/>
          <p:cNvSpPr txBox="1"/>
          <p:nvPr>
            <p:ph type="title"/>
          </p:nvPr>
        </p:nvSpPr>
        <p:spPr>
          <a:xfrm>
            <a:off x="115600" y="17175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How do eMMC Work?</a:t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29"/>
          <p:cNvSpPr txBox="1"/>
          <p:nvPr>
            <p:ph idx="1" type="body"/>
          </p:nvPr>
        </p:nvSpPr>
        <p:spPr>
          <a:xfrm>
            <a:off x="115600" y="862375"/>
            <a:ext cx="8925900" cy="38238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2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1" lang="en-GB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Power Efficiency</a:t>
            </a:r>
            <a:endParaRPr b="1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Uses NAND flash memory (no moving parts)</a:t>
            </a:r>
            <a:endParaRPr sz="16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Consumes very low power, ideal for battery-operated devices</a:t>
            </a:r>
            <a:endParaRPr sz="16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More energy efficient than spinning hard disks</a:t>
            </a:r>
            <a:endParaRPr sz="16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Times New Roman"/>
              <a:buChar char="●"/>
            </a:pPr>
            <a:r>
              <a:rPr b="1" lang="en-GB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Performance</a:t>
            </a:r>
            <a:endParaRPr b="1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Latest eMMC specifications support speeds up to 400 MB/s</a:t>
            </a:r>
            <a:endParaRPr sz="16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Performance comparable to SATA-based SSDs</a:t>
            </a:r>
            <a:endParaRPr sz="16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Suitable for embedded and mid-performance applications</a:t>
            </a:r>
            <a:endParaRPr sz="16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16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0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eMMC Architecture</a:t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30"/>
          <p:cNvSpPr txBox="1"/>
          <p:nvPr>
            <p:ph idx="1" type="body"/>
          </p:nvPr>
        </p:nvSpPr>
        <p:spPr>
          <a:xfrm>
            <a:off x="115600" y="522800"/>
            <a:ext cx="8925900" cy="4507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2600"/>
              </a:spcAft>
              <a:buNone/>
            </a:pPr>
            <a:r>
              <a:t/>
            </a:r>
            <a:endParaRPr sz="16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5" name="Google Shape;14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0225" y="797800"/>
            <a:ext cx="6201276" cy="345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00" y="962013"/>
            <a:ext cx="2152650" cy="321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1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eMMC Bus protocol</a:t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31"/>
          <p:cNvSpPr txBox="1"/>
          <p:nvPr>
            <p:ph idx="1" type="body"/>
          </p:nvPr>
        </p:nvSpPr>
        <p:spPr>
          <a:xfrm>
            <a:off x="115600" y="522800"/>
            <a:ext cx="8925900" cy="4507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2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2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260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Times New Roman"/>
              <a:buChar char="●"/>
            </a:pPr>
            <a:r>
              <a:rPr b="1" lang="en-GB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CLK (Clock)</a:t>
            </a:r>
            <a:endParaRPr b="1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Host-generated clock used for </a:t>
            </a:r>
            <a:r>
              <a:rPr b="1" lang="en-GB" sz="16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 synchronization and device operation</a:t>
            </a:r>
            <a:endParaRPr b="1" sz="16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Supports:</a:t>
            </a:r>
            <a:endParaRPr sz="16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600"/>
              <a:buFont typeface="Times New Roman"/>
              <a:buChar char="■"/>
            </a:pPr>
            <a:r>
              <a:rPr b="1" lang="en-GB" sz="16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SDR </a:t>
            </a:r>
            <a:r>
              <a:rPr lang="en-GB" sz="16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(Single Data Rate) → 1 bit per clock cycle</a:t>
            </a:r>
            <a:endParaRPr sz="16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600"/>
              <a:buFont typeface="Times New Roman"/>
              <a:buChar char="■"/>
            </a:pPr>
            <a:r>
              <a:rPr b="1" lang="en-GB" sz="16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DDR </a:t>
            </a:r>
            <a:r>
              <a:rPr lang="en-GB" sz="16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(Double Data Rate) → 2 bits per clock cycle (DAT lines)</a:t>
            </a:r>
            <a:endParaRPr sz="16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Clock frequency is dynamically adjustable (0–200 MHz)</a:t>
            </a:r>
            <a:endParaRPr sz="16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600"/>
              <a:buFont typeface="Times New Roman"/>
              <a:buChar char="■"/>
            </a:pPr>
            <a:r>
              <a:rPr lang="en-GB" sz="16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Enables power saving and flow control</a:t>
            </a:r>
            <a:endParaRPr sz="16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Clock may be stopped in </a:t>
            </a:r>
            <a:r>
              <a:rPr b="1" lang="en-GB" sz="16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Busy state</a:t>
            </a:r>
            <a:r>
              <a:rPr lang="en-GB" sz="16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b="1" lang="en-GB" sz="16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Programming state</a:t>
            </a:r>
            <a:endParaRPr b="1" sz="16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2600"/>
              </a:spcAft>
              <a:buNone/>
            </a:pPr>
            <a:r>
              <a:t/>
            </a:r>
            <a:endParaRPr sz="16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3" name="Google Shape;15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875" y="522800"/>
            <a:ext cx="4686300" cy="195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2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eMMC Bus protocol</a:t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32"/>
          <p:cNvSpPr txBox="1"/>
          <p:nvPr>
            <p:ph idx="1" type="body"/>
          </p:nvPr>
        </p:nvSpPr>
        <p:spPr>
          <a:xfrm>
            <a:off x="115600" y="522800"/>
            <a:ext cx="8925900" cy="4507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Times New Roman"/>
              <a:buChar char="●"/>
            </a:pPr>
            <a:r>
              <a:rPr b="1" lang="en-GB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-GB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1" lang="en-GB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MD (Command Line)</a:t>
            </a:r>
            <a:endParaRPr b="1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600"/>
              <a:buFont typeface="Times New Roman"/>
              <a:buChar char="○"/>
            </a:pPr>
            <a:r>
              <a:rPr b="1" lang="en-GB" sz="16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Bidirectional command channel</a:t>
            </a:r>
            <a:r>
              <a:rPr lang="en-GB" sz="16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between Host and eMMC</a:t>
            </a:r>
            <a:endParaRPr sz="16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Used for </a:t>
            </a:r>
            <a:r>
              <a:rPr b="1" lang="en-GB" sz="16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command transmission and responses</a:t>
            </a:r>
            <a:endParaRPr b="1" sz="16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Operates as:</a:t>
            </a:r>
            <a:endParaRPr sz="16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600"/>
              <a:buFont typeface="Times New Roman"/>
              <a:buChar char="■"/>
            </a:pPr>
            <a:r>
              <a:rPr b="1" lang="en-GB" sz="16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Open-drain</a:t>
            </a:r>
            <a:r>
              <a:rPr lang="en-GB" sz="16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during initialization</a:t>
            </a:r>
            <a:endParaRPr sz="16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600"/>
              <a:buFont typeface="Times New Roman"/>
              <a:buChar char="■"/>
            </a:pPr>
            <a:r>
              <a:rPr b="1" lang="en-GB" sz="16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Push-pull</a:t>
            </a:r>
            <a:r>
              <a:rPr lang="en-GB" sz="16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mode for high-speed operation</a:t>
            </a:r>
            <a:endParaRPr sz="16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Times New Roman"/>
              <a:buChar char="●"/>
            </a:pPr>
            <a:r>
              <a:rPr b="1" lang="en-GB">
                <a:solidFill>
                  <a:srgbClr val="2021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DAT[0–7] (Data Lines)</a:t>
            </a:r>
            <a:endParaRPr b="1">
              <a:solidFill>
                <a:srgbClr val="20212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2021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Used for </a:t>
            </a:r>
            <a:r>
              <a:rPr b="1" lang="en-GB" sz="1600">
                <a:solidFill>
                  <a:srgbClr val="2021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 transfer</a:t>
            </a:r>
            <a:r>
              <a:rPr lang="en-GB" sz="1600">
                <a:solidFill>
                  <a:srgbClr val="2021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between Host and eMMC</a:t>
            </a:r>
            <a:endParaRPr sz="1600">
              <a:solidFill>
                <a:srgbClr val="20212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2021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After power-up/reset:</a:t>
            </a:r>
            <a:endParaRPr sz="1600">
              <a:solidFill>
                <a:srgbClr val="20212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600"/>
              <a:buFont typeface="Times New Roman"/>
              <a:buChar char="■"/>
            </a:pPr>
            <a:r>
              <a:rPr lang="en-GB" sz="1600">
                <a:solidFill>
                  <a:srgbClr val="2021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Only </a:t>
            </a:r>
            <a:r>
              <a:rPr b="1" lang="en-GB" sz="1600">
                <a:solidFill>
                  <a:srgbClr val="2021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DAT0</a:t>
            </a:r>
            <a:r>
              <a:rPr lang="en-GB" sz="1600">
                <a:solidFill>
                  <a:srgbClr val="2021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is active</a:t>
            </a:r>
            <a:endParaRPr sz="1600">
              <a:solidFill>
                <a:srgbClr val="20212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2021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After initialization:</a:t>
            </a:r>
            <a:endParaRPr sz="1600">
              <a:solidFill>
                <a:srgbClr val="20212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600"/>
              <a:buFont typeface="Times New Roman"/>
              <a:buChar char="■"/>
            </a:pPr>
            <a:r>
              <a:rPr lang="en-GB" sz="1600">
                <a:solidFill>
                  <a:srgbClr val="2021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 bus can be configured as </a:t>
            </a:r>
            <a:r>
              <a:rPr b="1" lang="en-GB" sz="1600">
                <a:solidFill>
                  <a:srgbClr val="2021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1-bit, 4-bit, or 8-bit</a:t>
            </a:r>
            <a:endParaRPr b="1" sz="1600">
              <a:solidFill>
                <a:srgbClr val="20212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600"/>
              <a:buFont typeface="Times New Roman"/>
              <a:buChar char="■"/>
            </a:pPr>
            <a:r>
              <a:rPr lang="en-GB" sz="1600">
                <a:solidFill>
                  <a:srgbClr val="2021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Pull-ups disconnected when lines are actively driven</a:t>
            </a:r>
            <a:endParaRPr sz="1600">
              <a:solidFill>
                <a:srgbClr val="20212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3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eMMC Bus protocol</a:t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33"/>
          <p:cNvSpPr txBox="1"/>
          <p:nvPr>
            <p:ph idx="1" type="body"/>
          </p:nvPr>
        </p:nvSpPr>
        <p:spPr>
          <a:xfrm>
            <a:off x="74700" y="522800"/>
            <a:ext cx="8925900" cy="4507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Times New Roman"/>
              <a:buChar char="●"/>
            </a:pPr>
            <a:r>
              <a:rPr b="1" lang="en-GB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 Strobe (DS)</a:t>
            </a:r>
            <a:endParaRPr b="1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400"/>
              <a:buFont typeface="Times New Roman"/>
              <a:buChar char="○"/>
            </a:pPr>
            <a:r>
              <a:rPr lang="en-GB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Clock signal generated by </a:t>
            </a:r>
            <a:r>
              <a:rPr b="1" lang="en-GB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eMMC (device → host)</a:t>
            </a:r>
            <a:endParaRPr b="1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400"/>
              <a:buFont typeface="Times New Roman"/>
              <a:buChar char="○"/>
            </a:pPr>
            <a:r>
              <a:rPr lang="en-GB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Same frequency as </a:t>
            </a:r>
            <a:r>
              <a:rPr b="1" lang="en-GB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CLK</a:t>
            </a:r>
            <a:endParaRPr b="1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400"/>
              <a:buFont typeface="Times New Roman"/>
              <a:buChar char="○"/>
            </a:pPr>
            <a:r>
              <a:rPr lang="en-GB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Used for data capture synchronization</a:t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400"/>
              <a:buFont typeface="Times New Roman"/>
              <a:buChar char="○"/>
            </a:pPr>
            <a:r>
              <a:rPr lang="en-GB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Available only in HS400 mode</a:t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400"/>
              <a:buFont typeface="Times New Roman"/>
              <a:buChar char="○"/>
            </a:pPr>
            <a:r>
              <a:rPr lang="en-GB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Improves </a:t>
            </a:r>
            <a:r>
              <a:rPr b="1" lang="en-GB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timing margin and stability</a:t>
            </a:r>
            <a:endParaRPr b="1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400"/>
              <a:buFont typeface="Times New Roman"/>
              <a:buChar char="○"/>
            </a:pPr>
            <a:r>
              <a:rPr lang="en-GB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Eliminates the need for bus tuning</a:t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6" name="Google Shape;166;p33"/>
          <p:cNvGraphicFramePr/>
          <p:nvPr/>
        </p:nvGraphicFramePr>
        <p:xfrm>
          <a:off x="292625" y="2405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{A993FBAA-2120-40D3-B795-C16E72C8DBBE}</a:tableStyleId>
              </a:tblPr>
              <a:tblGrid>
                <a:gridCol w="2093050"/>
                <a:gridCol w="1343450"/>
                <a:gridCol w="1314475"/>
                <a:gridCol w="1314475"/>
                <a:gridCol w="1314475"/>
                <a:gridCol w="1314475"/>
              </a:tblGrid>
              <a:tr h="362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 Name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 Rate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I/O Voltage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Bus Width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Frequency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Max Data Transfer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07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Backward Compatibility (Legacy MMC)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SDR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/ 1.8  / 1.2 V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1, 4, 8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 – 26 MHz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 MB/s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9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Speed SDR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SDR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/ 1.8  / 1.2 V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1, 4, 8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 – 52 MHz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52 MB/s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36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Speed DDR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DDR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/ 1.8  / 1.2 V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4, 8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 – 52 MHz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104 MB/s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9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HS200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SDR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1.8 V / 1.2 V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4, 8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 – 200 MHz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 MB/s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  <a:tr h="39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HS400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DDR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1.8 V / 1.2 V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 – 200 MHz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400 MB/s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4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eMMC Bus protocol</a:t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34"/>
          <p:cNvSpPr txBox="1"/>
          <p:nvPr>
            <p:ph idx="1" type="body"/>
          </p:nvPr>
        </p:nvSpPr>
        <p:spPr>
          <a:xfrm>
            <a:off x="74700" y="522800"/>
            <a:ext cx="8925900" cy="4507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3" name="Google Shape;17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00" y="522800"/>
            <a:ext cx="8925900" cy="450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5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Command Token Format </a:t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35"/>
          <p:cNvSpPr txBox="1"/>
          <p:nvPr>
            <p:ph idx="1" type="body"/>
          </p:nvPr>
        </p:nvSpPr>
        <p:spPr>
          <a:xfrm>
            <a:off x="74700" y="522800"/>
            <a:ext cx="8925900" cy="4507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0" name="Google Shape;18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663" y="1318275"/>
            <a:ext cx="8840676" cy="260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6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Response Token Format </a:t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36"/>
          <p:cNvSpPr txBox="1"/>
          <p:nvPr>
            <p:ph idx="1" type="body"/>
          </p:nvPr>
        </p:nvSpPr>
        <p:spPr>
          <a:xfrm>
            <a:off x="74700" y="522800"/>
            <a:ext cx="8925900" cy="4507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CID: Card Identification number register </a:t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128-bit read-only register used for device identification</a:t>
            </a:r>
            <a:endParaRPr sz="16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Contains unique identification information for each eMMC device</a:t>
            </a:r>
            <a:endParaRPr sz="16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Used by the host during the card identification phase of the eMMC protocol</a:t>
            </a:r>
            <a:endParaRPr sz="16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CSD: Card Specific Data register</a:t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600"/>
              <a:buFont typeface="Times New Roman"/>
              <a:buChar char="○"/>
            </a:pPr>
            <a:r>
              <a:rPr lang="en-GB" sz="16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Defines the access parameters of the eMMC device, including data format, error correction, timing, and transfer speed.</a:t>
            </a:r>
            <a:endParaRPr sz="16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7" name="Google Shape;18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000" y="522800"/>
            <a:ext cx="8509074" cy="236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7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Single Bit Bus Data Packet Format for SDR </a:t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37"/>
          <p:cNvSpPr txBox="1"/>
          <p:nvPr>
            <p:ph idx="1" type="body"/>
          </p:nvPr>
        </p:nvSpPr>
        <p:spPr>
          <a:xfrm>
            <a:off x="74700" y="522800"/>
            <a:ext cx="8925900" cy="4507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Times New Roman"/>
              <a:buChar char="●"/>
            </a:pPr>
            <a:r>
              <a:t/>
            </a:r>
            <a:endParaRPr sz="16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4" name="Google Shape;19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913" y="1372525"/>
            <a:ext cx="8795475" cy="227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8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Bit Bus Data Packet Format for SDR </a:t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38"/>
          <p:cNvSpPr txBox="1"/>
          <p:nvPr>
            <p:ph idx="1" type="body"/>
          </p:nvPr>
        </p:nvSpPr>
        <p:spPr>
          <a:xfrm>
            <a:off x="74700" y="522800"/>
            <a:ext cx="8925900" cy="4507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Times New Roman"/>
              <a:buChar char="●"/>
            </a:pPr>
            <a:r>
              <a:t/>
            </a:r>
            <a:endParaRPr sz="16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1" name="Google Shape;20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00" y="586675"/>
            <a:ext cx="8925901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9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8 </a:t>
            </a: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Bit Bus Data Packet Format for SDR </a:t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39"/>
          <p:cNvSpPr txBox="1"/>
          <p:nvPr>
            <p:ph idx="1" type="body"/>
          </p:nvPr>
        </p:nvSpPr>
        <p:spPr>
          <a:xfrm>
            <a:off x="74700" y="522800"/>
            <a:ext cx="8925900" cy="4507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8" name="Google Shape;20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250" y="573100"/>
            <a:ext cx="7873450" cy="439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0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 Packet Format for DDR</a:t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40"/>
          <p:cNvSpPr txBox="1"/>
          <p:nvPr>
            <p:ph idx="1" type="body"/>
          </p:nvPr>
        </p:nvSpPr>
        <p:spPr>
          <a:xfrm>
            <a:off x="74700" y="522800"/>
            <a:ext cx="8925900" cy="4507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5" name="Google Shape;21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012" y="625200"/>
            <a:ext cx="8881274" cy="396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1"/>
          <p:cNvSpPr txBox="1"/>
          <p:nvPr>
            <p:ph type="title"/>
          </p:nvPr>
        </p:nvSpPr>
        <p:spPr>
          <a:xfrm>
            <a:off x="243000" y="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Use Cases for eMMC</a:t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41"/>
          <p:cNvSpPr txBox="1"/>
          <p:nvPr>
            <p:ph idx="1" type="body"/>
          </p:nvPr>
        </p:nvSpPr>
        <p:spPr>
          <a:xfrm>
            <a:off x="74700" y="925650"/>
            <a:ext cx="8925900" cy="30462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Widely used in mobile devices such as smartphones, tablets, and lightweight laptops</a:t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Available in capacities up to 512 GB, offered by multiple vendors</a:t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Commonly used in IoT devices and sensors for compact, low-power data storage</a:t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Adopted in the automotive industry for infotainment and navigation systems</a:t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Ruggedized eMMCs are designed for industrial and automotive environments, offering higher reliability at increased cost</a:t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2"/>
          <p:cNvSpPr txBox="1"/>
          <p:nvPr>
            <p:ph type="title"/>
          </p:nvPr>
        </p:nvSpPr>
        <p:spPr>
          <a:xfrm>
            <a:off x="243000" y="17175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</a:t>
            </a: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advantages </a:t>
            </a: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of eMMC technology </a:t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42"/>
          <p:cNvSpPr txBox="1"/>
          <p:nvPr>
            <p:ph idx="1" type="body"/>
          </p:nvPr>
        </p:nvSpPr>
        <p:spPr>
          <a:xfrm>
            <a:off x="74700" y="979900"/>
            <a:ext cx="8925900" cy="2639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 large data storage capacity, up to 512 GB. </a:t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 compact form factor that makes it ideal for small consumer electronics and other electronic devices.</a:t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 low cost compared with other technologies.</a:t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3"/>
          <p:cNvSpPr txBox="1"/>
          <p:nvPr>
            <p:ph type="title"/>
          </p:nvPr>
        </p:nvSpPr>
        <p:spPr>
          <a:xfrm>
            <a:off x="243000" y="171750"/>
            <a:ext cx="85893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Drawbacks </a:t>
            </a:r>
            <a:r>
              <a:rPr lang="en-GB" sz="282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of eMMC technology </a:t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990"/>
              <a:buNone/>
            </a:pPr>
            <a:r>
              <a:t/>
            </a:r>
            <a:endParaRPr sz="282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43"/>
          <p:cNvSpPr txBox="1"/>
          <p:nvPr>
            <p:ph idx="1" type="body"/>
          </p:nvPr>
        </p:nvSpPr>
        <p:spPr>
          <a:xfrm>
            <a:off x="109050" y="871400"/>
            <a:ext cx="8925900" cy="2666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 limited number of write cycles.</a:t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Not ideal for high-performance and compute-intensive applications.</a:t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Not as reliable as other architectures, such as SSDs.</a:t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20212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Slower read/write speeds than technologies such as Universal Flash Storage (UFS) and non-volatile memory express.</a:t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2021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4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 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