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5143500" cx="9144000"/>
  <p:notesSz cx="6858000" cy="9144000"/>
  <p:embeddedFontLst>
    <p:embeddedFont>
      <p:font typeface="PT Sans Narrow"/>
      <p:regular r:id="rId23"/>
      <p:bold r:id="rId24"/>
    </p:embeddedFont>
    <p:embeddedFont>
      <p:font typeface="Open Sans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PTSansNarrow-bold.fntdata"/><Relationship Id="rId23" Type="http://schemas.openxmlformats.org/officeDocument/2006/relationships/font" Target="fonts/PTSansNarrow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OpenSans-bold.fntdata"/><Relationship Id="rId25" Type="http://schemas.openxmlformats.org/officeDocument/2006/relationships/font" Target="fonts/OpenSans-regular.fntdata"/><Relationship Id="rId28" Type="http://schemas.openxmlformats.org/officeDocument/2006/relationships/font" Target="fonts/OpenSans-boldItalic.fntdata"/><Relationship Id="rId27" Type="http://schemas.openxmlformats.org/officeDocument/2006/relationships/font" Target="fonts/OpenSans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a02bb7230d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a02bb7230d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a02bb7230d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a02bb7230d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a0e108145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a0e108145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02bb7230d_0_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a02bb7230d_0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a0762727a0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a0762727a0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a02bb7230d_0_2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a02bb7230d_0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a02bb7230d_0_2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a02bb7230d_0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98d03446e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98d03446e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a02bb7230d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a02bb7230d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a0da20d086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a0da20d086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a02bb7230d_0_3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a02bb7230d_0_3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a02bb7230d_0_3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a02bb7230d_0_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a02bb7230d_0_3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a02bb7230d_0_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a0762727a0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a0762727a0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a0da20d08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a0da20d08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99b3a46b0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99b3a46b0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Google Shape;55;p14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" name="Google Shape;56;p14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57" name="Google Shape;57;p14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58" name="Google Shape;58;p14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9" name="Google Shape;59;p14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60" name="Google Shape;60;p14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61" name="Google Shape;61;p14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2" name="Google Shape;62;p14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63" name="Google Shape;63;p14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64" name="Google Shape;64;p14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5" name="Google Shape;65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69" name="Google Shape;69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8" name="Google Shape;78;p17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5" name="Google Shape;8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6" name="Google Shape;8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0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9" name="Google Shape;8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1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2" name="Google Shape;92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" name="Google Shape;93;p21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4" name="Google Shape;94;p21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5" name="Google Shape;95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6" name="Google Shape;96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2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99" name="Google Shape;99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3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3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3" name="Google Shape;103;p23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4" name="Google Shape;10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5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AP</a:t>
            </a:r>
            <a:r>
              <a:rPr lang="en-GB"/>
              <a:t>B</a:t>
            </a:r>
            <a:endParaRPr/>
          </a:p>
        </p:txBody>
      </p:sp>
      <p:sp>
        <p:nvSpPr>
          <p:cNvPr id="112" name="Google Shape;112;p25"/>
          <p:cNvSpPr txBox="1"/>
          <p:nvPr>
            <p:ph idx="1" type="subTitle"/>
          </p:nvPr>
        </p:nvSpPr>
        <p:spPr>
          <a:xfrm>
            <a:off x="2513950" y="2774175"/>
            <a:ext cx="42978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Advanced Peripheral Bus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6"/>
          <p:cNvSpPr txBox="1"/>
          <p:nvPr>
            <p:ph type="title"/>
          </p:nvPr>
        </p:nvSpPr>
        <p:spPr>
          <a:xfrm>
            <a:off x="242900" y="445025"/>
            <a:ext cx="85893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Contents</a:t>
            </a:r>
            <a:endParaRPr/>
          </a:p>
        </p:txBody>
      </p:sp>
      <p:sp>
        <p:nvSpPr>
          <p:cNvPr id="118" name="Google Shape;118;p26"/>
          <p:cNvSpPr txBox="1"/>
          <p:nvPr>
            <p:ph idx="1" type="body"/>
          </p:nvPr>
        </p:nvSpPr>
        <p:spPr>
          <a:xfrm>
            <a:off x="311700" y="1199375"/>
            <a:ext cx="8520600" cy="3629700"/>
          </a:xfrm>
          <a:prstGeom prst="rect">
            <a:avLst/>
          </a:prstGeom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1828800" rtl="0" algn="just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●"/>
            </a:pP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to AMBA APB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18288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●"/>
            </a:pP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AMBA APB Signals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18288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●"/>
            </a:pP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Operating States,APB State Machine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18288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●"/>
            </a:pP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APB Transfers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18288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●"/>
            </a:pP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Interface Parity Protection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7"/>
          <p:cNvSpPr txBox="1"/>
          <p:nvPr>
            <p:ph type="title"/>
          </p:nvPr>
        </p:nvSpPr>
        <p:spPr>
          <a:xfrm>
            <a:off x="242900" y="445025"/>
            <a:ext cx="85893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About the APB protocol</a:t>
            </a:r>
            <a:endParaRPr/>
          </a:p>
        </p:txBody>
      </p:sp>
      <p:sp>
        <p:nvSpPr>
          <p:cNvPr id="124" name="Google Shape;124;p27"/>
          <p:cNvSpPr txBox="1"/>
          <p:nvPr>
            <p:ph idx="1" type="body"/>
          </p:nvPr>
        </p:nvSpPr>
        <p:spPr>
          <a:xfrm>
            <a:off x="311700" y="1199375"/>
            <a:ext cx="8714400" cy="3629700"/>
          </a:xfrm>
          <a:prstGeom prst="rect">
            <a:avLst/>
          </a:prstGeom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Char char="●"/>
            </a:pP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APB is the member of the AMBA 3 protocol family.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Char char="●"/>
            </a:pP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implements a low cost interface which minimizes the power consumption and reduces the interface complexity.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Char char="●"/>
            </a:pP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APB has unpipelined protocol.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Char char="●"/>
            </a:pP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APB can interface with the AHB and AXI protocols via bridge.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8"/>
          <p:cNvSpPr txBox="1"/>
          <p:nvPr>
            <p:ph type="title"/>
          </p:nvPr>
        </p:nvSpPr>
        <p:spPr>
          <a:xfrm>
            <a:off x="235325" y="69200"/>
            <a:ext cx="8589300" cy="4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8"/>
          <p:cNvSpPr txBox="1"/>
          <p:nvPr>
            <p:ph idx="1" type="body"/>
          </p:nvPr>
        </p:nvSpPr>
        <p:spPr>
          <a:xfrm>
            <a:off x="235200" y="69200"/>
            <a:ext cx="8589300" cy="47745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1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31" name="Google Shape;131;p28" title="Screenshot from 2025-11-06 14-10-4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350" y="69188"/>
            <a:ext cx="8677275" cy="4848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9"/>
          <p:cNvSpPr txBox="1"/>
          <p:nvPr>
            <p:ph type="title"/>
          </p:nvPr>
        </p:nvSpPr>
        <p:spPr>
          <a:xfrm>
            <a:off x="227650" y="-99950"/>
            <a:ext cx="8589300" cy="46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AMBA APB signals</a:t>
            </a:r>
            <a:endParaRPr/>
          </a:p>
        </p:txBody>
      </p:sp>
      <p:sp>
        <p:nvSpPr>
          <p:cNvPr id="137" name="Google Shape;137;p29"/>
          <p:cNvSpPr txBox="1"/>
          <p:nvPr>
            <p:ph idx="1" type="body"/>
          </p:nvPr>
        </p:nvSpPr>
        <p:spPr>
          <a:xfrm>
            <a:off x="280950" y="407500"/>
            <a:ext cx="8752800" cy="44517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1.</a:t>
            </a:r>
            <a:r>
              <a:rPr b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PCLK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 PCLK is a clock signal. 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91440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APB signals are timed against the rising edge of PCLK.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</a:t>
            </a:r>
            <a:r>
              <a:rPr b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PSELx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Select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91440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Requester generates a PSELx signal for each Completer. PSELx indicates that the Completer is selected and that a data transfer is required.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</a:t>
            </a:r>
            <a:r>
              <a:rPr b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PRESETn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Reset signal.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91440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PRESETn is the reset signal and is active-LOW. PRESETn is normally connected directly to the system bus reset signal.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</a:t>
            </a:r>
            <a:r>
              <a:rPr b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PENABLE :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Enable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91440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PENABLE indicates the second and subsequent cycles of an APB transfer.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0"/>
          <p:cNvSpPr txBox="1"/>
          <p:nvPr>
            <p:ph type="title"/>
          </p:nvPr>
        </p:nvSpPr>
        <p:spPr>
          <a:xfrm>
            <a:off x="243000" y="0"/>
            <a:ext cx="8589300" cy="4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AMBA APB signals</a:t>
            </a:r>
            <a:endParaRPr/>
          </a:p>
        </p:txBody>
      </p:sp>
      <p:sp>
        <p:nvSpPr>
          <p:cNvPr id="143" name="Google Shape;143;p30"/>
          <p:cNvSpPr txBox="1"/>
          <p:nvPr>
            <p:ph idx="1" type="body"/>
          </p:nvPr>
        </p:nvSpPr>
        <p:spPr>
          <a:xfrm>
            <a:off x="311700" y="522800"/>
            <a:ext cx="8729700" cy="46206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</a:t>
            </a:r>
            <a:r>
              <a:rPr b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PADDR: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ADDR_WIDTH 	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91440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Verdana"/>
              <a:buChar char="●"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PADDR is the APB address bus. PADDR can be up to 32 bits wide.</a:t>
            </a:r>
            <a:r>
              <a:rPr b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b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PWRITE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Direction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91440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PWRITE indicates an APB write access when HIGH and an APB read access when LOW.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b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PWDATA 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DATA_WIDTH   Write data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91440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PWDATA write data bus is driven by the APB bridge Requester during write cycles when PWRITE is HIGH. PWDATA can be 8 bits, 16 bits, or 32 bits wide.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8. </a:t>
            </a:r>
            <a:r>
              <a:rPr b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PRDATA: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DATA_WIDTH    Read data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91440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PRDATA read data bus is driven by the selected Completer during read cycles when PWRITE is LOW. PRDATA can be 8 bits, 16 bits, or 32 bits wide.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1"/>
          <p:cNvSpPr txBox="1"/>
          <p:nvPr>
            <p:ph type="title"/>
          </p:nvPr>
        </p:nvSpPr>
        <p:spPr>
          <a:xfrm>
            <a:off x="243000" y="0"/>
            <a:ext cx="8589300" cy="4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AMBA APB signals</a:t>
            </a:r>
            <a:endParaRPr/>
          </a:p>
        </p:txBody>
      </p:sp>
      <p:sp>
        <p:nvSpPr>
          <p:cNvPr id="149" name="Google Shape;149;p31"/>
          <p:cNvSpPr txBox="1"/>
          <p:nvPr>
            <p:ph idx="1" type="body"/>
          </p:nvPr>
        </p:nvSpPr>
        <p:spPr>
          <a:xfrm>
            <a:off x="311700" y="522800"/>
            <a:ext cx="8729700" cy="42363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9.</a:t>
            </a:r>
            <a:r>
              <a:rPr b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PREADY :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Ready.  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91440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PREADY is used to extend an APB transfer by the Completer.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10.</a:t>
            </a:r>
            <a:r>
              <a:rPr b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PSLVERR :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Transfer error.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91440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PSLVERR is an optional signal that can be asserted HIGH by the Completer to indicate an error condition on an APB transfer.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11.</a:t>
            </a:r>
            <a:r>
              <a:rPr b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PSTRB</a:t>
            </a:r>
            <a:r>
              <a:rPr b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: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DATA_WIDTH/8 	 Write strobe.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91440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PSTRB indicates which byte lanes to update during a write transfer. There is one write strobe for each 8 bits of the write data bus.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PSTRB[n] corresponds to PWDATA[(8n + 7):(8n)]. PSTRB must not be active during a read transfer.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45720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2"/>
          <p:cNvSpPr txBox="1"/>
          <p:nvPr>
            <p:ph type="title"/>
          </p:nvPr>
        </p:nvSpPr>
        <p:spPr>
          <a:xfrm>
            <a:off x="243000" y="0"/>
            <a:ext cx="8589300" cy="4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AMBA APB signals</a:t>
            </a:r>
            <a:endParaRPr/>
          </a:p>
        </p:txBody>
      </p:sp>
      <p:sp>
        <p:nvSpPr>
          <p:cNvPr id="155" name="Google Shape;155;p32"/>
          <p:cNvSpPr txBox="1"/>
          <p:nvPr>
            <p:ph idx="1" type="body"/>
          </p:nvPr>
        </p:nvSpPr>
        <p:spPr>
          <a:xfrm>
            <a:off x="311700" y="522800"/>
            <a:ext cx="8729700" cy="42363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12. </a:t>
            </a:r>
            <a:r>
              <a:rPr b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PPROT[2:0]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Protection type.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91440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PPROT indicates the normal, privileged, or secure protection level of the transaction and whether the transaction is a data access or an instruction access.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13. </a:t>
            </a:r>
            <a:r>
              <a:rPr b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PNSE : 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Extension to protection type. 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91440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PNSE must be valid when PSEL is asserted.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14.</a:t>
            </a:r>
            <a:r>
              <a:rPr b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PWAKEUP :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Wake-up.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9144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PWAKEUP indicates any activity associated with an APB interface.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provides a glitch-free signal that can be routed to a clock controller, or similar component, to enable power and clocks to connected components.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3"/>
          <p:cNvSpPr txBox="1"/>
          <p:nvPr>
            <p:ph type="title"/>
          </p:nvPr>
        </p:nvSpPr>
        <p:spPr>
          <a:xfrm>
            <a:off x="243000" y="0"/>
            <a:ext cx="8589300" cy="4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AMBA APB signals</a:t>
            </a:r>
            <a:endParaRPr/>
          </a:p>
        </p:txBody>
      </p:sp>
      <p:sp>
        <p:nvSpPr>
          <p:cNvPr id="161" name="Google Shape;161;p33"/>
          <p:cNvSpPr txBox="1"/>
          <p:nvPr>
            <p:ph idx="1" type="body"/>
          </p:nvPr>
        </p:nvSpPr>
        <p:spPr>
          <a:xfrm>
            <a:off x="311700" y="522800"/>
            <a:ext cx="8729700" cy="44670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15. </a:t>
            </a:r>
            <a:r>
              <a:rPr b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PAUSER :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User request attribute.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USER_REQ_WIDTH  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91440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PAUSER is recommended to have a maximum width of 128 bits.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16.</a:t>
            </a:r>
            <a:r>
              <a:rPr b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PWUSER: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write data attribute. 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USER_DATA_WIDTH    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91440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PWUSER is recommended to have a maximum width of DATA_WIDTH/2.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17. </a:t>
            </a:r>
            <a:r>
              <a:rPr b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PRUSER :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read data attribute. 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USER_DATA_WIDTH   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91440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PRUSER is recommended to have a maximum width of DATA_WIDTH/2.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18.</a:t>
            </a:r>
            <a:r>
              <a:rPr b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PBUSER: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response attribute.  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USER_RESP_WIDTH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91440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PBU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ER is recommended to have a maximum width of 16 bits.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4"/>
          <p:cNvSpPr txBox="1"/>
          <p:nvPr>
            <p:ph type="title"/>
          </p:nvPr>
        </p:nvSpPr>
        <p:spPr>
          <a:xfrm>
            <a:off x="243000" y="0"/>
            <a:ext cx="8589300" cy="4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Operating States</a:t>
            </a:r>
            <a:endParaRPr/>
          </a:p>
        </p:txBody>
      </p:sp>
      <p:sp>
        <p:nvSpPr>
          <p:cNvPr id="167" name="Google Shape;167;p34"/>
          <p:cNvSpPr txBox="1"/>
          <p:nvPr>
            <p:ph idx="1" type="body"/>
          </p:nvPr>
        </p:nvSpPr>
        <p:spPr>
          <a:xfrm>
            <a:off x="311700" y="684250"/>
            <a:ext cx="8729700" cy="43056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5486400" rtl="0"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21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68" name="Google Shape;168;p34" title="Screenshot from 2025-11-05 19-30-2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48850" y="684250"/>
            <a:ext cx="5082799" cy="4151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5"/>
          <p:cNvSpPr txBox="1"/>
          <p:nvPr>
            <p:ph type="title"/>
          </p:nvPr>
        </p:nvSpPr>
        <p:spPr>
          <a:xfrm>
            <a:off x="243000" y="0"/>
            <a:ext cx="8589300" cy="2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APB </a:t>
            </a:r>
            <a:r>
              <a:rPr lang="en-GB"/>
              <a:t>Transfers</a:t>
            </a:r>
            <a:endParaRPr/>
          </a:p>
        </p:txBody>
      </p:sp>
      <p:sp>
        <p:nvSpPr>
          <p:cNvPr id="174" name="Google Shape;174;p35"/>
          <p:cNvSpPr txBox="1"/>
          <p:nvPr>
            <p:ph idx="1" type="body"/>
          </p:nvPr>
        </p:nvSpPr>
        <p:spPr>
          <a:xfrm>
            <a:off x="288625" y="515100"/>
            <a:ext cx="8729700" cy="44823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WRITE Transfers	</a:t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section describes the following types of write transfer: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•Write transfer with  wait states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									       	•Write transfer with no wait states</a:t>
            </a:r>
            <a:br>
              <a:rPr b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5" name="Google Shape;175;p35" title="Screenshot from 2025-11-04 14-31-1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5013" y="1722600"/>
            <a:ext cx="5907525" cy="286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35"/>
          <p:cNvSpPr txBox="1"/>
          <p:nvPr/>
        </p:nvSpPr>
        <p:spPr>
          <a:xfrm>
            <a:off x="2383375" y="4466000"/>
            <a:ext cx="4150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Fig1: Write transfer with no wait states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6"/>
          <p:cNvSpPr txBox="1"/>
          <p:nvPr>
            <p:ph type="title"/>
          </p:nvPr>
        </p:nvSpPr>
        <p:spPr>
          <a:xfrm>
            <a:off x="243000" y="0"/>
            <a:ext cx="8589300" cy="4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APB Transfers</a:t>
            </a:r>
            <a:endParaRPr/>
          </a:p>
        </p:txBody>
      </p:sp>
      <p:sp>
        <p:nvSpPr>
          <p:cNvPr id="182" name="Google Shape;182;p36"/>
          <p:cNvSpPr txBox="1"/>
          <p:nvPr>
            <p:ph idx="1" type="body"/>
          </p:nvPr>
        </p:nvSpPr>
        <p:spPr>
          <a:xfrm>
            <a:off x="311700" y="522800"/>
            <a:ext cx="8729700" cy="44670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1" lang="en-GB" sz="16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sz="16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6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83" name="Google Shape;183;p36" title="Screenshot from 2025-11-04 14-32-2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7475" y="898925"/>
            <a:ext cx="8058150" cy="371475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36"/>
          <p:cNvSpPr txBox="1"/>
          <p:nvPr/>
        </p:nvSpPr>
        <p:spPr>
          <a:xfrm>
            <a:off x="2475650" y="4366225"/>
            <a:ext cx="4259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Fig2: Write transfer with wait states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7"/>
          <p:cNvSpPr txBox="1"/>
          <p:nvPr>
            <p:ph type="title"/>
          </p:nvPr>
        </p:nvSpPr>
        <p:spPr>
          <a:xfrm>
            <a:off x="243000" y="0"/>
            <a:ext cx="8589300" cy="2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APB Transfers</a:t>
            </a:r>
            <a:endParaRPr/>
          </a:p>
        </p:txBody>
      </p:sp>
      <p:sp>
        <p:nvSpPr>
          <p:cNvPr id="190" name="Google Shape;190;p37"/>
          <p:cNvSpPr txBox="1"/>
          <p:nvPr>
            <p:ph idx="1" type="body"/>
          </p:nvPr>
        </p:nvSpPr>
        <p:spPr>
          <a:xfrm>
            <a:off x="224663" y="515100"/>
            <a:ext cx="8729700" cy="44823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</a:t>
            </a:r>
            <a:r>
              <a:rPr b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Transfers </a:t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section describes the following types of read transfer:•Read transfer with  wait states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457200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•Read transfer with no wait states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" name="Google Shape;191;p37"/>
          <p:cNvSpPr txBox="1"/>
          <p:nvPr/>
        </p:nvSpPr>
        <p:spPr>
          <a:xfrm>
            <a:off x="1960525" y="4466000"/>
            <a:ext cx="4573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Fig3: Read transfer with no wait states</a:t>
            </a:r>
            <a:endParaRPr/>
          </a:p>
        </p:txBody>
      </p:sp>
      <p:pic>
        <p:nvPicPr>
          <p:cNvPr id="192" name="Google Shape;192;p37" title="Screenshot from 2025-11-05 19-09-5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3200" y="1773275"/>
            <a:ext cx="6265999" cy="279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8"/>
          <p:cNvSpPr txBox="1"/>
          <p:nvPr>
            <p:ph type="title"/>
          </p:nvPr>
        </p:nvSpPr>
        <p:spPr>
          <a:xfrm>
            <a:off x="243000" y="0"/>
            <a:ext cx="8589300" cy="4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APB Transfers</a:t>
            </a:r>
            <a:endParaRPr/>
          </a:p>
        </p:txBody>
      </p:sp>
      <p:sp>
        <p:nvSpPr>
          <p:cNvPr id="198" name="Google Shape;198;p38"/>
          <p:cNvSpPr txBox="1"/>
          <p:nvPr>
            <p:ph idx="1" type="body"/>
          </p:nvPr>
        </p:nvSpPr>
        <p:spPr>
          <a:xfrm>
            <a:off x="311700" y="522800"/>
            <a:ext cx="8729700" cy="44670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1" lang="en-GB" sz="16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sz="16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6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99" name="Google Shape;199;p38"/>
          <p:cNvSpPr txBox="1"/>
          <p:nvPr/>
        </p:nvSpPr>
        <p:spPr>
          <a:xfrm>
            <a:off x="2475650" y="4366225"/>
            <a:ext cx="4259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Fig4: Read </a:t>
            </a:r>
            <a:r>
              <a:rPr lang="en-GB" sz="1800"/>
              <a:t>t</a:t>
            </a:r>
            <a:r>
              <a:rPr lang="en-GB" sz="1800"/>
              <a:t>ransfer with wait states</a:t>
            </a:r>
            <a:endParaRPr/>
          </a:p>
        </p:txBody>
      </p:sp>
      <p:pic>
        <p:nvPicPr>
          <p:cNvPr id="200" name="Google Shape;200;p38" title="Screenshot from 2025-11-05 19-11-5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900" y="728663"/>
            <a:ext cx="8589299" cy="368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9"/>
          <p:cNvSpPr txBox="1"/>
          <p:nvPr>
            <p:ph type="title"/>
          </p:nvPr>
        </p:nvSpPr>
        <p:spPr>
          <a:xfrm>
            <a:off x="243000" y="0"/>
            <a:ext cx="8589300" cy="4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Interface parity protection</a:t>
            </a:r>
            <a:endParaRPr/>
          </a:p>
        </p:txBody>
      </p:sp>
      <p:sp>
        <p:nvSpPr>
          <p:cNvPr id="206" name="Google Shape;206;p39"/>
          <p:cNvSpPr txBox="1"/>
          <p:nvPr>
            <p:ph idx="1" type="body"/>
          </p:nvPr>
        </p:nvSpPr>
        <p:spPr>
          <a:xfrm>
            <a:off x="311700" y="522800"/>
            <a:ext cx="8729700" cy="44670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Protection using parity:</a:t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Purpose Detect and correct transient and functional errors on individual SoC wires.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Maintain end-to-end Error Detection and Correction (EDC) across logic and interconnects.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EDC scheme of the interface is defined by the Check_Type property.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Verdana"/>
              <a:buChar char="○"/>
            </a:pPr>
            <a:r>
              <a:rPr b="1"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False  :   </a:t>
            </a:r>
            <a: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are no checking signals on the interface.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Verdana"/>
              <a:buChar char="○"/>
            </a:pPr>
            <a:r>
              <a:rPr b="1"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Odd_Parity_Byte_All : </a:t>
            </a:r>
            <a: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Odd parity checking is included for all signals. 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74320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bit of the parity signal covers up to 8 bits.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Check_Type is not declared, it is considered to be False.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40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Thank You 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