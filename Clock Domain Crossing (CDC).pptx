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p:regular r:id="rId18"/>
      <p:bold r:id="rId19"/>
      <p:italic r:id="rId20"/>
      <p:boldItalic r:id="rId21"/>
    </p:embeddedFont>
    <p:embeddedFont>
      <p:font typeface="PT Sans Narrow"/>
      <p:regular r:id="rId22"/>
      <p:bold r:id="rId23"/>
    </p:embeddedFont>
    <p:embeddedFont>
      <p:font typeface="Open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PTSansNarrow-regular.fntdata"/><Relationship Id="rId21" Type="http://schemas.openxmlformats.org/officeDocument/2006/relationships/font" Target="fonts/Roboto-boldItalic.fntdata"/><Relationship Id="rId24" Type="http://schemas.openxmlformats.org/officeDocument/2006/relationships/font" Target="fonts/OpenSans-regular.fntdata"/><Relationship Id="rId23" Type="http://schemas.openxmlformats.org/officeDocument/2006/relationships/font" Target="fonts/PTSansNarrow-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italic.fntdata"/><Relationship Id="rId25" Type="http://schemas.openxmlformats.org/officeDocument/2006/relationships/font" Target="fonts/OpenSans-bold.fntdata"/><Relationship Id="rId27" Type="http://schemas.openxmlformats.org/officeDocument/2006/relationships/font" Target="fonts/Open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e15de22a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e15de22a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e15de22af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e15de22af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e15de22a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e15de22a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e15de22af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e15de22af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e18e7ead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e18e7ead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e18e7ead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e18e7ead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e18e7ead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e18e7ead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e79b0c95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e79b0c95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e79b0c95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e79b0c95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e79b0c95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e79b0c95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e15de22a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e15de22a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77"/>
            <a:ext cx="7136700" cy="1203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5000">
                <a:latin typeface="Times New Roman"/>
                <a:ea typeface="Times New Roman"/>
                <a:cs typeface="Times New Roman"/>
                <a:sym typeface="Times New Roman"/>
              </a:rPr>
              <a:t>Clock Domain Crossing</a:t>
            </a:r>
            <a:r>
              <a:rPr lang="en-GB" sz="5000">
                <a:latin typeface="Times New Roman"/>
                <a:ea typeface="Times New Roman"/>
                <a:cs typeface="Times New Roman"/>
                <a:sym typeface="Times New Roman"/>
              </a:rPr>
              <a:t> (CDC) </a:t>
            </a:r>
            <a:endParaRPr sz="5000">
              <a:latin typeface="Times New Roman"/>
              <a:ea typeface="Times New Roman"/>
              <a:cs typeface="Times New Roman"/>
              <a:sym typeface="Times New Roman"/>
            </a:endParaRPr>
          </a:p>
        </p:txBody>
      </p:sp>
      <p:sp>
        <p:nvSpPr>
          <p:cNvPr id="112" name="Google Shape;112;p25"/>
          <p:cNvSpPr txBox="1"/>
          <p:nvPr>
            <p:ph idx="1" type="subTitle"/>
          </p:nvPr>
        </p:nvSpPr>
        <p:spPr>
          <a:xfrm>
            <a:off x="3463450" y="3094125"/>
            <a:ext cx="4506000" cy="792600"/>
          </a:xfrm>
          <a:prstGeom prst="rect">
            <a:avLst/>
          </a:prstGeom>
        </p:spPr>
        <p:txBody>
          <a:bodyPr anchorCtr="0" anchor="t" bIns="91425" lIns="91425" spcFirstLastPara="1" rIns="91425" wrap="square" tIns="91425">
            <a:normAutofit fontScale="55000"/>
          </a:bodyPr>
          <a:lstStyle/>
          <a:p>
            <a:pPr indent="0" lvl="0" marL="2286000" rtl="0" algn="l">
              <a:spcBef>
                <a:spcPts val="0"/>
              </a:spcBef>
              <a:spcAft>
                <a:spcPts val="0"/>
              </a:spcAft>
              <a:buNone/>
            </a:pPr>
            <a:r>
              <a:rPr b="1" lang="en-GB" sz="3600">
                <a:solidFill>
                  <a:schemeClr val="accent1"/>
                </a:solidFill>
                <a:latin typeface="PT Sans Narrow"/>
                <a:ea typeface="PT Sans Narrow"/>
                <a:cs typeface="PT Sans Narrow"/>
                <a:sym typeface="PT Sans Narrow"/>
              </a:rPr>
              <a:t>    K.LOKESH</a:t>
            </a:r>
            <a:endParaRPr b="1" sz="3600">
              <a:solidFill>
                <a:schemeClr val="accent1"/>
              </a:solidFill>
              <a:latin typeface="PT Sans Narrow"/>
              <a:ea typeface="PT Sans Narrow"/>
              <a:cs typeface="PT Sans Narrow"/>
              <a:sym typeface="PT Sans Narrow"/>
            </a:endParaRPr>
          </a:p>
          <a:p>
            <a:pPr indent="457200" lvl="0" marL="1371600" rtl="0" algn="l">
              <a:spcBef>
                <a:spcPts val="0"/>
              </a:spcBef>
              <a:spcAft>
                <a:spcPts val="0"/>
              </a:spcAft>
              <a:buNone/>
            </a:pPr>
            <a:r>
              <a:rPr b="1" lang="en-GB" sz="2257">
                <a:solidFill>
                  <a:schemeClr val="accent1"/>
                </a:solidFill>
                <a:latin typeface="PT Sans Narrow"/>
                <a:ea typeface="PT Sans Narrow"/>
                <a:cs typeface="PT Sans Narrow"/>
                <a:sym typeface="PT Sans Narrow"/>
              </a:rPr>
              <a:t>Chipweave Technologies Private Limited</a:t>
            </a:r>
            <a:endParaRPr b="1" sz="2257">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idx="1" type="body"/>
          </p:nvPr>
        </p:nvSpPr>
        <p:spPr>
          <a:xfrm>
            <a:off x="156875" y="829775"/>
            <a:ext cx="8884500" cy="3560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457200" rtl="0" algn="just">
              <a:lnSpc>
                <a:spcPct val="115000"/>
              </a:lnSpc>
              <a:spcBef>
                <a:spcPts val="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300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In VLSI design, clock domain crossing (CDC) refers to the process of transferring a signal or data between circuits operating under different clock frequencies or sources.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This is a crucial but challenging task because different clock domains introduce asynchronous relationships, potentially leading to errors and malfunctions.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Clock Domain Crossing (CDC)</a:t>
            </a:r>
            <a:r>
              <a:rPr lang="en-GB">
                <a:solidFill>
                  <a:srgbClr val="000000"/>
                </a:solidFill>
                <a:highlight>
                  <a:srgbClr val="FFFFFF"/>
                </a:highlight>
                <a:latin typeface="Times New Roman"/>
                <a:ea typeface="Times New Roman"/>
                <a:cs typeface="Times New Roman"/>
                <a:sym typeface="Times New Roman"/>
              </a:rPr>
              <a:t> is The process of passing a signal or vector (multi bit signal) from one clock domain to another clock domain.</a:t>
            </a:r>
            <a:endParaRPr>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is CDC important in VLSI?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3" name="Google Shape;123;p27"/>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Modern VLSI systems often integrate multiple functional blocks, each with its own optimal clock frequency for performance and power efficiency. </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This creates the need for data exchange between these domains, necessitating proper CDC techniques. Without it, issues like</a:t>
            </a:r>
            <a:r>
              <a:rPr lang="en-GB">
                <a:solidFill>
                  <a:srgbClr val="000000"/>
                </a:solidFill>
                <a:highlight>
                  <a:schemeClr val="lt1"/>
                </a:highlight>
                <a:latin typeface="Times New Roman"/>
                <a:ea typeface="Times New Roman"/>
                <a:cs typeface="Times New Roman"/>
                <a:sym typeface="Times New Roman"/>
              </a:rPr>
              <a:t>:</a:t>
            </a:r>
            <a:endParaRPr>
              <a:solidFill>
                <a:srgbClr val="000000"/>
              </a:solidFill>
              <a:highlight>
                <a:schemeClr val="lt1"/>
              </a:highlight>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00000"/>
              </a:buClr>
              <a:buSzPts val="1800"/>
              <a:buFont typeface="Times New Roman"/>
              <a:buChar char="○"/>
            </a:pPr>
            <a:r>
              <a:rPr b="1" lang="en-GB" sz="1800">
                <a:solidFill>
                  <a:srgbClr val="000000"/>
                </a:solidFill>
                <a:highlight>
                  <a:srgbClr val="FFFFFF"/>
                </a:highlight>
                <a:latin typeface="Times New Roman"/>
                <a:ea typeface="Times New Roman"/>
                <a:cs typeface="Times New Roman"/>
                <a:sym typeface="Times New Roman"/>
              </a:rPr>
              <a:t>Metastability:</a:t>
            </a:r>
            <a:r>
              <a:rPr lang="en-GB" sz="1800">
                <a:solidFill>
                  <a:srgbClr val="000000"/>
                </a:solidFill>
                <a:highlight>
                  <a:srgbClr val="FFFFFF"/>
                </a:highlight>
                <a:latin typeface="Times New Roman"/>
                <a:ea typeface="Times New Roman"/>
                <a:cs typeface="Times New Roman"/>
                <a:sym typeface="Times New Roman"/>
              </a:rPr>
              <a:t> Flip-flops can enter an unstable state where they oscillate between logic values due to setup/hold time violations from asynchronous signals. This can lead to unpredictable outcomes and circuit malfunctions.</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00000"/>
              </a:buClr>
              <a:buSzPts val="1800"/>
              <a:buFont typeface="Times New Roman"/>
              <a:buChar char="○"/>
            </a:pPr>
            <a:r>
              <a:rPr b="1" lang="en-GB" sz="1800">
                <a:solidFill>
                  <a:srgbClr val="000000"/>
                </a:solidFill>
                <a:highlight>
                  <a:srgbClr val="FFFFFF"/>
                </a:highlight>
                <a:latin typeface="Times New Roman"/>
                <a:ea typeface="Times New Roman"/>
                <a:cs typeface="Times New Roman"/>
                <a:sym typeface="Times New Roman"/>
              </a:rPr>
              <a:t>Glitches:</a:t>
            </a:r>
            <a:r>
              <a:rPr lang="en-GB" sz="1800">
                <a:solidFill>
                  <a:srgbClr val="000000"/>
                </a:solidFill>
                <a:highlight>
                  <a:srgbClr val="FFFFFF"/>
                </a:highlight>
                <a:latin typeface="Times New Roman"/>
                <a:ea typeface="Times New Roman"/>
                <a:cs typeface="Times New Roman"/>
                <a:sym typeface="Times New Roman"/>
              </a:rPr>
              <a:t> Asynchronous transitions can create short-lived spurious changes in signal values, confusing downstream logic.</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l">
              <a:lnSpc>
                <a:spcPct val="115000"/>
              </a:lnSpc>
              <a:spcBef>
                <a:spcPts val="0"/>
              </a:spcBef>
              <a:spcAft>
                <a:spcPts val="0"/>
              </a:spcAft>
              <a:buClr>
                <a:srgbClr val="000000"/>
              </a:buClr>
              <a:buSzPts val="1800"/>
              <a:buFont typeface="Times New Roman"/>
              <a:buChar char="○"/>
            </a:pPr>
            <a:r>
              <a:rPr b="1" lang="en-GB" sz="1800">
                <a:solidFill>
                  <a:srgbClr val="000000"/>
                </a:solidFill>
                <a:highlight>
                  <a:srgbClr val="FFFFFF"/>
                </a:highlight>
                <a:latin typeface="Times New Roman"/>
                <a:ea typeface="Times New Roman"/>
                <a:cs typeface="Times New Roman"/>
                <a:sym typeface="Times New Roman"/>
              </a:rPr>
              <a:t>Data loss:</a:t>
            </a:r>
            <a:r>
              <a:rPr lang="en-GB" sz="1800">
                <a:solidFill>
                  <a:srgbClr val="000000"/>
                </a:solidFill>
                <a:highlight>
                  <a:srgbClr val="FFFFFF"/>
                </a:highlight>
                <a:latin typeface="Times New Roman"/>
                <a:ea typeface="Times New Roman"/>
                <a:cs typeface="Times New Roman"/>
                <a:sym typeface="Times New Roman"/>
              </a:rPr>
              <a:t> Timing mismatches can result in losing data transitions or sampling incorrect values.</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8"/>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9" name="Google Shape;129;p28"/>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To address these challenges, various CDC techniques exist to handle data transfer between clock d</a:t>
            </a:r>
            <a:r>
              <a:rPr lang="en-GB">
                <a:solidFill>
                  <a:srgbClr val="000000"/>
                </a:solidFill>
                <a:highlight>
                  <a:schemeClr val="lt1"/>
                </a:highlight>
                <a:latin typeface="Times New Roman"/>
                <a:ea typeface="Times New Roman"/>
                <a:cs typeface="Times New Roman"/>
                <a:sym typeface="Times New Roman"/>
              </a:rPr>
              <a:t>omains:</a:t>
            </a:r>
            <a:endParaRPr>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chemeClr val="lt1"/>
                </a:highlight>
                <a:latin typeface="Times New Roman"/>
                <a:ea typeface="Times New Roman"/>
                <a:cs typeface="Times New Roman"/>
                <a:sym typeface="Times New Roman"/>
              </a:rPr>
              <a:t>One of the most common way to handle CDC is usage of synchronizer circuits.</a:t>
            </a:r>
            <a:endParaRPr sz="1800">
              <a:solidFill>
                <a:srgbClr val="000000"/>
              </a:solidFill>
              <a:highlight>
                <a:schemeClr val="lt1"/>
              </a:highlight>
              <a:latin typeface="Times New Roman"/>
              <a:ea typeface="Times New Roman"/>
              <a:cs typeface="Times New Roman"/>
              <a:sym typeface="Times New Roman"/>
            </a:endParaRPr>
          </a:p>
          <a:p>
            <a:pPr indent="-368300" lvl="1" marL="914400" rtl="0" algn="just">
              <a:spcBef>
                <a:spcPts val="0"/>
              </a:spcBef>
              <a:spcAft>
                <a:spcPts val="0"/>
              </a:spcAft>
              <a:buClr>
                <a:srgbClr val="000000"/>
              </a:buClr>
              <a:buSzPts val="2200"/>
              <a:buFont typeface="Times New Roman"/>
              <a:buChar char="○"/>
            </a:pPr>
            <a:r>
              <a:rPr b="1" lang="en-GB" sz="1800">
                <a:solidFill>
                  <a:srgbClr val="000000"/>
                </a:solidFill>
                <a:highlight>
                  <a:schemeClr val="lt1"/>
                </a:highlight>
                <a:latin typeface="Times New Roman"/>
                <a:ea typeface="Times New Roman"/>
                <a:cs typeface="Times New Roman"/>
                <a:sym typeface="Times New Roman"/>
              </a:rPr>
              <a:t>Synchronizer circuits:</a:t>
            </a:r>
            <a:r>
              <a:rPr lang="en-GB" sz="1800">
                <a:solidFill>
                  <a:srgbClr val="000000"/>
                </a:solidFill>
                <a:highlight>
                  <a:schemeClr val="lt1"/>
                </a:highlight>
                <a:latin typeface="Times New Roman"/>
                <a:ea typeface="Times New Roman"/>
                <a:cs typeface="Times New Roman"/>
                <a:sym typeface="Times New Roman"/>
              </a:rPr>
              <a:t> These use multiple flip-flops (commonly two) to re-sample the incoming signal in the destination clock domain, significantly reducing the probability of metastability.</a:t>
            </a:r>
            <a:endParaRPr sz="1800">
              <a:solidFill>
                <a:srgbClr val="000000"/>
              </a:solidFill>
              <a:highlight>
                <a:schemeClr val="lt1"/>
              </a:highlight>
              <a:latin typeface="Times New Roman"/>
              <a:ea typeface="Times New Roman"/>
              <a:cs typeface="Times New Roman"/>
              <a:sym typeface="Times New Roman"/>
            </a:endParaRPr>
          </a:p>
        </p:txBody>
      </p:sp>
      <p:pic>
        <p:nvPicPr>
          <p:cNvPr id="130" name="Google Shape;130;p28"/>
          <p:cNvPicPr preferRelativeResize="0"/>
          <p:nvPr/>
        </p:nvPicPr>
        <p:blipFill>
          <a:blip r:embed="rId3">
            <a:alphaModFix/>
          </a:blip>
          <a:stretch>
            <a:fillRect/>
          </a:stretch>
        </p:blipFill>
        <p:spPr>
          <a:xfrm>
            <a:off x="3256050" y="2625075"/>
            <a:ext cx="5670999" cy="2364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9"/>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 name="Google Shape;136;p29"/>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In this two flip flops are connected in series, with the second acting as a backup for the first. If the first flip flop encounters data issues like setup/hold violations and enters a metastable state (uncertain logic level), the second flip flop has additional time for the first one to stabilize. Only the output of the second flip flop is used by the receiving logic.</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Limitations:</a:t>
            </a:r>
            <a:r>
              <a:rPr lang="en-GB">
                <a:solidFill>
                  <a:srgbClr val="000000"/>
                </a:solidFill>
                <a:highlight>
                  <a:srgbClr val="FFFFFF"/>
                </a:highlight>
                <a:latin typeface="Times New Roman"/>
                <a:ea typeface="Times New Roman"/>
                <a:cs typeface="Times New Roman"/>
                <a:sym typeface="Times New Roman"/>
              </a:rPr>
              <a:t> While effective for most designs, there's a small chance the first flip flop remains metastable when the second samples, potentially causing errors. This risk increases with very high clock frequencies.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Solutions:</a:t>
            </a:r>
            <a:r>
              <a:rPr lang="en-GB">
                <a:solidFill>
                  <a:srgbClr val="000000"/>
                </a:solidFill>
                <a:highlight>
                  <a:srgbClr val="FFFFFF"/>
                </a:highlight>
                <a:latin typeface="Times New Roman"/>
                <a:ea typeface="Times New Roman"/>
                <a:cs typeface="Times New Roman"/>
                <a:sym typeface="Times New Roman"/>
              </a:rPr>
              <a:t> For better protection at high speeds, consider these options:</a:t>
            </a:r>
            <a:endParaRPr>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b="1" lang="en-GB" sz="1800">
                <a:solidFill>
                  <a:srgbClr val="000000"/>
                </a:solidFill>
                <a:highlight>
                  <a:srgbClr val="FFFFFF"/>
                </a:highlight>
                <a:latin typeface="Times New Roman"/>
                <a:ea typeface="Times New Roman"/>
                <a:cs typeface="Times New Roman"/>
                <a:sym typeface="Times New Roman"/>
              </a:rPr>
              <a:t>Special library cells</a:t>
            </a:r>
            <a:r>
              <a:rPr lang="en-GB" sz="1800">
                <a:solidFill>
                  <a:srgbClr val="000000"/>
                </a:solidFill>
                <a:highlight>
                  <a:srgbClr val="FFFFFF"/>
                </a:highlight>
                <a:latin typeface="Times New Roman"/>
                <a:ea typeface="Times New Roman"/>
                <a:cs typeface="Times New Roman"/>
                <a:sym typeface="Times New Roman"/>
              </a:rPr>
              <a:t>: Technology libraries may offer dedicated cells optimized for synchronization.</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b="1" lang="en-GB" sz="1800">
                <a:solidFill>
                  <a:srgbClr val="000000"/>
                </a:solidFill>
                <a:highlight>
                  <a:srgbClr val="FFFFFF"/>
                </a:highlight>
                <a:latin typeface="Times New Roman"/>
                <a:ea typeface="Times New Roman"/>
                <a:cs typeface="Times New Roman"/>
                <a:sym typeface="Times New Roman"/>
              </a:rPr>
              <a:t>More flip flop stages:</a:t>
            </a:r>
            <a:r>
              <a:rPr lang="en-GB" sz="1800">
                <a:solidFill>
                  <a:srgbClr val="000000"/>
                </a:solidFill>
                <a:highlight>
                  <a:srgbClr val="FFFFFF"/>
                </a:highlight>
                <a:latin typeface="Times New Roman"/>
                <a:ea typeface="Times New Roman"/>
                <a:cs typeface="Times New Roman"/>
                <a:sym typeface="Times New Roman"/>
              </a:rPr>
              <a:t> Using 3 or 4 flip flops in series further reduces the risk of metastable propagation</a:t>
            </a:r>
            <a:r>
              <a:rPr lang="en-GB" sz="1800">
                <a:solidFill>
                  <a:srgbClr val="000000"/>
                </a:solidFill>
                <a:highlight>
                  <a:srgbClr val="FFFFFF"/>
                </a:highlight>
                <a:latin typeface="Roboto"/>
                <a:ea typeface="Roboto"/>
                <a:cs typeface="Roboto"/>
                <a:sym typeface="Roboto"/>
              </a:rPr>
              <a:t>.</a:t>
            </a:r>
            <a:endParaRPr sz="1800">
              <a:solidFill>
                <a:srgbClr val="000000"/>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2" name="Google Shape;142;p30"/>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Handshake CDC:</a:t>
            </a:r>
            <a:r>
              <a:rPr lang="en-GB">
                <a:solidFill>
                  <a:srgbClr val="000000"/>
                </a:solidFill>
                <a:highlight>
                  <a:srgbClr val="FFFFFF"/>
                </a:highlight>
                <a:latin typeface="Times New Roman"/>
                <a:ea typeface="Times New Roman"/>
                <a:cs typeface="Times New Roman"/>
                <a:sym typeface="Times New Roman"/>
              </a:rPr>
              <a:t> This technique employs control signals like "request" and "acknowledge" to ensure proper synchronization.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The source domain sends a request, waits for the destination's "ack," then transmits the data. This guarantees the destination is ready before receiving the data.</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2400"/>
              </a:spcBef>
              <a:spcAft>
                <a:spcPts val="2400"/>
              </a:spcAft>
              <a:buNone/>
            </a:pPr>
            <a:r>
              <a:t/>
            </a:r>
            <a:endParaRPr>
              <a:solidFill>
                <a:srgbClr val="000000"/>
              </a:solidFill>
              <a:highlight>
                <a:srgbClr val="FFFFFF"/>
              </a:highlight>
              <a:latin typeface="Times New Roman"/>
              <a:ea typeface="Times New Roman"/>
              <a:cs typeface="Times New Roman"/>
              <a:sym typeface="Times New Roman"/>
            </a:endParaRPr>
          </a:p>
        </p:txBody>
      </p:sp>
      <p:pic>
        <p:nvPicPr>
          <p:cNvPr descr="Article content" id="143" name="Google Shape;143;p30"/>
          <p:cNvPicPr preferRelativeResize="0"/>
          <p:nvPr/>
        </p:nvPicPr>
        <p:blipFill>
          <a:blip r:embed="rId3">
            <a:alphaModFix/>
          </a:blip>
          <a:stretch>
            <a:fillRect/>
          </a:stretch>
        </p:blipFill>
        <p:spPr>
          <a:xfrm>
            <a:off x="1237150" y="1977700"/>
            <a:ext cx="7181850" cy="2876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1"/>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9" name="Google Shape;149;p31"/>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 above mechanism does have one drawback in terms of bandwidth usage of the interface.</a:t>
            </a:r>
            <a:endParaRPr>
              <a:solidFill>
                <a:srgbClr val="4D4C4C"/>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4D4C4C"/>
              </a:buClr>
              <a:buSzPts val="1800"/>
              <a:buFont typeface="Times New Roman"/>
              <a:buChar char="●"/>
            </a:pPr>
            <a:r>
              <a:rPr lang="en-GB">
                <a:solidFill>
                  <a:srgbClr val="4D4C4C"/>
                </a:solidFill>
                <a:highlight>
                  <a:srgbClr val="FFFFFF"/>
                </a:highlight>
                <a:latin typeface="Times New Roman"/>
                <a:ea typeface="Times New Roman"/>
                <a:cs typeface="Times New Roman"/>
                <a:sym typeface="Times New Roman"/>
              </a:rPr>
              <a:t>T</a:t>
            </a:r>
            <a:r>
              <a:rPr lang="en-GB">
                <a:solidFill>
                  <a:srgbClr val="000000"/>
                </a:solidFill>
                <a:highlight>
                  <a:srgbClr val="FFFFFF"/>
                </a:highlight>
                <a:latin typeface="Times New Roman"/>
                <a:ea typeface="Times New Roman"/>
                <a:cs typeface="Times New Roman"/>
                <a:sym typeface="Times New Roman"/>
              </a:rPr>
              <a:t>he handshake technique can limit the bandwidth of the interface because the data bus cannot be updated while the "ack" signal is being received to overcome this issue we use asynchronous FIFO based CDC </a:t>
            </a:r>
            <a:r>
              <a:rPr lang="en-GB">
                <a:solidFill>
                  <a:srgbClr val="000000"/>
                </a:solidFill>
                <a:highlight>
                  <a:schemeClr val="lt1"/>
                </a:highlight>
                <a:latin typeface="Times New Roman"/>
                <a:ea typeface="Times New Roman"/>
                <a:cs typeface="Times New Roman"/>
                <a:sym typeface="Times New Roman"/>
              </a:rPr>
              <a:t>method.</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4D4C4C"/>
              </a:buClr>
              <a:buSzPts val="1800"/>
              <a:buFont typeface="Times New Roman"/>
              <a:buChar char="●"/>
            </a:pPr>
            <a:r>
              <a:rPr b="1" lang="en-GB" sz="2000">
                <a:solidFill>
                  <a:srgbClr val="000000"/>
                </a:solidFill>
                <a:highlight>
                  <a:schemeClr val="lt1"/>
                </a:highlight>
                <a:latin typeface="Times New Roman"/>
                <a:ea typeface="Times New Roman"/>
                <a:cs typeface="Times New Roman"/>
                <a:sym typeface="Times New Roman"/>
              </a:rPr>
              <a:t>Asynchronous FIFOs</a:t>
            </a:r>
            <a:r>
              <a:rPr lang="en-GB" sz="2000">
                <a:solidFill>
                  <a:srgbClr val="000000"/>
                </a:solidFill>
                <a:highlight>
                  <a:schemeClr val="lt1"/>
                </a:highlight>
                <a:latin typeface="Times New Roman"/>
                <a:ea typeface="Times New Roman"/>
                <a:cs typeface="Times New Roman"/>
                <a:sym typeface="Times New Roman"/>
              </a:rPr>
              <a:t>:</a:t>
            </a:r>
            <a:endParaRPr sz="2000">
              <a:solidFill>
                <a:srgbClr val="000000"/>
              </a:solidFill>
              <a:highlight>
                <a:schemeClr val="lt1"/>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4D4C4C"/>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This Clock Domain Crossing (CDC) technique requires a dual port SRAM, a source control block which controls the write pointer (address where the data should be written in SRAM), a destination control block which generates the read pointer (address where the data should be read in SRAM) and binary to gray encoder blocks along with 2-FF synchronizer circuits.</a:t>
            </a:r>
            <a:endParaRPr sz="18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2"/>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5" name="Google Shape;155;p32"/>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The pointers are managed as circular buffer by respective control blocks. However, to know when to write (FIFO not being FULL) and when to read (FIFO not being empty), the source and destination control blocks need to have a view of read and write pointers respectively.</a:t>
            </a:r>
            <a:endParaRPr sz="1800">
              <a:solidFill>
                <a:srgbClr val="000000"/>
              </a:solidFill>
              <a:highlight>
                <a:srgbClr val="FFFFFF"/>
              </a:highlight>
              <a:latin typeface="Times New Roman"/>
              <a:ea typeface="Times New Roman"/>
              <a:cs typeface="Times New Roman"/>
              <a:sym typeface="Times New Roman"/>
            </a:endParaRPr>
          </a:p>
        </p:txBody>
      </p:sp>
      <p:pic>
        <p:nvPicPr>
          <p:cNvPr descr="Article content" id="156" name="Google Shape;156;p32"/>
          <p:cNvPicPr preferRelativeResize="0"/>
          <p:nvPr/>
        </p:nvPicPr>
        <p:blipFill>
          <a:blip r:embed="rId3">
            <a:alphaModFix/>
          </a:blip>
          <a:stretch>
            <a:fillRect/>
          </a:stretch>
        </p:blipFill>
        <p:spPr>
          <a:xfrm>
            <a:off x="2731750" y="1607250"/>
            <a:ext cx="5769200" cy="3382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2" name="Google Shape;162;p33"/>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Transferring of the pointers to another clock domain is not straight forward. Since pointer is a multibit signal so using a 2-FF synchronizer directly is not an option. For this reason, both pointers are passed through a Binary to Gray Encoding block. This makes sure that values when transferred, only one bit of the vector gets updated from one clock to another clock and thus eliminates the problem of synchronizing multibit bus on a clock edge.</a:t>
            </a:r>
            <a:endParaRPr sz="18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4"/>
          <p:cNvSpPr txBox="1"/>
          <p:nvPr>
            <p:ph type="title"/>
          </p:nvPr>
        </p:nvSpPr>
        <p:spPr>
          <a:xfrm>
            <a:off x="277350" y="-9287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Domain Crossing (CDC) Techniques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8" name="Google Shape;168;p34"/>
          <p:cNvSpPr txBox="1"/>
          <p:nvPr>
            <p:ph idx="1" type="body"/>
          </p:nvPr>
        </p:nvSpPr>
        <p:spPr>
          <a:xfrm>
            <a:off x="311700" y="571750"/>
            <a:ext cx="8729700" cy="4418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Eliminate the combinatorial paths between two clock domains when signal is transferred from one clock domain to another clock domain.</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FFs forming the synchronizer circuits must be placed closed to each other to allow smallest possible clock skew between them.</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Never synchronize the same signal in more than one place.</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lnSpc>
                <a:spcPct val="200000"/>
              </a:lnSpc>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Do not use Dual FF synchronizer scheme for a bus of data. Use handshaking technique.</a:t>
            </a:r>
            <a:endParaRPr>
              <a:solidFill>
                <a:srgbClr val="000000"/>
              </a:solidFill>
              <a:highlight>
                <a:schemeClr val="lt1"/>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It is good to invest time in good CDC design techniques rather than spending time in debug. CDC issues are very hard to debug to start with.</a:t>
            </a:r>
            <a:endParaRPr>
              <a:solidFill>
                <a:srgbClr val="000000"/>
              </a:solidFill>
              <a:highlight>
                <a:schemeClr val="lt1"/>
              </a:highlight>
              <a:latin typeface="Times New Roman"/>
              <a:ea typeface="Times New Roman"/>
              <a:cs typeface="Times New Roman"/>
              <a:sym typeface="Times New Roman"/>
            </a:endParaRPr>
          </a:p>
          <a:p>
            <a:pPr indent="0" lvl="0" marL="457200" rtl="0" algn="just">
              <a:spcBef>
                <a:spcPts val="2400"/>
              </a:spcBef>
              <a:spcAft>
                <a:spcPts val="0"/>
              </a:spcAft>
              <a:buNone/>
            </a:pPr>
            <a:r>
              <a:t/>
            </a:r>
            <a:endParaRPr>
              <a:solidFill>
                <a:srgbClr val="000000"/>
              </a:solidFill>
              <a:highlight>
                <a:schemeClr val="lt1"/>
              </a:highlight>
              <a:latin typeface="Times New Roman"/>
              <a:ea typeface="Times New Roman"/>
              <a:cs typeface="Times New Roman"/>
              <a:sym typeface="Times New Roman"/>
            </a:endParaRPr>
          </a:p>
          <a:p>
            <a:pPr indent="0" lvl="0" marL="457200" rtl="0" algn="just">
              <a:spcBef>
                <a:spcPts val="2400"/>
              </a:spcBef>
              <a:spcAft>
                <a:spcPts val="2400"/>
              </a:spcAft>
              <a:buNone/>
            </a:pPr>
            <a:r>
              <a:t/>
            </a:r>
            <a:endParaRPr sz="18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