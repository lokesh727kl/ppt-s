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PT Sans Narrow"/>
      <p:regular r:id="rId27"/>
      <p:bold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TSansNarrow-bold.fntdata"/><Relationship Id="rId27" Type="http://schemas.openxmlformats.org/officeDocument/2006/relationships/font" Target="fonts/PTSansNarrow-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7b93dd2c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7b93dd2c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7b93dd2c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7b93dd2c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7b93dd2c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7b93dd2c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7b93dd2c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7b93dd2c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7b93dd2c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7b93dd2c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7d140187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7d140187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82ffe8e3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82ffe8e3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82ffe8e3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82ffe8e3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82ffe8e3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82ffe8e3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82ffe8e3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82ffe8e3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82ffe8e3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82ffe8e3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7b93dd2c6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7b93dd2c6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7b93dd2c6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7b93dd2c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7b93dd2c6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7b93dd2c6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7d140187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7d140187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7d140187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a7d140187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7d140187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7d140187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7d140187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7d140187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82ffe8e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82ffe8e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7b93dd2c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7b93dd2c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5"/>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457200" lvl="0" marL="1828800" rtl="0" algn="l">
              <a:spcBef>
                <a:spcPts val="0"/>
              </a:spcBef>
              <a:spcAft>
                <a:spcPts val="0"/>
              </a:spcAft>
              <a:buNone/>
            </a:pPr>
            <a:r>
              <a:rPr lang="en-GB"/>
              <a:t>Memory</a:t>
            </a:r>
            <a:endParaRPr/>
          </a:p>
        </p:txBody>
      </p:sp>
      <p:sp>
        <p:nvSpPr>
          <p:cNvPr id="112" name="Google Shape;112;p25"/>
          <p:cNvSpPr txBox="1"/>
          <p:nvPr>
            <p:ph idx="1" type="subTitle"/>
          </p:nvPr>
        </p:nvSpPr>
        <p:spPr>
          <a:xfrm>
            <a:off x="2513950" y="2774175"/>
            <a:ext cx="4297800" cy="792600"/>
          </a:xfrm>
          <a:prstGeom prst="rect">
            <a:avLst/>
          </a:prstGeom>
        </p:spPr>
        <p:txBody>
          <a:bodyPr anchorCtr="0" anchor="t" bIns="91425" lIns="91425" spcFirstLastPara="1" rIns="91425" wrap="square" tIns="91425">
            <a:normAutofit fontScale="55000"/>
          </a:bodyPr>
          <a:lstStyle/>
          <a:p>
            <a:pPr indent="0" lvl="0" marL="2286000" rtl="0" algn="l">
              <a:spcBef>
                <a:spcPts val="0"/>
              </a:spcBef>
              <a:spcAft>
                <a:spcPts val="0"/>
              </a:spcAft>
              <a:buNone/>
            </a:pPr>
            <a:r>
              <a:rPr b="1" lang="en-GB" sz="3600">
                <a:solidFill>
                  <a:schemeClr val="accent1"/>
                </a:solidFill>
                <a:latin typeface="PT Sans Narrow"/>
                <a:ea typeface="PT Sans Narrow"/>
                <a:cs typeface="PT Sans Narrow"/>
                <a:sym typeface="PT Sans Narrow"/>
              </a:rPr>
              <a:t>    K.LOKESH</a:t>
            </a:r>
            <a:endParaRPr b="1" sz="3600">
              <a:solidFill>
                <a:schemeClr val="accent1"/>
              </a:solidFill>
              <a:latin typeface="PT Sans Narrow"/>
              <a:ea typeface="PT Sans Narrow"/>
              <a:cs typeface="PT Sans Narrow"/>
              <a:sym typeface="PT Sans Narrow"/>
            </a:endParaRPr>
          </a:p>
          <a:p>
            <a:pPr indent="457200" lvl="0" marL="1371600" rtl="0" algn="l">
              <a:spcBef>
                <a:spcPts val="0"/>
              </a:spcBef>
              <a:spcAft>
                <a:spcPts val="0"/>
              </a:spcAft>
              <a:buNone/>
            </a:pPr>
            <a:r>
              <a:rPr b="1" lang="en-GB" sz="2257">
                <a:solidFill>
                  <a:schemeClr val="accent1"/>
                </a:solidFill>
                <a:latin typeface="PT Sans Narrow"/>
                <a:ea typeface="PT Sans Narrow"/>
                <a:cs typeface="PT Sans Narrow"/>
                <a:sym typeface="PT Sans Narrow"/>
              </a:rPr>
              <a:t>Chipweave Technologies Private Limited</a:t>
            </a:r>
            <a:endParaRPr b="1" sz="2257">
              <a:solidFill>
                <a:schemeClr val="accent1"/>
              </a:solidFill>
              <a:latin typeface="PT Sans Narrow"/>
              <a:ea typeface="PT Sans Narrow"/>
              <a:cs typeface="PT Sans Narrow"/>
              <a:sym typeface="PT Sans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6"/>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  </a:t>
            </a:r>
            <a:r>
              <a:rPr lang="en-GB" sz="2620">
                <a:highlight>
                  <a:schemeClr val="lt1"/>
                </a:highlight>
                <a:latin typeface="Times New Roman"/>
                <a:ea typeface="Times New Roman"/>
                <a:cs typeface="Times New Roman"/>
                <a:sym typeface="Times New Roman"/>
              </a:rPr>
              <a:t>Memory Hierarchy </a:t>
            </a:r>
            <a:endParaRPr sz="3700"/>
          </a:p>
        </p:txBody>
      </p:sp>
      <p:sp>
        <p:nvSpPr>
          <p:cNvPr id="118" name="Google Shape;118;p26"/>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A memory hierarchy organizes different types of memory in a computer system based on access speed, cost, and capacity.</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 It aims to balance speed and cost by providing fast but smaller memory closer to the CPU and slower but larger memory further away.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This arrangement allows for efficient data access, as frequently used data can be stored in faster memory levels, while less frequently used data can be stored in slower, larger, and more cost-effective levels.</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sz="2000">
              <a:solidFill>
                <a:srgbClr val="202122"/>
              </a:solidFill>
              <a:highlight>
                <a:srgbClr val="FFFFFF"/>
              </a:highlight>
              <a:latin typeface="Times New Roman"/>
              <a:ea typeface="Times New Roman"/>
              <a:cs typeface="Times New Roman"/>
              <a:sym typeface="Times New Roman"/>
            </a:endParaRPr>
          </a:p>
        </p:txBody>
      </p:sp>
      <p:pic>
        <p:nvPicPr>
          <p:cNvPr id="119" name="Google Shape;119;p26"/>
          <p:cNvPicPr preferRelativeResize="0"/>
          <p:nvPr/>
        </p:nvPicPr>
        <p:blipFill>
          <a:blip r:embed="rId3">
            <a:alphaModFix/>
          </a:blip>
          <a:stretch>
            <a:fillRect/>
          </a:stretch>
        </p:blipFill>
        <p:spPr>
          <a:xfrm>
            <a:off x="4365600" y="2527200"/>
            <a:ext cx="4245826" cy="246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7"/>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  Levels of Memory Hierarchy </a:t>
            </a:r>
            <a:endParaRPr sz="3700"/>
          </a:p>
        </p:txBody>
      </p:sp>
      <p:sp>
        <p:nvSpPr>
          <p:cNvPr id="125" name="Google Shape;125;p27"/>
          <p:cNvSpPr txBox="1"/>
          <p:nvPr>
            <p:ph idx="1" type="body"/>
          </p:nvPr>
        </p:nvSpPr>
        <p:spPr>
          <a:xfrm>
            <a:off x="311700" y="522800"/>
            <a:ext cx="8729700" cy="4043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55600" lvl="0" marL="457200" rtl="0" algn="just">
              <a:lnSpc>
                <a:spcPct val="115000"/>
              </a:lnSpc>
              <a:spcBef>
                <a:spcPts val="0"/>
              </a:spcBef>
              <a:spcAft>
                <a:spcPts val="0"/>
              </a:spcAft>
              <a:buClr>
                <a:srgbClr val="000000"/>
              </a:buClr>
              <a:buSzPts val="2000"/>
              <a:buFont typeface="Times New Roman"/>
              <a:buAutoNum type="arabicPeriod"/>
            </a:pPr>
            <a:r>
              <a:rPr b="1" lang="en-GB" sz="2000">
                <a:solidFill>
                  <a:srgbClr val="000000"/>
                </a:solidFill>
                <a:highlight>
                  <a:srgbClr val="FFFFFF"/>
                </a:highlight>
                <a:latin typeface="Times New Roman"/>
                <a:ea typeface="Times New Roman"/>
                <a:cs typeface="Times New Roman"/>
                <a:sym typeface="Times New Roman"/>
              </a:rPr>
              <a:t>CPU Registers</a:t>
            </a:r>
            <a:r>
              <a:rPr lang="en-GB" sz="2000">
                <a:solidFill>
                  <a:srgbClr val="000000"/>
                </a:solidFill>
                <a:highlight>
                  <a:srgbClr val="FFFFFF"/>
                </a:highlight>
                <a:latin typeface="Times New Roman"/>
                <a:ea typeface="Times New Roman"/>
                <a:cs typeface="Times New Roman"/>
                <a:sym typeface="Times New Roman"/>
              </a:rPr>
              <a:t> </a:t>
            </a:r>
            <a:r>
              <a:rPr lang="en-GB">
                <a:solidFill>
                  <a:srgbClr val="000000"/>
                </a:solidFill>
                <a:highlight>
                  <a:srgbClr val="FFFFFF"/>
                </a:highlight>
                <a:latin typeface="Times New Roman"/>
                <a:ea typeface="Times New Roman"/>
                <a:cs typeface="Times New Roman"/>
                <a:sym typeface="Times New Roman"/>
              </a:rPr>
              <a:t>The fastest and smallest memory, directly accessed by the CPU, often used for current operations and data</a:t>
            </a:r>
            <a:r>
              <a:rPr lang="en-GB" sz="2000">
                <a:solidFill>
                  <a:srgbClr val="000000"/>
                </a:solidFill>
                <a:highlight>
                  <a:srgbClr val="FFFFFF"/>
                </a:highlight>
                <a:latin typeface="Times New Roman"/>
                <a:ea typeface="Times New Roman"/>
                <a:cs typeface="Times New Roman"/>
                <a:sym typeface="Times New Roman"/>
              </a:rPr>
              <a:t>. </a:t>
            </a:r>
            <a:endParaRPr sz="2000">
              <a:solidFill>
                <a:srgbClr val="000000"/>
              </a:solidFill>
              <a:highlight>
                <a:srgbClr val="FFFFFF"/>
              </a:highlight>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rgbClr val="000000"/>
              </a:buClr>
              <a:buSzPts val="2000"/>
              <a:buFont typeface="Times New Roman"/>
              <a:buAutoNum type="arabicPeriod"/>
            </a:pPr>
            <a:r>
              <a:rPr b="1" lang="en-GB" sz="2000">
                <a:solidFill>
                  <a:srgbClr val="000000"/>
                </a:solidFill>
                <a:highlight>
                  <a:srgbClr val="FFFFFF"/>
                </a:highlight>
                <a:latin typeface="Times New Roman"/>
                <a:ea typeface="Times New Roman"/>
                <a:cs typeface="Times New Roman"/>
                <a:sym typeface="Times New Roman"/>
              </a:rPr>
              <a:t>Cache Memory</a:t>
            </a:r>
            <a:r>
              <a:rPr lang="en-GB" sz="2000">
                <a:solidFill>
                  <a:srgbClr val="000000"/>
                </a:solidFill>
                <a:highlight>
                  <a:srgbClr val="FFFFFF"/>
                </a:highlight>
                <a:latin typeface="Times New Roman"/>
                <a:ea typeface="Times New Roman"/>
                <a:cs typeface="Times New Roman"/>
                <a:sym typeface="Times New Roman"/>
              </a:rPr>
              <a:t> </a:t>
            </a:r>
            <a:r>
              <a:rPr lang="en-GB">
                <a:solidFill>
                  <a:srgbClr val="000000"/>
                </a:solidFill>
                <a:highlight>
                  <a:srgbClr val="FFFFFF"/>
                </a:highlight>
                <a:latin typeface="Times New Roman"/>
                <a:ea typeface="Times New Roman"/>
                <a:cs typeface="Times New Roman"/>
                <a:sym typeface="Times New Roman"/>
              </a:rPr>
              <a:t>Faster than main memory but smaller in capacity, used to store frequently accessed data and instructions for faster retrieval by the CPU</a:t>
            </a:r>
            <a:r>
              <a:rPr lang="en-GB" sz="2000">
                <a:solidFill>
                  <a:srgbClr val="000000"/>
                </a:solidFill>
                <a:highlight>
                  <a:srgbClr val="FFFFFF"/>
                </a:highlight>
                <a:latin typeface="Times New Roman"/>
                <a:ea typeface="Times New Roman"/>
                <a:cs typeface="Times New Roman"/>
                <a:sym typeface="Times New Roman"/>
              </a:rPr>
              <a:t>. </a:t>
            </a:r>
            <a:endParaRPr sz="2000">
              <a:solidFill>
                <a:srgbClr val="000000"/>
              </a:solidFill>
              <a:highlight>
                <a:srgbClr val="FFFFFF"/>
              </a:highlight>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rgbClr val="000000"/>
              </a:buClr>
              <a:buSzPts val="2000"/>
              <a:buFont typeface="Times New Roman"/>
              <a:buAutoNum type="arabicPeriod"/>
            </a:pPr>
            <a:r>
              <a:rPr b="1" lang="en-GB" sz="2000">
                <a:solidFill>
                  <a:srgbClr val="000000"/>
                </a:solidFill>
                <a:highlight>
                  <a:srgbClr val="FFFFFF"/>
                </a:highlight>
                <a:latin typeface="Times New Roman"/>
                <a:ea typeface="Times New Roman"/>
                <a:cs typeface="Times New Roman"/>
                <a:sym typeface="Times New Roman"/>
              </a:rPr>
              <a:t>Main Memory</a:t>
            </a:r>
            <a:r>
              <a:rPr lang="en-GB" sz="2000">
                <a:solidFill>
                  <a:srgbClr val="000000"/>
                </a:solidFill>
                <a:highlight>
                  <a:srgbClr val="FFFFFF"/>
                </a:highlight>
                <a:latin typeface="Times New Roman"/>
                <a:ea typeface="Times New Roman"/>
                <a:cs typeface="Times New Roman"/>
                <a:sym typeface="Times New Roman"/>
              </a:rPr>
              <a:t> (RAM) </a:t>
            </a:r>
            <a:r>
              <a:rPr lang="en-GB">
                <a:solidFill>
                  <a:srgbClr val="000000"/>
                </a:solidFill>
                <a:highlight>
                  <a:srgbClr val="FFFFFF"/>
                </a:highlight>
                <a:latin typeface="Times New Roman"/>
                <a:ea typeface="Times New Roman"/>
                <a:cs typeface="Times New Roman"/>
                <a:sym typeface="Times New Roman"/>
              </a:rPr>
              <a:t>Larger and slower than cache memory, the primary storage for active programs and data, readily accessible by the CPU</a:t>
            </a:r>
            <a:r>
              <a:rPr lang="en-GB" sz="2000">
                <a:solidFill>
                  <a:srgbClr val="000000"/>
                </a:solidFill>
                <a:highlight>
                  <a:srgbClr val="FFFFFF"/>
                </a:highlight>
                <a:latin typeface="Times New Roman"/>
                <a:ea typeface="Times New Roman"/>
                <a:cs typeface="Times New Roman"/>
                <a:sym typeface="Times New Roman"/>
              </a:rPr>
              <a:t>. </a:t>
            </a:r>
            <a:endParaRPr sz="2000">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AutoNum type="arabicPeriod"/>
            </a:pPr>
            <a:r>
              <a:rPr lang="en-GB">
                <a:solidFill>
                  <a:srgbClr val="000000"/>
                </a:solidFill>
                <a:highlight>
                  <a:srgbClr val="FFFFFF"/>
                </a:highlight>
                <a:latin typeface="Times New Roman"/>
                <a:ea typeface="Times New Roman"/>
                <a:cs typeface="Times New Roman"/>
                <a:sym typeface="Times New Roman"/>
              </a:rPr>
              <a:t>Secondary Storage (Hard Disks, SSDs) Slower than main memory but with high capacity, used for storing data that is not currently in use but needs to be preserved.</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AutoNum type="arabicPeriod"/>
            </a:pPr>
            <a:r>
              <a:rPr lang="en-GB">
                <a:solidFill>
                  <a:srgbClr val="000000"/>
                </a:solidFill>
                <a:highlight>
                  <a:srgbClr val="FFFFFF"/>
                </a:highlight>
                <a:latin typeface="Times New Roman"/>
                <a:ea typeface="Times New Roman"/>
                <a:cs typeface="Times New Roman"/>
                <a:sym typeface="Times New Roman"/>
              </a:rPr>
              <a:t>Tertiary Storage (Magnetic Tapes, Optical Disks) The slowest and largest memory, used for archival storage of data that is rarely accessed.</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3000"/>
              </a:spcAft>
              <a:buNone/>
            </a:pPr>
            <a:r>
              <a:rPr lang="en-GB" sz="2600">
                <a:highlight>
                  <a:schemeClr val="lt1"/>
                </a:highlight>
                <a:latin typeface="Times New Roman"/>
                <a:ea typeface="Times New Roman"/>
                <a:cs typeface="Times New Roman"/>
                <a:sym typeface="Times New Roman"/>
              </a:rPr>
              <a:t> </a:t>
            </a:r>
            <a:r>
              <a:rPr lang="en-GB" sz="2600">
                <a:highlight>
                  <a:schemeClr val="lt1"/>
                </a:highlight>
                <a:latin typeface="Times New Roman"/>
                <a:ea typeface="Times New Roman"/>
                <a:cs typeface="Times New Roman"/>
                <a:sym typeface="Times New Roman"/>
              </a:rPr>
              <a:t>Classification Of Memory</a:t>
            </a:r>
            <a:endParaRPr sz="2600"/>
          </a:p>
        </p:txBody>
      </p:sp>
      <p:sp>
        <p:nvSpPr>
          <p:cNvPr id="131" name="Google Shape;131;p28"/>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b="1" lang="en-GB">
                <a:solidFill>
                  <a:srgbClr val="000000"/>
                </a:solidFill>
                <a:highlight>
                  <a:schemeClr val="lt1"/>
                </a:highlight>
                <a:latin typeface="Times New Roman"/>
                <a:ea typeface="Times New Roman"/>
                <a:cs typeface="Times New Roman"/>
                <a:sym typeface="Times New Roman"/>
              </a:rPr>
              <a:t>Volatile Memory</a:t>
            </a:r>
            <a:endParaRPr b="1">
              <a:solidFill>
                <a:srgbClr val="000000"/>
              </a:solidFill>
              <a:highlight>
                <a:schemeClr val="lt1"/>
              </a:highlight>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 Loses data when power is off.</a:t>
            </a:r>
            <a:endParaRPr sz="1800">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Registers </a:t>
            </a:r>
            <a:endParaRPr>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Located inside the CPU Store immediate data like operands, counters</a:t>
            </a:r>
            <a:endParaRPr sz="18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Extremely fast (access time in nanoseconds) </a:t>
            </a:r>
            <a:endParaRPr sz="18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Very limited in size (typically 8–32 general-purpose registers) </a:t>
            </a:r>
            <a:endParaRPr sz="18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Cache Memory </a:t>
            </a:r>
            <a:endParaRPr>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Small memory between CPU and RAM</a:t>
            </a:r>
            <a:endParaRPr sz="18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Stores frequently accessed data/instructions </a:t>
            </a:r>
            <a:endParaRPr sz="18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Types: </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L1 Cache: Closest to CPU, smallest and fastest </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L2 Cache: Slightly larger and slower </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L3 Cache: Shared among CPU cores, larger but slower</a:t>
            </a:r>
            <a:endParaRPr sz="18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3000"/>
              </a:spcAft>
              <a:buNone/>
            </a:pPr>
            <a:r>
              <a:t/>
            </a:r>
            <a:endParaRPr>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9"/>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3000"/>
              </a:spcAft>
              <a:buNone/>
            </a:pPr>
            <a:r>
              <a:rPr lang="en-GB" sz="2600">
                <a:highlight>
                  <a:schemeClr val="lt1"/>
                </a:highlight>
                <a:latin typeface="Times New Roman"/>
                <a:ea typeface="Times New Roman"/>
                <a:cs typeface="Times New Roman"/>
                <a:sym typeface="Times New Roman"/>
              </a:rPr>
              <a:t> </a:t>
            </a:r>
            <a:r>
              <a:rPr lang="en-GB" sz="2600">
                <a:highlight>
                  <a:schemeClr val="lt1"/>
                </a:highlight>
                <a:latin typeface="Times New Roman"/>
                <a:ea typeface="Times New Roman"/>
                <a:cs typeface="Times New Roman"/>
                <a:sym typeface="Times New Roman"/>
              </a:rPr>
              <a:t>Classification Of Memory</a:t>
            </a:r>
            <a:endParaRPr sz="2600"/>
          </a:p>
        </p:txBody>
      </p:sp>
      <p:sp>
        <p:nvSpPr>
          <p:cNvPr id="137" name="Google Shape;137;p29"/>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RAM </a:t>
            </a:r>
            <a:endParaRPr>
              <a:solidFill>
                <a:srgbClr val="000000"/>
              </a:solidFill>
              <a:highlight>
                <a:schemeClr val="lt1"/>
              </a:highlight>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Used for storing runtime data like variables, stack, heap, buffers. </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 SRAM (Static RAM)    </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20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  DRAM (Dynamic RAM)</a:t>
            </a:r>
            <a:endParaRPr sz="18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20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 </a:t>
            </a:r>
            <a:r>
              <a:rPr b="1" lang="en-GB">
                <a:solidFill>
                  <a:srgbClr val="000000"/>
                </a:solidFill>
                <a:highlight>
                  <a:schemeClr val="lt1"/>
                </a:highlight>
                <a:latin typeface="Times New Roman"/>
                <a:ea typeface="Times New Roman"/>
                <a:cs typeface="Times New Roman"/>
                <a:sym typeface="Times New Roman"/>
              </a:rPr>
              <a:t>Non-Volatile Memory</a:t>
            </a:r>
            <a:r>
              <a:rPr lang="en-GB">
                <a:solidFill>
                  <a:srgbClr val="000000"/>
                </a:solidFill>
                <a:highlight>
                  <a:schemeClr val="lt1"/>
                </a:highlight>
                <a:latin typeface="Times New Roman"/>
                <a:ea typeface="Times New Roman"/>
                <a:cs typeface="Times New Roman"/>
                <a:sym typeface="Times New Roman"/>
              </a:rPr>
              <a:t> </a:t>
            </a:r>
            <a:endParaRPr>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Retains data without power, common types are: </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1. ROM (Pre-programmed) </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2. Flash Memory (USB,Microcontrollers) </a:t>
            </a:r>
            <a:endParaRPr sz="1800">
              <a:solidFill>
                <a:srgbClr val="000000"/>
              </a:solidFill>
              <a:highlight>
                <a:schemeClr val="lt1"/>
              </a:highlight>
              <a:latin typeface="Times New Roman"/>
              <a:ea typeface="Times New Roman"/>
              <a:cs typeface="Times New Roman"/>
              <a:sym typeface="Times New Roman"/>
            </a:endParaRPr>
          </a:p>
          <a:p>
            <a:pPr indent="-342900" lvl="2" marL="13716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3. Secondary Memory (HDD,SSD)</a:t>
            </a:r>
            <a:endParaRPr sz="1800">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0"/>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  Cache Memory </a:t>
            </a:r>
            <a:endParaRPr sz="3700"/>
          </a:p>
        </p:txBody>
      </p:sp>
      <p:sp>
        <p:nvSpPr>
          <p:cNvPr id="143" name="Google Shape;143;p30"/>
          <p:cNvSpPr txBox="1"/>
          <p:nvPr>
            <p:ph idx="1" type="body"/>
          </p:nvPr>
        </p:nvSpPr>
        <p:spPr>
          <a:xfrm>
            <a:off x="311700" y="522800"/>
            <a:ext cx="8729700" cy="4043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The cache is a high-speed data storage mechanism used to temporarily store frequently accessed or recently used data and instructions.</a:t>
            </a:r>
            <a:endParaRPr>
              <a:solidFill>
                <a:srgbClr val="273239"/>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It is situated between the main memory (RAM) and the central processing unit (CPU) in a computer system. By storing frequently accessed data closer to the CPU, cache enables quicker access times, reducing the latency associated with fetching data from slower main memory.</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Types of Cache </a:t>
            </a:r>
            <a:endParaRPr>
              <a:solidFill>
                <a:srgbClr val="000000"/>
              </a:solidFill>
              <a:highlight>
                <a:srgbClr val="FFFFFF"/>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CPU Cache </a:t>
            </a:r>
            <a:endParaRPr sz="1600">
              <a:solidFill>
                <a:srgbClr val="000000"/>
              </a:solidFill>
              <a:highlight>
                <a:srgbClr val="FFFFFF"/>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Disk Cache </a:t>
            </a:r>
            <a:endParaRPr sz="1600">
              <a:solidFill>
                <a:srgbClr val="000000"/>
              </a:solidFill>
              <a:highlight>
                <a:srgbClr val="FFFFFF"/>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Web Cache </a:t>
            </a:r>
            <a:endParaRPr sz="1600">
              <a:solidFill>
                <a:srgbClr val="000000"/>
              </a:solidFill>
              <a:highlight>
                <a:srgbClr val="FFFFFF"/>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DNS Cache</a:t>
            </a:r>
            <a:endParaRPr sz="1600">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000000"/>
              </a:solidFill>
              <a:highlight>
                <a:srgbClr val="FFFFFF"/>
              </a:highlight>
              <a:latin typeface="Verdana"/>
              <a:ea typeface="Verdana"/>
              <a:cs typeface="Verdana"/>
              <a:sym typeface="Verdana"/>
            </a:endParaRPr>
          </a:p>
        </p:txBody>
      </p:sp>
      <p:pic>
        <p:nvPicPr>
          <p:cNvPr id="144" name="Google Shape;144;p30"/>
          <p:cNvPicPr preferRelativeResize="0"/>
          <p:nvPr/>
        </p:nvPicPr>
        <p:blipFill>
          <a:blip r:embed="rId3">
            <a:alphaModFix/>
          </a:blip>
          <a:stretch>
            <a:fillRect/>
          </a:stretch>
        </p:blipFill>
        <p:spPr>
          <a:xfrm>
            <a:off x="3557800" y="2571738"/>
            <a:ext cx="5067300" cy="1057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1"/>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  CPU cache </a:t>
            </a:r>
            <a:endParaRPr sz="3700"/>
          </a:p>
        </p:txBody>
      </p:sp>
      <p:sp>
        <p:nvSpPr>
          <p:cNvPr id="150" name="Google Shape;150;p31"/>
          <p:cNvSpPr txBox="1"/>
          <p:nvPr>
            <p:ph idx="1" type="body"/>
          </p:nvPr>
        </p:nvSpPr>
        <p:spPr>
          <a:xfrm>
            <a:off x="311700" y="522800"/>
            <a:ext cx="8729700" cy="4043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CPU cache, a fundamental component of modern processors.</a:t>
            </a:r>
            <a:endParaRPr>
              <a:solidFill>
                <a:srgbClr val="273239"/>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A small, very fast memory inside or near the CPU.</a:t>
            </a:r>
            <a:endParaRPr>
              <a:solidFill>
                <a:srgbClr val="273239"/>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Significantly impacts system performance by reducing the time it takes to access frequently used data and instructions</a:t>
            </a:r>
            <a:endParaRPr>
              <a:solidFill>
                <a:srgbClr val="273239"/>
              </a:solidFill>
              <a:highlight>
                <a:srgbClr val="FFFFFF"/>
              </a:highlight>
              <a:latin typeface="Times New Roman"/>
              <a:ea typeface="Times New Roman"/>
              <a:cs typeface="Times New Roman"/>
              <a:sym typeface="Times New Roman"/>
            </a:endParaRPr>
          </a:p>
          <a:p>
            <a:pPr indent="0" lvl="0" marL="457200" rtl="0" algn="l">
              <a:spcBef>
                <a:spcPts val="3000"/>
              </a:spcBef>
              <a:spcAft>
                <a:spcPts val="0"/>
              </a:spcAft>
              <a:buNone/>
            </a:pPr>
            <a:r>
              <a:t/>
            </a:r>
            <a:endParaRPr b="1" sz="1600">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3000"/>
              </a:spcAft>
              <a:buNone/>
            </a:pPr>
            <a:r>
              <a:t/>
            </a:r>
            <a:endParaRPr>
              <a:solidFill>
                <a:srgbClr val="000000"/>
              </a:solidFill>
              <a:highlight>
                <a:srgbClr val="FFFFFF"/>
              </a:highlight>
              <a:latin typeface="Verdana"/>
              <a:ea typeface="Verdana"/>
              <a:cs typeface="Verdana"/>
              <a:sym typeface="Verdana"/>
            </a:endParaRPr>
          </a:p>
        </p:txBody>
      </p:sp>
      <p:pic>
        <p:nvPicPr>
          <p:cNvPr id="151" name="Google Shape;151;p31" title="Screenshot 2025-11-22 155541.png"/>
          <p:cNvPicPr preferRelativeResize="0"/>
          <p:nvPr/>
        </p:nvPicPr>
        <p:blipFill>
          <a:blip r:embed="rId3">
            <a:alphaModFix/>
          </a:blip>
          <a:stretch>
            <a:fillRect/>
          </a:stretch>
        </p:blipFill>
        <p:spPr>
          <a:xfrm>
            <a:off x="1957125" y="1923750"/>
            <a:ext cx="6800850" cy="2351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2"/>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  Types of CPU cache </a:t>
            </a:r>
            <a:endParaRPr sz="3700"/>
          </a:p>
        </p:txBody>
      </p:sp>
      <p:sp>
        <p:nvSpPr>
          <p:cNvPr id="157" name="Google Shape;157;p32"/>
          <p:cNvSpPr txBox="1"/>
          <p:nvPr>
            <p:ph idx="1" type="body"/>
          </p:nvPr>
        </p:nvSpPr>
        <p:spPr>
          <a:xfrm>
            <a:off x="311700" y="522800"/>
            <a:ext cx="8729700" cy="4043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b="1" lang="en-GB" sz="2000">
                <a:solidFill>
                  <a:srgbClr val="273239"/>
                </a:solidFill>
                <a:highlight>
                  <a:srgbClr val="FFFFFF"/>
                </a:highlight>
                <a:latin typeface="Times New Roman"/>
                <a:ea typeface="Times New Roman"/>
                <a:cs typeface="Times New Roman"/>
                <a:sym typeface="Times New Roman"/>
              </a:rPr>
              <a:t>L1 Cache:</a:t>
            </a:r>
            <a:r>
              <a:rPr lang="en-GB" sz="1600">
                <a:solidFill>
                  <a:srgbClr val="273239"/>
                </a:solidFill>
                <a:highlight>
                  <a:srgbClr val="FFFFFF"/>
                </a:highlight>
                <a:latin typeface="Times New Roman"/>
                <a:ea typeface="Times New Roman"/>
                <a:cs typeface="Times New Roman"/>
                <a:sym typeface="Times New Roman"/>
              </a:rPr>
              <a:t> </a:t>
            </a:r>
            <a:endParaRPr sz="1600">
              <a:solidFill>
                <a:srgbClr val="273239"/>
              </a:solidFill>
              <a:highlight>
                <a:srgbClr val="FFFFFF"/>
              </a:highlight>
              <a:latin typeface="Times New Roman"/>
              <a:ea typeface="Times New Roman"/>
              <a:cs typeface="Times New Roman"/>
              <a:sym typeface="Times New Roman"/>
            </a:endParaRPr>
          </a:p>
          <a:p>
            <a:pPr indent="-330200" lvl="2" marL="1371600" rtl="0" algn="just">
              <a:spcBef>
                <a:spcPts val="0"/>
              </a:spcBef>
              <a:spcAft>
                <a:spcPts val="0"/>
              </a:spcAft>
              <a:buClr>
                <a:srgbClr val="000000"/>
              </a:buClr>
              <a:buSzPts val="1600"/>
              <a:buFont typeface="Times New Roman"/>
              <a:buChar char="■"/>
            </a:pPr>
            <a:r>
              <a:rPr lang="en-GB" sz="1600">
                <a:solidFill>
                  <a:srgbClr val="273239"/>
                </a:solidFill>
                <a:highlight>
                  <a:srgbClr val="FFFFFF"/>
                </a:highlight>
                <a:latin typeface="Times New Roman"/>
                <a:ea typeface="Times New Roman"/>
                <a:cs typeface="Times New Roman"/>
                <a:sym typeface="Times New Roman"/>
              </a:rPr>
              <a:t>L1 cache is divided into separate instruction cache (L1i),</a:t>
            </a:r>
            <a:r>
              <a:rPr lang="en-GB" sz="1600">
                <a:solidFill>
                  <a:srgbClr val="000000"/>
                </a:solidFill>
                <a:latin typeface="Times New Roman"/>
                <a:ea typeface="Times New Roman"/>
                <a:cs typeface="Times New Roman"/>
                <a:sym typeface="Times New Roman"/>
              </a:rPr>
              <a:t>which stores CPU operation information,</a:t>
            </a:r>
            <a:r>
              <a:rPr lang="en-GB" sz="1600">
                <a:solidFill>
                  <a:srgbClr val="273239"/>
                </a:solidFill>
                <a:highlight>
                  <a:srgbClr val="FFFFFF"/>
                </a:highlight>
                <a:latin typeface="Times New Roman"/>
                <a:ea typeface="Times New Roman"/>
                <a:cs typeface="Times New Roman"/>
                <a:sym typeface="Times New Roman"/>
              </a:rPr>
              <a:t> and data cache (L1d)</a:t>
            </a:r>
            <a:r>
              <a:rPr lang="en-GB" sz="1600">
                <a:solidFill>
                  <a:srgbClr val="000000"/>
                </a:solidFill>
                <a:latin typeface="Times New Roman"/>
                <a:ea typeface="Times New Roman"/>
                <a:cs typeface="Times New Roman"/>
                <a:sym typeface="Times New Roman"/>
              </a:rPr>
              <a:t>, which stores operation data.</a:t>
            </a:r>
            <a:endParaRPr sz="1600">
              <a:solidFill>
                <a:srgbClr val="000000"/>
              </a:solidFill>
              <a:latin typeface="Times New Roman"/>
              <a:ea typeface="Times New Roman"/>
              <a:cs typeface="Times New Roman"/>
              <a:sym typeface="Times New Roman"/>
            </a:endParaRPr>
          </a:p>
          <a:p>
            <a:pPr indent="-330200" lvl="2" marL="1371600" rtl="0" algn="just">
              <a:spcBef>
                <a:spcPts val="0"/>
              </a:spcBef>
              <a:spcAft>
                <a:spcPts val="0"/>
              </a:spcAft>
              <a:buClr>
                <a:srgbClr val="000000"/>
              </a:buClr>
              <a:buSzPts val="1600"/>
              <a:buFont typeface="Times New Roman"/>
              <a:buChar char="■"/>
            </a:pPr>
            <a:r>
              <a:rPr lang="en-GB" sz="1600">
                <a:solidFill>
                  <a:srgbClr val="273239"/>
                </a:solidFill>
                <a:highlight>
                  <a:srgbClr val="FFFFFF"/>
                </a:highlight>
                <a:latin typeface="Times New Roman"/>
                <a:ea typeface="Times New Roman"/>
                <a:cs typeface="Times New Roman"/>
                <a:sym typeface="Times New Roman"/>
              </a:rPr>
              <a:t>L1 cache is extremely fast but limited in size, typically ranging from a few KBs to a few MBs per core.</a:t>
            </a:r>
            <a:endParaRPr sz="1600">
              <a:solidFill>
                <a:srgbClr val="273239"/>
              </a:solidFill>
              <a:highlight>
                <a:srgbClr val="FFFFFF"/>
              </a:highlight>
              <a:latin typeface="Times New Roman"/>
              <a:ea typeface="Times New Roman"/>
              <a:cs typeface="Times New Roman"/>
              <a:sym typeface="Times New Roman"/>
            </a:endParaRPr>
          </a:p>
          <a:p>
            <a:pPr indent="-330200" lvl="2" marL="1371600" rtl="0" algn="just">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CPU determines L1 cache size.</a:t>
            </a:r>
            <a:endParaRPr sz="1600">
              <a:solidFill>
                <a:srgbClr val="000000"/>
              </a:solidFill>
              <a:highlight>
                <a:srgbClr val="FFFFFF"/>
              </a:highlight>
              <a:latin typeface="Times New Roman"/>
              <a:ea typeface="Times New Roman"/>
              <a:cs typeface="Times New Roman"/>
              <a:sym typeface="Times New Roman"/>
            </a:endParaRPr>
          </a:p>
          <a:p>
            <a:pPr indent="-330200" lvl="0" marL="457200" rtl="0" algn="l">
              <a:spcBef>
                <a:spcPts val="0"/>
              </a:spcBef>
              <a:spcAft>
                <a:spcPts val="0"/>
              </a:spcAft>
              <a:buClr>
                <a:srgbClr val="273239"/>
              </a:buClr>
              <a:buSzPts val="1600"/>
              <a:buFont typeface="Times New Roman"/>
              <a:buChar char="●"/>
            </a:pPr>
            <a:r>
              <a:rPr b="1" lang="en-GB" sz="1600">
                <a:solidFill>
                  <a:srgbClr val="273239"/>
                </a:solidFill>
                <a:highlight>
                  <a:srgbClr val="FFFFFF"/>
                </a:highlight>
                <a:latin typeface="Times New Roman"/>
                <a:ea typeface="Times New Roman"/>
                <a:cs typeface="Times New Roman"/>
                <a:sym typeface="Times New Roman"/>
              </a:rPr>
              <a:t>L2 Cache:</a:t>
            </a:r>
            <a:r>
              <a:rPr lang="en-GB" sz="1600">
                <a:solidFill>
                  <a:srgbClr val="273239"/>
                </a:solidFill>
                <a:highlight>
                  <a:srgbClr val="FFFFFF"/>
                </a:highlight>
                <a:latin typeface="Times New Roman"/>
                <a:ea typeface="Times New Roman"/>
                <a:cs typeface="Times New Roman"/>
                <a:sym typeface="Times New Roman"/>
              </a:rPr>
              <a:t> </a:t>
            </a:r>
            <a:endParaRPr sz="1600">
              <a:solidFill>
                <a:srgbClr val="273239"/>
              </a:solidFill>
              <a:highlight>
                <a:srgbClr val="FFFFFF"/>
              </a:highlight>
              <a:latin typeface="Times New Roman"/>
              <a:ea typeface="Times New Roman"/>
              <a:cs typeface="Times New Roman"/>
              <a:sym typeface="Times New Roman"/>
            </a:endParaRPr>
          </a:p>
          <a:p>
            <a:pPr indent="-330200" lvl="2" marL="1371600" rtl="0" algn="just">
              <a:spcBef>
                <a:spcPts val="0"/>
              </a:spcBef>
              <a:spcAft>
                <a:spcPts val="0"/>
              </a:spcAft>
              <a:buClr>
                <a:srgbClr val="273239"/>
              </a:buClr>
              <a:buSzPts val="1600"/>
              <a:buFont typeface="Times New Roman"/>
              <a:buChar char="■"/>
            </a:pPr>
            <a:r>
              <a:rPr lang="en-GB" sz="1600">
                <a:solidFill>
                  <a:srgbClr val="273239"/>
                </a:solidFill>
                <a:highlight>
                  <a:srgbClr val="FFFFFF"/>
                </a:highlight>
                <a:latin typeface="Times New Roman"/>
                <a:ea typeface="Times New Roman"/>
                <a:cs typeface="Times New Roman"/>
                <a:sym typeface="Times New Roman"/>
              </a:rPr>
              <a:t>L2 cache serves as a secondary cache, larger than L1 but slower in access speed. It is shared among CPU cores within a single CPU core complex or chip.</a:t>
            </a:r>
            <a:endParaRPr sz="1600">
              <a:solidFill>
                <a:srgbClr val="273239"/>
              </a:solidFill>
              <a:highlight>
                <a:srgbClr val="FFFFFF"/>
              </a:highlight>
              <a:latin typeface="Times New Roman"/>
              <a:ea typeface="Times New Roman"/>
              <a:cs typeface="Times New Roman"/>
              <a:sym typeface="Times New Roman"/>
            </a:endParaRPr>
          </a:p>
          <a:p>
            <a:pPr indent="-330200" lvl="0" marL="457200" rtl="0" algn="l">
              <a:spcBef>
                <a:spcPts val="0"/>
              </a:spcBef>
              <a:spcAft>
                <a:spcPts val="0"/>
              </a:spcAft>
              <a:buClr>
                <a:srgbClr val="273239"/>
              </a:buClr>
              <a:buSzPts val="1600"/>
              <a:buFont typeface="Times New Roman"/>
              <a:buChar char="●"/>
            </a:pPr>
            <a:r>
              <a:rPr b="1" lang="en-GB" sz="1600">
                <a:solidFill>
                  <a:srgbClr val="273239"/>
                </a:solidFill>
                <a:highlight>
                  <a:srgbClr val="FFFFFF"/>
                </a:highlight>
                <a:latin typeface="Times New Roman"/>
                <a:ea typeface="Times New Roman"/>
                <a:cs typeface="Times New Roman"/>
                <a:sym typeface="Times New Roman"/>
              </a:rPr>
              <a:t>L3 Cache: </a:t>
            </a:r>
            <a:endParaRPr b="1" sz="1600">
              <a:solidFill>
                <a:srgbClr val="273239"/>
              </a:solidFill>
              <a:highlight>
                <a:srgbClr val="FFFFFF"/>
              </a:highlight>
              <a:latin typeface="Times New Roman"/>
              <a:ea typeface="Times New Roman"/>
              <a:cs typeface="Times New Roman"/>
              <a:sym typeface="Times New Roman"/>
            </a:endParaRPr>
          </a:p>
          <a:p>
            <a:pPr indent="-330200" lvl="2" marL="1371600" rtl="0" algn="just">
              <a:spcBef>
                <a:spcPts val="0"/>
              </a:spcBef>
              <a:spcAft>
                <a:spcPts val="0"/>
              </a:spcAft>
              <a:buClr>
                <a:srgbClr val="273239"/>
              </a:buClr>
              <a:buSzPts val="1600"/>
              <a:buFont typeface="Times New Roman"/>
              <a:buChar char="■"/>
            </a:pPr>
            <a:r>
              <a:rPr lang="en-GB" sz="1600">
                <a:solidFill>
                  <a:srgbClr val="273239"/>
                </a:solidFill>
                <a:highlight>
                  <a:srgbClr val="FFFFFF"/>
                </a:highlight>
                <a:latin typeface="Times New Roman"/>
                <a:ea typeface="Times New Roman"/>
                <a:cs typeface="Times New Roman"/>
                <a:sym typeface="Times New Roman"/>
              </a:rPr>
              <a:t>L3 cache is the last level of cache in the hierarchy, shared among multiple CPU cores or across multiple CPU sockets. It is larger than L2 cache but slower in access speed.</a:t>
            </a:r>
            <a:endParaRPr sz="1600">
              <a:solidFill>
                <a:srgbClr val="273239"/>
              </a:solidFill>
              <a:highlight>
                <a:srgbClr val="FFFFFF"/>
              </a:highlight>
              <a:latin typeface="Times New Roman"/>
              <a:ea typeface="Times New Roman"/>
              <a:cs typeface="Times New Roman"/>
              <a:sym typeface="Times New Roman"/>
            </a:endParaRPr>
          </a:p>
          <a:p>
            <a:pPr indent="0" lvl="0" marL="0" rtl="0" algn="l">
              <a:spcBef>
                <a:spcPts val="1800"/>
              </a:spcBef>
              <a:spcAft>
                <a:spcPts val="0"/>
              </a:spcAft>
              <a:buNone/>
            </a:pPr>
            <a:r>
              <a:t/>
            </a:r>
            <a:endParaRPr b="1" sz="1600">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3000"/>
              </a:spcAft>
              <a:buNone/>
            </a:pPr>
            <a:r>
              <a:t/>
            </a:r>
            <a:endParaRPr>
              <a:solidFill>
                <a:srgbClr val="000000"/>
              </a:solidFill>
              <a:highlight>
                <a:srgbClr val="FFFFFF"/>
              </a:highlight>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3"/>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  Disk cache </a:t>
            </a:r>
            <a:endParaRPr sz="3700"/>
          </a:p>
        </p:txBody>
      </p:sp>
      <p:sp>
        <p:nvSpPr>
          <p:cNvPr id="163" name="Google Shape;163;p33"/>
          <p:cNvSpPr txBox="1"/>
          <p:nvPr>
            <p:ph idx="1" type="body"/>
          </p:nvPr>
        </p:nvSpPr>
        <p:spPr>
          <a:xfrm>
            <a:off x="311700" y="522800"/>
            <a:ext cx="8729700" cy="4043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Disk cache, also known as buffer cache, </a:t>
            </a:r>
            <a:r>
              <a:rPr lang="en-GB" sz="1600">
                <a:solidFill>
                  <a:srgbClr val="273239"/>
                </a:solidFill>
                <a:highlight>
                  <a:srgbClr val="FFFFFF"/>
                </a:highlight>
                <a:latin typeface="Times New Roman"/>
                <a:ea typeface="Times New Roman"/>
                <a:cs typeface="Times New Roman"/>
                <a:sym typeface="Times New Roman"/>
              </a:rPr>
              <a:t>[</a:t>
            </a:r>
            <a:r>
              <a:rPr lang="en-GB" sz="1600">
                <a:solidFill>
                  <a:srgbClr val="000000"/>
                </a:solidFill>
                <a:latin typeface="Times New Roman"/>
                <a:ea typeface="Times New Roman"/>
                <a:cs typeface="Times New Roman"/>
                <a:sym typeface="Times New Roman"/>
              </a:rPr>
              <a:t>A memory buffer between </a:t>
            </a:r>
            <a:r>
              <a:rPr b="1" lang="en-GB" sz="1600">
                <a:solidFill>
                  <a:srgbClr val="000000"/>
                </a:solidFill>
                <a:latin typeface="Times New Roman"/>
                <a:ea typeface="Times New Roman"/>
                <a:cs typeface="Times New Roman"/>
                <a:sym typeface="Times New Roman"/>
              </a:rPr>
              <a:t>RAM</a:t>
            </a:r>
            <a:r>
              <a:rPr lang="en-GB" sz="1600">
                <a:solidFill>
                  <a:srgbClr val="000000"/>
                </a:solidFill>
                <a:latin typeface="Times New Roman"/>
                <a:ea typeface="Times New Roman"/>
                <a:cs typeface="Times New Roman"/>
                <a:sym typeface="Times New Roman"/>
              </a:rPr>
              <a:t> and </a:t>
            </a:r>
            <a:r>
              <a:rPr b="1" lang="en-GB" sz="1600">
                <a:solidFill>
                  <a:srgbClr val="000000"/>
                </a:solidFill>
                <a:latin typeface="Times New Roman"/>
                <a:ea typeface="Times New Roman"/>
                <a:cs typeface="Times New Roman"/>
                <a:sym typeface="Times New Roman"/>
              </a:rPr>
              <a:t>storage devices</a:t>
            </a:r>
            <a:r>
              <a:rPr lang="en-GB" sz="1600">
                <a:solidFill>
                  <a:srgbClr val="000000"/>
                </a:solidFill>
                <a:latin typeface="Times New Roman"/>
                <a:ea typeface="Times New Roman"/>
                <a:cs typeface="Times New Roman"/>
                <a:sym typeface="Times New Roman"/>
              </a:rPr>
              <a:t> (HDD/SSD)]</a:t>
            </a:r>
            <a:r>
              <a:rPr lang="en-GB">
                <a:solidFill>
                  <a:srgbClr val="000000"/>
                </a:solidFill>
                <a:latin typeface="Times New Roman"/>
                <a:ea typeface="Times New Roman"/>
                <a:cs typeface="Times New Roman"/>
                <a:sym typeface="Times New Roman"/>
              </a:rPr>
              <a:t>.</a:t>
            </a:r>
            <a:r>
              <a:rPr lang="en-GB">
                <a:solidFill>
                  <a:srgbClr val="273239"/>
                </a:solidFill>
                <a:highlight>
                  <a:srgbClr val="FFFFFF"/>
                </a:highlight>
                <a:latin typeface="Times New Roman"/>
                <a:ea typeface="Times New Roman"/>
                <a:cs typeface="Times New Roman"/>
                <a:sym typeface="Times New Roman"/>
              </a:rPr>
              <a:t> </a:t>
            </a:r>
            <a:endParaRPr>
              <a:solidFill>
                <a:srgbClr val="273239"/>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It is a mechanism used to improve disk I/O performance by temporarily storing recently accessed data in memory.</a:t>
            </a:r>
            <a:endParaRPr>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a:solidFill>
                <a:srgbClr val="273239"/>
              </a:solidFill>
              <a:highlight>
                <a:srgbClr val="FFFFFF"/>
              </a:highlight>
              <a:latin typeface="Times New Roman"/>
              <a:ea typeface="Times New Roman"/>
              <a:cs typeface="Times New Roman"/>
              <a:sym typeface="Times New Roman"/>
            </a:endParaRPr>
          </a:p>
          <a:p>
            <a:pPr indent="0" lvl="0" marL="457200" rtl="0" algn="l">
              <a:spcBef>
                <a:spcPts val="3000"/>
              </a:spcBef>
              <a:spcAft>
                <a:spcPts val="0"/>
              </a:spcAft>
              <a:buNone/>
            </a:pPr>
            <a:r>
              <a:t/>
            </a:r>
            <a:endParaRPr b="1" sz="1600">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3000"/>
              </a:spcAft>
              <a:buNone/>
            </a:pPr>
            <a:r>
              <a:t/>
            </a:r>
            <a:endParaRPr>
              <a:solidFill>
                <a:srgbClr val="000000"/>
              </a:solidFill>
              <a:highlight>
                <a:srgbClr val="FFFFFF"/>
              </a:highlight>
              <a:latin typeface="Verdana"/>
              <a:ea typeface="Verdana"/>
              <a:cs typeface="Verdana"/>
              <a:sym typeface="Verdana"/>
            </a:endParaRPr>
          </a:p>
        </p:txBody>
      </p:sp>
      <p:pic>
        <p:nvPicPr>
          <p:cNvPr id="164" name="Google Shape;164;p33" title="Screenshot 2025-11-22 162521.png"/>
          <p:cNvPicPr preferRelativeResize="0"/>
          <p:nvPr/>
        </p:nvPicPr>
        <p:blipFill>
          <a:blip r:embed="rId3">
            <a:alphaModFix/>
          </a:blip>
          <a:stretch>
            <a:fillRect/>
          </a:stretch>
        </p:blipFill>
        <p:spPr>
          <a:xfrm>
            <a:off x="1471400" y="2200150"/>
            <a:ext cx="6410325" cy="1859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  Web cache </a:t>
            </a:r>
            <a:endParaRPr sz="3700"/>
          </a:p>
        </p:txBody>
      </p:sp>
      <p:sp>
        <p:nvSpPr>
          <p:cNvPr id="170" name="Google Shape;170;p34"/>
          <p:cNvSpPr txBox="1"/>
          <p:nvPr>
            <p:ph idx="1" type="body"/>
          </p:nvPr>
        </p:nvSpPr>
        <p:spPr>
          <a:xfrm>
            <a:off x="311700" y="522800"/>
            <a:ext cx="8729700" cy="4043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Web cache, also known as a web proxy cache, is a mechanism used to store copies of web content such as HTML pages, images, and multimedia files locally on servers or client devices.</a:t>
            </a:r>
            <a:endParaRPr>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a:solidFill>
                <a:srgbClr val="273239"/>
              </a:solidFill>
              <a:highlight>
                <a:srgbClr val="FFFFFF"/>
              </a:highlight>
              <a:latin typeface="Times New Roman"/>
              <a:ea typeface="Times New Roman"/>
              <a:cs typeface="Times New Roman"/>
              <a:sym typeface="Times New Roman"/>
            </a:endParaRPr>
          </a:p>
          <a:p>
            <a:pPr indent="0" lvl="0" marL="457200" rtl="0" algn="l">
              <a:spcBef>
                <a:spcPts val="3000"/>
              </a:spcBef>
              <a:spcAft>
                <a:spcPts val="0"/>
              </a:spcAft>
              <a:buNone/>
            </a:pPr>
            <a:r>
              <a:t/>
            </a:r>
            <a:endParaRPr b="1" sz="1600">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3000"/>
              </a:spcAft>
              <a:buNone/>
            </a:pPr>
            <a:r>
              <a:t/>
            </a:r>
            <a:endParaRPr>
              <a:solidFill>
                <a:srgbClr val="000000"/>
              </a:solidFill>
              <a:highlight>
                <a:srgbClr val="FFFFFF"/>
              </a:highlight>
              <a:latin typeface="Verdana"/>
              <a:ea typeface="Verdana"/>
              <a:cs typeface="Verdana"/>
              <a:sym typeface="Verdana"/>
            </a:endParaRPr>
          </a:p>
        </p:txBody>
      </p:sp>
      <p:pic>
        <p:nvPicPr>
          <p:cNvPr id="171" name="Google Shape;171;p34" title="Screenshot 2025-11-22 163619.png"/>
          <p:cNvPicPr preferRelativeResize="0"/>
          <p:nvPr/>
        </p:nvPicPr>
        <p:blipFill>
          <a:blip r:embed="rId3">
            <a:alphaModFix/>
          </a:blip>
          <a:stretch>
            <a:fillRect/>
          </a:stretch>
        </p:blipFill>
        <p:spPr>
          <a:xfrm>
            <a:off x="1879513" y="1841775"/>
            <a:ext cx="6543675" cy="2324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5"/>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  DNS(Domain Name System) cache </a:t>
            </a:r>
            <a:endParaRPr sz="3700"/>
          </a:p>
        </p:txBody>
      </p:sp>
      <p:sp>
        <p:nvSpPr>
          <p:cNvPr id="177" name="Google Shape;177;p35"/>
          <p:cNvSpPr txBox="1"/>
          <p:nvPr>
            <p:ph idx="1" type="body"/>
          </p:nvPr>
        </p:nvSpPr>
        <p:spPr>
          <a:xfrm>
            <a:off x="311700" y="522800"/>
            <a:ext cx="8729700" cy="4043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273239"/>
                </a:solidFill>
                <a:highlight>
                  <a:srgbClr val="FFFFFF"/>
                </a:highlight>
                <a:latin typeface="Times New Roman"/>
                <a:ea typeface="Times New Roman"/>
                <a:cs typeface="Times New Roman"/>
                <a:sym typeface="Times New Roman"/>
              </a:rPr>
              <a:t>DNS cache, also known as a resolver cache, is a mechanism used to temporarily store recently resolved domain name-to-IP address mappings locally on client devices or DNS servers.</a:t>
            </a:r>
            <a:endParaRPr>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a:solidFill>
                <a:srgbClr val="273239"/>
              </a:solidFill>
              <a:highlight>
                <a:srgbClr val="FFFFFF"/>
              </a:highlight>
              <a:latin typeface="Times New Roman"/>
              <a:ea typeface="Times New Roman"/>
              <a:cs typeface="Times New Roman"/>
              <a:sym typeface="Times New Roman"/>
            </a:endParaRPr>
          </a:p>
          <a:p>
            <a:pPr indent="0" lvl="0" marL="457200" rtl="0" algn="l">
              <a:spcBef>
                <a:spcPts val="3000"/>
              </a:spcBef>
              <a:spcAft>
                <a:spcPts val="0"/>
              </a:spcAft>
              <a:buNone/>
            </a:pPr>
            <a:r>
              <a:t/>
            </a:r>
            <a:endParaRPr b="1" sz="1600">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3000"/>
              </a:spcAft>
              <a:buNone/>
            </a:pPr>
            <a:r>
              <a:t/>
            </a:r>
            <a:endParaRPr>
              <a:solidFill>
                <a:srgbClr val="000000"/>
              </a:solidFill>
              <a:highlight>
                <a:srgbClr val="FFFFFF"/>
              </a:highlight>
              <a:latin typeface="Verdana"/>
              <a:ea typeface="Verdana"/>
              <a:cs typeface="Verdana"/>
              <a:sym typeface="Verdana"/>
            </a:endParaRPr>
          </a:p>
        </p:txBody>
      </p:sp>
      <p:pic>
        <p:nvPicPr>
          <p:cNvPr id="178" name="Google Shape;178;p35" title="Screenshot 2025-11-22 163940.png"/>
          <p:cNvPicPr preferRelativeResize="0"/>
          <p:nvPr/>
        </p:nvPicPr>
        <p:blipFill>
          <a:blip r:embed="rId3">
            <a:alphaModFix/>
          </a:blip>
          <a:stretch>
            <a:fillRect/>
          </a:stretch>
        </p:blipFill>
        <p:spPr>
          <a:xfrm>
            <a:off x="2513525" y="1421538"/>
            <a:ext cx="5314950" cy="2771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6"/>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b="0" lang="en-GB" sz="2620">
                <a:highlight>
                  <a:schemeClr val="lt1"/>
                </a:highlight>
                <a:latin typeface="Times New Roman"/>
                <a:ea typeface="Times New Roman"/>
                <a:cs typeface="Times New Roman"/>
                <a:sym typeface="Times New Roman"/>
              </a:rPr>
              <a:t>  </a:t>
            </a:r>
            <a:r>
              <a:rPr b="0" lang="en-GB" sz="2820">
                <a:highlight>
                  <a:schemeClr val="lt1"/>
                </a:highlight>
                <a:latin typeface="Times New Roman"/>
                <a:ea typeface="Times New Roman"/>
                <a:cs typeface="Times New Roman"/>
                <a:sym typeface="Times New Roman"/>
              </a:rPr>
              <a:t>SRAM</a:t>
            </a:r>
            <a:endParaRPr b="0" sz="3900"/>
          </a:p>
        </p:txBody>
      </p:sp>
      <p:sp>
        <p:nvSpPr>
          <p:cNvPr id="184" name="Google Shape;184;p36"/>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b="1" lang="en-GB">
                <a:solidFill>
                  <a:srgbClr val="000000"/>
                </a:solidFill>
                <a:latin typeface="Times New Roman"/>
                <a:ea typeface="Times New Roman"/>
                <a:cs typeface="Times New Roman"/>
                <a:sym typeface="Times New Roman"/>
              </a:rPr>
              <a:t>Static Random-Access Memory (SRAM)</a:t>
            </a:r>
            <a:r>
              <a:rPr lang="en-GB">
                <a:solidFill>
                  <a:srgbClr val="000000"/>
                </a:solidFill>
                <a:latin typeface="Times New Roman"/>
                <a:ea typeface="Times New Roman"/>
                <a:cs typeface="Times New Roman"/>
                <a:sym typeface="Times New Roman"/>
              </a:rPr>
              <a:t> is a type of semiconductor memory that uses bistable latching circuitry to store each bit of data.</a:t>
            </a:r>
            <a:r>
              <a:rPr lang="en-GB">
                <a:solidFill>
                  <a:srgbClr val="000000"/>
                </a:solidFill>
                <a:highlight>
                  <a:srgbClr val="FFFFFF"/>
                </a:highlight>
                <a:latin typeface="Times New Roman"/>
                <a:ea typeface="Times New Roman"/>
                <a:cs typeface="Times New Roman"/>
                <a:sym typeface="Times New Roman"/>
              </a:rPr>
              <a:t>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Static means data is retained as long as power is supplied, without the need for refreshing.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Random access means that each bit of the data could be read/written independently.</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Used for fast-access, low-latency applications.</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Requires no refresh like DRAM because it uses flip-flop circuits.</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 Larger in size. (Low density device)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There are two kinds of power: Static and Dynamic Power. In SRAM: </a:t>
            </a:r>
            <a:endParaRPr>
              <a:solidFill>
                <a:srgbClr val="000000"/>
              </a:solidFill>
              <a:highlight>
                <a:schemeClr val="lt1"/>
              </a:highlight>
              <a:latin typeface="Times New Roman"/>
              <a:ea typeface="Times New Roman"/>
              <a:cs typeface="Times New Roman"/>
              <a:sym typeface="Times New Roman"/>
            </a:endParaRPr>
          </a:p>
          <a:p>
            <a:pPr indent="-317500" lvl="2" marL="1371600" rtl="0" algn="just">
              <a:spcBef>
                <a:spcPts val="0"/>
              </a:spcBef>
              <a:spcAft>
                <a:spcPts val="0"/>
              </a:spcAft>
              <a:buClr>
                <a:srgbClr val="000000"/>
              </a:buClr>
              <a:buSzPts val="1400"/>
              <a:buFont typeface="Times New Roman"/>
              <a:buChar char="■"/>
            </a:pPr>
            <a:r>
              <a:rPr lang="en-GB">
                <a:solidFill>
                  <a:srgbClr val="000000"/>
                </a:solidFill>
                <a:highlight>
                  <a:schemeClr val="lt1"/>
                </a:highlight>
                <a:latin typeface="Times New Roman"/>
                <a:ea typeface="Times New Roman"/>
                <a:cs typeface="Times New Roman"/>
                <a:sym typeface="Times New Roman"/>
              </a:rPr>
              <a:t>Static power consumption = High (Due to leakage in the always-on transistors).</a:t>
            </a:r>
            <a:endParaRPr>
              <a:solidFill>
                <a:srgbClr val="000000"/>
              </a:solidFill>
              <a:highlight>
                <a:schemeClr val="lt1"/>
              </a:highlight>
              <a:latin typeface="Times New Roman"/>
              <a:ea typeface="Times New Roman"/>
              <a:cs typeface="Times New Roman"/>
              <a:sym typeface="Times New Roman"/>
            </a:endParaRPr>
          </a:p>
          <a:p>
            <a:pPr indent="-317500" lvl="2" marL="1371600" rtl="0" algn="just">
              <a:spcBef>
                <a:spcPts val="0"/>
              </a:spcBef>
              <a:spcAft>
                <a:spcPts val="0"/>
              </a:spcAft>
              <a:buClr>
                <a:srgbClr val="000000"/>
              </a:buClr>
              <a:buSzPts val="1400"/>
              <a:buFont typeface="Times New Roman"/>
              <a:buChar char="■"/>
            </a:pPr>
            <a:r>
              <a:rPr lang="en-GB">
                <a:solidFill>
                  <a:srgbClr val="000000"/>
                </a:solidFill>
                <a:highlight>
                  <a:schemeClr val="lt1"/>
                </a:highlight>
                <a:latin typeface="Times New Roman"/>
                <a:ea typeface="Times New Roman"/>
                <a:cs typeface="Times New Roman"/>
                <a:sym typeface="Times New Roman"/>
              </a:rPr>
              <a:t>Dynamic power consumption = Low (There’s no refresh as DRAM)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Commonly used in: </a:t>
            </a:r>
            <a:endParaRPr>
              <a:solidFill>
                <a:srgbClr val="000000"/>
              </a:solidFill>
              <a:highlight>
                <a:schemeClr val="lt1"/>
              </a:highlight>
              <a:latin typeface="Times New Roman"/>
              <a:ea typeface="Times New Roman"/>
              <a:cs typeface="Times New Roman"/>
              <a:sym typeface="Times New Roman"/>
            </a:endParaRPr>
          </a:p>
          <a:p>
            <a:pPr indent="-317500" lvl="1" marL="914400" rtl="0" algn="just">
              <a:spcBef>
                <a:spcPts val="0"/>
              </a:spcBef>
              <a:spcAft>
                <a:spcPts val="0"/>
              </a:spcAft>
              <a:buClr>
                <a:srgbClr val="000000"/>
              </a:buClr>
              <a:buSzPts val="1400"/>
              <a:buFont typeface="Times New Roman"/>
              <a:buChar char="○"/>
            </a:pPr>
            <a:r>
              <a:rPr lang="en-GB">
                <a:solidFill>
                  <a:srgbClr val="000000"/>
                </a:solidFill>
                <a:highlight>
                  <a:schemeClr val="lt1"/>
                </a:highlight>
                <a:latin typeface="Times New Roman"/>
                <a:ea typeface="Times New Roman"/>
                <a:cs typeface="Times New Roman"/>
                <a:sym typeface="Times New Roman"/>
              </a:rPr>
              <a:t>CPU caches (L1, L2, L3) </a:t>
            </a:r>
            <a:endParaRPr>
              <a:solidFill>
                <a:srgbClr val="000000"/>
              </a:solidFill>
              <a:highlight>
                <a:schemeClr val="lt1"/>
              </a:highlight>
              <a:latin typeface="Times New Roman"/>
              <a:ea typeface="Times New Roman"/>
              <a:cs typeface="Times New Roman"/>
              <a:sym typeface="Times New Roman"/>
            </a:endParaRPr>
          </a:p>
          <a:p>
            <a:pPr indent="-317500" lvl="1" marL="914400" rtl="0" algn="just">
              <a:spcBef>
                <a:spcPts val="0"/>
              </a:spcBef>
              <a:spcAft>
                <a:spcPts val="0"/>
              </a:spcAft>
              <a:buClr>
                <a:srgbClr val="000000"/>
              </a:buClr>
              <a:buSzPts val="1400"/>
              <a:buFont typeface="Times New Roman"/>
              <a:buChar char="○"/>
            </a:pPr>
            <a:r>
              <a:rPr lang="en-GB">
                <a:solidFill>
                  <a:srgbClr val="000000"/>
                </a:solidFill>
                <a:highlight>
                  <a:schemeClr val="lt1"/>
                </a:highlight>
                <a:latin typeface="Times New Roman"/>
                <a:ea typeface="Times New Roman"/>
                <a:cs typeface="Times New Roman"/>
                <a:sym typeface="Times New Roman"/>
              </a:rPr>
              <a:t>Register files </a:t>
            </a:r>
            <a:endParaRPr>
              <a:solidFill>
                <a:srgbClr val="000000"/>
              </a:solidFill>
              <a:highlight>
                <a:schemeClr val="lt1"/>
              </a:highlight>
              <a:latin typeface="Times New Roman"/>
              <a:ea typeface="Times New Roman"/>
              <a:cs typeface="Times New Roman"/>
              <a:sym typeface="Times New Roman"/>
            </a:endParaRPr>
          </a:p>
          <a:p>
            <a:pPr indent="-317500" lvl="1" marL="914400" rtl="0" algn="just">
              <a:spcBef>
                <a:spcPts val="0"/>
              </a:spcBef>
              <a:spcAft>
                <a:spcPts val="0"/>
              </a:spcAft>
              <a:buClr>
                <a:srgbClr val="000000"/>
              </a:buClr>
              <a:buSzPts val="1400"/>
              <a:buFont typeface="Times New Roman"/>
              <a:buChar char="○"/>
            </a:pPr>
            <a:r>
              <a:rPr lang="en-GB">
                <a:solidFill>
                  <a:srgbClr val="000000"/>
                </a:solidFill>
                <a:highlight>
                  <a:schemeClr val="lt1"/>
                </a:highlight>
                <a:latin typeface="Times New Roman"/>
                <a:ea typeface="Times New Roman"/>
                <a:cs typeface="Times New Roman"/>
                <a:sym typeface="Times New Roman"/>
              </a:rPr>
              <a:t>On-chip buffers</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sz="2000">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7"/>
          <p:cNvSpPr txBox="1"/>
          <p:nvPr>
            <p:ph type="title"/>
          </p:nvPr>
        </p:nvSpPr>
        <p:spPr>
          <a:xfrm>
            <a:off x="277350" y="-150675"/>
            <a:ext cx="8589300" cy="33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b="0" lang="en-GB" sz="2620">
                <a:highlight>
                  <a:schemeClr val="lt1"/>
                </a:highlight>
                <a:latin typeface="Times New Roman"/>
                <a:ea typeface="Times New Roman"/>
                <a:cs typeface="Times New Roman"/>
                <a:sym typeface="Times New Roman"/>
              </a:rPr>
              <a:t>6T SRAM Cell Design</a:t>
            </a:r>
            <a:endParaRPr b="0" sz="3700"/>
          </a:p>
        </p:txBody>
      </p:sp>
      <p:sp>
        <p:nvSpPr>
          <p:cNvPr id="190" name="Google Shape;190;p37"/>
          <p:cNvSpPr txBox="1"/>
          <p:nvPr>
            <p:ph idx="1" type="body"/>
          </p:nvPr>
        </p:nvSpPr>
        <p:spPr>
          <a:xfrm>
            <a:off x="311700" y="326725"/>
            <a:ext cx="8772600" cy="4744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00000"/>
              </a:lnSpc>
              <a:spcBef>
                <a:spcPts val="300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The core of the 6T cell includes:</a:t>
            </a:r>
            <a:endParaRPr>
              <a:solidFill>
                <a:srgbClr val="000000"/>
              </a:solidFill>
              <a:highlight>
                <a:srgbClr val="FFFFFF"/>
              </a:highlight>
              <a:latin typeface="Times New Roman"/>
              <a:ea typeface="Times New Roman"/>
              <a:cs typeface="Times New Roman"/>
              <a:sym typeface="Times New Roman"/>
            </a:endParaRPr>
          </a:p>
          <a:p>
            <a:pPr indent="-330200" lvl="2" marL="13716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INV1 and INV2: Two cross-coupled inverters l.e Complementary storage nodes.</a:t>
            </a:r>
            <a:endParaRPr sz="1600">
              <a:solidFill>
                <a:srgbClr val="000000"/>
              </a:solidFill>
              <a:highlight>
                <a:srgbClr val="FFFFFF"/>
              </a:highlight>
              <a:latin typeface="Times New Roman"/>
              <a:ea typeface="Times New Roman"/>
              <a:cs typeface="Times New Roman"/>
              <a:sym typeface="Times New Roman"/>
            </a:endParaRPr>
          </a:p>
          <a:p>
            <a:pPr indent="-330200" lvl="2" marL="13716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N1 and N2: These </a:t>
            </a:r>
            <a:r>
              <a:rPr lang="en-GB" sz="1600">
                <a:solidFill>
                  <a:srgbClr val="000000"/>
                </a:solidFill>
                <a:highlight>
                  <a:srgbClr val="FFFFFF"/>
                </a:highlight>
                <a:latin typeface="Times New Roman"/>
                <a:ea typeface="Times New Roman"/>
                <a:cs typeface="Times New Roman"/>
                <a:sym typeface="Times New Roman"/>
              </a:rPr>
              <a:t>are</a:t>
            </a:r>
            <a:r>
              <a:rPr lang="en-GB" sz="1600">
                <a:solidFill>
                  <a:srgbClr val="000000"/>
                </a:solidFill>
                <a:highlight>
                  <a:srgbClr val="FFFFFF"/>
                </a:highlight>
                <a:latin typeface="Times New Roman"/>
                <a:ea typeface="Times New Roman"/>
                <a:cs typeface="Times New Roman"/>
                <a:sym typeface="Times New Roman"/>
              </a:rPr>
              <a:t> two storage nodes of the SRAM cell, as the data are stored at one of these two nodes.</a:t>
            </a:r>
            <a:endParaRPr sz="1600">
              <a:solidFill>
                <a:srgbClr val="000000"/>
              </a:solidFill>
              <a:highlight>
                <a:srgbClr val="FFFFFF"/>
              </a:highlight>
              <a:latin typeface="Times New Roman"/>
              <a:ea typeface="Times New Roman"/>
              <a:cs typeface="Times New Roman"/>
              <a:sym typeface="Times New Roman"/>
            </a:endParaRPr>
          </a:p>
          <a:p>
            <a:pPr indent="-330200" lvl="2" marL="1371600" rtl="0" algn="just">
              <a:lnSpc>
                <a:spcPct val="100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BL and BLB (Bit Lines): The storage nodes are connected to BL and BLB through two access transistors, whose gates are controlled by the same </a:t>
            </a:r>
            <a:r>
              <a:rPr lang="en-GB" sz="1600">
                <a:solidFill>
                  <a:srgbClr val="000000"/>
                </a:solidFill>
                <a:highlight>
                  <a:srgbClr val="FFFFFF"/>
                </a:highlight>
                <a:latin typeface="Times New Roman"/>
                <a:ea typeface="Times New Roman"/>
                <a:cs typeface="Times New Roman"/>
                <a:sym typeface="Times New Roman"/>
              </a:rPr>
              <a:t>wordline</a:t>
            </a:r>
            <a:r>
              <a:rPr lang="en-GB" sz="1600">
                <a:solidFill>
                  <a:srgbClr val="000000"/>
                </a:solidFill>
                <a:highlight>
                  <a:srgbClr val="FFFFFF"/>
                </a:highlight>
                <a:latin typeface="Times New Roman"/>
                <a:ea typeface="Times New Roman"/>
                <a:cs typeface="Times New Roman"/>
                <a:sym typeface="Times New Roman"/>
              </a:rPr>
              <a:t> (WL).</a:t>
            </a:r>
            <a:endParaRPr sz="1600">
              <a:solidFill>
                <a:srgbClr val="000000"/>
              </a:solidFill>
              <a:highlight>
                <a:srgbClr val="FFFFFF"/>
              </a:highlight>
              <a:latin typeface="Times New Roman"/>
              <a:ea typeface="Times New Roman"/>
              <a:cs typeface="Times New Roman"/>
              <a:sym typeface="Times New Roman"/>
            </a:endParaRPr>
          </a:p>
          <a:p>
            <a:pPr indent="-330200" lvl="2" marL="1371600" rtl="0" algn="just">
              <a:lnSpc>
                <a:spcPct val="100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WL(Word Line): Controls access to the cell.</a:t>
            </a:r>
            <a:endParaRPr sz="16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sz="2000">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sz="2000">
              <a:solidFill>
                <a:srgbClr val="202122"/>
              </a:solidFill>
              <a:highlight>
                <a:srgbClr val="FFFFFF"/>
              </a:highlight>
              <a:latin typeface="Times New Roman"/>
              <a:ea typeface="Times New Roman"/>
              <a:cs typeface="Times New Roman"/>
              <a:sym typeface="Times New Roman"/>
            </a:endParaRPr>
          </a:p>
        </p:txBody>
      </p:sp>
      <p:pic>
        <p:nvPicPr>
          <p:cNvPr id="191" name="Google Shape;191;p37" title="Screenshot 2025-11-21 124735.png"/>
          <p:cNvPicPr preferRelativeResize="0"/>
          <p:nvPr/>
        </p:nvPicPr>
        <p:blipFill>
          <a:blip r:embed="rId3">
            <a:alphaModFix/>
          </a:blip>
          <a:stretch>
            <a:fillRect/>
          </a:stretch>
        </p:blipFill>
        <p:spPr>
          <a:xfrm>
            <a:off x="3032300" y="326725"/>
            <a:ext cx="4772025" cy="2598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8"/>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SRAM Read Operation</a:t>
            </a:r>
            <a:endParaRPr sz="3700"/>
          </a:p>
        </p:txBody>
      </p:sp>
      <p:sp>
        <p:nvSpPr>
          <p:cNvPr id="197" name="Google Shape;197;p38"/>
          <p:cNvSpPr txBox="1"/>
          <p:nvPr>
            <p:ph idx="1" type="body"/>
          </p:nvPr>
        </p:nvSpPr>
        <p:spPr>
          <a:xfrm>
            <a:off x="311700" y="522800"/>
            <a:ext cx="5072700" cy="4351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 Assume ”0” at Q and ”1” at QB</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The drivers first recharge all the bitlines (BL and BLB) to VDD (logical 1 value)</a:t>
            </a:r>
            <a:r>
              <a:rPr b="1" lang="en-GB">
                <a:solidFill>
                  <a:srgbClr val="000000"/>
                </a:solidFill>
                <a:highlight>
                  <a:srgbClr val="FFFFFF"/>
                </a:highlight>
                <a:latin typeface="Times New Roman"/>
                <a:ea typeface="Times New Roman"/>
                <a:cs typeface="Times New Roman"/>
                <a:sym typeface="Times New Roman"/>
              </a:rPr>
              <a:t> </a:t>
            </a:r>
            <a:endParaRPr b="1">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 Q = 0 and QB = 1, BL start discharging and BLB stay at high.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A small voltage difference (e.g., 100 mV) builds up between BL and BLB.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Now sense amplifier comes in picture. A sense amplifier compares the two and rapidly drives the output to logic level:</a:t>
            </a:r>
            <a:endParaRPr>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 If  BL &gt; BLB  Output = 1</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 If  BL &lt; BLB  Output = 0</a:t>
            </a:r>
            <a:endParaRPr sz="1800">
              <a:solidFill>
                <a:srgbClr val="000000"/>
              </a:solidFill>
              <a:highlight>
                <a:srgbClr val="FFFFFF"/>
              </a:highlight>
              <a:latin typeface="Times New Roman"/>
              <a:ea typeface="Times New Roman"/>
              <a:cs typeface="Times New Roman"/>
              <a:sym typeface="Times New Roman"/>
            </a:endParaRPr>
          </a:p>
        </p:txBody>
      </p:sp>
      <p:pic>
        <p:nvPicPr>
          <p:cNvPr id="198" name="Google Shape;198;p38"/>
          <p:cNvPicPr preferRelativeResize="0"/>
          <p:nvPr/>
        </p:nvPicPr>
        <p:blipFill rotWithShape="1">
          <a:blip r:embed="rId3">
            <a:alphaModFix/>
          </a:blip>
          <a:srcRect b="0" l="0" r="0" t="0"/>
          <a:stretch/>
        </p:blipFill>
        <p:spPr>
          <a:xfrm>
            <a:off x="5500100" y="522800"/>
            <a:ext cx="3643900" cy="2018736"/>
          </a:xfrm>
          <a:prstGeom prst="rect">
            <a:avLst/>
          </a:prstGeom>
          <a:noFill/>
          <a:ln>
            <a:noFill/>
          </a:ln>
        </p:spPr>
      </p:pic>
      <p:pic>
        <p:nvPicPr>
          <p:cNvPr id="199" name="Google Shape;199;p38"/>
          <p:cNvPicPr preferRelativeResize="0"/>
          <p:nvPr/>
        </p:nvPicPr>
        <p:blipFill rotWithShape="1">
          <a:blip r:embed="rId4">
            <a:alphaModFix/>
          </a:blip>
          <a:srcRect b="0" l="0" r="0" t="0"/>
          <a:stretch/>
        </p:blipFill>
        <p:spPr>
          <a:xfrm>
            <a:off x="6019847" y="2810328"/>
            <a:ext cx="2604676" cy="197182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9"/>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lang="en-GB" sz="2620">
                <a:highlight>
                  <a:schemeClr val="lt1"/>
                </a:highlight>
                <a:latin typeface="Times New Roman"/>
                <a:ea typeface="Times New Roman"/>
                <a:cs typeface="Times New Roman"/>
                <a:sym typeface="Times New Roman"/>
              </a:rPr>
              <a:t>SRAM Write Operation</a:t>
            </a:r>
            <a:endParaRPr sz="3700"/>
          </a:p>
        </p:txBody>
      </p:sp>
      <p:sp>
        <p:nvSpPr>
          <p:cNvPr id="205" name="Google Shape;205;p39"/>
          <p:cNvSpPr txBox="1"/>
          <p:nvPr>
            <p:ph idx="1" type="body"/>
          </p:nvPr>
        </p:nvSpPr>
        <p:spPr>
          <a:xfrm>
            <a:off x="311700" y="522800"/>
            <a:ext cx="5072700" cy="4351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Bit Lines (BL and BLB) are driven externally with the value to be written. Write drivers pull BL and BLB to the desired logic levels.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Word Line Activation : WL goes high, turning ON access transistors. This connects the internal cell nodes Q and QB to BL and BLB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Cell Overwrite: The strong write drivers force the voltage onto N1 and N2. </a:t>
            </a:r>
            <a:endParaRPr>
              <a:solidFill>
                <a:srgbClr val="000000"/>
              </a:solidFill>
              <a:highlight>
                <a:srgbClr val="FFFFFF"/>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If we are writing ‘1’: Q = 0, QB = 1</a:t>
            </a:r>
            <a:endParaRPr sz="1600">
              <a:solidFill>
                <a:srgbClr val="000000"/>
              </a:solidFill>
              <a:highlight>
                <a:srgbClr val="FFFFFF"/>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If we are writing ‘0’: </a:t>
            </a:r>
            <a:r>
              <a:rPr lang="en-GB" sz="1600">
                <a:solidFill>
                  <a:srgbClr val="000000"/>
                </a:solidFill>
                <a:highlight>
                  <a:schemeClr val="lt1"/>
                </a:highlight>
                <a:latin typeface="Times New Roman"/>
                <a:ea typeface="Times New Roman"/>
                <a:cs typeface="Times New Roman"/>
                <a:sym typeface="Times New Roman"/>
              </a:rPr>
              <a:t>Q = 1, QB = 0</a:t>
            </a:r>
            <a:r>
              <a:rPr lang="en-GB" sz="1600">
                <a:solidFill>
                  <a:srgbClr val="000000"/>
                </a:solidFill>
                <a:highlight>
                  <a:srgbClr val="FFFFFF"/>
                </a:highlight>
                <a:latin typeface="Times New Roman"/>
                <a:ea typeface="Times New Roman"/>
                <a:cs typeface="Times New Roman"/>
                <a:sym typeface="Times New Roman"/>
              </a:rPr>
              <a:t> </a:t>
            </a:r>
            <a:endParaRPr sz="1600">
              <a:solidFill>
                <a:srgbClr val="000000"/>
              </a:solidFill>
              <a:highlight>
                <a:srgbClr val="FFFFFF"/>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The previous value stored is overwritten by overpowering the cross-coupled inverter.</a:t>
            </a:r>
            <a:endParaRPr sz="1600">
              <a:solidFill>
                <a:srgbClr val="000000"/>
              </a:solidFill>
              <a:highlight>
                <a:srgbClr val="FFFFFF"/>
              </a:highlight>
              <a:latin typeface="Times New Roman"/>
              <a:ea typeface="Times New Roman"/>
              <a:cs typeface="Times New Roman"/>
              <a:sym typeface="Times New Roman"/>
            </a:endParaRPr>
          </a:p>
        </p:txBody>
      </p:sp>
      <p:pic>
        <p:nvPicPr>
          <p:cNvPr id="206" name="Google Shape;206;p39"/>
          <p:cNvPicPr preferRelativeResize="0"/>
          <p:nvPr/>
        </p:nvPicPr>
        <p:blipFill rotWithShape="1">
          <a:blip r:embed="rId3">
            <a:alphaModFix/>
          </a:blip>
          <a:srcRect b="0" l="0" r="0" t="0"/>
          <a:stretch/>
        </p:blipFill>
        <p:spPr>
          <a:xfrm>
            <a:off x="5484350" y="522801"/>
            <a:ext cx="3475174" cy="2033569"/>
          </a:xfrm>
          <a:prstGeom prst="rect">
            <a:avLst/>
          </a:prstGeom>
          <a:noFill/>
          <a:ln>
            <a:noFill/>
          </a:ln>
        </p:spPr>
      </p:pic>
      <p:pic>
        <p:nvPicPr>
          <p:cNvPr id="207" name="Google Shape;207;p39"/>
          <p:cNvPicPr preferRelativeResize="0"/>
          <p:nvPr/>
        </p:nvPicPr>
        <p:blipFill rotWithShape="1">
          <a:blip r:embed="rId4">
            <a:alphaModFix/>
          </a:blip>
          <a:srcRect b="0" l="0" r="0" t="0"/>
          <a:stretch/>
        </p:blipFill>
        <p:spPr>
          <a:xfrm>
            <a:off x="6339711" y="2828520"/>
            <a:ext cx="2547453" cy="20457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0"/>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b="0" lang="en-GB" sz="2620">
                <a:highlight>
                  <a:schemeClr val="lt1"/>
                </a:highlight>
                <a:latin typeface="Times New Roman"/>
                <a:ea typeface="Times New Roman"/>
                <a:cs typeface="Times New Roman"/>
                <a:sym typeface="Times New Roman"/>
              </a:rPr>
              <a:t>  </a:t>
            </a:r>
            <a:r>
              <a:rPr b="0" lang="en-GB" sz="2820">
                <a:highlight>
                  <a:schemeClr val="lt1"/>
                </a:highlight>
                <a:latin typeface="Times New Roman"/>
                <a:ea typeface="Times New Roman"/>
                <a:cs typeface="Times New Roman"/>
                <a:sym typeface="Times New Roman"/>
              </a:rPr>
              <a:t>D</a:t>
            </a:r>
            <a:r>
              <a:rPr b="0" lang="en-GB" sz="2820">
                <a:highlight>
                  <a:schemeClr val="lt1"/>
                </a:highlight>
                <a:latin typeface="Times New Roman"/>
                <a:ea typeface="Times New Roman"/>
                <a:cs typeface="Times New Roman"/>
                <a:sym typeface="Times New Roman"/>
              </a:rPr>
              <a:t>RAM</a:t>
            </a:r>
            <a:endParaRPr b="0" sz="3900"/>
          </a:p>
        </p:txBody>
      </p:sp>
      <p:sp>
        <p:nvSpPr>
          <p:cNvPr id="213" name="Google Shape;213;p40"/>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b="1" lang="en-GB">
                <a:solidFill>
                  <a:srgbClr val="000000"/>
                </a:solidFill>
                <a:latin typeface="Times New Roman"/>
                <a:ea typeface="Times New Roman"/>
                <a:cs typeface="Times New Roman"/>
                <a:sym typeface="Times New Roman"/>
              </a:rPr>
              <a:t>DRAM </a:t>
            </a:r>
            <a:r>
              <a:rPr lang="en-GB">
                <a:solidFill>
                  <a:srgbClr val="000000"/>
                </a:solidFill>
                <a:latin typeface="Times New Roman"/>
                <a:ea typeface="Times New Roman"/>
                <a:cs typeface="Times New Roman"/>
                <a:sym typeface="Times New Roman"/>
              </a:rPr>
              <a:t>(Dynamic Random-Access Memory) is a volatile semiconductor memory used for temporary data storage in most digital systems</a:t>
            </a:r>
            <a:r>
              <a:rPr lang="en-GB">
                <a:solidFill>
                  <a:srgbClr val="000000"/>
                </a:solidFill>
                <a:latin typeface="Times New Roman"/>
                <a:ea typeface="Times New Roman"/>
                <a:cs typeface="Times New Roman"/>
                <a:sym typeface="Times New Roman"/>
              </a:rPr>
              <a:t>.</a:t>
            </a:r>
            <a:r>
              <a:rPr lang="en-GB">
                <a:solidFill>
                  <a:srgbClr val="000000"/>
                </a:solidFill>
                <a:highlight>
                  <a:srgbClr val="FFFFFF"/>
                </a:highlight>
                <a:latin typeface="Times New Roman"/>
                <a:ea typeface="Times New Roman"/>
                <a:cs typeface="Times New Roman"/>
                <a:sym typeface="Times New Roman"/>
              </a:rPr>
              <a:t>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Dynamic refers to this need for periodic refresh to keep the data intact. </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Random access means that each bit of the data could be read/written independently.</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1T1C design :</a:t>
            </a:r>
            <a:endParaRPr>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It stores each bit of data using a single capacitor and one access transistor.</a:t>
            </a:r>
            <a:endParaRPr sz="18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DRAM is denser, compact, and low-cost, ideal for large memories. </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DRAM is 20-times less area/bit than an SRAM bit cell.</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It uses charge-based storage, capacitor leaks charge, must be refreshed periodically (every 64 ms). </a:t>
            </a:r>
            <a:endParaRPr>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When there is Charge in capacitor = 1 (High) </a:t>
            </a:r>
            <a:endParaRPr sz="18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When there is NO Charge in capacitor = 0 (LOW) </a:t>
            </a:r>
            <a:endParaRPr sz="1800">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1"/>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b="0" lang="en-GB" sz="2620">
                <a:highlight>
                  <a:schemeClr val="lt1"/>
                </a:highlight>
                <a:latin typeface="Times New Roman"/>
                <a:ea typeface="Times New Roman"/>
                <a:cs typeface="Times New Roman"/>
                <a:sym typeface="Times New Roman"/>
              </a:rPr>
              <a:t>  </a:t>
            </a:r>
            <a:r>
              <a:rPr b="0" lang="en-GB" sz="2820">
                <a:highlight>
                  <a:schemeClr val="lt1"/>
                </a:highlight>
                <a:latin typeface="Times New Roman"/>
                <a:ea typeface="Times New Roman"/>
                <a:cs typeface="Times New Roman"/>
                <a:sym typeface="Times New Roman"/>
              </a:rPr>
              <a:t>DRAM</a:t>
            </a:r>
            <a:endParaRPr b="0" sz="3900"/>
          </a:p>
        </p:txBody>
      </p:sp>
      <p:sp>
        <p:nvSpPr>
          <p:cNvPr id="219" name="Google Shape;219;p41"/>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There are two kinds of power: Static and Dynamic Power. In DRAM: </a:t>
            </a:r>
            <a:endParaRPr>
              <a:solidFill>
                <a:srgbClr val="000000"/>
              </a:solidFill>
              <a:highlight>
                <a:schemeClr val="lt1"/>
              </a:highlight>
              <a:latin typeface="Times New Roman"/>
              <a:ea typeface="Times New Roman"/>
              <a:cs typeface="Times New Roman"/>
              <a:sym typeface="Times New Roman"/>
            </a:endParaRPr>
          </a:p>
          <a:p>
            <a:pPr indent="-330200" lvl="2" marL="13716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Static power consumption = Low.</a:t>
            </a:r>
            <a:endParaRPr sz="1600">
              <a:solidFill>
                <a:srgbClr val="000000"/>
              </a:solidFill>
              <a:highlight>
                <a:schemeClr val="lt1"/>
              </a:highlight>
              <a:latin typeface="Times New Roman"/>
              <a:ea typeface="Times New Roman"/>
              <a:cs typeface="Times New Roman"/>
              <a:sym typeface="Times New Roman"/>
            </a:endParaRPr>
          </a:p>
          <a:p>
            <a:pPr indent="-330200" lvl="2" marL="13716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Dynamic power consumption = High (Due to refreshing).</a:t>
            </a:r>
            <a:endParaRPr sz="1600">
              <a:solidFill>
                <a:srgbClr val="000000"/>
              </a:solidFill>
              <a:highlight>
                <a:schemeClr val="lt1"/>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Commonly used in: </a:t>
            </a:r>
            <a:endParaRPr>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Main RAM in laptops, desktops, servers </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Works in modules: DDR4, DDR5 </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Graphics DRAM (GDDR) </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Mobile DRAM (LPDDR)</a:t>
            </a:r>
            <a:endParaRPr sz="1600">
              <a:solidFill>
                <a:srgbClr val="000000"/>
              </a:solidFill>
              <a:highlight>
                <a:schemeClr val="lt1"/>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sz="1800">
              <a:solidFill>
                <a:srgbClr val="202122"/>
              </a:solidFill>
              <a:highlight>
                <a:srgbClr val="FFFFFF"/>
              </a:highlight>
              <a:latin typeface="Times New Roman"/>
              <a:ea typeface="Times New Roman"/>
              <a:cs typeface="Times New Roman"/>
              <a:sym typeface="Times New Roman"/>
            </a:endParaRPr>
          </a:p>
        </p:txBody>
      </p:sp>
      <p:pic>
        <p:nvPicPr>
          <p:cNvPr id="220" name="Google Shape;220;p41" title="Screenshot from 2025-11-21 15-01-43.png"/>
          <p:cNvPicPr preferRelativeResize="0"/>
          <p:nvPr/>
        </p:nvPicPr>
        <p:blipFill>
          <a:blip r:embed="rId3">
            <a:alphaModFix/>
          </a:blip>
          <a:stretch>
            <a:fillRect/>
          </a:stretch>
        </p:blipFill>
        <p:spPr>
          <a:xfrm>
            <a:off x="5274200" y="1622250"/>
            <a:ext cx="3734225" cy="3313675"/>
          </a:xfrm>
          <a:prstGeom prst="rect">
            <a:avLst/>
          </a:prstGeom>
          <a:noFill/>
          <a:ln cap="flat" cmpd="sng" w="9525">
            <a:solidFill>
              <a:schemeClr val="dk2"/>
            </a:solidFill>
            <a:prstDash val="solid"/>
            <a:round/>
            <a:headEnd len="sm" w="sm" type="none"/>
            <a:tailEnd len="sm" w="sm" type="none"/>
          </a:ln>
        </p:spPr>
      </p:pic>
      <p:sp>
        <p:nvSpPr>
          <p:cNvPr id="221" name="Google Shape;221;p41"/>
          <p:cNvSpPr txBox="1"/>
          <p:nvPr>
            <p:ph idx="1" type="body"/>
          </p:nvPr>
        </p:nvSpPr>
        <p:spPr>
          <a:xfrm>
            <a:off x="368350" y="2950500"/>
            <a:ext cx="4905900" cy="2039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The basic DRAM memory cell consists of: </a:t>
            </a:r>
            <a:endParaRPr>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1 Transistor (Access switch) : </a:t>
            </a:r>
            <a:endParaRPr sz="1600">
              <a:solidFill>
                <a:srgbClr val="000000"/>
              </a:solidFill>
              <a:highlight>
                <a:schemeClr val="lt1"/>
              </a:highlight>
              <a:latin typeface="Times New Roman"/>
              <a:ea typeface="Times New Roman"/>
              <a:cs typeface="Times New Roman"/>
              <a:sym typeface="Times New Roman"/>
            </a:endParaRPr>
          </a:p>
          <a:p>
            <a:pPr indent="-330200" lvl="2" marL="1371600" rtl="0" algn="just">
              <a:lnSpc>
                <a:spcPct val="100000"/>
              </a:lnSpc>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To select which bits will be affected by read and write operations. </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1 Capacitor (Storage element) : </a:t>
            </a:r>
            <a:endParaRPr sz="1600">
              <a:solidFill>
                <a:srgbClr val="000000"/>
              </a:solidFill>
              <a:highlight>
                <a:schemeClr val="lt1"/>
              </a:highlight>
              <a:latin typeface="Times New Roman"/>
              <a:ea typeface="Times New Roman"/>
              <a:cs typeface="Times New Roman"/>
              <a:sym typeface="Times New Roman"/>
            </a:endParaRPr>
          </a:p>
          <a:p>
            <a:pPr indent="-330200" lvl="2" marL="1371600" rtl="0" algn="just">
              <a:lnSpc>
                <a:spcPct val="100000"/>
              </a:lnSpc>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If the capacitor &gt; threshold, we’re storing a 1 bit, otherwise 0.</a:t>
            </a:r>
            <a:endParaRPr sz="1600">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2"/>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b="0" lang="en-GB" sz="2620">
                <a:highlight>
                  <a:schemeClr val="lt1"/>
                </a:highlight>
                <a:latin typeface="Times New Roman"/>
                <a:ea typeface="Times New Roman"/>
                <a:cs typeface="Times New Roman"/>
                <a:sym typeface="Times New Roman"/>
              </a:rPr>
              <a:t>  </a:t>
            </a:r>
            <a:r>
              <a:rPr b="0" lang="en-GB" sz="2820">
                <a:highlight>
                  <a:schemeClr val="lt1"/>
                </a:highlight>
                <a:latin typeface="Times New Roman"/>
                <a:ea typeface="Times New Roman"/>
                <a:cs typeface="Times New Roman"/>
                <a:sym typeface="Times New Roman"/>
              </a:rPr>
              <a:t>DRAM Write Operation</a:t>
            </a:r>
            <a:endParaRPr b="0" sz="3900"/>
          </a:p>
        </p:txBody>
      </p:sp>
      <p:sp>
        <p:nvSpPr>
          <p:cNvPr id="227" name="Google Shape;227;p42"/>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DRAM write operations are straightforward: simply turn on the access FET with the wordline and charge or discharge the storage capacitor through the bitline.</a:t>
            </a:r>
            <a:endParaRPr>
              <a:solidFill>
                <a:srgbClr val="000000"/>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 Let say we want to write ’1’</a:t>
            </a:r>
            <a:endParaRPr>
              <a:solidFill>
                <a:srgbClr val="000000"/>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Set Write Data on Bit Line: </a:t>
            </a:r>
            <a:endParaRPr>
              <a:solidFill>
                <a:srgbClr val="000000"/>
              </a:solidFill>
              <a:latin typeface="Times New Roman"/>
              <a:ea typeface="Times New Roman"/>
              <a:cs typeface="Times New Roman"/>
              <a:sym typeface="Times New Roman"/>
            </a:endParaRPr>
          </a:p>
          <a:p>
            <a:pPr indent="-317500" lvl="1" marL="914400" rtl="0" algn="just">
              <a:lnSpc>
                <a:spcPct val="150000"/>
              </a:lnSpc>
              <a:spcBef>
                <a:spcPts val="0"/>
              </a:spcBef>
              <a:spcAft>
                <a:spcPts val="0"/>
              </a:spcAft>
              <a:buClr>
                <a:srgbClr val="000000"/>
              </a:buClr>
              <a:buSzPts val="1400"/>
              <a:buFont typeface="Times New Roman"/>
              <a:buChar char="○"/>
            </a:pPr>
            <a:r>
              <a:rPr lang="en-GB">
                <a:solidFill>
                  <a:srgbClr val="000000"/>
                </a:solidFill>
                <a:latin typeface="Times New Roman"/>
                <a:ea typeface="Times New Roman"/>
                <a:cs typeface="Times New Roman"/>
                <a:sym typeface="Times New Roman"/>
              </a:rPr>
              <a:t>Drive Bitline(BL) to VDD or GND, for writing ’1’, Bit Line is driven to VDD (logic high)</a:t>
            </a:r>
            <a:endParaRPr>
              <a:solidFill>
                <a:srgbClr val="000000"/>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Activate Word Line:</a:t>
            </a:r>
            <a:endParaRPr>
              <a:solidFill>
                <a:srgbClr val="000000"/>
              </a:solidFill>
              <a:highlight>
                <a:schemeClr val="lt1"/>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Row decoder selects the required row  WL goes high.Access transistor (T) turns ON.</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Bit Line and Capacitor are now connected.</a:t>
            </a:r>
            <a:endParaRPr sz="16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Data Stored in Capacitor:</a:t>
            </a:r>
            <a:endParaRPr>
              <a:solidFill>
                <a:srgbClr val="000000"/>
              </a:solidFill>
              <a:highlight>
                <a:schemeClr val="lt1"/>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If BL = VDD  capacitor charges up  stores logic ‘1’ </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If BL = 0  capacitor discharges  stores logic ‘0’ </a:t>
            </a:r>
            <a:endParaRPr sz="1600">
              <a:solidFill>
                <a:srgbClr val="000000"/>
              </a:solidFill>
              <a:highlight>
                <a:schemeClr val="lt1"/>
              </a:highlight>
              <a:latin typeface="Times New Roman"/>
              <a:ea typeface="Times New Roman"/>
              <a:cs typeface="Times New Roman"/>
              <a:sym typeface="Times New Roman"/>
            </a:endParaRPr>
          </a:p>
          <a:p>
            <a:pPr indent="-317500" lvl="1" marL="914400" rtl="0" algn="just">
              <a:lnSpc>
                <a:spcPct val="150000"/>
              </a:lnSpc>
              <a:spcBef>
                <a:spcPts val="0"/>
              </a:spcBef>
              <a:spcAft>
                <a:spcPts val="0"/>
              </a:spcAft>
              <a:buClr>
                <a:srgbClr val="000000"/>
              </a:buClr>
              <a:buSzPts val="14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This state remains as long as leakage doesn’t drain the capacitor (hence refresh needed)</a:t>
            </a:r>
            <a:r>
              <a:rPr lang="en-GB">
                <a:solidFill>
                  <a:srgbClr val="000000"/>
                </a:solidFill>
                <a:highlight>
                  <a:schemeClr val="lt1"/>
                </a:highlight>
                <a:latin typeface="Times New Roman"/>
                <a:ea typeface="Times New Roman"/>
                <a:cs typeface="Times New Roman"/>
                <a:sym typeface="Times New Roman"/>
              </a:rPr>
              <a:t>.</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Deactivate Word Line: WL is pulled low  Access transistor turns OFF Cell is isolated with data stored as charge or no charge</a:t>
            </a:r>
            <a:r>
              <a:rPr lang="en-GB" sz="1800">
                <a:solidFill>
                  <a:srgbClr val="000000"/>
                </a:solidFill>
                <a:highlight>
                  <a:schemeClr val="lt1"/>
                </a:highlight>
                <a:latin typeface="Times New Roman"/>
                <a:ea typeface="Times New Roman"/>
                <a:cs typeface="Times New Roman"/>
                <a:sym typeface="Times New Roman"/>
              </a:rPr>
              <a:t> </a:t>
            </a:r>
            <a:endParaRPr sz="1800">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3"/>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3000"/>
              </a:spcAft>
              <a:buSzPts val="990"/>
              <a:buNone/>
            </a:pPr>
            <a:r>
              <a:rPr b="0" lang="en-GB" sz="2620">
                <a:highlight>
                  <a:schemeClr val="lt1"/>
                </a:highlight>
                <a:latin typeface="Times New Roman"/>
                <a:ea typeface="Times New Roman"/>
                <a:cs typeface="Times New Roman"/>
                <a:sym typeface="Times New Roman"/>
              </a:rPr>
              <a:t>  </a:t>
            </a:r>
            <a:r>
              <a:rPr b="0" lang="en-GB" sz="2820">
                <a:highlight>
                  <a:schemeClr val="lt1"/>
                </a:highlight>
                <a:latin typeface="Times New Roman"/>
                <a:ea typeface="Times New Roman"/>
                <a:cs typeface="Times New Roman"/>
                <a:sym typeface="Times New Roman"/>
              </a:rPr>
              <a:t>DRAM </a:t>
            </a:r>
            <a:r>
              <a:rPr b="0" lang="en-GB" sz="2820">
                <a:highlight>
                  <a:schemeClr val="lt1"/>
                </a:highlight>
                <a:latin typeface="Times New Roman"/>
                <a:ea typeface="Times New Roman"/>
                <a:cs typeface="Times New Roman"/>
                <a:sym typeface="Times New Roman"/>
              </a:rPr>
              <a:t>Read Operation</a:t>
            </a:r>
            <a:endParaRPr b="0" sz="3900"/>
          </a:p>
        </p:txBody>
      </p:sp>
      <p:sp>
        <p:nvSpPr>
          <p:cNvPr id="233" name="Google Shape;233;p43"/>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Reads are bit more complicated. We want read the stored data (weather it’s charge or no charge) from a DRAM cell without damaging the rest of the array.</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Precharge Phase:</a:t>
            </a:r>
            <a:endParaRPr>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Bitline (BL) is precharged to VDD/2. </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Then the precharge circuitry is disconnected.</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This sets a reference voltage so the sense amplifier can detect small deviations</a:t>
            </a:r>
            <a:endParaRPr sz="16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 Activate Word Line:</a:t>
            </a:r>
            <a:endParaRPr>
              <a:solidFill>
                <a:srgbClr val="000000"/>
              </a:solidFill>
              <a:highlight>
                <a:schemeClr val="lt1"/>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The wordline is activated, connecting the storage capacitor of the selected cell to the bitline. </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lnSpc>
                <a:spcPct val="115000"/>
              </a:lnSpc>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It further cause the charge on the capacitor to be shared with the charge stored by the capacitance of the bitline.</a:t>
            </a:r>
            <a:endParaRPr sz="1600">
              <a:solidFill>
                <a:srgbClr val="000000"/>
              </a:solidFill>
              <a:highlight>
                <a:schemeClr val="lt1"/>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As now capacitor and bitline share charge</a:t>
            </a:r>
            <a:endParaRPr>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If capacitor was discharged, bitline voltage decreases slightly. </a:t>
            </a:r>
            <a:endParaRPr sz="1600">
              <a:solidFill>
                <a:srgbClr val="000000"/>
              </a:solidFill>
              <a:highlight>
                <a:schemeClr val="lt1"/>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chemeClr val="lt1"/>
                </a:highlight>
                <a:latin typeface="Times New Roman"/>
                <a:ea typeface="Times New Roman"/>
                <a:cs typeface="Times New Roman"/>
                <a:sym typeface="Times New Roman"/>
              </a:rPr>
              <a:t>If capacitor was charged, bitline voltage increases slightly.</a:t>
            </a:r>
            <a:endParaRPr sz="16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Sense amplifiers are used to detect this small voltage change to produce a digital output value. </a:t>
            </a:r>
            <a:endParaRPr>
              <a:solidFill>
                <a:srgbClr val="000000"/>
              </a:solidFill>
              <a:highlight>
                <a:schemeClr val="lt1"/>
              </a:highlight>
              <a:latin typeface="Times New Roman"/>
              <a:ea typeface="Times New Roman"/>
              <a:cs typeface="Times New Roman"/>
              <a:sym typeface="Times New Roman"/>
            </a:endParaRPr>
          </a:p>
          <a:p>
            <a:pPr indent="0" lvl="0" marL="0" rtl="0" algn="just">
              <a:lnSpc>
                <a:spcPct val="115000"/>
              </a:lnSpc>
              <a:spcBef>
                <a:spcPts val="3000"/>
              </a:spcBef>
              <a:spcAft>
                <a:spcPts val="0"/>
              </a:spcAft>
              <a:buNone/>
            </a:pPr>
            <a:r>
              <a:t/>
            </a:r>
            <a:endParaRPr>
              <a:solidFill>
                <a:srgbClr val="000000"/>
              </a:solidFill>
              <a:highlight>
                <a:schemeClr val="lt1"/>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sz="1800">
              <a:solidFill>
                <a:srgbClr val="202122"/>
              </a:solidFill>
              <a:highlight>
                <a:srgbClr val="FFFFFF"/>
              </a:highlight>
              <a:latin typeface="Times New Roman"/>
              <a:ea typeface="Times New Roman"/>
              <a:cs typeface="Times New Roman"/>
              <a:sym typeface="Times New Roman"/>
            </a:endParaRPr>
          </a:p>
        </p:txBody>
      </p:sp>
      <p:pic>
        <p:nvPicPr>
          <p:cNvPr id="234" name="Google Shape;234;p43" title="Screenshot 2025-11-22 150642.png"/>
          <p:cNvPicPr preferRelativeResize="0"/>
          <p:nvPr/>
        </p:nvPicPr>
        <p:blipFill>
          <a:blip r:embed="rId3">
            <a:alphaModFix/>
          </a:blip>
          <a:stretch>
            <a:fillRect/>
          </a:stretch>
        </p:blipFill>
        <p:spPr>
          <a:xfrm>
            <a:off x="7214975" y="923900"/>
            <a:ext cx="1826425" cy="1279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