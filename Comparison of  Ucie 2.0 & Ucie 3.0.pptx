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y="5143500" cx="9144000"/>
  <p:notesSz cx="6858000" cy="9144000"/>
  <p:embeddedFontLst>
    <p:embeddedFont>
      <p:font typeface="PT Sans Narrow"/>
      <p:regular r:id="rId33"/>
      <p:bold r:id="rId34"/>
    </p:embeddedFont>
    <p:embeddedFont>
      <p:font typeface="Open Sans"/>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AB4EEAA-C7D4-4ECF-91C5-392DB34F8957}">
  <a:tblStyle styleId="{1AB4EEAA-C7D4-4ECF-91C5-392DB34F895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font" Target="fonts/PTSansNarrow-regular.fntdata"/><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font" Target="fonts/OpenSans-regular.fntdata"/><Relationship Id="rId12" Type="http://schemas.openxmlformats.org/officeDocument/2006/relationships/slide" Target="slides/slide5.xml"/><Relationship Id="rId34" Type="http://schemas.openxmlformats.org/officeDocument/2006/relationships/font" Target="fonts/PTSansNarrow-bold.fntdata"/><Relationship Id="rId15" Type="http://schemas.openxmlformats.org/officeDocument/2006/relationships/slide" Target="slides/slide8.xml"/><Relationship Id="rId37" Type="http://schemas.openxmlformats.org/officeDocument/2006/relationships/font" Target="fonts/OpenSans-italic.fntdata"/><Relationship Id="rId14" Type="http://schemas.openxmlformats.org/officeDocument/2006/relationships/slide" Target="slides/slide7.xml"/><Relationship Id="rId36" Type="http://schemas.openxmlformats.org/officeDocument/2006/relationships/font" Target="fonts/OpenSans-bold.fntdata"/><Relationship Id="rId17" Type="http://schemas.openxmlformats.org/officeDocument/2006/relationships/slide" Target="slides/slide10.xml"/><Relationship Id="rId16" Type="http://schemas.openxmlformats.org/officeDocument/2006/relationships/slide" Target="slides/slide9.xml"/><Relationship Id="rId38" Type="http://schemas.openxmlformats.org/officeDocument/2006/relationships/font" Target="fonts/OpenSans-bold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ba7c0a9e50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ba7c0a9e50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ba7c0a9e50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ba7c0a9e50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ba7c0a9e50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ba7c0a9e50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ba7c0a9e50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ba7c0a9e50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ba7c0a9e50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ba7c0a9e50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ba7c0a9e50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ba7c0a9e50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ba7c0a9e50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ba7c0a9e50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ba7c0a9e50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ba7c0a9e50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ba7c0a9e50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ba7c0a9e50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ba7c0a9e50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ba7c0a9e50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ba7c0a9e50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ba7c0a9e50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ba7c0a9e50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ba7c0a9e50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ba7c0a9e50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ba7c0a9e50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ba7c0a9e50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ba7c0a9e50_0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ba7c0a9e50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ba7c0a9e50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ba7c0a9e50_0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ba7c0a9e50_0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ba7c0a9e50_0_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ba7c0a9e50_0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ba7c0a9e50_0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ba7c0a9e50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ba7c0a9e50_0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ba7c0a9e50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ba7c0a9e50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ba7c0a9e50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ba7c0a9e50_0_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ba7c0a9e50_0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ba7c0a9e50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ba7c0a9e50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92bcec736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92bcec736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92bcec7366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92bcec7366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92bcec7366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92bcec7366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cxnSp>
        <p:nvCxnSpPr>
          <p:cNvPr id="55" name="Google Shape;55;p14"/>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56" name="Google Shape;56;p14"/>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57" name="Google Shape;57;p14"/>
          <p:cNvGrpSpPr/>
          <p:nvPr/>
        </p:nvGrpSpPr>
        <p:grpSpPr>
          <a:xfrm>
            <a:off x="1004144" y="1022025"/>
            <a:ext cx="7136668" cy="152400"/>
            <a:chOff x="1346429" y="1011300"/>
            <a:chExt cx="6452100" cy="152400"/>
          </a:xfrm>
        </p:grpSpPr>
        <p:cxnSp>
          <p:nvCxnSpPr>
            <p:cNvPr id="58" name="Google Shape;58;p14"/>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59" name="Google Shape;59;p14"/>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60" name="Google Shape;60;p14"/>
          <p:cNvGrpSpPr/>
          <p:nvPr/>
        </p:nvGrpSpPr>
        <p:grpSpPr>
          <a:xfrm>
            <a:off x="1004151" y="3969100"/>
            <a:ext cx="7136668" cy="152400"/>
            <a:chOff x="1346435" y="3969088"/>
            <a:chExt cx="6452100" cy="152400"/>
          </a:xfrm>
        </p:grpSpPr>
        <p:cxnSp>
          <p:nvCxnSpPr>
            <p:cNvPr id="61" name="Google Shape;61;p14"/>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62" name="Google Shape;62;p14"/>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63" name="Google Shape;63;p14"/>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64" name="Google Shape;64;p14"/>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65" name="Google Shape;65;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6" name="Shape 66"/>
        <p:cNvGrpSpPr/>
        <p:nvPr/>
      </p:nvGrpSpPr>
      <p:grpSpPr>
        <a:xfrm>
          <a:off x="0" y="0"/>
          <a:ext cx="0" cy="0"/>
          <a:chOff x="0" y="0"/>
          <a:chExt cx="0" cy="0"/>
        </a:xfrm>
      </p:grpSpPr>
      <p:sp>
        <p:nvSpPr>
          <p:cNvPr id="67" name="Google Shape;67;p15"/>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5"/>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69" name="Google Shape;69;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0" name="Shape 70"/>
        <p:cNvGrpSpPr/>
        <p:nvPr/>
      </p:nvGrpSpPr>
      <p:grpSpPr>
        <a:xfrm>
          <a:off x="0" y="0"/>
          <a:ext cx="0" cy="0"/>
          <a:chOff x="0" y="0"/>
          <a:chExt cx="0" cy="0"/>
        </a:xfrm>
      </p:grpSpPr>
      <p:sp>
        <p:nvSpPr>
          <p:cNvPr id="71" name="Google Shape;71;p16"/>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73" name="Google Shape;73;p1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4" name="Google Shape;7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5" name="Shape 75"/>
        <p:cNvGrpSpPr/>
        <p:nvPr/>
      </p:nvGrpSpPr>
      <p:grpSpPr>
        <a:xfrm>
          <a:off x="0" y="0"/>
          <a:ext cx="0" cy="0"/>
          <a:chOff x="0" y="0"/>
          <a:chExt cx="0" cy="0"/>
        </a:xfrm>
      </p:grpSpPr>
      <p:sp>
        <p:nvSpPr>
          <p:cNvPr id="76" name="Google Shape;76;p17"/>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77" name="Google Shape;77;p17"/>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8" name="Google Shape;78;p17"/>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9" name="Google Shape;7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0" name="Shape 80"/>
        <p:cNvGrpSpPr/>
        <p:nvPr/>
      </p:nvGrpSpPr>
      <p:grpSpPr>
        <a:xfrm>
          <a:off x="0" y="0"/>
          <a:ext cx="0" cy="0"/>
          <a:chOff x="0" y="0"/>
          <a:chExt cx="0" cy="0"/>
        </a:xfrm>
      </p:grpSpPr>
      <p:sp>
        <p:nvSpPr>
          <p:cNvPr id="81" name="Google Shape;81;p18"/>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82" name="Google Shape;8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3" name="Shape 83"/>
        <p:cNvGrpSpPr/>
        <p:nvPr/>
      </p:nvGrpSpPr>
      <p:grpSpPr>
        <a:xfrm>
          <a:off x="0" y="0"/>
          <a:ext cx="0" cy="0"/>
          <a:chOff x="0" y="0"/>
          <a:chExt cx="0" cy="0"/>
        </a:xfrm>
      </p:grpSpPr>
      <p:sp>
        <p:nvSpPr>
          <p:cNvPr id="84" name="Google Shape;8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5" name="Google Shape;8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6" name="Google Shape;8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87" name="Shape 87"/>
        <p:cNvGrpSpPr/>
        <p:nvPr/>
      </p:nvGrpSpPr>
      <p:grpSpPr>
        <a:xfrm>
          <a:off x="0" y="0"/>
          <a:ext cx="0" cy="0"/>
          <a:chOff x="0" y="0"/>
          <a:chExt cx="0" cy="0"/>
        </a:xfrm>
      </p:grpSpPr>
      <p:sp>
        <p:nvSpPr>
          <p:cNvPr id="88" name="Google Shape;88;p20"/>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89" name="Google Shape;8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0" name="Shape 90"/>
        <p:cNvGrpSpPr/>
        <p:nvPr/>
      </p:nvGrpSpPr>
      <p:grpSpPr>
        <a:xfrm>
          <a:off x="0" y="0"/>
          <a:ext cx="0" cy="0"/>
          <a:chOff x="0" y="0"/>
          <a:chExt cx="0" cy="0"/>
        </a:xfrm>
      </p:grpSpPr>
      <p:sp>
        <p:nvSpPr>
          <p:cNvPr id="91" name="Google Shape;91;p21"/>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2" name="Google Shape;92;p2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93" name="Google Shape;93;p21"/>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94" name="Google Shape;94;p21"/>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5" name="Google Shape;95;p21"/>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96" name="Google Shape;96;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7" name="Shape 97"/>
        <p:cNvGrpSpPr/>
        <p:nvPr/>
      </p:nvGrpSpPr>
      <p:grpSpPr>
        <a:xfrm>
          <a:off x="0" y="0"/>
          <a:ext cx="0" cy="0"/>
          <a:chOff x="0" y="0"/>
          <a:chExt cx="0" cy="0"/>
        </a:xfrm>
      </p:grpSpPr>
      <p:sp>
        <p:nvSpPr>
          <p:cNvPr id="98" name="Google Shape;98;p22"/>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99" name="Google Shape;99;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0" name="Shape 100"/>
        <p:cNvGrpSpPr/>
        <p:nvPr/>
      </p:nvGrpSpPr>
      <p:grpSpPr>
        <a:xfrm>
          <a:off x="0" y="0"/>
          <a:ext cx="0" cy="0"/>
          <a:chOff x="0" y="0"/>
          <a:chExt cx="0" cy="0"/>
        </a:xfrm>
      </p:grpSpPr>
      <p:sp>
        <p:nvSpPr>
          <p:cNvPr id="101" name="Google Shape;101;p23"/>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3"/>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103" name="Google Shape;103;p23"/>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104" name="Google Shape;104;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5" name="Shape 105"/>
        <p:cNvGrpSpPr/>
        <p:nvPr/>
      </p:nvGrpSpPr>
      <p:grpSpPr>
        <a:xfrm>
          <a:off x="0" y="0"/>
          <a:ext cx="0" cy="0"/>
          <a:chOff x="0" y="0"/>
          <a:chExt cx="0" cy="0"/>
        </a:xfrm>
      </p:grpSpPr>
      <p:sp>
        <p:nvSpPr>
          <p:cNvPr id="106" name="Google Shape;106;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52" name="Google Shape;52;p13"/>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5"/>
          <p:cNvSpPr txBox="1"/>
          <p:nvPr>
            <p:ph type="ctrTitle"/>
          </p:nvPr>
        </p:nvSpPr>
        <p:spPr>
          <a:xfrm>
            <a:off x="1004150" y="1751764"/>
            <a:ext cx="7136700" cy="10224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GB"/>
              <a:t>       		</a:t>
            </a:r>
            <a:r>
              <a:rPr lang="en-GB"/>
              <a:t>Comparison</a:t>
            </a:r>
            <a:r>
              <a:rPr lang="en-GB"/>
              <a:t> of </a:t>
            </a:r>
            <a:endParaRPr/>
          </a:p>
          <a:p>
            <a:pPr indent="457200" lvl="0" marL="457200" rtl="0" algn="l">
              <a:spcBef>
                <a:spcPts val="0"/>
              </a:spcBef>
              <a:spcAft>
                <a:spcPts val="0"/>
              </a:spcAft>
              <a:buNone/>
            </a:pPr>
            <a:r>
              <a:rPr lang="en-GB"/>
              <a:t>Ucie 2.0 &amp; </a:t>
            </a:r>
            <a:r>
              <a:rPr lang="en-GB"/>
              <a:t>Ucie 3.0</a:t>
            </a:r>
            <a:endParaRPr/>
          </a:p>
        </p:txBody>
      </p:sp>
      <p:sp>
        <p:nvSpPr>
          <p:cNvPr id="112" name="Google Shape;112;p25"/>
          <p:cNvSpPr txBox="1"/>
          <p:nvPr>
            <p:ph idx="1" type="subTitle"/>
          </p:nvPr>
        </p:nvSpPr>
        <p:spPr>
          <a:xfrm>
            <a:off x="3494400" y="2877375"/>
            <a:ext cx="4297800" cy="792600"/>
          </a:xfrm>
          <a:prstGeom prst="rect">
            <a:avLst/>
          </a:prstGeom>
        </p:spPr>
        <p:txBody>
          <a:bodyPr anchorCtr="0" anchor="t" bIns="91425" lIns="91425" spcFirstLastPara="1" rIns="91425" wrap="square" tIns="91425">
            <a:normAutofit fontScale="55000"/>
          </a:bodyPr>
          <a:lstStyle/>
          <a:p>
            <a:pPr indent="0" lvl="0" marL="2286000" rtl="0" algn="l">
              <a:spcBef>
                <a:spcPts val="0"/>
              </a:spcBef>
              <a:spcAft>
                <a:spcPts val="0"/>
              </a:spcAft>
              <a:buNone/>
            </a:pPr>
            <a:r>
              <a:rPr b="1" lang="en-GB" sz="3600">
                <a:solidFill>
                  <a:schemeClr val="accent1"/>
                </a:solidFill>
                <a:latin typeface="PT Sans Narrow"/>
                <a:ea typeface="PT Sans Narrow"/>
                <a:cs typeface="PT Sans Narrow"/>
                <a:sym typeface="PT Sans Narrow"/>
              </a:rPr>
              <a:t>    K.LOKESH</a:t>
            </a:r>
            <a:endParaRPr b="1" sz="3600">
              <a:solidFill>
                <a:schemeClr val="accent1"/>
              </a:solidFill>
              <a:latin typeface="PT Sans Narrow"/>
              <a:ea typeface="PT Sans Narrow"/>
              <a:cs typeface="PT Sans Narrow"/>
              <a:sym typeface="PT Sans Narrow"/>
            </a:endParaRPr>
          </a:p>
          <a:p>
            <a:pPr indent="457200" lvl="0" marL="1371600" rtl="0" algn="l">
              <a:spcBef>
                <a:spcPts val="0"/>
              </a:spcBef>
              <a:spcAft>
                <a:spcPts val="0"/>
              </a:spcAft>
              <a:buNone/>
            </a:pPr>
            <a:r>
              <a:rPr b="1" lang="en-GB" sz="2257">
                <a:solidFill>
                  <a:schemeClr val="accent1"/>
                </a:solidFill>
                <a:latin typeface="PT Sans Narrow"/>
                <a:ea typeface="PT Sans Narrow"/>
                <a:cs typeface="PT Sans Narrow"/>
                <a:sym typeface="PT Sans Narrow"/>
              </a:rPr>
              <a:t>Chipweave Technologies Private Limited</a:t>
            </a:r>
            <a:endParaRPr b="1" sz="2257">
              <a:solidFill>
                <a:schemeClr val="accent1"/>
              </a:solidFill>
              <a:latin typeface="PT Sans Narrow"/>
              <a:ea typeface="PT Sans Narrow"/>
              <a:cs typeface="PT Sans Narrow"/>
              <a:sym typeface="PT Sans Narrow"/>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6"/>
          <p:cNvSpPr txBox="1"/>
          <p:nvPr>
            <p:ph idx="1" type="body"/>
          </p:nvPr>
        </p:nvSpPr>
        <p:spPr>
          <a:xfrm>
            <a:off x="43350" y="45400"/>
            <a:ext cx="8998200" cy="49848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l">
              <a:spcBef>
                <a:spcPts val="1200"/>
              </a:spcBef>
              <a:spcAft>
                <a:spcPts val="0"/>
              </a:spcAft>
              <a:buClr>
                <a:srgbClr val="000000"/>
              </a:buClr>
              <a:buSzPts val="1800"/>
              <a:buFont typeface="Calibri"/>
              <a:buChar char="●"/>
            </a:pPr>
            <a:r>
              <a:rPr lang="en-GB">
                <a:solidFill>
                  <a:srgbClr val="000000"/>
                </a:solidFill>
                <a:latin typeface="Calibri"/>
                <a:ea typeface="Calibri"/>
                <a:cs typeface="Calibri"/>
                <a:sym typeface="Calibri"/>
              </a:rPr>
              <a:t>UCIe 2.0 introduces </a:t>
            </a:r>
            <a:r>
              <a:rPr b="1" lang="en-GB">
                <a:solidFill>
                  <a:srgbClr val="000000"/>
                </a:solidFill>
                <a:latin typeface="Calibri"/>
                <a:ea typeface="Calibri"/>
                <a:cs typeface="Calibri"/>
                <a:sym typeface="Calibri"/>
              </a:rPr>
              <a:t>two major innovations</a:t>
            </a:r>
            <a:endParaRPr>
              <a:solidFill>
                <a:srgbClr val="000000"/>
              </a:solidFill>
              <a:latin typeface="Calibri"/>
              <a:ea typeface="Calibri"/>
              <a:cs typeface="Calibri"/>
              <a:sym typeface="Calibri"/>
            </a:endParaRPr>
          </a:p>
          <a:p>
            <a:pPr indent="-342900" lvl="1" marL="914400" rtl="0" algn="l">
              <a:spcBef>
                <a:spcPts val="0"/>
              </a:spcBef>
              <a:spcAft>
                <a:spcPts val="0"/>
              </a:spcAft>
              <a:buClr>
                <a:srgbClr val="000000"/>
              </a:buClr>
              <a:buSzPts val="1800"/>
              <a:buFont typeface="Calibri"/>
              <a:buChar char="○"/>
            </a:pPr>
            <a:r>
              <a:rPr lang="en-GB" sz="1800">
                <a:solidFill>
                  <a:srgbClr val="000000"/>
                </a:solidFill>
                <a:latin typeface="Calibri"/>
                <a:ea typeface="Calibri"/>
                <a:cs typeface="Calibri"/>
                <a:sym typeface="Calibri"/>
              </a:rPr>
              <a:t>Manageability &amp; DFx (Test, Debug, Telemetry) </a:t>
            </a:r>
            <a:endParaRPr sz="1800">
              <a:solidFill>
                <a:srgbClr val="000000"/>
              </a:solidFill>
              <a:latin typeface="Calibri"/>
              <a:ea typeface="Calibri"/>
              <a:cs typeface="Calibri"/>
              <a:sym typeface="Calibri"/>
            </a:endParaRPr>
          </a:p>
          <a:p>
            <a:pPr indent="-342900" lvl="1" marL="914400" rtl="0" algn="l">
              <a:spcBef>
                <a:spcPts val="0"/>
              </a:spcBef>
              <a:spcAft>
                <a:spcPts val="0"/>
              </a:spcAft>
              <a:buClr>
                <a:srgbClr val="000000"/>
              </a:buClr>
              <a:buSzPts val="1800"/>
              <a:buFont typeface="Calibri"/>
              <a:buChar char="○"/>
            </a:pPr>
            <a:r>
              <a:rPr lang="en-GB" sz="1800">
                <a:solidFill>
                  <a:srgbClr val="000000"/>
                </a:solidFill>
                <a:latin typeface="Calibri"/>
                <a:ea typeface="Calibri"/>
                <a:cs typeface="Calibri"/>
                <a:sym typeface="Calibri"/>
              </a:rPr>
              <a:t>UCIe-3D (Vertical chiplet integration)</a:t>
            </a:r>
            <a:endParaRPr b="1">
              <a:solidFill>
                <a:srgbClr val="000000"/>
              </a:solidFill>
              <a:latin typeface="Calibri"/>
              <a:ea typeface="Calibri"/>
              <a:cs typeface="Calibri"/>
              <a:sym typeface="Calibri"/>
            </a:endParaRPr>
          </a:p>
          <a:p>
            <a:pPr indent="-342900" lvl="0" marL="457200" rtl="0" algn="just">
              <a:spcBef>
                <a:spcPts val="0"/>
              </a:spcBef>
              <a:spcAft>
                <a:spcPts val="0"/>
              </a:spcAft>
              <a:buClr>
                <a:srgbClr val="000000"/>
              </a:buClr>
              <a:buSzPts val="1800"/>
              <a:buFont typeface="Calibri"/>
              <a:buChar char="●"/>
            </a:pPr>
            <a:r>
              <a:rPr b="1" lang="en-GB">
                <a:solidFill>
                  <a:srgbClr val="000000"/>
                </a:solidFill>
                <a:latin typeface="Calibri"/>
                <a:ea typeface="Calibri"/>
                <a:cs typeface="Calibri"/>
                <a:sym typeface="Calibri"/>
              </a:rPr>
              <a:t>First</a:t>
            </a:r>
            <a:r>
              <a:rPr lang="en-GB">
                <a:solidFill>
                  <a:srgbClr val="000000"/>
                </a:solidFill>
                <a:latin typeface="Calibri"/>
                <a:ea typeface="Calibri"/>
                <a:cs typeface="Calibri"/>
                <a:sym typeface="Calibri"/>
              </a:rPr>
              <a:t>, it solves problems related to </a:t>
            </a:r>
            <a:r>
              <a:rPr b="1" lang="en-GB">
                <a:solidFill>
                  <a:srgbClr val="000000"/>
                </a:solidFill>
                <a:latin typeface="Calibri"/>
                <a:ea typeface="Calibri"/>
                <a:cs typeface="Calibri"/>
                <a:sym typeface="Calibri"/>
              </a:rPr>
              <a:t>testing, debugging, and managing multiple chiplets</a:t>
            </a:r>
            <a:r>
              <a:rPr lang="en-GB">
                <a:solidFill>
                  <a:srgbClr val="000000"/>
                </a:solidFill>
                <a:latin typeface="Calibri"/>
                <a:ea typeface="Calibri"/>
                <a:cs typeface="Calibri"/>
                <a:sym typeface="Calibri"/>
              </a:rPr>
              <a:t> inside a System-in-Package (SiP).</a:t>
            </a:r>
            <a:endParaRPr>
              <a:solidFill>
                <a:srgbClr val="000000"/>
              </a:solidFill>
              <a:latin typeface="Calibri"/>
              <a:ea typeface="Calibri"/>
              <a:cs typeface="Calibri"/>
              <a:sym typeface="Calibri"/>
            </a:endParaRPr>
          </a:p>
          <a:p>
            <a:pPr indent="-342900" lvl="1" marL="914400" rtl="0" algn="just">
              <a:lnSpc>
                <a:spcPct val="115000"/>
              </a:lnSpc>
              <a:spcBef>
                <a:spcPts val="0"/>
              </a:spcBef>
              <a:spcAft>
                <a:spcPts val="0"/>
              </a:spcAft>
              <a:buClr>
                <a:srgbClr val="000000"/>
              </a:buClr>
              <a:buSzPts val="1800"/>
              <a:buFont typeface="Calibri"/>
              <a:buChar char="○"/>
            </a:pPr>
            <a:r>
              <a:rPr lang="en-GB" sz="1800">
                <a:solidFill>
                  <a:srgbClr val="000000"/>
                </a:solidFill>
                <a:latin typeface="Calibri"/>
                <a:ea typeface="Calibri"/>
                <a:cs typeface="Calibri"/>
                <a:sym typeface="Calibri"/>
              </a:rPr>
              <a:t>Since chiplets are placed inside a package, it is difficult to access them directly.</a:t>
            </a:r>
            <a:br>
              <a:rPr lang="en-GB" sz="1800">
                <a:solidFill>
                  <a:srgbClr val="000000"/>
                </a:solidFill>
                <a:latin typeface="Calibri"/>
                <a:ea typeface="Calibri"/>
                <a:cs typeface="Calibri"/>
                <a:sym typeface="Calibri"/>
              </a:rPr>
            </a:br>
            <a:r>
              <a:rPr lang="en-GB" sz="1800">
                <a:solidFill>
                  <a:srgbClr val="000000"/>
                </a:solidFill>
                <a:latin typeface="Calibri"/>
                <a:ea typeface="Calibri"/>
                <a:cs typeface="Calibri"/>
                <a:sym typeface="Calibri"/>
              </a:rPr>
              <a:t>UCIe 2.0 provides a </a:t>
            </a:r>
            <a:r>
              <a:rPr b="1" lang="en-GB" sz="1800">
                <a:solidFill>
                  <a:srgbClr val="000000"/>
                </a:solidFill>
                <a:latin typeface="Calibri"/>
                <a:ea typeface="Calibri"/>
                <a:cs typeface="Calibri"/>
                <a:sym typeface="Calibri"/>
              </a:rPr>
              <a:t>system-level solution</a:t>
            </a:r>
            <a:r>
              <a:rPr lang="en-GB" sz="1800">
                <a:solidFill>
                  <a:srgbClr val="000000"/>
                </a:solidFill>
                <a:latin typeface="Calibri"/>
                <a:ea typeface="Calibri"/>
                <a:cs typeface="Calibri"/>
                <a:sym typeface="Calibri"/>
              </a:rPr>
              <a:t> to manage, test, and debug chiplets, while still being </a:t>
            </a:r>
            <a:r>
              <a:rPr b="1" lang="en-GB" sz="1800">
                <a:solidFill>
                  <a:srgbClr val="000000"/>
                </a:solidFill>
                <a:latin typeface="Calibri"/>
                <a:ea typeface="Calibri"/>
                <a:cs typeface="Calibri"/>
                <a:sym typeface="Calibri"/>
              </a:rPr>
              <a:t>backward compatible</a:t>
            </a:r>
            <a:r>
              <a:rPr lang="en-GB" sz="1800">
                <a:solidFill>
                  <a:srgbClr val="000000"/>
                </a:solidFill>
                <a:latin typeface="Calibri"/>
                <a:ea typeface="Calibri"/>
                <a:cs typeface="Calibri"/>
                <a:sym typeface="Calibri"/>
              </a:rPr>
              <a:t> with earlier UCIe versions.</a:t>
            </a:r>
            <a:endParaRPr sz="1800">
              <a:solidFill>
                <a:srgbClr val="000000"/>
              </a:solidFill>
              <a:latin typeface="Calibri"/>
              <a:ea typeface="Calibri"/>
              <a:cs typeface="Calibri"/>
              <a:sym typeface="Calibri"/>
            </a:endParaRPr>
          </a:p>
          <a:p>
            <a:pPr indent="-342900" lvl="0" marL="457200" rtl="0" algn="just">
              <a:lnSpc>
                <a:spcPct val="150000"/>
              </a:lnSpc>
              <a:spcBef>
                <a:spcPts val="0"/>
              </a:spcBef>
              <a:spcAft>
                <a:spcPts val="0"/>
              </a:spcAft>
              <a:buClr>
                <a:srgbClr val="000000"/>
              </a:buClr>
              <a:buSzPts val="1800"/>
              <a:buFont typeface="Calibri"/>
              <a:buChar char="●"/>
            </a:pPr>
            <a:r>
              <a:rPr b="1" lang="en-GB">
                <a:solidFill>
                  <a:srgbClr val="000000"/>
                </a:solidFill>
                <a:latin typeface="Calibri"/>
                <a:ea typeface="Calibri"/>
                <a:cs typeface="Calibri"/>
                <a:sym typeface="Calibri"/>
              </a:rPr>
              <a:t>Second</a:t>
            </a:r>
            <a:r>
              <a:rPr lang="en-GB">
                <a:solidFill>
                  <a:srgbClr val="000000"/>
                </a:solidFill>
                <a:latin typeface="Calibri"/>
                <a:ea typeface="Calibri"/>
                <a:cs typeface="Calibri"/>
                <a:sym typeface="Calibri"/>
              </a:rPr>
              <a:t>, UCIe 2.0 supports </a:t>
            </a:r>
            <a:r>
              <a:rPr b="1" lang="en-GB">
                <a:solidFill>
                  <a:srgbClr val="000000"/>
                </a:solidFill>
                <a:latin typeface="Calibri"/>
                <a:ea typeface="Calibri"/>
                <a:cs typeface="Calibri"/>
                <a:sym typeface="Calibri"/>
              </a:rPr>
              <a:t>3D chiplet integration</a:t>
            </a:r>
            <a:r>
              <a:rPr lang="en-GB">
                <a:solidFill>
                  <a:srgbClr val="000000"/>
                </a:solidFill>
                <a:latin typeface="Calibri"/>
                <a:ea typeface="Calibri"/>
                <a:cs typeface="Calibri"/>
                <a:sym typeface="Calibri"/>
              </a:rPr>
              <a:t>, called </a:t>
            </a:r>
            <a:r>
              <a:rPr b="1" lang="en-GB">
                <a:solidFill>
                  <a:srgbClr val="000000"/>
                </a:solidFill>
                <a:latin typeface="Calibri"/>
                <a:ea typeface="Calibri"/>
                <a:cs typeface="Calibri"/>
                <a:sym typeface="Calibri"/>
              </a:rPr>
              <a:t>UCIe-3D</a:t>
            </a:r>
            <a:r>
              <a:rPr lang="en-GB">
                <a:solidFill>
                  <a:srgbClr val="000000"/>
                </a:solidFill>
                <a:latin typeface="Calibri"/>
                <a:ea typeface="Calibri"/>
                <a:cs typeface="Calibri"/>
                <a:sym typeface="Calibri"/>
              </a:rPr>
              <a:t>.</a:t>
            </a:r>
            <a:endParaRPr>
              <a:solidFill>
                <a:srgbClr val="000000"/>
              </a:solidFill>
              <a:latin typeface="Calibri"/>
              <a:ea typeface="Calibri"/>
              <a:cs typeface="Calibri"/>
              <a:sym typeface="Calibri"/>
            </a:endParaRPr>
          </a:p>
          <a:p>
            <a:pPr indent="-342900" lvl="1" marL="914400" rtl="0" algn="just">
              <a:spcBef>
                <a:spcPts val="0"/>
              </a:spcBef>
              <a:spcAft>
                <a:spcPts val="0"/>
              </a:spcAft>
              <a:buClr>
                <a:srgbClr val="000000"/>
              </a:buClr>
              <a:buSzPts val="1800"/>
              <a:buFont typeface="Calibri"/>
              <a:buChar char="○"/>
            </a:pPr>
            <a:r>
              <a:rPr lang="en-GB" sz="1800">
                <a:solidFill>
                  <a:srgbClr val="000000"/>
                </a:solidFill>
                <a:latin typeface="Calibri"/>
                <a:ea typeface="Calibri"/>
                <a:cs typeface="Calibri"/>
                <a:sym typeface="Calibri"/>
              </a:rPr>
              <a:t>This allows chiplets to be stacked vertically using </a:t>
            </a:r>
            <a:r>
              <a:rPr b="1" lang="en-GB" sz="1800">
                <a:solidFill>
                  <a:srgbClr val="000000"/>
                </a:solidFill>
                <a:latin typeface="Calibri"/>
                <a:ea typeface="Calibri"/>
                <a:cs typeface="Calibri"/>
                <a:sym typeface="Calibri"/>
              </a:rPr>
              <a:t>hybrid bonding</a:t>
            </a:r>
            <a:r>
              <a:rPr lang="en-GB" sz="1800">
                <a:solidFill>
                  <a:srgbClr val="000000"/>
                </a:solidFill>
                <a:latin typeface="Calibri"/>
                <a:ea typeface="Calibri"/>
                <a:cs typeface="Calibri"/>
                <a:sym typeface="Calibri"/>
              </a:rPr>
              <a:t> with very small bump sizes, from </a:t>
            </a:r>
            <a:r>
              <a:rPr b="1" lang="en-GB" sz="1800">
                <a:solidFill>
                  <a:srgbClr val="000000"/>
                </a:solidFill>
                <a:latin typeface="Calibri"/>
                <a:ea typeface="Calibri"/>
                <a:cs typeface="Calibri"/>
                <a:sym typeface="Calibri"/>
              </a:rPr>
              <a:t>9 µm down to about 1 µm</a:t>
            </a:r>
            <a:r>
              <a:rPr lang="en-GB" sz="1800">
                <a:solidFill>
                  <a:srgbClr val="000000"/>
                </a:solidFill>
                <a:latin typeface="Calibri"/>
                <a:ea typeface="Calibri"/>
                <a:cs typeface="Calibri"/>
                <a:sym typeface="Calibri"/>
              </a:rPr>
              <a:t>.</a:t>
            </a:r>
            <a:endParaRPr sz="1800">
              <a:solidFill>
                <a:srgbClr val="000000"/>
              </a:solidFill>
              <a:latin typeface="Calibri"/>
              <a:ea typeface="Calibri"/>
              <a:cs typeface="Calibri"/>
              <a:sym typeface="Calibri"/>
            </a:endParaRPr>
          </a:p>
          <a:p>
            <a:pPr indent="-342900" lvl="1" marL="914400" rtl="0" algn="just">
              <a:spcBef>
                <a:spcPts val="0"/>
              </a:spcBef>
              <a:spcAft>
                <a:spcPts val="0"/>
              </a:spcAft>
              <a:buClr>
                <a:srgbClr val="000000"/>
              </a:buClr>
              <a:buSzPts val="1800"/>
              <a:buFont typeface="Calibri"/>
              <a:buChar char="○"/>
            </a:pPr>
            <a:r>
              <a:rPr lang="en-GB" sz="1800">
                <a:solidFill>
                  <a:srgbClr val="000000"/>
                </a:solidFill>
                <a:latin typeface="Calibri"/>
                <a:ea typeface="Calibri"/>
                <a:cs typeface="Calibri"/>
                <a:sym typeface="Calibri"/>
              </a:rPr>
              <a:t>This improves </a:t>
            </a:r>
            <a:r>
              <a:rPr b="1" lang="en-GB" sz="1800">
                <a:solidFill>
                  <a:srgbClr val="000000"/>
                </a:solidFill>
                <a:latin typeface="Calibri"/>
                <a:ea typeface="Calibri"/>
                <a:cs typeface="Calibri"/>
                <a:sym typeface="Calibri"/>
              </a:rPr>
              <a:t>performance, power efficiency, and bandwidth density</a:t>
            </a:r>
            <a:r>
              <a:rPr lang="en-GB" sz="1800">
                <a:solidFill>
                  <a:srgbClr val="000000"/>
                </a:solidFill>
                <a:latin typeface="Calibri"/>
                <a:ea typeface="Calibri"/>
                <a:cs typeface="Calibri"/>
                <a:sym typeface="Calibri"/>
              </a:rPr>
              <a:t>.</a:t>
            </a:r>
            <a:endParaRPr sz="1800">
              <a:solidFill>
                <a:srgbClr val="000000"/>
              </a:solidFill>
              <a:latin typeface="Calibri"/>
              <a:ea typeface="Calibri"/>
              <a:cs typeface="Calibri"/>
              <a:sym typeface="Calibri"/>
            </a:endParaRPr>
          </a:p>
          <a:p>
            <a:pPr indent="0" lvl="0" marL="0" rtl="0" algn="l">
              <a:spcBef>
                <a:spcPts val="1200"/>
              </a:spcBef>
              <a:spcAft>
                <a:spcPts val="0"/>
              </a:spcAft>
              <a:buNone/>
            </a:pPr>
            <a:r>
              <a:t/>
            </a:r>
            <a:endParaRPr>
              <a:solidFill>
                <a:srgbClr val="000000"/>
              </a:solidFill>
              <a:latin typeface="Calibri"/>
              <a:ea typeface="Calibri"/>
              <a:cs typeface="Calibri"/>
              <a:sym typeface="Calibri"/>
            </a:endParaRPr>
          </a:p>
          <a:p>
            <a:pPr indent="0" lvl="0" marL="0" rtl="0" algn="just">
              <a:lnSpc>
                <a:spcPct val="150000"/>
              </a:lnSpc>
              <a:spcBef>
                <a:spcPts val="1200"/>
              </a:spcBef>
              <a:spcAft>
                <a:spcPts val="0"/>
              </a:spcAft>
              <a:buNone/>
            </a:pPr>
            <a:r>
              <a:t/>
            </a:r>
            <a:endParaRPr>
              <a:solidFill>
                <a:srgbClr val="111C24"/>
              </a:solidFill>
              <a:highlight>
                <a:srgbClr val="FFFFFF"/>
              </a:highlight>
              <a:latin typeface="Times New Roman"/>
              <a:ea typeface="Times New Roman"/>
              <a:cs typeface="Times New Roman"/>
              <a:sym typeface="Times New Roman"/>
            </a:endParaRPr>
          </a:p>
          <a:p>
            <a:pPr indent="0" lvl="0" marL="457200" rtl="0" algn="l">
              <a:spcBef>
                <a:spcPts val="1100"/>
              </a:spcBef>
              <a:spcAft>
                <a:spcPts val="0"/>
              </a:spcAft>
              <a:buNone/>
            </a:pPr>
            <a:r>
              <a:t/>
            </a:r>
            <a:endParaRPr>
              <a:solidFill>
                <a:srgbClr val="000000"/>
              </a:solidFill>
              <a:latin typeface="Times New Roman"/>
              <a:ea typeface="Times New Roman"/>
              <a:cs typeface="Times New Roman"/>
              <a:sym typeface="Times New Roman"/>
            </a:endParaRPr>
          </a:p>
          <a:p>
            <a:pPr indent="0" lvl="0" marL="457200" rtl="0" algn="just">
              <a:lnSpc>
                <a:spcPct val="115000"/>
              </a:lnSpc>
              <a:spcBef>
                <a:spcPts val="0"/>
              </a:spcBef>
              <a:spcAft>
                <a:spcPts val="0"/>
              </a:spcAft>
              <a:buNone/>
            </a:pPr>
            <a:r>
              <a:t/>
            </a:r>
            <a:endParaRPr>
              <a:solidFill>
                <a:srgbClr val="000000"/>
              </a:solidFill>
              <a:latin typeface="Times New Roman"/>
              <a:ea typeface="Times New Roman"/>
              <a:cs typeface="Times New Roman"/>
              <a:sym typeface="Times New Roman"/>
            </a:endParaRPr>
          </a:p>
          <a:p>
            <a:pPr indent="0" lvl="0" marL="457200" rtl="0" algn="just">
              <a:lnSpc>
                <a:spcPct val="115000"/>
              </a:lnSpc>
              <a:spcBef>
                <a:spcPts val="26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0" rtl="0" algn="just">
              <a:lnSpc>
                <a:spcPct val="115000"/>
              </a:lnSpc>
              <a:spcBef>
                <a:spcPts val="3000"/>
              </a:spcBef>
              <a:spcAft>
                <a:spcPts val="3000"/>
              </a:spcAft>
              <a:buNone/>
            </a:pPr>
            <a:r>
              <a:t/>
            </a:r>
            <a:endParaRPr>
              <a:solidFill>
                <a:srgbClr val="2021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7"/>
          <p:cNvSpPr txBox="1"/>
          <p:nvPr>
            <p:ph idx="1" type="body"/>
          </p:nvPr>
        </p:nvSpPr>
        <p:spPr>
          <a:xfrm>
            <a:off x="43350" y="45400"/>
            <a:ext cx="8998200" cy="49848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lnSpc>
                <a:spcPct val="150000"/>
              </a:lnSpc>
              <a:spcBef>
                <a:spcPts val="1100"/>
              </a:spcBef>
              <a:spcAft>
                <a:spcPts val="0"/>
              </a:spcAft>
              <a:buClr>
                <a:srgbClr val="000000"/>
              </a:buClr>
              <a:buSzPts val="1800"/>
              <a:buFont typeface="Calibri"/>
              <a:buChar char="●"/>
            </a:pPr>
            <a:r>
              <a:rPr lang="en-GB">
                <a:solidFill>
                  <a:srgbClr val="000000"/>
                </a:solidFill>
                <a:latin typeface="Calibri"/>
                <a:ea typeface="Calibri"/>
                <a:cs typeface="Calibri"/>
                <a:sym typeface="Calibri"/>
              </a:rPr>
              <a:t>UCIe 2.0 focuses on improving testing, debugging, and manageability of chiplet-based System-in-Package designs across the entire silicon life cycle. </a:t>
            </a:r>
            <a:endParaRPr>
              <a:solidFill>
                <a:srgbClr val="000000"/>
              </a:solidFill>
              <a:latin typeface="Calibri"/>
              <a:ea typeface="Calibri"/>
              <a:cs typeface="Calibri"/>
              <a:sym typeface="Calibri"/>
            </a:endParaRPr>
          </a:p>
          <a:p>
            <a:pPr indent="-342900" lvl="0" marL="457200" rtl="0" algn="just">
              <a:lnSpc>
                <a:spcPct val="150000"/>
              </a:lnSpc>
              <a:spcBef>
                <a:spcPts val="0"/>
              </a:spcBef>
              <a:spcAft>
                <a:spcPts val="0"/>
              </a:spcAft>
              <a:buClr>
                <a:srgbClr val="000000"/>
              </a:buClr>
              <a:buSzPts val="1800"/>
              <a:buFont typeface="Calibri"/>
              <a:buChar char="●"/>
            </a:pPr>
            <a:r>
              <a:rPr lang="en-GB">
                <a:solidFill>
                  <a:srgbClr val="000000"/>
                </a:solidFill>
                <a:latin typeface="Calibri"/>
                <a:ea typeface="Calibri"/>
                <a:cs typeface="Calibri"/>
                <a:sym typeface="Calibri"/>
              </a:rPr>
              <a:t>While UCIe 1.0 and 1.1 already provided some DFx features at the interconnect level, many challenges still remain at the chiplet and package level. </a:t>
            </a:r>
            <a:endParaRPr>
              <a:solidFill>
                <a:srgbClr val="000000"/>
              </a:solidFill>
              <a:latin typeface="Calibri"/>
              <a:ea typeface="Calibri"/>
              <a:cs typeface="Calibri"/>
              <a:sym typeface="Calibri"/>
            </a:endParaRPr>
          </a:p>
          <a:p>
            <a:pPr indent="-342900" lvl="0" marL="457200" rtl="0" algn="just">
              <a:lnSpc>
                <a:spcPct val="150000"/>
              </a:lnSpc>
              <a:spcBef>
                <a:spcPts val="0"/>
              </a:spcBef>
              <a:spcAft>
                <a:spcPts val="0"/>
              </a:spcAft>
              <a:buClr>
                <a:srgbClr val="000000"/>
              </a:buClr>
              <a:buSzPts val="1800"/>
              <a:buFont typeface="Calibri"/>
              <a:buChar char="●"/>
            </a:pPr>
            <a:r>
              <a:rPr lang="en-GB">
                <a:solidFill>
                  <a:srgbClr val="000000"/>
                </a:solidFill>
                <a:latin typeface="Calibri"/>
                <a:ea typeface="Calibri"/>
                <a:cs typeface="Calibri"/>
                <a:sym typeface="Calibri"/>
              </a:rPr>
              <a:t>These include difficulty in testing micro-bumps, </a:t>
            </a:r>
            <a:endParaRPr>
              <a:solidFill>
                <a:srgbClr val="000000"/>
              </a:solidFill>
              <a:latin typeface="Calibri"/>
              <a:ea typeface="Calibri"/>
              <a:cs typeface="Calibri"/>
              <a:sym typeface="Calibri"/>
            </a:endParaRPr>
          </a:p>
          <a:p>
            <a:pPr indent="-330200" lvl="1" marL="914400" rtl="0" algn="just">
              <a:lnSpc>
                <a:spcPct val="150000"/>
              </a:lnSpc>
              <a:spcBef>
                <a:spcPts val="0"/>
              </a:spcBef>
              <a:spcAft>
                <a:spcPts val="0"/>
              </a:spcAft>
              <a:buClr>
                <a:srgbClr val="000000"/>
              </a:buClr>
              <a:buSzPts val="1600"/>
              <a:buFont typeface="Calibri"/>
              <a:buChar char="○"/>
            </a:pPr>
            <a:r>
              <a:rPr lang="en-GB" sz="1600">
                <a:solidFill>
                  <a:srgbClr val="000000"/>
                </a:solidFill>
                <a:latin typeface="Calibri"/>
                <a:ea typeface="Calibri"/>
                <a:cs typeface="Calibri"/>
                <a:sym typeface="Calibri"/>
              </a:rPr>
              <a:t>limited access to internal chiplets for debugging, </a:t>
            </a:r>
            <a:endParaRPr sz="1600">
              <a:solidFill>
                <a:srgbClr val="000000"/>
              </a:solidFill>
              <a:latin typeface="Calibri"/>
              <a:ea typeface="Calibri"/>
              <a:cs typeface="Calibri"/>
              <a:sym typeface="Calibri"/>
            </a:endParaRPr>
          </a:p>
          <a:p>
            <a:pPr indent="-330200" lvl="1" marL="914400" rtl="0" algn="just">
              <a:lnSpc>
                <a:spcPct val="150000"/>
              </a:lnSpc>
              <a:spcBef>
                <a:spcPts val="0"/>
              </a:spcBef>
              <a:spcAft>
                <a:spcPts val="0"/>
              </a:spcAft>
              <a:buClr>
                <a:srgbClr val="000000"/>
              </a:buClr>
              <a:buSzPts val="1600"/>
              <a:buFont typeface="Calibri"/>
              <a:buChar char="○"/>
            </a:pPr>
            <a:r>
              <a:rPr lang="en-GB" sz="1600">
                <a:solidFill>
                  <a:srgbClr val="000000"/>
                </a:solidFill>
                <a:latin typeface="Calibri"/>
                <a:ea typeface="Calibri"/>
                <a:cs typeface="Calibri"/>
                <a:sym typeface="Calibri"/>
              </a:rPr>
              <a:t>The need for secure manageability, </a:t>
            </a:r>
            <a:endParaRPr sz="1600">
              <a:solidFill>
                <a:srgbClr val="000000"/>
              </a:solidFill>
              <a:latin typeface="Calibri"/>
              <a:ea typeface="Calibri"/>
              <a:cs typeface="Calibri"/>
              <a:sym typeface="Calibri"/>
            </a:endParaRPr>
          </a:p>
          <a:p>
            <a:pPr indent="-330200" lvl="1" marL="914400" rtl="0" algn="just">
              <a:lnSpc>
                <a:spcPct val="150000"/>
              </a:lnSpc>
              <a:spcBef>
                <a:spcPts val="0"/>
              </a:spcBef>
              <a:spcAft>
                <a:spcPts val="0"/>
              </a:spcAft>
              <a:buClr>
                <a:srgbClr val="000000"/>
              </a:buClr>
              <a:buSzPts val="1600"/>
              <a:buFont typeface="Calibri"/>
              <a:buChar char="○"/>
            </a:pPr>
            <a:r>
              <a:rPr lang="en-GB" sz="1600">
                <a:solidFill>
                  <a:srgbClr val="000000"/>
                </a:solidFill>
                <a:latin typeface="Calibri"/>
                <a:ea typeface="Calibri"/>
                <a:cs typeface="Calibri"/>
                <a:sym typeface="Calibri"/>
              </a:rPr>
              <a:t>Firmware updates in the field, and different bandwidth requirements for scan, debug, and management functions. </a:t>
            </a:r>
            <a:endParaRPr sz="1600">
              <a:solidFill>
                <a:srgbClr val="000000"/>
              </a:solidFill>
              <a:latin typeface="Calibri"/>
              <a:ea typeface="Calibri"/>
              <a:cs typeface="Calibri"/>
              <a:sym typeface="Calibri"/>
            </a:endParaRPr>
          </a:p>
          <a:p>
            <a:pPr indent="-342900" lvl="0" marL="457200" rtl="0" algn="just">
              <a:lnSpc>
                <a:spcPct val="150000"/>
              </a:lnSpc>
              <a:spcBef>
                <a:spcPts val="0"/>
              </a:spcBef>
              <a:spcAft>
                <a:spcPts val="0"/>
              </a:spcAft>
              <a:buClr>
                <a:srgbClr val="000000"/>
              </a:buClr>
              <a:buSzPts val="1800"/>
              <a:buFont typeface="Calibri"/>
              <a:buChar char="●"/>
            </a:pPr>
            <a:r>
              <a:rPr lang="en-GB">
                <a:solidFill>
                  <a:srgbClr val="000000"/>
                </a:solidFill>
                <a:latin typeface="Calibri"/>
                <a:ea typeface="Calibri"/>
                <a:cs typeface="Calibri"/>
                <a:sym typeface="Calibri"/>
              </a:rPr>
              <a:t>UCIe 2.0 addresses these issues in a holistic, system-level manner, enabling a reliable, secure, and plug-and-play chiplet ecosystem.</a:t>
            </a:r>
            <a:endParaRPr>
              <a:solidFill>
                <a:srgbClr val="111C24"/>
              </a:solidFill>
              <a:highlight>
                <a:srgbClr val="FFFFFF"/>
              </a:highlight>
              <a:latin typeface="Times New Roman"/>
              <a:ea typeface="Times New Roman"/>
              <a:cs typeface="Times New Roman"/>
              <a:sym typeface="Times New Roman"/>
            </a:endParaRPr>
          </a:p>
          <a:p>
            <a:pPr indent="0" lvl="0" marL="457200" rtl="0" algn="l">
              <a:spcBef>
                <a:spcPts val="1100"/>
              </a:spcBef>
              <a:spcAft>
                <a:spcPts val="0"/>
              </a:spcAft>
              <a:buNone/>
            </a:pPr>
            <a:r>
              <a:t/>
            </a:r>
            <a:endParaRPr>
              <a:solidFill>
                <a:srgbClr val="000000"/>
              </a:solidFill>
              <a:latin typeface="Times New Roman"/>
              <a:ea typeface="Times New Roman"/>
              <a:cs typeface="Times New Roman"/>
              <a:sym typeface="Times New Roman"/>
            </a:endParaRPr>
          </a:p>
          <a:p>
            <a:pPr indent="0" lvl="0" marL="457200" rtl="0" algn="just">
              <a:lnSpc>
                <a:spcPct val="115000"/>
              </a:lnSpc>
              <a:spcBef>
                <a:spcPts val="0"/>
              </a:spcBef>
              <a:spcAft>
                <a:spcPts val="0"/>
              </a:spcAft>
              <a:buNone/>
            </a:pPr>
            <a:r>
              <a:t/>
            </a:r>
            <a:endParaRPr>
              <a:solidFill>
                <a:srgbClr val="000000"/>
              </a:solidFill>
              <a:latin typeface="Times New Roman"/>
              <a:ea typeface="Times New Roman"/>
              <a:cs typeface="Times New Roman"/>
              <a:sym typeface="Times New Roman"/>
            </a:endParaRPr>
          </a:p>
          <a:p>
            <a:pPr indent="0" lvl="0" marL="457200" rtl="0" algn="just">
              <a:lnSpc>
                <a:spcPct val="115000"/>
              </a:lnSpc>
              <a:spcBef>
                <a:spcPts val="26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0" rtl="0" algn="just">
              <a:lnSpc>
                <a:spcPct val="115000"/>
              </a:lnSpc>
              <a:spcBef>
                <a:spcPts val="3000"/>
              </a:spcBef>
              <a:spcAft>
                <a:spcPts val="3000"/>
              </a:spcAft>
              <a:buNone/>
            </a:pPr>
            <a:r>
              <a:t/>
            </a:r>
            <a:endParaRPr>
              <a:solidFill>
                <a:srgbClr val="2021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8"/>
          <p:cNvSpPr txBox="1"/>
          <p:nvPr>
            <p:ph idx="1" type="body"/>
          </p:nvPr>
        </p:nvSpPr>
        <p:spPr>
          <a:xfrm>
            <a:off x="72900" y="723150"/>
            <a:ext cx="8998200" cy="36972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spcBef>
                <a:spcPts val="0"/>
              </a:spcBef>
              <a:spcAft>
                <a:spcPts val="0"/>
              </a:spcAft>
              <a:buClr>
                <a:srgbClr val="000000"/>
              </a:buClr>
              <a:buSzPts val="1800"/>
              <a:buFont typeface="Calibri"/>
              <a:buChar char="●"/>
            </a:pPr>
            <a:r>
              <a:rPr lang="en-GB">
                <a:solidFill>
                  <a:srgbClr val="000000"/>
                </a:solidFill>
                <a:latin typeface="Calibri"/>
                <a:ea typeface="Calibri"/>
                <a:cs typeface="Calibri"/>
                <a:sym typeface="Calibri"/>
              </a:rPr>
              <a:t>UCIe 2.0 defines a common and flexible infrastructure to manage, test, and debug chiplets using existing IPs and external interfaces such as PCIe or SMBus. It allows access to internal chiplets through package pins using bridging mechanisms and works seamlessly with on-package UCIe links. </a:t>
            </a:r>
            <a:endParaRPr>
              <a:solidFill>
                <a:srgbClr val="000000"/>
              </a:solidFill>
              <a:latin typeface="Calibri"/>
              <a:ea typeface="Calibri"/>
              <a:cs typeface="Calibri"/>
              <a:sym typeface="Calibri"/>
            </a:endParaRPr>
          </a:p>
          <a:p>
            <a:pPr indent="0" lvl="0" marL="457200" rtl="0" algn="just">
              <a:spcBef>
                <a:spcPts val="0"/>
              </a:spcBef>
              <a:spcAft>
                <a:spcPts val="0"/>
              </a:spcAft>
              <a:buNone/>
            </a:pPr>
            <a:r>
              <a:t/>
            </a:r>
            <a:endParaRPr>
              <a:solidFill>
                <a:srgbClr val="000000"/>
              </a:solidFill>
              <a:latin typeface="Calibri"/>
              <a:ea typeface="Calibri"/>
              <a:cs typeface="Calibri"/>
              <a:sym typeface="Calibri"/>
            </a:endParaRPr>
          </a:p>
          <a:p>
            <a:pPr indent="-342900" lvl="0" marL="457200" rtl="0" algn="just">
              <a:spcBef>
                <a:spcPts val="0"/>
              </a:spcBef>
              <a:spcAft>
                <a:spcPts val="0"/>
              </a:spcAft>
              <a:buClr>
                <a:srgbClr val="000000"/>
              </a:buClr>
              <a:buSzPts val="1800"/>
              <a:buFont typeface="Calibri"/>
              <a:buChar char="●"/>
            </a:pPr>
            <a:r>
              <a:rPr lang="en-GB">
                <a:solidFill>
                  <a:srgbClr val="000000"/>
                </a:solidFill>
                <a:latin typeface="Calibri"/>
                <a:ea typeface="Calibri"/>
                <a:cs typeface="Calibri"/>
                <a:sym typeface="Calibri"/>
              </a:rPr>
              <a:t>Manageability in UCIe 2.0 is optional and supports functions like chiplet discovery, configuration, firmware download, power and thermal monitoring, error reporting, telemetry, logging, security, and test/debug operations. </a:t>
            </a:r>
            <a:endParaRPr>
              <a:solidFill>
                <a:srgbClr val="000000"/>
              </a:solidFill>
              <a:latin typeface="Calibri"/>
              <a:ea typeface="Calibri"/>
              <a:cs typeface="Calibri"/>
              <a:sym typeface="Calibri"/>
            </a:endParaRPr>
          </a:p>
          <a:p>
            <a:pPr indent="0" lvl="0" marL="0" rtl="0" algn="just">
              <a:spcBef>
                <a:spcPts val="0"/>
              </a:spcBef>
              <a:spcAft>
                <a:spcPts val="0"/>
              </a:spcAft>
              <a:buNone/>
            </a:pPr>
            <a:r>
              <a:t/>
            </a:r>
            <a:endParaRPr>
              <a:solidFill>
                <a:srgbClr val="000000"/>
              </a:solidFill>
              <a:latin typeface="Times New Roman"/>
              <a:ea typeface="Times New Roman"/>
              <a:cs typeface="Times New Roman"/>
              <a:sym typeface="Times New Roman"/>
            </a:endParaRPr>
          </a:p>
          <a:p>
            <a:pPr indent="0" lvl="0" marL="457200" rtl="0" algn="just">
              <a:lnSpc>
                <a:spcPct val="115000"/>
              </a:lnSpc>
              <a:spcBef>
                <a:spcPts val="0"/>
              </a:spcBef>
              <a:spcAft>
                <a:spcPts val="0"/>
              </a:spcAft>
              <a:buNone/>
            </a:pPr>
            <a:r>
              <a:t/>
            </a:r>
            <a:endParaRPr>
              <a:solidFill>
                <a:srgbClr val="000000"/>
              </a:solidFill>
              <a:latin typeface="Times New Roman"/>
              <a:ea typeface="Times New Roman"/>
              <a:cs typeface="Times New Roman"/>
              <a:sym typeface="Times New Roman"/>
            </a:endParaRPr>
          </a:p>
          <a:p>
            <a:pPr indent="0" lvl="0" marL="457200" rtl="0" algn="just">
              <a:lnSpc>
                <a:spcPct val="115000"/>
              </a:lnSpc>
              <a:spcBef>
                <a:spcPts val="26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0" rtl="0" algn="just">
              <a:lnSpc>
                <a:spcPct val="115000"/>
              </a:lnSpc>
              <a:spcBef>
                <a:spcPts val="3000"/>
              </a:spcBef>
              <a:spcAft>
                <a:spcPts val="3000"/>
              </a:spcAft>
              <a:buNone/>
            </a:pPr>
            <a:r>
              <a:t/>
            </a:r>
            <a:endParaRPr>
              <a:solidFill>
                <a:srgbClr val="2021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9"/>
          <p:cNvSpPr txBox="1"/>
          <p:nvPr>
            <p:ph idx="1" type="body"/>
          </p:nvPr>
        </p:nvSpPr>
        <p:spPr>
          <a:xfrm>
            <a:off x="43350" y="45400"/>
            <a:ext cx="8998200" cy="49848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spcBef>
                <a:spcPts val="0"/>
              </a:spcBef>
              <a:spcAft>
                <a:spcPts val="0"/>
              </a:spcAft>
              <a:buClr>
                <a:srgbClr val="000000"/>
              </a:buClr>
              <a:buSzPts val="1800"/>
              <a:buFont typeface="Calibri"/>
              <a:buChar char="●"/>
            </a:pPr>
            <a:r>
              <a:rPr lang="en-GB">
                <a:solidFill>
                  <a:srgbClr val="000000"/>
                </a:solidFill>
                <a:latin typeface="Calibri"/>
                <a:ea typeface="Calibri"/>
                <a:cs typeface="Calibri"/>
                <a:sym typeface="Calibri"/>
              </a:rPr>
              <a:t>A management fabric is used where one chiplet acts as a management director to control and coordinate all chiplets securely. DFx operations follow a hub-and-spoke model, where a central hub routes test, debug, and telemetry requests to specific functional blocks. Dedicated UCIe-S ports can also be used to provide additional bandwidth for manageability and debug needs.</a:t>
            </a:r>
            <a:endParaRPr>
              <a:solidFill>
                <a:srgbClr val="000000"/>
              </a:solidFill>
              <a:latin typeface="Times New Roman"/>
              <a:ea typeface="Times New Roman"/>
              <a:cs typeface="Times New Roman"/>
              <a:sym typeface="Times New Roman"/>
            </a:endParaRPr>
          </a:p>
          <a:p>
            <a:pPr indent="0" lvl="0" marL="457200" rtl="0" algn="just">
              <a:lnSpc>
                <a:spcPct val="115000"/>
              </a:lnSpc>
              <a:spcBef>
                <a:spcPts val="0"/>
              </a:spcBef>
              <a:spcAft>
                <a:spcPts val="0"/>
              </a:spcAft>
              <a:buNone/>
            </a:pPr>
            <a:r>
              <a:t/>
            </a:r>
            <a:endParaRPr>
              <a:solidFill>
                <a:srgbClr val="000000"/>
              </a:solidFill>
              <a:latin typeface="Times New Roman"/>
              <a:ea typeface="Times New Roman"/>
              <a:cs typeface="Times New Roman"/>
              <a:sym typeface="Times New Roman"/>
            </a:endParaRPr>
          </a:p>
          <a:p>
            <a:pPr indent="0" lvl="0" marL="457200" rtl="0" algn="just">
              <a:lnSpc>
                <a:spcPct val="115000"/>
              </a:lnSpc>
              <a:spcBef>
                <a:spcPts val="26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0" rtl="0" algn="just">
              <a:lnSpc>
                <a:spcPct val="115000"/>
              </a:lnSpc>
              <a:spcBef>
                <a:spcPts val="3000"/>
              </a:spcBef>
              <a:spcAft>
                <a:spcPts val="3000"/>
              </a:spcAft>
              <a:buNone/>
            </a:pPr>
            <a:r>
              <a:t/>
            </a:r>
            <a:endParaRPr>
              <a:solidFill>
                <a:srgbClr val="202122"/>
              </a:solidFill>
              <a:highlight>
                <a:srgbClr val="FFFFFF"/>
              </a:highlight>
              <a:latin typeface="Times New Roman"/>
              <a:ea typeface="Times New Roman"/>
              <a:cs typeface="Times New Roman"/>
              <a:sym typeface="Times New Roman"/>
            </a:endParaRPr>
          </a:p>
        </p:txBody>
      </p:sp>
      <p:pic>
        <p:nvPicPr>
          <p:cNvPr id="133" name="Google Shape;133;p29"/>
          <p:cNvPicPr preferRelativeResize="0"/>
          <p:nvPr/>
        </p:nvPicPr>
        <p:blipFill>
          <a:blip r:embed="rId3">
            <a:alphaModFix/>
          </a:blip>
          <a:stretch>
            <a:fillRect/>
          </a:stretch>
        </p:blipFill>
        <p:spPr>
          <a:xfrm>
            <a:off x="435700" y="1721150"/>
            <a:ext cx="8605850" cy="32186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30"/>
          <p:cNvSpPr txBox="1"/>
          <p:nvPr>
            <p:ph idx="1" type="body"/>
          </p:nvPr>
        </p:nvSpPr>
        <p:spPr>
          <a:xfrm>
            <a:off x="43350" y="45400"/>
            <a:ext cx="8998200" cy="49848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spcBef>
                <a:spcPts val="1200"/>
              </a:spcBef>
              <a:spcAft>
                <a:spcPts val="0"/>
              </a:spcAft>
              <a:buClr>
                <a:srgbClr val="000000"/>
              </a:buClr>
              <a:buSzPts val="1800"/>
              <a:buFont typeface="Calibri"/>
              <a:buChar char="●"/>
            </a:pPr>
            <a:r>
              <a:rPr b="1" lang="en-GB">
                <a:solidFill>
                  <a:srgbClr val="000000"/>
                </a:solidFill>
                <a:latin typeface="Calibri"/>
                <a:ea typeface="Calibri"/>
                <a:cs typeface="Calibri"/>
                <a:sym typeface="Calibri"/>
              </a:rPr>
              <a:t>UCIe-3D enables vertically integrated chiplets to achieve major improvements in performance and power efficiency.</a:t>
            </a:r>
            <a:r>
              <a:rPr lang="en-GB">
                <a:solidFill>
                  <a:srgbClr val="000000"/>
                </a:solidFill>
                <a:latin typeface="Calibri"/>
                <a:ea typeface="Calibri"/>
                <a:cs typeface="Calibri"/>
                <a:sym typeface="Calibri"/>
              </a:rPr>
              <a:t> </a:t>
            </a:r>
            <a:endParaRPr>
              <a:solidFill>
                <a:srgbClr val="000000"/>
              </a:solidFill>
              <a:latin typeface="Calibri"/>
              <a:ea typeface="Calibri"/>
              <a:cs typeface="Calibri"/>
              <a:sym typeface="Calibri"/>
            </a:endParaRPr>
          </a:p>
          <a:p>
            <a:pPr indent="-342900" lvl="0" marL="457200" rtl="0" algn="just">
              <a:spcBef>
                <a:spcPts val="0"/>
              </a:spcBef>
              <a:spcAft>
                <a:spcPts val="0"/>
              </a:spcAft>
              <a:buClr>
                <a:srgbClr val="000000"/>
              </a:buClr>
              <a:buSzPts val="1800"/>
              <a:buFont typeface="Calibri"/>
              <a:buChar char="●"/>
            </a:pPr>
            <a:r>
              <a:rPr lang="en-GB">
                <a:solidFill>
                  <a:srgbClr val="000000"/>
                </a:solidFill>
                <a:latin typeface="Calibri"/>
                <a:ea typeface="Calibri"/>
                <a:cs typeface="Calibri"/>
                <a:sym typeface="Calibri"/>
              </a:rPr>
              <a:t>While UCIe 1.0 focused on planar connectivity (2D and 2.5D), UCIe 2.0 extends this to support both planar and 3D chiplet integration. Advances in 3D packaging technologies, such as hybrid bonding, have made it possible to stack chiplets with extremely small bump pitches ranging from 9 µm down to about 1 µm. </a:t>
            </a:r>
            <a:endParaRPr>
              <a:solidFill>
                <a:srgbClr val="000000"/>
              </a:solidFill>
              <a:latin typeface="Calibri"/>
              <a:ea typeface="Calibri"/>
              <a:cs typeface="Calibri"/>
              <a:sym typeface="Calibri"/>
            </a:endParaRPr>
          </a:p>
          <a:p>
            <a:pPr indent="-342900" lvl="0" marL="457200" rtl="0" algn="just">
              <a:spcBef>
                <a:spcPts val="0"/>
              </a:spcBef>
              <a:spcAft>
                <a:spcPts val="0"/>
              </a:spcAft>
              <a:buClr>
                <a:srgbClr val="000000"/>
              </a:buClr>
              <a:buSzPts val="1800"/>
              <a:buFont typeface="Calibri"/>
              <a:buChar char="●"/>
            </a:pPr>
            <a:r>
              <a:rPr lang="en-GB">
                <a:solidFill>
                  <a:srgbClr val="000000"/>
                </a:solidFill>
                <a:latin typeface="Calibri"/>
                <a:ea typeface="Calibri"/>
                <a:cs typeface="Calibri"/>
                <a:sym typeface="Calibri"/>
              </a:rPr>
              <a:t>This greatly reduces the distance between chiplets, leading to very high bandwidth density and low power consumption. </a:t>
            </a:r>
            <a:endParaRPr>
              <a:solidFill>
                <a:srgbClr val="000000"/>
              </a:solidFill>
              <a:latin typeface="Calibri"/>
              <a:ea typeface="Calibri"/>
              <a:cs typeface="Calibri"/>
              <a:sym typeface="Calibri"/>
            </a:endParaRPr>
          </a:p>
          <a:p>
            <a:pPr indent="-342900" lvl="0" marL="457200" rtl="0" algn="just">
              <a:spcBef>
                <a:spcPts val="0"/>
              </a:spcBef>
              <a:spcAft>
                <a:spcPts val="0"/>
              </a:spcAft>
              <a:buClr>
                <a:srgbClr val="000000"/>
              </a:buClr>
              <a:buSzPts val="1800"/>
              <a:buFont typeface="Calibri"/>
              <a:buChar char="●"/>
            </a:pPr>
            <a:r>
              <a:rPr lang="en-GB">
                <a:solidFill>
                  <a:srgbClr val="000000"/>
                </a:solidFill>
                <a:latin typeface="Calibri"/>
                <a:ea typeface="Calibri"/>
                <a:cs typeface="Calibri"/>
                <a:sym typeface="Calibri"/>
              </a:rPr>
              <a:t>Although 3D chiplets must use matching bump pitches and are not fully plug-and-play, the performance and power benefits are significant, making UCIe-3D a key technology for next-generation systems.</a:t>
            </a:r>
            <a:endParaRPr>
              <a:solidFill>
                <a:srgbClr val="000000"/>
              </a:solidFill>
              <a:latin typeface="Calibri"/>
              <a:ea typeface="Calibri"/>
              <a:cs typeface="Calibri"/>
              <a:sym typeface="Calibri"/>
            </a:endParaRPr>
          </a:p>
          <a:p>
            <a:pPr indent="0" lvl="0" marL="0" rtl="0" algn="just">
              <a:lnSpc>
                <a:spcPct val="115000"/>
              </a:lnSpc>
              <a:spcBef>
                <a:spcPts val="1200"/>
              </a:spcBef>
              <a:spcAft>
                <a:spcPts val="3000"/>
              </a:spcAft>
              <a:buNone/>
            </a:pPr>
            <a:r>
              <a:t/>
            </a:r>
            <a:endParaRPr>
              <a:solidFill>
                <a:srgbClr val="2021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31"/>
          <p:cNvSpPr txBox="1"/>
          <p:nvPr>
            <p:ph idx="1" type="body"/>
          </p:nvPr>
        </p:nvSpPr>
        <p:spPr>
          <a:xfrm>
            <a:off x="43350" y="45400"/>
            <a:ext cx="8998200" cy="49848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15000"/>
              </a:lnSpc>
              <a:spcBef>
                <a:spcPts val="0"/>
              </a:spcBef>
              <a:spcAft>
                <a:spcPts val="3000"/>
              </a:spcAft>
              <a:buNone/>
            </a:pPr>
            <a:r>
              <a:t/>
            </a:r>
            <a:endParaRPr>
              <a:solidFill>
                <a:srgbClr val="202122"/>
              </a:solidFill>
              <a:highlight>
                <a:srgbClr val="FFFFFF"/>
              </a:highlight>
              <a:latin typeface="Times New Roman"/>
              <a:ea typeface="Times New Roman"/>
              <a:cs typeface="Times New Roman"/>
              <a:sym typeface="Times New Roman"/>
            </a:endParaRPr>
          </a:p>
        </p:txBody>
      </p:sp>
      <p:pic>
        <p:nvPicPr>
          <p:cNvPr id="144" name="Google Shape;144;p31"/>
          <p:cNvPicPr preferRelativeResize="0"/>
          <p:nvPr/>
        </p:nvPicPr>
        <p:blipFill>
          <a:blip r:embed="rId3">
            <a:alphaModFix/>
          </a:blip>
          <a:stretch>
            <a:fillRect/>
          </a:stretch>
        </p:blipFill>
        <p:spPr>
          <a:xfrm>
            <a:off x="92225" y="149675"/>
            <a:ext cx="8806451" cy="4487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32"/>
          <p:cNvSpPr txBox="1"/>
          <p:nvPr>
            <p:ph idx="1" type="body"/>
          </p:nvPr>
        </p:nvSpPr>
        <p:spPr>
          <a:xfrm>
            <a:off x="43350" y="45400"/>
            <a:ext cx="8998200" cy="49848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298450" lvl="0" marL="457200" rtl="0" algn="l">
              <a:lnSpc>
                <a:spcPct val="100000"/>
              </a:lnSpc>
              <a:spcBef>
                <a:spcPts val="1200"/>
              </a:spcBef>
              <a:spcAft>
                <a:spcPts val="0"/>
              </a:spcAft>
              <a:buClr>
                <a:srgbClr val="000000"/>
              </a:buClr>
              <a:buSzPts val="1100"/>
              <a:buFont typeface="Arial"/>
              <a:buChar char="●"/>
            </a:pPr>
            <a:r>
              <a:rPr b="1" lang="en-GB" sz="1100">
                <a:solidFill>
                  <a:srgbClr val="000000"/>
                </a:solidFill>
                <a:latin typeface="Arial"/>
                <a:ea typeface="Arial"/>
                <a:cs typeface="Arial"/>
                <a:sym typeface="Arial"/>
              </a:rPr>
              <a:t>UCIe-3D provides much higher bandwidth density</a:t>
            </a:r>
            <a:br>
              <a:rPr b="1" lang="en-GB"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a:p>
            <a:pPr indent="-298450" lvl="0" marL="457200" rtl="0" algn="l">
              <a:lnSpc>
                <a:spcPct val="100000"/>
              </a:lnSpc>
              <a:spcBef>
                <a:spcPts val="0"/>
              </a:spcBef>
              <a:spcAft>
                <a:spcPts val="0"/>
              </a:spcAft>
              <a:buClr>
                <a:srgbClr val="000000"/>
              </a:buClr>
              <a:buSzPts val="1100"/>
              <a:buFont typeface="Arial"/>
              <a:buChar char="●"/>
            </a:pPr>
            <a:r>
              <a:rPr lang="en-GB" sz="1100">
                <a:solidFill>
                  <a:srgbClr val="000000"/>
                </a:solidFill>
                <a:latin typeface="Arial"/>
                <a:ea typeface="Arial"/>
                <a:cs typeface="Arial"/>
                <a:sym typeface="Arial"/>
              </a:rPr>
              <a:t>Uses </a:t>
            </a:r>
            <a:r>
              <a:rPr b="1" lang="en-GB" sz="1100">
                <a:solidFill>
                  <a:srgbClr val="000000"/>
                </a:solidFill>
                <a:latin typeface="Arial"/>
                <a:ea typeface="Arial"/>
                <a:cs typeface="Arial"/>
                <a:sym typeface="Arial"/>
              </a:rPr>
              <a:t>very small bump pitch</a:t>
            </a:r>
            <a:r>
              <a:rPr lang="en-GB" sz="1100">
                <a:solidFill>
                  <a:srgbClr val="000000"/>
                </a:solidFill>
                <a:latin typeface="Arial"/>
                <a:ea typeface="Arial"/>
                <a:cs typeface="Arial"/>
                <a:sym typeface="Arial"/>
              </a:rPr>
              <a:t> (from ~9 µm down to &lt;1 µm)</a:t>
            </a:r>
            <a:br>
              <a:rPr lang="en-GB"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lnSpc>
                <a:spcPct val="100000"/>
              </a:lnSpc>
              <a:spcBef>
                <a:spcPts val="0"/>
              </a:spcBef>
              <a:spcAft>
                <a:spcPts val="0"/>
              </a:spcAft>
              <a:buClr>
                <a:srgbClr val="000000"/>
              </a:buClr>
              <a:buSzPts val="1100"/>
              <a:buFont typeface="Arial"/>
              <a:buChar char="●"/>
            </a:pPr>
            <a:r>
              <a:rPr lang="en-GB" sz="1100">
                <a:solidFill>
                  <a:srgbClr val="000000"/>
                </a:solidFill>
                <a:latin typeface="Arial"/>
                <a:ea typeface="Arial"/>
                <a:cs typeface="Arial"/>
                <a:sym typeface="Arial"/>
              </a:rPr>
              <a:t>Smaller bump pitch → </a:t>
            </a:r>
            <a:r>
              <a:rPr b="1" lang="en-GB" sz="1100">
                <a:solidFill>
                  <a:srgbClr val="000000"/>
                </a:solidFill>
                <a:latin typeface="Arial"/>
                <a:ea typeface="Arial"/>
                <a:cs typeface="Arial"/>
                <a:sym typeface="Arial"/>
              </a:rPr>
              <a:t>many more wires in the same area</a:t>
            </a:r>
            <a:br>
              <a:rPr b="1" lang="en-GB"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a:p>
            <a:pPr indent="-298450" lvl="0" marL="457200" rtl="0" algn="l">
              <a:lnSpc>
                <a:spcPct val="100000"/>
              </a:lnSpc>
              <a:spcBef>
                <a:spcPts val="0"/>
              </a:spcBef>
              <a:spcAft>
                <a:spcPts val="0"/>
              </a:spcAft>
              <a:buClr>
                <a:srgbClr val="000000"/>
              </a:buClr>
              <a:buSzPts val="1100"/>
              <a:buFont typeface="Arial"/>
              <a:buChar char="●"/>
            </a:pPr>
            <a:r>
              <a:rPr lang="en-GB" sz="1100">
                <a:solidFill>
                  <a:srgbClr val="000000"/>
                </a:solidFill>
                <a:latin typeface="Arial"/>
                <a:ea typeface="Arial"/>
                <a:cs typeface="Arial"/>
                <a:sym typeface="Arial"/>
              </a:rPr>
              <a:t>Example: </a:t>
            </a:r>
            <a:r>
              <a:rPr b="1" lang="en-GB" sz="1100">
                <a:solidFill>
                  <a:srgbClr val="000000"/>
                </a:solidFill>
                <a:latin typeface="Arial"/>
                <a:ea typeface="Arial"/>
                <a:cs typeface="Arial"/>
                <a:sym typeface="Arial"/>
              </a:rPr>
              <a:t>5 µm (3D) gives ~25× more wires than 25 µm (2.5D)</a:t>
            </a:r>
            <a:br>
              <a:rPr b="1" lang="en-GB"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a:p>
            <a:pPr indent="-298450" lvl="0" marL="457200" rtl="0" algn="l">
              <a:lnSpc>
                <a:spcPct val="100000"/>
              </a:lnSpc>
              <a:spcBef>
                <a:spcPts val="0"/>
              </a:spcBef>
              <a:spcAft>
                <a:spcPts val="0"/>
              </a:spcAft>
              <a:buClr>
                <a:srgbClr val="000000"/>
              </a:buClr>
              <a:buSzPts val="1100"/>
              <a:buFont typeface="Arial"/>
              <a:buChar char="●"/>
            </a:pPr>
            <a:r>
              <a:rPr lang="en-GB" sz="1100">
                <a:solidFill>
                  <a:srgbClr val="000000"/>
                </a:solidFill>
                <a:latin typeface="Arial"/>
                <a:ea typeface="Arial"/>
                <a:cs typeface="Arial"/>
                <a:sym typeface="Arial"/>
              </a:rPr>
              <a:t>Uses </a:t>
            </a:r>
            <a:r>
              <a:rPr b="1" lang="en-GB" sz="1100">
                <a:solidFill>
                  <a:srgbClr val="000000"/>
                </a:solidFill>
                <a:latin typeface="Arial"/>
                <a:ea typeface="Arial"/>
                <a:cs typeface="Arial"/>
                <a:sym typeface="Arial"/>
              </a:rPr>
              <a:t>vertical connections instead of edge (shoreline) connections</a:t>
            </a:r>
            <a:br>
              <a:rPr b="1" lang="en-GB"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a:p>
            <a:pPr indent="-298450" lvl="0" marL="457200" rtl="0" algn="l">
              <a:lnSpc>
                <a:spcPct val="100000"/>
              </a:lnSpc>
              <a:spcBef>
                <a:spcPts val="0"/>
              </a:spcBef>
              <a:spcAft>
                <a:spcPts val="0"/>
              </a:spcAft>
              <a:buClr>
                <a:srgbClr val="000000"/>
              </a:buClr>
              <a:buSzPts val="1100"/>
              <a:buFont typeface="Arial"/>
              <a:buChar char="●"/>
            </a:pPr>
            <a:r>
              <a:rPr b="1" lang="en-GB" sz="1100">
                <a:solidFill>
                  <a:srgbClr val="000000"/>
                </a:solidFill>
                <a:latin typeface="Arial"/>
                <a:ea typeface="Arial"/>
                <a:cs typeface="Arial"/>
                <a:sym typeface="Arial"/>
              </a:rPr>
              <a:t>No PHY at chip edges</a:t>
            </a:r>
            <a:r>
              <a:rPr lang="en-GB" sz="1100">
                <a:solidFill>
                  <a:srgbClr val="000000"/>
                </a:solidFill>
                <a:latin typeface="Arial"/>
                <a:ea typeface="Arial"/>
                <a:cs typeface="Arial"/>
                <a:sym typeface="Arial"/>
              </a:rPr>
              <a:t>, so no area is wasted</a:t>
            </a:r>
            <a:br>
              <a:rPr lang="en-GB"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lnSpc>
                <a:spcPct val="100000"/>
              </a:lnSpc>
              <a:spcBef>
                <a:spcPts val="0"/>
              </a:spcBef>
              <a:spcAft>
                <a:spcPts val="0"/>
              </a:spcAft>
              <a:buClr>
                <a:srgbClr val="000000"/>
              </a:buClr>
              <a:buSzPts val="1100"/>
              <a:buFont typeface="Arial"/>
              <a:buChar char="●"/>
            </a:pPr>
            <a:r>
              <a:rPr b="1" lang="en-GB" sz="1100">
                <a:solidFill>
                  <a:srgbClr val="000000"/>
                </a:solidFill>
                <a:latin typeface="Arial"/>
                <a:ea typeface="Arial"/>
                <a:cs typeface="Arial"/>
                <a:sym typeface="Arial"/>
              </a:rPr>
              <a:t>Entire chiplet area is used for connectivity</a:t>
            </a:r>
            <a:br>
              <a:rPr b="1" lang="en-GB"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a:p>
            <a:pPr indent="0" lvl="0" marL="0" rtl="0" algn="just">
              <a:lnSpc>
                <a:spcPct val="115000"/>
              </a:lnSpc>
              <a:spcBef>
                <a:spcPts val="1200"/>
              </a:spcBef>
              <a:spcAft>
                <a:spcPts val="3000"/>
              </a:spcAft>
              <a:buNone/>
            </a:pPr>
            <a:r>
              <a:t/>
            </a:r>
            <a:endParaRPr>
              <a:solidFill>
                <a:srgbClr val="202122"/>
              </a:solidFill>
              <a:highlight>
                <a:srgbClr val="FFFFFF"/>
              </a:highlight>
              <a:latin typeface="Times New Roman"/>
              <a:ea typeface="Times New Roman"/>
              <a:cs typeface="Times New Roman"/>
              <a:sym typeface="Times New Roman"/>
            </a:endParaRPr>
          </a:p>
        </p:txBody>
      </p:sp>
      <p:pic>
        <p:nvPicPr>
          <p:cNvPr id="150" name="Google Shape;150;p32"/>
          <p:cNvPicPr preferRelativeResize="0"/>
          <p:nvPr/>
        </p:nvPicPr>
        <p:blipFill>
          <a:blip r:embed="rId3">
            <a:alphaModFix/>
          </a:blip>
          <a:stretch>
            <a:fillRect/>
          </a:stretch>
        </p:blipFill>
        <p:spPr>
          <a:xfrm>
            <a:off x="176275" y="2335825"/>
            <a:ext cx="8732350" cy="2739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3"/>
          <p:cNvSpPr txBox="1"/>
          <p:nvPr>
            <p:ph type="title"/>
          </p:nvPr>
        </p:nvSpPr>
        <p:spPr>
          <a:xfrm>
            <a:off x="243000" y="0"/>
            <a:ext cx="8589300" cy="438300"/>
          </a:xfrm>
          <a:prstGeom prst="rect">
            <a:avLst/>
          </a:prstGeom>
        </p:spPr>
        <p:txBody>
          <a:bodyPr anchorCtr="0" anchor="t" bIns="91425" lIns="91425" spcFirstLastPara="1" rIns="91425" wrap="square" tIns="91425">
            <a:noAutofit/>
          </a:bodyPr>
          <a:lstStyle/>
          <a:p>
            <a:pPr indent="0" lvl="0" marL="3657600" rtl="0" algn="l">
              <a:spcBef>
                <a:spcPts val="0"/>
              </a:spcBef>
              <a:spcAft>
                <a:spcPts val="0"/>
              </a:spcAft>
              <a:buNone/>
            </a:pPr>
            <a:r>
              <a:rPr lang="en-GB" sz="2800"/>
              <a:t>  </a:t>
            </a:r>
            <a:r>
              <a:rPr lang="en-GB" sz="2800"/>
              <a:t>Ucie 3.0</a:t>
            </a:r>
            <a:endParaRPr b="0" sz="100">
              <a:solidFill>
                <a:srgbClr val="000000"/>
              </a:solidFill>
              <a:latin typeface="Arial"/>
              <a:ea typeface="Arial"/>
              <a:cs typeface="Arial"/>
              <a:sym typeface="Arial"/>
            </a:endParaRPr>
          </a:p>
          <a:p>
            <a:pPr indent="0" lvl="0" marL="0" rtl="0" algn="l">
              <a:lnSpc>
                <a:spcPct val="115000"/>
              </a:lnSpc>
              <a:spcBef>
                <a:spcPts val="0"/>
              </a:spcBef>
              <a:spcAft>
                <a:spcPts val="3000"/>
              </a:spcAft>
              <a:buSzPts val="990"/>
              <a:buNone/>
            </a:pPr>
            <a:r>
              <a:t/>
            </a:r>
            <a:endParaRPr sz="2820">
              <a:highlight>
                <a:schemeClr val="lt1"/>
              </a:highlight>
              <a:latin typeface="Times New Roman"/>
              <a:ea typeface="Times New Roman"/>
              <a:cs typeface="Times New Roman"/>
              <a:sym typeface="Times New Roman"/>
            </a:endParaRPr>
          </a:p>
        </p:txBody>
      </p:sp>
      <p:sp>
        <p:nvSpPr>
          <p:cNvPr id="156" name="Google Shape;156;p33"/>
          <p:cNvSpPr txBox="1"/>
          <p:nvPr>
            <p:ph idx="1" type="body"/>
          </p:nvPr>
        </p:nvSpPr>
        <p:spPr>
          <a:xfrm>
            <a:off x="115600" y="522800"/>
            <a:ext cx="8925900" cy="4019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marR="381000" rtl="0" algn="just">
              <a:lnSpc>
                <a:spcPct val="150000"/>
              </a:lnSpc>
              <a:spcBef>
                <a:spcPts val="1200"/>
              </a:spcBef>
              <a:spcAft>
                <a:spcPts val="0"/>
              </a:spcAft>
              <a:buClr>
                <a:srgbClr val="000000"/>
              </a:buClr>
              <a:buSzPts val="1800"/>
              <a:buFont typeface="Calibri"/>
              <a:buChar char="●"/>
            </a:pPr>
            <a:r>
              <a:rPr lang="en-GB">
                <a:solidFill>
                  <a:srgbClr val="000000"/>
                </a:solidFill>
                <a:latin typeface="Calibri"/>
                <a:ea typeface="Calibri"/>
                <a:cs typeface="Calibri"/>
                <a:sym typeface="Calibri"/>
              </a:rPr>
              <a:t>UCIe 3.0 is a major step forward in chiplet interconnect technology.</a:t>
            </a:r>
            <a:endParaRPr>
              <a:solidFill>
                <a:srgbClr val="000000"/>
              </a:solidFill>
              <a:latin typeface="Calibri"/>
              <a:ea typeface="Calibri"/>
              <a:cs typeface="Calibri"/>
              <a:sym typeface="Calibri"/>
            </a:endParaRPr>
          </a:p>
          <a:p>
            <a:pPr indent="-342900" lvl="0" marL="457200" marR="381000" rtl="0" algn="just">
              <a:lnSpc>
                <a:spcPct val="150000"/>
              </a:lnSpc>
              <a:spcBef>
                <a:spcPts val="0"/>
              </a:spcBef>
              <a:spcAft>
                <a:spcPts val="0"/>
              </a:spcAft>
              <a:buClr>
                <a:srgbClr val="000000"/>
              </a:buClr>
              <a:buSzPts val="1800"/>
              <a:buFont typeface="Arial"/>
              <a:buChar char="●"/>
            </a:pPr>
            <a:r>
              <a:rPr lang="en-GB">
                <a:solidFill>
                  <a:srgbClr val="000000"/>
                </a:solidFill>
                <a:latin typeface="Calibri"/>
                <a:ea typeface="Calibri"/>
                <a:cs typeface="Calibri"/>
                <a:sym typeface="Calibri"/>
              </a:rPr>
              <a:t>It is designed to meet the high bandwidth needs of </a:t>
            </a:r>
            <a:r>
              <a:rPr b="1" lang="en-GB">
                <a:solidFill>
                  <a:srgbClr val="000000"/>
                </a:solidFill>
                <a:latin typeface="Calibri"/>
                <a:ea typeface="Calibri"/>
                <a:cs typeface="Calibri"/>
                <a:sym typeface="Calibri"/>
              </a:rPr>
              <a:t>AI, HPC, and data-intensive applications</a:t>
            </a:r>
            <a:r>
              <a:rPr lang="en-GB">
                <a:solidFill>
                  <a:srgbClr val="000000"/>
                </a:solidFill>
                <a:latin typeface="Calibri"/>
                <a:ea typeface="Calibri"/>
                <a:cs typeface="Calibri"/>
                <a:sym typeface="Calibri"/>
              </a:rPr>
              <a:t>.</a:t>
            </a:r>
            <a:endParaRPr>
              <a:solidFill>
                <a:srgbClr val="000000"/>
              </a:solidFill>
              <a:latin typeface="Calibri"/>
              <a:ea typeface="Calibri"/>
              <a:cs typeface="Calibri"/>
              <a:sym typeface="Calibri"/>
            </a:endParaRPr>
          </a:p>
          <a:p>
            <a:pPr indent="-342900" lvl="0" marL="457200" marR="381000" rtl="0" algn="just">
              <a:spcBef>
                <a:spcPts val="0"/>
              </a:spcBef>
              <a:spcAft>
                <a:spcPts val="0"/>
              </a:spcAft>
              <a:buClr>
                <a:srgbClr val="000000"/>
              </a:buClr>
              <a:buSzPts val="1800"/>
              <a:buFont typeface="Arial"/>
              <a:buChar char="●"/>
            </a:pPr>
            <a:r>
              <a:rPr lang="en-GB">
                <a:solidFill>
                  <a:srgbClr val="000000"/>
                </a:solidFill>
                <a:latin typeface="Calibri"/>
                <a:ea typeface="Calibri"/>
                <a:cs typeface="Calibri"/>
                <a:sym typeface="Calibri"/>
              </a:rPr>
              <a:t>UCIe 3.0 introduces </a:t>
            </a:r>
            <a:r>
              <a:rPr b="1" lang="en-GB">
                <a:solidFill>
                  <a:srgbClr val="000000"/>
                </a:solidFill>
                <a:latin typeface="Calibri"/>
                <a:ea typeface="Calibri"/>
                <a:cs typeface="Calibri"/>
                <a:sym typeface="Calibri"/>
              </a:rPr>
              <a:t>higher data rates</a:t>
            </a:r>
            <a:r>
              <a:rPr lang="en-GB">
                <a:solidFill>
                  <a:srgbClr val="000000"/>
                </a:solidFill>
                <a:latin typeface="Calibri"/>
                <a:ea typeface="Calibri"/>
                <a:cs typeface="Calibri"/>
                <a:sym typeface="Calibri"/>
              </a:rPr>
              <a:t>, </a:t>
            </a:r>
            <a:r>
              <a:rPr b="1" lang="en-GB">
                <a:solidFill>
                  <a:srgbClr val="000000"/>
                </a:solidFill>
                <a:latin typeface="Calibri"/>
                <a:ea typeface="Calibri"/>
                <a:cs typeface="Calibri"/>
                <a:sym typeface="Calibri"/>
              </a:rPr>
              <a:t>support for continuous data transfer</a:t>
            </a:r>
            <a:r>
              <a:rPr lang="en-GB">
                <a:solidFill>
                  <a:srgbClr val="000000"/>
                </a:solidFill>
                <a:latin typeface="Calibri"/>
                <a:ea typeface="Calibri"/>
                <a:cs typeface="Calibri"/>
                <a:sym typeface="Calibri"/>
              </a:rPr>
              <a:t>, </a:t>
            </a:r>
            <a:r>
              <a:rPr b="1" lang="en-GB">
                <a:solidFill>
                  <a:srgbClr val="000000"/>
                </a:solidFill>
                <a:latin typeface="Calibri"/>
                <a:ea typeface="Calibri"/>
                <a:cs typeface="Calibri"/>
                <a:sym typeface="Calibri"/>
              </a:rPr>
              <a:t>better power efficiency</a:t>
            </a:r>
            <a:r>
              <a:rPr lang="en-GB">
                <a:solidFill>
                  <a:srgbClr val="000000"/>
                </a:solidFill>
                <a:latin typeface="Calibri"/>
                <a:ea typeface="Calibri"/>
                <a:cs typeface="Calibri"/>
                <a:sym typeface="Calibri"/>
              </a:rPr>
              <a:t>, and </a:t>
            </a:r>
            <a:r>
              <a:rPr b="1" lang="en-GB">
                <a:solidFill>
                  <a:srgbClr val="000000"/>
                </a:solidFill>
                <a:latin typeface="Calibri"/>
                <a:ea typeface="Calibri"/>
                <a:cs typeface="Calibri"/>
                <a:sym typeface="Calibri"/>
              </a:rPr>
              <a:t>stronger manageability</a:t>
            </a:r>
            <a:r>
              <a:rPr lang="en-GB">
                <a:solidFill>
                  <a:srgbClr val="000000"/>
                </a:solidFill>
                <a:latin typeface="Calibri"/>
                <a:ea typeface="Calibri"/>
                <a:cs typeface="Calibri"/>
                <a:sym typeface="Calibri"/>
              </a:rPr>
              <a:t>, while still remaining </a:t>
            </a:r>
            <a:r>
              <a:rPr b="1" lang="en-GB">
                <a:solidFill>
                  <a:srgbClr val="000000"/>
                </a:solidFill>
                <a:latin typeface="Calibri"/>
                <a:ea typeface="Calibri"/>
                <a:cs typeface="Calibri"/>
                <a:sym typeface="Calibri"/>
              </a:rPr>
              <a:t>backward compatible</a:t>
            </a:r>
            <a:r>
              <a:rPr lang="en-GB">
                <a:solidFill>
                  <a:srgbClr val="000000"/>
                </a:solidFill>
                <a:latin typeface="Calibri"/>
                <a:ea typeface="Calibri"/>
                <a:cs typeface="Calibri"/>
                <a:sym typeface="Calibri"/>
              </a:rPr>
              <a:t> with earlier UCIe versions.</a:t>
            </a:r>
            <a:endParaRPr>
              <a:solidFill>
                <a:srgbClr val="000000"/>
              </a:solidFill>
              <a:latin typeface="Calibri"/>
              <a:ea typeface="Calibri"/>
              <a:cs typeface="Calibri"/>
              <a:sym typeface="Calibri"/>
            </a:endParaRPr>
          </a:p>
          <a:p>
            <a:pPr indent="-342900" lvl="0" marL="457200" marR="381000" rtl="0" algn="just">
              <a:spcBef>
                <a:spcPts val="0"/>
              </a:spcBef>
              <a:spcAft>
                <a:spcPts val="0"/>
              </a:spcAft>
              <a:buClr>
                <a:srgbClr val="000000"/>
              </a:buClr>
              <a:buSzPts val="1800"/>
              <a:buFont typeface="Arial"/>
              <a:buChar char="●"/>
            </a:pPr>
            <a:r>
              <a:rPr lang="en-GB">
                <a:solidFill>
                  <a:srgbClr val="000000"/>
                </a:solidFill>
                <a:latin typeface="Calibri"/>
                <a:ea typeface="Calibri"/>
                <a:cs typeface="Calibri"/>
                <a:sym typeface="Calibri"/>
              </a:rPr>
              <a:t>These improvements make UCIe a key technology for building </a:t>
            </a:r>
            <a:r>
              <a:rPr b="1" lang="en-GB">
                <a:solidFill>
                  <a:srgbClr val="000000"/>
                </a:solidFill>
                <a:latin typeface="Calibri"/>
                <a:ea typeface="Calibri"/>
                <a:cs typeface="Calibri"/>
                <a:sym typeface="Calibri"/>
              </a:rPr>
              <a:t>efficient, scalable, and reliable System-in-Package (SiP)</a:t>
            </a:r>
            <a:r>
              <a:rPr lang="en-GB">
                <a:solidFill>
                  <a:srgbClr val="000000"/>
                </a:solidFill>
                <a:latin typeface="Calibri"/>
                <a:ea typeface="Calibri"/>
                <a:cs typeface="Calibri"/>
                <a:sym typeface="Calibri"/>
              </a:rPr>
              <a:t> designs.</a:t>
            </a:r>
            <a:endParaRPr b="1">
              <a:solidFill>
                <a:srgbClr val="000000"/>
              </a:solidFill>
              <a:latin typeface="Calibri"/>
              <a:ea typeface="Calibri"/>
              <a:cs typeface="Calibri"/>
              <a:sym typeface="Calibri"/>
            </a:endParaRPr>
          </a:p>
          <a:p>
            <a:pPr indent="0" lvl="0" marL="0" rtl="0" algn="just">
              <a:lnSpc>
                <a:spcPct val="115000"/>
              </a:lnSpc>
              <a:spcBef>
                <a:spcPts val="1200"/>
              </a:spcBef>
              <a:spcAft>
                <a:spcPts val="0"/>
              </a:spcAft>
              <a:buNone/>
            </a:pPr>
            <a:r>
              <a:t/>
            </a:r>
            <a:endParaRPr>
              <a:solidFill>
                <a:srgbClr val="000000"/>
              </a:solidFill>
              <a:latin typeface="Times New Roman"/>
              <a:ea typeface="Times New Roman"/>
              <a:cs typeface="Times New Roman"/>
              <a:sym typeface="Times New Roman"/>
            </a:endParaRPr>
          </a:p>
          <a:p>
            <a:pPr indent="0" lvl="0" marL="457200" rtl="0" algn="just">
              <a:lnSpc>
                <a:spcPct val="115000"/>
              </a:lnSpc>
              <a:spcBef>
                <a:spcPts val="2600"/>
              </a:spcBef>
              <a:spcAft>
                <a:spcPts val="0"/>
              </a:spcAft>
              <a:buNone/>
            </a:pPr>
            <a:r>
              <a:t/>
            </a:r>
            <a:endParaRPr>
              <a:solidFill>
                <a:srgbClr val="000000"/>
              </a:solidFill>
              <a:latin typeface="Times New Roman"/>
              <a:ea typeface="Times New Roman"/>
              <a:cs typeface="Times New Roman"/>
              <a:sym typeface="Times New Roman"/>
            </a:endParaRPr>
          </a:p>
          <a:p>
            <a:pPr indent="0" lvl="0" marL="457200" rtl="0" algn="just">
              <a:lnSpc>
                <a:spcPct val="115000"/>
              </a:lnSpc>
              <a:spcBef>
                <a:spcPts val="26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0" rtl="0" algn="just">
              <a:lnSpc>
                <a:spcPct val="115000"/>
              </a:lnSpc>
              <a:spcBef>
                <a:spcPts val="3000"/>
              </a:spcBef>
              <a:spcAft>
                <a:spcPts val="3000"/>
              </a:spcAft>
              <a:buNone/>
            </a:pPr>
            <a:r>
              <a:t/>
            </a:r>
            <a:endParaRPr>
              <a:solidFill>
                <a:srgbClr val="2021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4"/>
          <p:cNvSpPr txBox="1"/>
          <p:nvPr>
            <p:ph idx="1" type="body"/>
          </p:nvPr>
        </p:nvSpPr>
        <p:spPr>
          <a:xfrm>
            <a:off x="43350" y="130175"/>
            <a:ext cx="8998200" cy="4682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marR="381000" rtl="0" algn="just">
              <a:lnSpc>
                <a:spcPct val="150000"/>
              </a:lnSpc>
              <a:spcBef>
                <a:spcPts val="1200"/>
              </a:spcBef>
              <a:spcAft>
                <a:spcPts val="0"/>
              </a:spcAft>
              <a:buClr>
                <a:srgbClr val="000000"/>
              </a:buClr>
              <a:buSzPts val="1800"/>
              <a:buFont typeface="Arial"/>
              <a:buChar char="●"/>
            </a:pPr>
            <a:r>
              <a:rPr b="1" lang="en-GB" sz="1600">
                <a:solidFill>
                  <a:srgbClr val="000000"/>
                </a:solidFill>
                <a:latin typeface="Calibri"/>
                <a:ea typeface="Calibri"/>
                <a:cs typeface="Calibri"/>
                <a:sym typeface="Calibri"/>
              </a:rPr>
              <a:t>Doubling Data Rates for UCIe-A (Advanced Package, 2.5D) and UCIe-S (Standard Package, 2D)</a:t>
            </a:r>
            <a:endParaRPr>
              <a:solidFill>
                <a:srgbClr val="000000"/>
              </a:solidFill>
              <a:latin typeface="Calibri"/>
              <a:ea typeface="Calibri"/>
              <a:cs typeface="Calibri"/>
              <a:sym typeface="Calibri"/>
            </a:endParaRPr>
          </a:p>
          <a:p>
            <a:pPr indent="-342900" lvl="0" marL="457200" marR="381000" rtl="0" algn="just">
              <a:lnSpc>
                <a:spcPct val="115000"/>
              </a:lnSpc>
              <a:spcBef>
                <a:spcPts val="0"/>
              </a:spcBef>
              <a:spcAft>
                <a:spcPts val="0"/>
              </a:spcAft>
              <a:buClr>
                <a:srgbClr val="000000"/>
              </a:buClr>
              <a:buSzPts val="1800"/>
              <a:buFont typeface="Arial"/>
              <a:buChar char="●"/>
            </a:pPr>
            <a:r>
              <a:rPr lang="en-GB">
                <a:solidFill>
                  <a:srgbClr val="000000"/>
                </a:solidFill>
                <a:latin typeface="Calibri"/>
                <a:ea typeface="Calibri"/>
                <a:cs typeface="Calibri"/>
                <a:sym typeface="Calibri"/>
              </a:rPr>
              <a:t>Modern applications like </a:t>
            </a:r>
            <a:r>
              <a:rPr b="1" lang="en-GB">
                <a:solidFill>
                  <a:srgbClr val="000000"/>
                </a:solidFill>
                <a:latin typeface="Calibri"/>
                <a:ea typeface="Calibri"/>
                <a:cs typeface="Calibri"/>
                <a:sym typeface="Calibri"/>
              </a:rPr>
              <a:t>AI, HPC, and data analytics</a:t>
            </a:r>
            <a:r>
              <a:rPr lang="en-GB">
                <a:solidFill>
                  <a:srgbClr val="000000"/>
                </a:solidFill>
                <a:latin typeface="Calibri"/>
                <a:ea typeface="Calibri"/>
                <a:cs typeface="Calibri"/>
                <a:sym typeface="Calibri"/>
              </a:rPr>
              <a:t> need very high bandwidth.</a:t>
            </a:r>
            <a:endParaRPr>
              <a:solidFill>
                <a:srgbClr val="000000"/>
              </a:solidFill>
              <a:latin typeface="Calibri"/>
              <a:ea typeface="Calibri"/>
              <a:cs typeface="Calibri"/>
              <a:sym typeface="Calibri"/>
            </a:endParaRPr>
          </a:p>
          <a:p>
            <a:pPr indent="-342900" lvl="0" marL="457200" marR="381000" rtl="0" algn="just">
              <a:lnSpc>
                <a:spcPct val="115000"/>
              </a:lnSpc>
              <a:spcBef>
                <a:spcPts val="0"/>
              </a:spcBef>
              <a:spcAft>
                <a:spcPts val="0"/>
              </a:spcAft>
              <a:buClr>
                <a:srgbClr val="000000"/>
              </a:buClr>
              <a:buSzPts val="1800"/>
              <a:buFont typeface="Arial"/>
              <a:buChar char="●"/>
            </a:pPr>
            <a:r>
              <a:rPr lang="en-GB">
                <a:solidFill>
                  <a:srgbClr val="000000"/>
                </a:solidFill>
                <a:latin typeface="Calibri"/>
                <a:ea typeface="Calibri"/>
                <a:cs typeface="Calibri"/>
                <a:sym typeface="Calibri"/>
              </a:rPr>
              <a:t>Chiplets have limited edge (shoreline) area, so bandwidth must be increased efficiently.</a:t>
            </a:r>
            <a:endParaRPr>
              <a:solidFill>
                <a:srgbClr val="000000"/>
              </a:solidFill>
              <a:latin typeface="Calibri"/>
              <a:ea typeface="Calibri"/>
              <a:cs typeface="Calibri"/>
              <a:sym typeface="Calibri"/>
            </a:endParaRPr>
          </a:p>
          <a:p>
            <a:pPr indent="-342900" lvl="0" marL="457200" marR="381000" rtl="0" algn="just">
              <a:spcBef>
                <a:spcPts val="0"/>
              </a:spcBef>
              <a:spcAft>
                <a:spcPts val="0"/>
              </a:spcAft>
              <a:buClr>
                <a:srgbClr val="000000"/>
              </a:buClr>
              <a:buSzPts val="1800"/>
              <a:buFont typeface="Calibri"/>
              <a:buChar char="●"/>
            </a:pPr>
            <a:r>
              <a:rPr lang="en-GB">
                <a:solidFill>
                  <a:srgbClr val="000000"/>
                </a:solidFill>
                <a:latin typeface="Calibri"/>
                <a:ea typeface="Calibri"/>
                <a:cs typeface="Calibri"/>
                <a:sym typeface="Calibri"/>
              </a:rPr>
              <a:t>UCIe 3.0 doubles the data rate:</a:t>
            </a:r>
            <a:endParaRPr>
              <a:solidFill>
                <a:srgbClr val="000000"/>
              </a:solidFill>
              <a:latin typeface="Calibri"/>
              <a:ea typeface="Calibri"/>
              <a:cs typeface="Calibri"/>
              <a:sym typeface="Calibri"/>
            </a:endParaRPr>
          </a:p>
          <a:p>
            <a:pPr indent="-349250" lvl="1" marL="914400" marR="381000" rtl="0" algn="just">
              <a:spcBef>
                <a:spcPts val="0"/>
              </a:spcBef>
              <a:spcAft>
                <a:spcPts val="0"/>
              </a:spcAft>
              <a:buClr>
                <a:srgbClr val="000000"/>
              </a:buClr>
              <a:buSzPts val="1900"/>
              <a:buFont typeface="Calibri"/>
              <a:buChar char="○"/>
            </a:pPr>
            <a:r>
              <a:rPr lang="en-GB" sz="1600">
                <a:solidFill>
                  <a:srgbClr val="000000"/>
                </a:solidFill>
                <a:latin typeface="Calibri"/>
                <a:ea typeface="Calibri"/>
                <a:cs typeface="Calibri"/>
                <a:sym typeface="Calibri"/>
              </a:rPr>
              <a:t>From </a:t>
            </a:r>
            <a:r>
              <a:rPr b="1" lang="en-GB" sz="1600">
                <a:solidFill>
                  <a:srgbClr val="000000"/>
                </a:solidFill>
                <a:latin typeface="Calibri"/>
                <a:ea typeface="Calibri"/>
                <a:cs typeface="Calibri"/>
                <a:sym typeface="Calibri"/>
              </a:rPr>
              <a:t>32 GT/s → 64 GT/s</a:t>
            </a:r>
            <a:endParaRPr b="1" sz="1600">
              <a:solidFill>
                <a:srgbClr val="000000"/>
              </a:solidFill>
              <a:latin typeface="Calibri"/>
              <a:ea typeface="Calibri"/>
              <a:cs typeface="Calibri"/>
              <a:sym typeface="Calibri"/>
            </a:endParaRPr>
          </a:p>
          <a:p>
            <a:pPr indent="-349250" lvl="1" marL="914400" rtl="0" algn="l">
              <a:spcBef>
                <a:spcPts val="0"/>
              </a:spcBef>
              <a:spcAft>
                <a:spcPts val="0"/>
              </a:spcAft>
              <a:buClr>
                <a:srgbClr val="000000"/>
              </a:buClr>
              <a:buSzPts val="1900"/>
              <a:buFont typeface="Arial"/>
              <a:buChar char="○"/>
            </a:pPr>
            <a:r>
              <a:rPr lang="en-GB" sz="1600">
                <a:solidFill>
                  <a:srgbClr val="000000"/>
                </a:solidFill>
                <a:latin typeface="Calibri"/>
                <a:ea typeface="Calibri"/>
                <a:cs typeface="Calibri"/>
                <a:sym typeface="Calibri"/>
              </a:rPr>
              <a:t>Also supports </a:t>
            </a:r>
            <a:r>
              <a:rPr b="1" lang="en-GB" sz="1600">
                <a:solidFill>
                  <a:srgbClr val="000000"/>
                </a:solidFill>
                <a:latin typeface="Calibri"/>
                <a:ea typeface="Calibri"/>
                <a:cs typeface="Calibri"/>
                <a:sym typeface="Calibri"/>
              </a:rPr>
              <a:t>48 GT/s</a:t>
            </a:r>
            <a:endParaRPr>
              <a:solidFill>
                <a:srgbClr val="000000"/>
              </a:solidFill>
              <a:latin typeface="Calibri"/>
              <a:ea typeface="Calibri"/>
              <a:cs typeface="Calibri"/>
              <a:sym typeface="Calibri"/>
            </a:endParaRPr>
          </a:p>
          <a:p>
            <a:pPr indent="-342900" lvl="0" marL="457200" marR="381000" rtl="0" algn="just">
              <a:lnSpc>
                <a:spcPct val="115000"/>
              </a:lnSpc>
              <a:spcBef>
                <a:spcPts val="0"/>
              </a:spcBef>
              <a:spcAft>
                <a:spcPts val="0"/>
              </a:spcAft>
              <a:buClr>
                <a:srgbClr val="000000"/>
              </a:buClr>
              <a:buSzPts val="1800"/>
              <a:buFont typeface="Calibri"/>
              <a:buChar char="●"/>
            </a:pPr>
            <a:r>
              <a:rPr lang="en-GB">
                <a:solidFill>
                  <a:srgbClr val="000000"/>
                </a:solidFill>
                <a:latin typeface="Calibri"/>
                <a:ea typeface="Calibri"/>
                <a:cs typeface="Calibri"/>
                <a:sym typeface="Calibri"/>
              </a:rPr>
              <a:t>This improves shoreline bandwidth density without increasing interface size.</a:t>
            </a:r>
            <a:endParaRPr>
              <a:solidFill>
                <a:srgbClr val="000000"/>
              </a:solidFill>
              <a:latin typeface="Calibri"/>
              <a:ea typeface="Calibri"/>
              <a:cs typeface="Calibri"/>
              <a:sym typeface="Calibri"/>
            </a:endParaRPr>
          </a:p>
          <a:p>
            <a:pPr indent="-342900" lvl="0" marL="457200" marR="381000" rtl="0" algn="just">
              <a:lnSpc>
                <a:spcPct val="115000"/>
              </a:lnSpc>
              <a:spcBef>
                <a:spcPts val="0"/>
              </a:spcBef>
              <a:spcAft>
                <a:spcPts val="0"/>
              </a:spcAft>
              <a:buClr>
                <a:srgbClr val="000000"/>
              </a:buClr>
              <a:buSzPts val="1800"/>
              <a:buFont typeface="Calibri"/>
              <a:buChar char="●"/>
            </a:pPr>
            <a:r>
              <a:rPr lang="en-GB">
                <a:solidFill>
                  <a:srgbClr val="000000"/>
                </a:solidFill>
                <a:latin typeface="Calibri"/>
                <a:ea typeface="Calibri"/>
                <a:cs typeface="Calibri"/>
                <a:sym typeface="Calibri"/>
              </a:rPr>
              <a:t>Backward Compatibility</a:t>
            </a:r>
            <a:endParaRPr>
              <a:solidFill>
                <a:srgbClr val="000000"/>
              </a:solidFill>
              <a:latin typeface="Calibri"/>
              <a:ea typeface="Calibri"/>
              <a:cs typeface="Calibri"/>
              <a:sym typeface="Calibri"/>
            </a:endParaRPr>
          </a:p>
          <a:p>
            <a:pPr indent="-330200" lvl="1" marL="914400" marR="381000" rtl="0" algn="just">
              <a:lnSpc>
                <a:spcPct val="115000"/>
              </a:lnSpc>
              <a:spcBef>
                <a:spcPts val="0"/>
              </a:spcBef>
              <a:spcAft>
                <a:spcPts val="0"/>
              </a:spcAft>
              <a:buClr>
                <a:srgbClr val="000000"/>
              </a:buClr>
              <a:buSzPts val="1600"/>
              <a:buFont typeface="Calibri"/>
              <a:buChar char="○"/>
            </a:pPr>
            <a:r>
              <a:rPr lang="en-GB" sz="1600">
                <a:solidFill>
                  <a:srgbClr val="000000"/>
                </a:solidFill>
                <a:latin typeface="Calibri"/>
                <a:ea typeface="Calibri"/>
                <a:cs typeface="Calibri"/>
                <a:sym typeface="Calibri"/>
              </a:rPr>
              <a:t>UCIe 3.0 is </a:t>
            </a:r>
            <a:r>
              <a:rPr b="1" lang="en-GB" sz="1600">
                <a:solidFill>
                  <a:srgbClr val="000000"/>
                </a:solidFill>
                <a:latin typeface="Calibri"/>
                <a:ea typeface="Calibri"/>
                <a:cs typeface="Calibri"/>
                <a:sym typeface="Calibri"/>
              </a:rPr>
              <a:t>fully backward compatible.</a:t>
            </a:r>
            <a:endParaRPr b="1" sz="1600">
              <a:solidFill>
                <a:srgbClr val="000000"/>
              </a:solidFill>
              <a:latin typeface="Calibri"/>
              <a:ea typeface="Calibri"/>
              <a:cs typeface="Calibri"/>
              <a:sym typeface="Calibri"/>
            </a:endParaRPr>
          </a:p>
          <a:p>
            <a:pPr indent="-330200" lvl="1" marL="914400" marR="381000" rtl="0" algn="just">
              <a:lnSpc>
                <a:spcPct val="115000"/>
              </a:lnSpc>
              <a:spcBef>
                <a:spcPts val="0"/>
              </a:spcBef>
              <a:spcAft>
                <a:spcPts val="0"/>
              </a:spcAft>
              <a:buClr>
                <a:srgbClr val="000000"/>
              </a:buClr>
              <a:buSzPts val="1600"/>
              <a:buFont typeface="Arial"/>
              <a:buChar char="○"/>
            </a:pPr>
            <a:r>
              <a:rPr lang="en-GB" sz="1600">
                <a:solidFill>
                  <a:srgbClr val="000000"/>
                </a:solidFill>
                <a:latin typeface="Calibri"/>
                <a:ea typeface="Calibri"/>
                <a:cs typeface="Calibri"/>
                <a:sym typeface="Calibri"/>
              </a:rPr>
              <a:t>Existing </a:t>
            </a:r>
            <a:r>
              <a:rPr b="1" lang="en-GB" sz="1600">
                <a:solidFill>
                  <a:srgbClr val="000000"/>
                </a:solidFill>
                <a:latin typeface="Calibri"/>
                <a:ea typeface="Calibri"/>
                <a:cs typeface="Calibri"/>
                <a:sym typeface="Calibri"/>
              </a:rPr>
              <a:t>sideband, data, training, and signaling protocols are preserved</a:t>
            </a:r>
            <a:endParaRPr b="1" sz="1600">
              <a:solidFill>
                <a:srgbClr val="000000"/>
              </a:solidFill>
              <a:latin typeface="Calibri"/>
              <a:ea typeface="Calibri"/>
              <a:cs typeface="Calibri"/>
              <a:sym typeface="Calibri"/>
            </a:endParaRPr>
          </a:p>
          <a:p>
            <a:pPr indent="-298450" lvl="1" marL="914400" rtl="0" algn="l">
              <a:spcBef>
                <a:spcPts val="0"/>
              </a:spcBef>
              <a:spcAft>
                <a:spcPts val="0"/>
              </a:spcAft>
              <a:buClr>
                <a:srgbClr val="000000"/>
              </a:buClr>
              <a:buSzPts val="1100"/>
              <a:buFont typeface="Arial"/>
              <a:buChar char="○"/>
            </a:pPr>
            <a:r>
              <a:rPr lang="en-GB" sz="1600">
                <a:solidFill>
                  <a:srgbClr val="000000"/>
                </a:solidFill>
                <a:latin typeface="Calibri"/>
                <a:ea typeface="Calibri"/>
                <a:cs typeface="Calibri"/>
                <a:sym typeface="Calibri"/>
              </a:rPr>
              <a:t>Older UCIe chiplets can </a:t>
            </a:r>
            <a:r>
              <a:rPr b="1" lang="en-GB" sz="1600">
                <a:solidFill>
                  <a:srgbClr val="000000"/>
                </a:solidFill>
                <a:latin typeface="Calibri"/>
                <a:ea typeface="Calibri"/>
                <a:cs typeface="Calibri"/>
                <a:sym typeface="Calibri"/>
              </a:rPr>
              <a:t>work seamlessly with UCIe 3.0 systems</a:t>
            </a:r>
            <a:br>
              <a:rPr b="1" lang="en-GB"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5"/>
          <p:cNvSpPr txBox="1"/>
          <p:nvPr>
            <p:ph idx="1" type="body"/>
          </p:nvPr>
        </p:nvSpPr>
        <p:spPr>
          <a:xfrm>
            <a:off x="43350" y="130175"/>
            <a:ext cx="8998200" cy="4682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l">
              <a:spcBef>
                <a:spcPts val="1400"/>
              </a:spcBef>
              <a:spcAft>
                <a:spcPts val="0"/>
              </a:spcAft>
              <a:buClr>
                <a:srgbClr val="000000"/>
              </a:buClr>
              <a:buSzPts val="1800"/>
              <a:buFont typeface="Calibri"/>
              <a:buChar char="●"/>
            </a:pPr>
            <a:r>
              <a:rPr b="1" lang="en-GB">
                <a:solidFill>
                  <a:srgbClr val="000000"/>
                </a:solidFill>
                <a:latin typeface="Calibri"/>
                <a:ea typeface="Calibri"/>
                <a:cs typeface="Calibri"/>
                <a:sym typeface="Calibri"/>
              </a:rPr>
              <a:t>Technical Approach for Higher Data Rates in UCIe 3.0</a:t>
            </a:r>
            <a:endParaRPr b="1">
              <a:solidFill>
                <a:srgbClr val="000000"/>
              </a:solidFill>
              <a:latin typeface="Calibri"/>
              <a:ea typeface="Calibri"/>
              <a:cs typeface="Calibri"/>
              <a:sym typeface="Calibri"/>
            </a:endParaRPr>
          </a:p>
          <a:p>
            <a:pPr indent="-330200" lvl="0" marL="457200" rtl="0" algn="just">
              <a:spcBef>
                <a:spcPts val="0"/>
              </a:spcBef>
              <a:spcAft>
                <a:spcPts val="0"/>
              </a:spcAft>
              <a:buClr>
                <a:srgbClr val="000000"/>
              </a:buClr>
              <a:buSzPts val="1600"/>
              <a:buFont typeface="Arial"/>
              <a:buChar char="●"/>
            </a:pPr>
            <a:r>
              <a:rPr lang="en-GB" sz="1600">
                <a:solidFill>
                  <a:srgbClr val="000000"/>
                </a:solidFill>
                <a:latin typeface="Calibri"/>
                <a:ea typeface="Calibri"/>
                <a:cs typeface="Calibri"/>
                <a:sym typeface="Calibri"/>
              </a:rPr>
              <a:t>UCIe 3.0 achieves higher data rates using </a:t>
            </a:r>
            <a:r>
              <a:rPr b="1" lang="en-GB" sz="1600">
                <a:solidFill>
                  <a:srgbClr val="000000"/>
                </a:solidFill>
                <a:latin typeface="Calibri"/>
                <a:ea typeface="Calibri"/>
                <a:cs typeface="Calibri"/>
                <a:sym typeface="Calibri"/>
              </a:rPr>
              <a:t>Non-Return-to-Zero (NRZ)</a:t>
            </a:r>
            <a:r>
              <a:rPr lang="en-GB" sz="1600">
                <a:solidFill>
                  <a:srgbClr val="000000"/>
                </a:solidFill>
                <a:latin typeface="Calibri"/>
                <a:ea typeface="Calibri"/>
                <a:cs typeface="Calibri"/>
                <a:sym typeface="Calibri"/>
              </a:rPr>
              <a:t> unidirectional signaling, which provides reliable and efficient data transmission and is consistent with earlier UCIe versions. </a:t>
            </a:r>
            <a:endParaRPr sz="1600">
              <a:solidFill>
                <a:srgbClr val="000000"/>
              </a:solidFill>
              <a:latin typeface="Calibri"/>
              <a:ea typeface="Calibri"/>
              <a:cs typeface="Calibri"/>
              <a:sym typeface="Calibri"/>
            </a:endParaRPr>
          </a:p>
          <a:p>
            <a:pPr indent="-330200" lvl="0" marL="457200" rtl="0" algn="just">
              <a:spcBef>
                <a:spcPts val="0"/>
              </a:spcBef>
              <a:spcAft>
                <a:spcPts val="0"/>
              </a:spcAft>
              <a:buClr>
                <a:srgbClr val="000000"/>
              </a:buClr>
              <a:buSzPts val="1600"/>
              <a:buFont typeface="Arial"/>
              <a:buChar char="●"/>
            </a:pPr>
            <a:r>
              <a:rPr lang="en-GB" sz="1600">
                <a:solidFill>
                  <a:srgbClr val="000000"/>
                </a:solidFill>
                <a:latin typeface="Calibri"/>
                <a:ea typeface="Calibri"/>
                <a:cs typeface="Calibri"/>
                <a:sym typeface="Calibri"/>
              </a:rPr>
              <a:t>To support </a:t>
            </a:r>
            <a:r>
              <a:rPr b="1" lang="en-GB" sz="1600">
                <a:solidFill>
                  <a:srgbClr val="000000"/>
                </a:solidFill>
                <a:latin typeface="Calibri"/>
                <a:ea typeface="Calibri"/>
                <a:cs typeface="Calibri"/>
                <a:sym typeface="Calibri"/>
              </a:rPr>
              <a:t>48 GT/s and 64 GT/s</a:t>
            </a:r>
            <a:r>
              <a:rPr lang="en-GB" sz="1600">
                <a:solidFill>
                  <a:srgbClr val="000000"/>
                </a:solidFill>
                <a:latin typeface="Calibri"/>
                <a:ea typeface="Calibri"/>
                <a:cs typeface="Calibri"/>
                <a:sym typeface="Calibri"/>
              </a:rPr>
              <a:t>, the specification uses </a:t>
            </a:r>
            <a:r>
              <a:rPr b="1" lang="en-GB" sz="1600">
                <a:solidFill>
                  <a:srgbClr val="000000"/>
                </a:solidFill>
                <a:latin typeface="Calibri"/>
                <a:ea typeface="Calibri"/>
                <a:cs typeface="Calibri"/>
                <a:sym typeface="Calibri"/>
              </a:rPr>
              <a:t>quarter-rate clocking</a:t>
            </a:r>
            <a:r>
              <a:rPr lang="en-GB" sz="1600">
                <a:solidFill>
                  <a:srgbClr val="000000"/>
                </a:solidFill>
                <a:latin typeface="Calibri"/>
                <a:ea typeface="Calibri"/>
                <a:cs typeface="Calibri"/>
                <a:sym typeface="Calibri"/>
              </a:rPr>
              <a:t>, ensuring stable operation at high speeds. </a:t>
            </a:r>
            <a:endParaRPr sz="1600">
              <a:solidFill>
                <a:srgbClr val="000000"/>
              </a:solidFill>
              <a:latin typeface="Calibri"/>
              <a:ea typeface="Calibri"/>
              <a:cs typeface="Calibri"/>
              <a:sym typeface="Calibri"/>
            </a:endParaRPr>
          </a:p>
          <a:p>
            <a:pPr indent="-330200" lvl="0" marL="457200" rtl="0" algn="just">
              <a:spcBef>
                <a:spcPts val="0"/>
              </a:spcBef>
              <a:spcAft>
                <a:spcPts val="0"/>
              </a:spcAft>
              <a:buClr>
                <a:srgbClr val="000000"/>
              </a:buClr>
              <a:buSzPts val="1600"/>
              <a:buFont typeface="Arial"/>
              <a:buChar char="●"/>
            </a:pPr>
            <a:r>
              <a:rPr lang="en-GB" sz="1600">
                <a:solidFill>
                  <a:srgbClr val="000000"/>
                </a:solidFill>
                <a:latin typeface="Calibri"/>
                <a:ea typeface="Calibri"/>
                <a:cs typeface="Calibri"/>
                <a:sym typeface="Calibri"/>
              </a:rPr>
              <a:t>Reliability is maintained by achieving low </a:t>
            </a:r>
            <a:r>
              <a:rPr b="1" lang="en-GB" sz="1600">
                <a:solidFill>
                  <a:srgbClr val="000000"/>
                </a:solidFill>
                <a:latin typeface="Calibri"/>
                <a:ea typeface="Calibri"/>
                <a:cs typeface="Calibri"/>
                <a:sym typeface="Calibri"/>
              </a:rPr>
              <a:t>Bit Error Rate (BER)</a:t>
            </a:r>
            <a:r>
              <a:rPr lang="en-GB" sz="1600">
                <a:solidFill>
                  <a:srgbClr val="000000"/>
                </a:solidFill>
                <a:latin typeface="Calibri"/>
                <a:ea typeface="Calibri"/>
                <a:cs typeface="Calibri"/>
                <a:sym typeface="Calibri"/>
              </a:rPr>
              <a:t> and by continuing to use existing </a:t>
            </a:r>
            <a:r>
              <a:rPr b="1" lang="en-GB" sz="1600">
                <a:solidFill>
                  <a:srgbClr val="000000"/>
                </a:solidFill>
                <a:latin typeface="Calibri"/>
                <a:ea typeface="Calibri"/>
                <a:cs typeface="Calibri"/>
                <a:sym typeface="Calibri"/>
              </a:rPr>
              <a:t>Cyclic Redundancy Check (CRC)</a:t>
            </a:r>
            <a:r>
              <a:rPr lang="en-GB" sz="1600">
                <a:solidFill>
                  <a:srgbClr val="000000"/>
                </a:solidFill>
                <a:latin typeface="Calibri"/>
                <a:ea typeface="Calibri"/>
                <a:cs typeface="Calibri"/>
                <a:sym typeface="Calibri"/>
              </a:rPr>
              <a:t> and replay mechanisms.</a:t>
            </a:r>
            <a:endParaRPr sz="1600">
              <a:solidFill>
                <a:srgbClr val="000000"/>
              </a:solidFill>
              <a:latin typeface="Calibri"/>
              <a:ea typeface="Calibri"/>
              <a:cs typeface="Calibri"/>
              <a:sym typeface="Calibri"/>
            </a:endParaRPr>
          </a:p>
          <a:p>
            <a:pPr indent="-330200" lvl="0" marL="457200" rtl="0" algn="just">
              <a:spcBef>
                <a:spcPts val="0"/>
              </a:spcBef>
              <a:spcAft>
                <a:spcPts val="0"/>
              </a:spcAft>
              <a:buClr>
                <a:srgbClr val="000000"/>
              </a:buClr>
              <a:buSzPts val="1600"/>
              <a:buFont typeface="Arial"/>
              <a:buChar char="●"/>
            </a:pPr>
            <a:r>
              <a:rPr lang="en-GB" sz="1600">
                <a:solidFill>
                  <a:srgbClr val="000000"/>
                </a:solidFill>
                <a:latin typeface="Calibri"/>
                <a:ea typeface="Calibri"/>
                <a:cs typeface="Calibri"/>
                <a:sym typeface="Calibri"/>
              </a:rPr>
              <a:t>Signal quality is further improved using enhanced equalization techniques such as </a:t>
            </a:r>
            <a:r>
              <a:rPr b="1" lang="en-GB" sz="1600">
                <a:solidFill>
                  <a:srgbClr val="000000"/>
                </a:solidFill>
                <a:latin typeface="Calibri"/>
                <a:ea typeface="Calibri"/>
                <a:cs typeface="Calibri"/>
                <a:sym typeface="Calibri"/>
              </a:rPr>
              <a:t>Transmit Feed-Forward Equalizer (TX-FFE)</a:t>
            </a:r>
            <a:r>
              <a:rPr lang="en-GB" sz="1600">
                <a:solidFill>
                  <a:srgbClr val="000000"/>
                </a:solidFill>
                <a:latin typeface="Calibri"/>
                <a:ea typeface="Calibri"/>
                <a:cs typeface="Calibri"/>
                <a:sym typeface="Calibri"/>
              </a:rPr>
              <a:t> for signal shaping and </a:t>
            </a:r>
            <a:r>
              <a:rPr b="1" lang="en-GB" sz="1600">
                <a:solidFill>
                  <a:srgbClr val="000000"/>
                </a:solidFill>
                <a:latin typeface="Calibri"/>
                <a:ea typeface="Calibri"/>
                <a:cs typeface="Calibri"/>
                <a:sym typeface="Calibri"/>
              </a:rPr>
              <a:t>Receive Continuous-Time Linear Equalizer (RX-CTLE)</a:t>
            </a:r>
            <a:r>
              <a:rPr lang="en-GB" sz="1600">
                <a:solidFill>
                  <a:srgbClr val="000000"/>
                </a:solidFill>
                <a:latin typeface="Calibri"/>
                <a:ea typeface="Calibri"/>
                <a:cs typeface="Calibri"/>
                <a:sym typeface="Calibri"/>
              </a:rPr>
              <a:t> to compensate for channel losses.</a:t>
            </a:r>
            <a:endParaRPr sz="1600">
              <a:solidFill>
                <a:srgbClr val="000000"/>
              </a:solidFill>
              <a:latin typeface="Calibri"/>
              <a:ea typeface="Calibri"/>
              <a:cs typeface="Calibri"/>
              <a:sym typeface="Calibri"/>
            </a:endParaRPr>
          </a:p>
          <a:p>
            <a:pPr indent="-330200" lvl="0" marL="457200" rtl="0" algn="just">
              <a:spcBef>
                <a:spcPts val="0"/>
              </a:spcBef>
              <a:spcAft>
                <a:spcPts val="0"/>
              </a:spcAft>
              <a:buClr>
                <a:srgbClr val="000000"/>
              </a:buClr>
              <a:buSzPts val="1600"/>
              <a:buFont typeface="Arial"/>
              <a:buChar char="●"/>
            </a:pPr>
            <a:r>
              <a:rPr lang="en-GB" sz="1600">
                <a:solidFill>
                  <a:srgbClr val="000000"/>
                </a:solidFill>
                <a:latin typeface="Calibri"/>
                <a:ea typeface="Calibri"/>
                <a:cs typeface="Calibri"/>
                <a:sym typeface="Calibri"/>
              </a:rPr>
              <a:t>An optional </a:t>
            </a:r>
            <a:r>
              <a:rPr b="1" lang="en-GB" sz="1600">
                <a:solidFill>
                  <a:srgbClr val="000000"/>
                </a:solidFill>
                <a:latin typeface="Calibri"/>
                <a:ea typeface="Calibri"/>
                <a:cs typeface="Calibri"/>
                <a:sym typeface="Calibri"/>
              </a:rPr>
              <a:t>Receive Decision Feedback Equalizer (RX-DFE)</a:t>
            </a:r>
            <a:r>
              <a:rPr lang="en-GB" sz="1600">
                <a:solidFill>
                  <a:srgbClr val="000000"/>
                </a:solidFill>
                <a:latin typeface="Calibri"/>
                <a:ea typeface="Calibri"/>
                <a:cs typeface="Calibri"/>
                <a:sym typeface="Calibri"/>
              </a:rPr>
              <a:t> can be used when additional signal correction is required. </a:t>
            </a:r>
            <a:endParaRPr sz="1600">
              <a:solidFill>
                <a:srgbClr val="000000"/>
              </a:solidFill>
              <a:latin typeface="Calibri"/>
              <a:ea typeface="Calibri"/>
              <a:cs typeface="Calibri"/>
              <a:sym typeface="Calibri"/>
            </a:endParaRPr>
          </a:p>
          <a:p>
            <a:pPr indent="-330200" lvl="0" marL="457200" rtl="0" algn="just">
              <a:spcBef>
                <a:spcPts val="0"/>
              </a:spcBef>
              <a:spcAft>
                <a:spcPts val="0"/>
              </a:spcAft>
              <a:buClr>
                <a:srgbClr val="000000"/>
              </a:buClr>
              <a:buSzPts val="1600"/>
              <a:buFont typeface="Arial"/>
              <a:buChar char="●"/>
            </a:pPr>
            <a:r>
              <a:rPr lang="en-GB" sz="1600">
                <a:solidFill>
                  <a:srgbClr val="000000"/>
                </a:solidFill>
                <a:latin typeface="Calibri"/>
                <a:ea typeface="Calibri"/>
                <a:cs typeface="Calibri"/>
                <a:sym typeface="Calibri"/>
              </a:rPr>
              <a:t>Additionally, enhancements to the </a:t>
            </a:r>
            <a:r>
              <a:rPr b="1" lang="en-GB" sz="1600">
                <a:solidFill>
                  <a:srgbClr val="000000"/>
                </a:solidFill>
                <a:latin typeface="Calibri"/>
                <a:ea typeface="Calibri"/>
                <a:cs typeface="Calibri"/>
                <a:sym typeface="Calibri"/>
              </a:rPr>
              <a:t>Link Training State Machine (LTSM)</a:t>
            </a:r>
            <a:r>
              <a:rPr lang="en-GB" sz="1600">
                <a:solidFill>
                  <a:srgbClr val="000000"/>
                </a:solidFill>
                <a:latin typeface="Calibri"/>
                <a:ea typeface="Calibri"/>
                <a:cs typeface="Calibri"/>
                <a:sym typeface="Calibri"/>
              </a:rPr>
              <a:t> perform I/O corrections and select optimal equalization presets to ensure sufficient eye margin at higher data rates.</a:t>
            </a:r>
            <a:endParaRPr b="1" sz="1600">
              <a:solidFill>
                <a:srgbClr val="000000"/>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6"/>
          <p:cNvSpPr txBox="1"/>
          <p:nvPr>
            <p:ph idx="1" type="body"/>
          </p:nvPr>
        </p:nvSpPr>
        <p:spPr>
          <a:xfrm>
            <a:off x="43350" y="130175"/>
            <a:ext cx="8998200" cy="4682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457200" rtl="0" algn="just">
              <a:spcBef>
                <a:spcPts val="1200"/>
              </a:spcBef>
              <a:spcAft>
                <a:spcPts val="1200"/>
              </a:spcAft>
              <a:buNone/>
            </a:pPr>
            <a:r>
              <a:t/>
            </a:r>
            <a:endParaRPr b="1" sz="1600">
              <a:solidFill>
                <a:srgbClr val="000000"/>
              </a:solidFill>
              <a:latin typeface="Calibri"/>
              <a:ea typeface="Calibri"/>
              <a:cs typeface="Calibri"/>
              <a:sym typeface="Calibri"/>
            </a:endParaRPr>
          </a:p>
        </p:txBody>
      </p:sp>
      <p:pic>
        <p:nvPicPr>
          <p:cNvPr id="172" name="Google Shape;172;p36"/>
          <p:cNvPicPr preferRelativeResize="0"/>
          <p:nvPr/>
        </p:nvPicPr>
        <p:blipFill>
          <a:blip r:embed="rId3">
            <a:alphaModFix/>
          </a:blip>
          <a:stretch>
            <a:fillRect/>
          </a:stretch>
        </p:blipFill>
        <p:spPr>
          <a:xfrm>
            <a:off x="43350" y="246525"/>
            <a:ext cx="8998201" cy="45363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7"/>
          <p:cNvSpPr txBox="1"/>
          <p:nvPr>
            <p:ph type="title"/>
          </p:nvPr>
        </p:nvSpPr>
        <p:spPr>
          <a:xfrm>
            <a:off x="243000" y="0"/>
            <a:ext cx="8589300" cy="43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600"/>
              <a:t>Support for Continuous Transmission Protocols (New Usage for UCIe) </a:t>
            </a:r>
            <a:endParaRPr b="0" sz="100">
              <a:solidFill>
                <a:srgbClr val="000000"/>
              </a:solidFill>
              <a:latin typeface="Arial"/>
              <a:ea typeface="Arial"/>
              <a:cs typeface="Arial"/>
              <a:sym typeface="Arial"/>
            </a:endParaRPr>
          </a:p>
          <a:p>
            <a:pPr indent="0" lvl="0" marL="0" rtl="0" algn="l">
              <a:lnSpc>
                <a:spcPct val="115000"/>
              </a:lnSpc>
              <a:spcBef>
                <a:spcPts val="0"/>
              </a:spcBef>
              <a:spcAft>
                <a:spcPts val="3000"/>
              </a:spcAft>
              <a:buSzPts val="990"/>
              <a:buNone/>
            </a:pPr>
            <a:r>
              <a:t/>
            </a:r>
            <a:endParaRPr sz="2820">
              <a:highlight>
                <a:schemeClr val="lt1"/>
              </a:highlight>
              <a:latin typeface="Times New Roman"/>
              <a:ea typeface="Times New Roman"/>
              <a:cs typeface="Times New Roman"/>
              <a:sym typeface="Times New Roman"/>
            </a:endParaRPr>
          </a:p>
        </p:txBody>
      </p:sp>
      <p:sp>
        <p:nvSpPr>
          <p:cNvPr id="178" name="Google Shape;178;p37"/>
          <p:cNvSpPr txBox="1"/>
          <p:nvPr>
            <p:ph idx="1" type="body"/>
          </p:nvPr>
        </p:nvSpPr>
        <p:spPr>
          <a:xfrm>
            <a:off x="115600" y="522800"/>
            <a:ext cx="8925900" cy="4019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30200" lvl="0" marL="457200" rtl="0" algn="just">
              <a:spcBef>
                <a:spcPts val="1200"/>
              </a:spcBef>
              <a:spcAft>
                <a:spcPts val="0"/>
              </a:spcAft>
              <a:buClr>
                <a:srgbClr val="000000"/>
              </a:buClr>
              <a:buSzPts val="1600"/>
              <a:buFont typeface="Arial"/>
              <a:buChar char="●"/>
            </a:pPr>
            <a:r>
              <a:rPr lang="en-GB" sz="1600">
                <a:solidFill>
                  <a:srgbClr val="000000"/>
                </a:solidFill>
                <a:latin typeface="Calibri"/>
                <a:ea typeface="Calibri"/>
                <a:cs typeface="Calibri"/>
                <a:sym typeface="Calibri"/>
              </a:rPr>
              <a:t>UCIe 3.0 supports </a:t>
            </a:r>
            <a:r>
              <a:rPr b="1" lang="en-GB" sz="1600">
                <a:solidFill>
                  <a:srgbClr val="000000"/>
                </a:solidFill>
                <a:latin typeface="Calibri"/>
                <a:ea typeface="Calibri"/>
                <a:cs typeface="Calibri"/>
                <a:sym typeface="Calibri"/>
              </a:rPr>
              <a:t>continuous data transfer</a:t>
            </a:r>
            <a:r>
              <a:rPr lang="en-GB" sz="1600">
                <a:solidFill>
                  <a:srgbClr val="000000"/>
                </a:solidFill>
                <a:latin typeface="Calibri"/>
                <a:ea typeface="Calibri"/>
                <a:cs typeface="Calibri"/>
                <a:sym typeface="Calibri"/>
              </a:rPr>
              <a:t>, which is needed for applications like </a:t>
            </a:r>
            <a:r>
              <a:rPr b="1" lang="en-GB" sz="1600">
                <a:solidFill>
                  <a:srgbClr val="000000"/>
                </a:solidFill>
                <a:latin typeface="Calibri"/>
                <a:ea typeface="Calibri"/>
                <a:cs typeface="Calibri"/>
                <a:sym typeface="Calibri"/>
              </a:rPr>
              <a:t>Digital Signal Processing (DSP)</a:t>
            </a:r>
            <a:r>
              <a:rPr lang="en-GB" sz="1600">
                <a:solidFill>
                  <a:srgbClr val="000000"/>
                </a:solidFill>
                <a:latin typeface="Calibri"/>
                <a:ea typeface="Calibri"/>
                <a:cs typeface="Calibri"/>
                <a:sym typeface="Calibri"/>
              </a:rPr>
              <a:t>. </a:t>
            </a:r>
            <a:endParaRPr sz="1600">
              <a:solidFill>
                <a:srgbClr val="000000"/>
              </a:solidFill>
              <a:latin typeface="Calibri"/>
              <a:ea typeface="Calibri"/>
              <a:cs typeface="Calibri"/>
              <a:sym typeface="Calibri"/>
            </a:endParaRPr>
          </a:p>
          <a:p>
            <a:pPr indent="-330200" lvl="0" marL="457200" rtl="0" algn="just">
              <a:spcBef>
                <a:spcPts val="0"/>
              </a:spcBef>
              <a:spcAft>
                <a:spcPts val="0"/>
              </a:spcAft>
              <a:buClr>
                <a:srgbClr val="000000"/>
              </a:buClr>
              <a:buSzPts val="1600"/>
              <a:buFont typeface="Arial"/>
              <a:buChar char="●"/>
            </a:pPr>
            <a:r>
              <a:rPr lang="en-GB" sz="1600">
                <a:solidFill>
                  <a:srgbClr val="000000"/>
                </a:solidFill>
                <a:latin typeface="Calibri"/>
                <a:ea typeface="Calibri"/>
                <a:cs typeface="Calibri"/>
                <a:sym typeface="Calibri"/>
              </a:rPr>
              <a:t>In such systems, data must flow continuously between an </a:t>
            </a:r>
            <a:r>
              <a:rPr b="1" lang="en-GB" sz="1600">
                <a:solidFill>
                  <a:srgbClr val="000000"/>
                </a:solidFill>
                <a:latin typeface="Calibri"/>
                <a:ea typeface="Calibri"/>
                <a:cs typeface="Calibri"/>
                <a:sym typeface="Calibri"/>
              </a:rPr>
              <a:t>ADC chiplet</a:t>
            </a:r>
            <a:r>
              <a:rPr lang="en-GB" sz="1600">
                <a:solidFill>
                  <a:srgbClr val="000000"/>
                </a:solidFill>
                <a:latin typeface="Calibri"/>
                <a:ea typeface="Calibri"/>
                <a:cs typeface="Calibri"/>
                <a:sym typeface="Calibri"/>
              </a:rPr>
              <a:t> and a </a:t>
            </a:r>
            <a:r>
              <a:rPr b="1" lang="en-GB" sz="1600">
                <a:solidFill>
                  <a:srgbClr val="000000"/>
                </a:solidFill>
                <a:latin typeface="Calibri"/>
                <a:ea typeface="Calibri"/>
                <a:cs typeface="Calibri"/>
                <a:sym typeface="Calibri"/>
              </a:rPr>
              <a:t>SoC</a:t>
            </a:r>
            <a:r>
              <a:rPr lang="en-GB" sz="1600">
                <a:solidFill>
                  <a:srgbClr val="000000"/>
                </a:solidFill>
                <a:latin typeface="Calibri"/>
                <a:ea typeface="Calibri"/>
                <a:cs typeface="Calibri"/>
                <a:sym typeface="Calibri"/>
              </a:rPr>
              <a:t> without breaks. </a:t>
            </a:r>
            <a:endParaRPr sz="1600">
              <a:solidFill>
                <a:srgbClr val="000000"/>
              </a:solidFill>
              <a:latin typeface="Calibri"/>
              <a:ea typeface="Calibri"/>
              <a:cs typeface="Calibri"/>
              <a:sym typeface="Calibri"/>
            </a:endParaRPr>
          </a:p>
          <a:p>
            <a:pPr indent="0" lvl="0" marL="0" rtl="0" algn="just">
              <a:spcBef>
                <a:spcPts val="1200"/>
              </a:spcBef>
              <a:spcAft>
                <a:spcPts val="0"/>
              </a:spcAft>
              <a:buNone/>
            </a:pPr>
            <a:r>
              <a:t/>
            </a:r>
            <a:endParaRPr sz="1600">
              <a:solidFill>
                <a:srgbClr val="000000"/>
              </a:solidFill>
              <a:latin typeface="Calibri"/>
              <a:ea typeface="Calibri"/>
              <a:cs typeface="Calibri"/>
              <a:sym typeface="Calibri"/>
            </a:endParaRPr>
          </a:p>
          <a:p>
            <a:pPr indent="0" lvl="0" marL="0" rtl="0" algn="just">
              <a:spcBef>
                <a:spcPts val="1200"/>
              </a:spcBef>
              <a:spcAft>
                <a:spcPts val="0"/>
              </a:spcAft>
              <a:buNone/>
            </a:pPr>
            <a:r>
              <a:t/>
            </a:r>
            <a:endParaRPr sz="1600">
              <a:solidFill>
                <a:srgbClr val="000000"/>
              </a:solidFill>
              <a:latin typeface="Calibri"/>
              <a:ea typeface="Calibri"/>
              <a:cs typeface="Calibri"/>
              <a:sym typeface="Calibri"/>
            </a:endParaRPr>
          </a:p>
          <a:p>
            <a:pPr indent="0" lvl="0" marL="0" rtl="0" algn="just">
              <a:spcBef>
                <a:spcPts val="1200"/>
              </a:spcBef>
              <a:spcAft>
                <a:spcPts val="0"/>
              </a:spcAft>
              <a:buNone/>
            </a:pPr>
            <a:r>
              <a:t/>
            </a:r>
            <a:endParaRPr sz="1600">
              <a:solidFill>
                <a:srgbClr val="000000"/>
              </a:solidFill>
              <a:latin typeface="Calibri"/>
              <a:ea typeface="Calibri"/>
              <a:cs typeface="Calibri"/>
              <a:sym typeface="Calibri"/>
            </a:endParaRPr>
          </a:p>
          <a:p>
            <a:pPr indent="0" lvl="0" marL="0" rtl="0" algn="just">
              <a:spcBef>
                <a:spcPts val="1200"/>
              </a:spcBef>
              <a:spcAft>
                <a:spcPts val="0"/>
              </a:spcAft>
              <a:buNone/>
            </a:pPr>
            <a:r>
              <a:t/>
            </a:r>
            <a:endParaRPr sz="1600">
              <a:solidFill>
                <a:srgbClr val="000000"/>
              </a:solidFill>
              <a:latin typeface="Calibri"/>
              <a:ea typeface="Calibri"/>
              <a:cs typeface="Calibri"/>
              <a:sym typeface="Calibri"/>
            </a:endParaRPr>
          </a:p>
          <a:p>
            <a:pPr indent="-330200" lvl="0" marL="457200" rtl="0" algn="just">
              <a:spcBef>
                <a:spcPts val="1200"/>
              </a:spcBef>
              <a:spcAft>
                <a:spcPts val="0"/>
              </a:spcAft>
              <a:buClr>
                <a:srgbClr val="000000"/>
              </a:buClr>
              <a:buSzPts val="1600"/>
              <a:buFont typeface="Arial"/>
              <a:buChar char="●"/>
            </a:pPr>
            <a:r>
              <a:rPr lang="en-GB" sz="1600">
                <a:solidFill>
                  <a:srgbClr val="000000"/>
                </a:solidFill>
                <a:latin typeface="Calibri"/>
                <a:ea typeface="Calibri"/>
                <a:cs typeface="Calibri"/>
                <a:sym typeface="Calibri"/>
              </a:rPr>
              <a:t>UCIe 3.0 runs the link at the </a:t>
            </a:r>
            <a:r>
              <a:rPr b="1" lang="en-GB" sz="1600">
                <a:solidFill>
                  <a:srgbClr val="000000"/>
                </a:solidFill>
                <a:latin typeface="Calibri"/>
                <a:ea typeface="Calibri"/>
                <a:cs typeface="Calibri"/>
                <a:sym typeface="Calibri"/>
              </a:rPr>
              <a:t>same speed as data generation</a:t>
            </a:r>
            <a:r>
              <a:rPr lang="en-GB" sz="1600">
                <a:solidFill>
                  <a:srgbClr val="000000"/>
                </a:solidFill>
                <a:latin typeface="Calibri"/>
                <a:ea typeface="Calibri"/>
                <a:cs typeface="Calibri"/>
                <a:sym typeface="Calibri"/>
              </a:rPr>
              <a:t>, so data moves smoothly and with low delay. This removes the need for extra </a:t>
            </a:r>
            <a:r>
              <a:rPr b="1" lang="en-GB" sz="1600">
                <a:solidFill>
                  <a:srgbClr val="000000"/>
                </a:solidFill>
                <a:latin typeface="Calibri"/>
                <a:ea typeface="Calibri"/>
                <a:cs typeface="Calibri"/>
                <a:sym typeface="Calibri"/>
              </a:rPr>
              <a:t>PLLs</a:t>
            </a:r>
            <a:r>
              <a:rPr lang="en-GB" sz="1600">
                <a:solidFill>
                  <a:srgbClr val="000000"/>
                </a:solidFill>
                <a:latin typeface="Calibri"/>
                <a:ea typeface="Calibri"/>
                <a:cs typeface="Calibri"/>
                <a:sym typeface="Calibri"/>
              </a:rPr>
              <a:t>, reducing noise in analog circuits. </a:t>
            </a:r>
            <a:endParaRPr sz="1600">
              <a:solidFill>
                <a:srgbClr val="000000"/>
              </a:solidFill>
              <a:latin typeface="Calibri"/>
              <a:ea typeface="Calibri"/>
              <a:cs typeface="Calibri"/>
              <a:sym typeface="Calibri"/>
            </a:endParaRPr>
          </a:p>
          <a:p>
            <a:pPr indent="-330200" lvl="0" marL="457200" rtl="0" algn="just">
              <a:spcBef>
                <a:spcPts val="0"/>
              </a:spcBef>
              <a:spcAft>
                <a:spcPts val="0"/>
              </a:spcAft>
              <a:buClr>
                <a:srgbClr val="000000"/>
              </a:buClr>
              <a:buSzPts val="1600"/>
              <a:buFont typeface="Arial"/>
              <a:buChar char="●"/>
            </a:pPr>
            <a:r>
              <a:rPr lang="en-GB" sz="1600">
                <a:solidFill>
                  <a:srgbClr val="000000"/>
                </a:solidFill>
                <a:latin typeface="Calibri"/>
                <a:ea typeface="Calibri"/>
                <a:cs typeface="Calibri"/>
                <a:sym typeface="Calibri"/>
              </a:rPr>
              <a:t>The data rate can be adjusted using the </a:t>
            </a:r>
            <a:r>
              <a:rPr b="1" lang="en-GB" sz="1600">
                <a:solidFill>
                  <a:srgbClr val="000000"/>
                </a:solidFill>
                <a:latin typeface="Calibri"/>
                <a:ea typeface="Calibri"/>
                <a:cs typeface="Calibri"/>
                <a:sym typeface="Calibri"/>
              </a:rPr>
              <a:t>reference clock</a:t>
            </a:r>
            <a:r>
              <a:rPr lang="en-GB" sz="1600">
                <a:solidFill>
                  <a:srgbClr val="000000"/>
                </a:solidFill>
                <a:latin typeface="Calibri"/>
                <a:ea typeface="Calibri"/>
                <a:cs typeface="Calibri"/>
                <a:sym typeface="Calibri"/>
              </a:rPr>
              <a:t>, and existing UCIe mechanisms are reused to keep the design simple and reliable.</a:t>
            </a:r>
            <a:endParaRPr sz="1600">
              <a:solidFill>
                <a:srgbClr val="000000"/>
              </a:solidFill>
              <a:latin typeface="Calibri"/>
              <a:ea typeface="Calibri"/>
              <a:cs typeface="Calibri"/>
              <a:sym typeface="Calibri"/>
            </a:endParaRPr>
          </a:p>
          <a:p>
            <a:pPr indent="0" lvl="0" marL="457200" marR="381000" rtl="0" algn="just">
              <a:spcBef>
                <a:spcPts val="1200"/>
              </a:spcBef>
              <a:spcAft>
                <a:spcPts val="0"/>
              </a:spcAft>
              <a:buNone/>
            </a:pPr>
            <a:r>
              <a:t/>
            </a:r>
            <a:endParaRPr b="1">
              <a:solidFill>
                <a:srgbClr val="000000"/>
              </a:solidFill>
              <a:latin typeface="Calibri"/>
              <a:ea typeface="Calibri"/>
              <a:cs typeface="Calibri"/>
              <a:sym typeface="Calibri"/>
            </a:endParaRPr>
          </a:p>
          <a:p>
            <a:pPr indent="0" lvl="0" marL="0" rtl="0" algn="just">
              <a:lnSpc>
                <a:spcPct val="115000"/>
              </a:lnSpc>
              <a:spcBef>
                <a:spcPts val="1200"/>
              </a:spcBef>
              <a:spcAft>
                <a:spcPts val="0"/>
              </a:spcAft>
              <a:buNone/>
            </a:pPr>
            <a:r>
              <a:t/>
            </a:r>
            <a:endParaRPr>
              <a:solidFill>
                <a:srgbClr val="000000"/>
              </a:solidFill>
              <a:latin typeface="Times New Roman"/>
              <a:ea typeface="Times New Roman"/>
              <a:cs typeface="Times New Roman"/>
              <a:sym typeface="Times New Roman"/>
            </a:endParaRPr>
          </a:p>
          <a:p>
            <a:pPr indent="0" lvl="0" marL="457200" rtl="0" algn="just">
              <a:lnSpc>
                <a:spcPct val="115000"/>
              </a:lnSpc>
              <a:spcBef>
                <a:spcPts val="2600"/>
              </a:spcBef>
              <a:spcAft>
                <a:spcPts val="0"/>
              </a:spcAft>
              <a:buNone/>
            </a:pPr>
            <a:r>
              <a:t/>
            </a:r>
            <a:endParaRPr>
              <a:solidFill>
                <a:srgbClr val="000000"/>
              </a:solidFill>
              <a:latin typeface="Times New Roman"/>
              <a:ea typeface="Times New Roman"/>
              <a:cs typeface="Times New Roman"/>
              <a:sym typeface="Times New Roman"/>
            </a:endParaRPr>
          </a:p>
          <a:p>
            <a:pPr indent="0" lvl="0" marL="457200" rtl="0" algn="just">
              <a:lnSpc>
                <a:spcPct val="115000"/>
              </a:lnSpc>
              <a:spcBef>
                <a:spcPts val="26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0" rtl="0" algn="just">
              <a:lnSpc>
                <a:spcPct val="115000"/>
              </a:lnSpc>
              <a:spcBef>
                <a:spcPts val="3000"/>
              </a:spcBef>
              <a:spcAft>
                <a:spcPts val="3000"/>
              </a:spcAft>
              <a:buNone/>
            </a:pPr>
            <a:r>
              <a:t/>
            </a:r>
            <a:endParaRPr>
              <a:solidFill>
                <a:srgbClr val="202122"/>
              </a:solidFill>
              <a:highlight>
                <a:srgbClr val="FFFFFF"/>
              </a:highlight>
              <a:latin typeface="Times New Roman"/>
              <a:ea typeface="Times New Roman"/>
              <a:cs typeface="Times New Roman"/>
              <a:sym typeface="Times New Roman"/>
            </a:endParaRPr>
          </a:p>
        </p:txBody>
      </p:sp>
      <p:pic>
        <p:nvPicPr>
          <p:cNvPr id="179" name="Google Shape;179;p37"/>
          <p:cNvPicPr preferRelativeResize="0"/>
          <p:nvPr/>
        </p:nvPicPr>
        <p:blipFill>
          <a:blip r:embed="rId3">
            <a:alphaModFix/>
          </a:blip>
          <a:stretch>
            <a:fillRect/>
          </a:stretch>
        </p:blipFill>
        <p:spPr>
          <a:xfrm>
            <a:off x="3260900" y="1451150"/>
            <a:ext cx="4106700" cy="18676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8"/>
          <p:cNvSpPr txBox="1"/>
          <p:nvPr>
            <p:ph type="title"/>
          </p:nvPr>
        </p:nvSpPr>
        <p:spPr>
          <a:xfrm>
            <a:off x="277350" y="186775"/>
            <a:ext cx="8589300" cy="43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600"/>
              <a:t>Operational Power Savings Enhancement  </a:t>
            </a:r>
            <a:endParaRPr b="0" sz="100">
              <a:solidFill>
                <a:srgbClr val="000000"/>
              </a:solidFill>
              <a:latin typeface="Arial"/>
              <a:ea typeface="Arial"/>
              <a:cs typeface="Arial"/>
              <a:sym typeface="Arial"/>
            </a:endParaRPr>
          </a:p>
          <a:p>
            <a:pPr indent="0" lvl="0" marL="0" rtl="0" algn="l">
              <a:lnSpc>
                <a:spcPct val="115000"/>
              </a:lnSpc>
              <a:spcBef>
                <a:spcPts val="0"/>
              </a:spcBef>
              <a:spcAft>
                <a:spcPts val="3000"/>
              </a:spcAft>
              <a:buSzPts val="990"/>
              <a:buNone/>
            </a:pPr>
            <a:r>
              <a:t/>
            </a:r>
            <a:endParaRPr sz="2820">
              <a:highlight>
                <a:schemeClr val="lt1"/>
              </a:highlight>
              <a:latin typeface="Times New Roman"/>
              <a:ea typeface="Times New Roman"/>
              <a:cs typeface="Times New Roman"/>
              <a:sym typeface="Times New Roman"/>
            </a:endParaRPr>
          </a:p>
        </p:txBody>
      </p:sp>
      <p:sp>
        <p:nvSpPr>
          <p:cNvPr id="185" name="Google Shape;185;p38"/>
          <p:cNvSpPr txBox="1"/>
          <p:nvPr>
            <p:ph idx="1" type="body"/>
          </p:nvPr>
        </p:nvSpPr>
        <p:spPr>
          <a:xfrm>
            <a:off x="109050" y="943025"/>
            <a:ext cx="8925900" cy="32628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30200" lvl="0" marL="457200" rtl="0" algn="just">
              <a:lnSpc>
                <a:spcPct val="150000"/>
              </a:lnSpc>
              <a:spcBef>
                <a:spcPts val="1200"/>
              </a:spcBef>
              <a:spcAft>
                <a:spcPts val="0"/>
              </a:spcAft>
              <a:buClr>
                <a:srgbClr val="000000"/>
              </a:buClr>
              <a:buSzPts val="1600"/>
              <a:buFont typeface="Calibri"/>
              <a:buChar char="●"/>
            </a:pPr>
            <a:r>
              <a:rPr lang="en-GB" sz="1600">
                <a:solidFill>
                  <a:srgbClr val="000000"/>
                </a:solidFill>
                <a:latin typeface="Calibri"/>
                <a:ea typeface="Calibri"/>
                <a:cs typeface="Calibri"/>
                <a:sym typeface="Calibri"/>
              </a:rPr>
              <a:t>Power efficiency is very important in modern systems, especially as designs become more complex.</a:t>
            </a:r>
            <a:endParaRPr sz="1600">
              <a:solidFill>
                <a:srgbClr val="000000"/>
              </a:solidFill>
              <a:latin typeface="Calibri"/>
              <a:ea typeface="Calibri"/>
              <a:cs typeface="Calibri"/>
              <a:sym typeface="Calibri"/>
            </a:endParaRPr>
          </a:p>
          <a:p>
            <a:pPr indent="-330200" lvl="0" marL="457200" rtl="0" algn="just">
              <a:lnSpc>
                <a:spcPct val="150000"/>
              </a:lnSpc>
              <a:spcBef>
                <a:spcPts val="0"/>
              </a:spcBef>
              <a:spcAft>
                <a:spcPts val="0"/>
              </a:spcAft>
              <a:buClr>
                <a:srgbClr val="000000"/>
              </a:buClr>
              <a:buSzPts val="1600"/>
              <a:buFont typeface="Arial"/>
              <a:buChar char="●"/>
            </a:pPr>
            <a:r>
              <a:rPr lang="en-GB" sz="1600">
                <a:solidFill>
                  <a:srgbClr val="000000"/>
                </a:solidFill>
                <a:latin typeface="Calibri"/>
                <a:ea typeface="Calibri"/>
                <a:cs typeface="Calibri"/>
                <a:sym typeface="Calibri"/>
              </a:rPr>
              <a:t>UCIe 3.0 improves power efficiency by allowing the </a:t>
            </a:r>
            <a:r>
              <a:rPr b="1" lang="en-GB" sz="1600">
                <a:solidFill>
                  <a:srgbClr val="000000"/>
                </a:solidFill>
                <a:latin typeface="Calibri"/>
                <a:ea typeface="Calibri"/>
                <a:cs typeface="Calibri"/>
                <a:sym typeface="Calibri"/>
              </a:rPr>
              <a:t>transmitter (TX)</a:t>
            </a:r>
            <a:r>
              <a:rPr lang="en-GB" sz="1600">
                <a:solidFill>
                  <a:srgbClr val="000000"/>
                </a:solidFill>
                <a:latin typeface="Calibri"/>
                <a:ea typeface="Calibri"/>
                <a:cs typeface="Calibri"/>
                <a:sym typeface="Calibri"/>
              </a:rPr>
              <a:t> to adjust the </a:t>
            </a:r>
            <a:r>
              <a:rPr b="1" lang="en-GB" sz="1600">
                <a:solidFill>
                  <a:srgbClr val="000000"/>
                </a:solidFill>
                <a:latin typeface="Calibri"/>
                <a:ea typeface="Calibri"/>
                <a:cs typeface="Calibri"/>
                <a:sym typeface="Calibri"/>
              </a:rPr>
              <a:t>clock-to-data timing</a:t>
            </a:r>
            <a:r>
              <a:rPr lang="en-GB" sz="1600">
                <a:solidFill>
                  <a:srgbClr val="000000"/>
                </a:solidFill>
                <a:latin typeface="Calibri"/>
                <a:ea typeface="Calibri"/>
                <a:cs typeface="Calibri"/>
                <a:sym typeface="Calibri"/>
              </a:rPr>
              <a:t> while the link is running.</a:t>
            </a:r>
            <a:endParaRPr sz="1600">
              <a:solidFill>
                <a:srgbClr val="000000"/>
              </a:solidFill>
              <a:latin typeface="Calibri"/>
              <a:ea typeface="Calibri"/>
              <a:cs typeface="Calibri"/>
              <a:sym typeface="Calibri"/>
            </a:endParaRPr>
          </a:p>
          <a:p>
            <a:pPr indent="-330200" lvl="0" marL="457200" rtl="0" algn="just">
              <a:lnSpc>
                <a:spcPct val="150000"/>
              </a:lnSpc>
              <a:spcBef>
                <a:spcPts val="0"/>
              </a:spcBef>
              <a:spcAft>
                <a:spcPts val="0"/>
              </a:spcAft>
              <a:buClr>
                <a:srgbClr val="000000"/>
              </a:buClr>
              <a:buSzPts val="1600"/>
              <a:buFont typeface="Arial"/>
              <a:buChar char="●"/>
            </a:pPr>
            <a:r>
              <a:rPr lang="en-GB" sz="1600">
                <a:solidFill>
                  <a:srgbClr val="000000"/>
                </a:solidFill>
                <a:latin typeface="Calibri"/>
                <a:ea typeface="Calibri"/>
                <a:cs typeface="Calibri"/>
                <a:sym typeface="Calibri"/>
              </a:rPr>
              <a:t>Earlier, this adjustment was only possible on the </a:t>
            </a:r>
            <a:r>
              <a:rPr b="1" lang="en-GB" sz="1600">
                <a:solidFill>
                  <a:srgbClr val="000000"/>
                </a:solidFill>
                <a:latin typeface="Calibri"/>
                <a:ea typeface="Calibri"/>
                <a:cs typeface="Calibri"/>
                <a:sym typeface="Calibri"/>
              </a:rPr>
              <a:t>receiver (RX)</a:t>
            </a:r>
            <a:r>
              <a:rPr lang="en-GB" sz="1600">
                <a:solidFill>
                  <a:srgbClr val="000000"/>
                </a:solidFill>
                <a:latin typeface="Calibri"/>
                <a:ea typeface="Calibri"/>
                <a:cs typeface="Calibri"/>
                <a:sym typeface="Calibri"/>
              </a:rPr>
              <a:t> side during operation.</a:t>
            </a:r>
            <a:endParaRPr sz="1600">
              <a:solidFill>
                <a:srgbClr val="000000"/>
              </a:solidFill>
              <a:latin typeface="Calibri"/>
              <a:ea typeface="Calibri"/>
              <a:cs typeface="Calibri"/>
              <a:sym typeface="Calibri"/>
            </a:endParaRPr>
          </a:p>
          <a:p>
            <a:pPr indent="-330200" lvl="0" marL="457200" rtl="0" algn="just">
              <a:lnSpc>
                <a:spcPct val="150000"/>
              </a:lnSpc>
              <a:spcBef>
                <a:spcPts val="0"/>
              </a:spcBef>
              <a:spcAft>
                <a:spcPts val="0"/>
              </a:spcAft>
              <a:buClr>
                <a:srgbClr val="000000"/>
              </a:buClr>
              <a:buSzPts val="1600"/>
              <a:buFont typeface="Arial"/>
              <a:buChar char="●"/>
            </a:pPr>
            <a:r>
              <a:rPr lang="en-GB" sz="1600">
                <a:solidFill>
                  <a:srgbClr val="000000"/>
                </a:solidFill>
                <a:latin typeface="Calibri"/>
                <a:ea typeface="Calibri"/>
                <a:cs typeface="Calibri"/>
                <a:sym typeface="Calibri"/>
              </a:rPr>
              <a:t>By reusing the TX adjustment capability during normal operation, UCIe 3.0 reduces unnecessary power usage and achieves </a:t>
            </a:r>
            <a:r>
              <a:rPr b="1" lang="en-GB" sz="1600">
                <a:solidFill>
                  <a:srgbClr val="000000"/>
                </a:solidFill>
                <a:latin typeface="Calibri"/>
                <a:ea typeface="Calibri"/>
                <a:cs typeface="Calibri"/>
                <a:sym typeface="Calibri"/>
              </a:rPr>
              <a:t>significant power savings</a:t>
            </a:r>
            <a:r>
              <a:rPr lang="en-GB" sz="1600">
                <a:solidFill>
                  <a:srgbClr val="000000"/>
                </a:solidFill>
                <a:latin typeface="Calibri"/>
                <a:ea typeface="Calibri"/>
                <a:cs typeface="Calibri"/>
                <a:sym typeface="Calibri"/>
              </a:rPr>
              <a:t>.</a:t>
            </a:r>
            <a:endParaRPr sz="1600">
              <a:solidFill>
                <a:srgbClr val="000000"/>
              </a:solidFill>
              <a:latin typeface="Calibri"/>
              <a:ea typeface="Calibri"/>
              <a:cs typeface="Calibri"/>
              <a:sym typeface="Calibri"/>
            </a:endParaRPr>
          </a:p>
          <a:p>
            <a:pPr indent="0" lvl="0" marL="457200" marR="381000" rtl="0" algn="just">
              <a:spcBef>
                <a:spcPts val="1200"/>
              </a:spcBef>
              <a:spcAft>
                <a:spcPts val="0"/>
              </a:spcAft>
              <a:buNone/>
            </a:pPr>
            <a:r>
              <a:t/>
            </a:r>
            <a:endParaRPr b="1">
              <a:solidFill>
                <a:srgbClr val="000000"/>
              </a:solidFill>
              <a:latin typeface="Calibri"/>
              <a:ea typeface="Calibri"/>
              <a:cs typeface="Calibri"/>
              <a:sym typeface="Calibri"/>
            </a:endParaRPr>
          </a:p>
          <a:p>
            <a:pPr indent="0" lvl="0" marL="0" rtl="0" algn="just">
              <a:lnSpc>
                <a:spcPct val="115000"/>
              </a:lnSpc>
              <a:spcBef>
                <a:spcPts val="1200"/>
              </a:spcBef>
              <a:spcAft>
                <a:spcPts val="0"/>
              </a:spcAft>
              <a:buNone/>
            </a:pPr>
            <a:r>
              <a:t/>
            </a:r>
            <a:endParaRPr>
              <a:solidFill>
                <a:srgbClr val="000000"/>
              </a:solidFill>
              <a:latin typeface="Times New Roman"/>
              <a:ea typeface="Times New Roman"/>
              <a:cs typeface="Times New Roman"/>
              <a:sym typeface="Times New Roman"/>
            </a:endParaRPr>
          </a:p>
          <a:p>
            <a:pPr indent="0" lvl="0" marL="457200" rtl="0" algn="just">
              <a:lnSpc>
                <a:spcPct val="115000"/>
              </a:lnSpc>
              <a:spcBef>
                <a:spcPts val="2600"/>
              </a:spcBef>
              <a:spcAft>
                <a:spcPts val="0"/>
              </a:spcAft>
              <a:buNone/>
            </a:pPr>
            <a:r>
              <a:t/>
            </a:r>
            <a:endParaRPr>
              <a:solidFill>
                <a:srgbClr val="000000"/>
              </a:solidFill>
              <a:latin typeface="Times New Roman"/>
              <a:ea typeface="Times New Roman"/>
              <a:cs typeface="Times New Roman"/>
              <a:sym typeface="Times New Roman"/>
            </a:endParaRPr>
          </a:p>
          <a:p>
            <a:pPr indent="0" lvl="0" marL="457200" rtl="0" algn="just">
              <a:lnSpc>
                <a:spcPct val="115000"/>
              </a:lnSpc>
              <a:spcBef>
                <a:spcPts val="26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0" rtl="0" algn="just">
              <a:lnSpc>
                <a:spcPct val="115000"/>
              </a:lnSpc>
              <a:spcBef>
                <a:spcPts val="3000"/>
              </a:spcBef>
              <a:spcAft>
                <a:spcPts val="3000"/>
              </a:spcAft>
              <a:buNone/>
            </a:pPr>
            <a:r>
              <a:t/>
            </a:r>
            <a:endParaRPr>
              <a:solidFill>
                <a:srgbClr val="2021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9"/>
          <p:cNvSpPr txBox="1"/>
          <p:nvPr>
            <p:ph type="title"/>
          </p:nvPr>
        </p:nvSpPr>
        <p:spPr>
          <a:xfrm>
            <a:off x="277350" y="186775"/>
            <a:ext cx="8589300" cy="43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600"/>
              <a:t>Idle Power Savings Optimization during L2  </a:t>
            </a:r>
            <a:endParaRPr b="0" sz="100">
              <a:solidFill>
                <a:srgbClr val="000000"/>
              </a:solidFill>
              <a:latin typeface="Arial"/>
              <a:ea typeface="Arial"/>
              <a:cs typeface="Arial"/>
              <a:sym typeface="Arial"/>
            </a:endParaRPr>
          </a:p>
          <a:p>
            <a:pPr indent="0" lvl="0" marL="0" rtl="0" algn="l">
              <a:lnSpc>
                <a:spcPct val="115000"/>
              </a:lnSpc>
              <a:spcBef>
                <a:spcPts val="0"/>
              </a:spcBef>
              <a:spcAft>
                <a:spcPts val="3000"/>
              </a:spcAft>
              <a:buSzPts val="990"/>
              <a:buNone/>
            </a:pPr>
            <a:r>
              <a:t/>
            </a:r>
            <a:endParaRPr sz="2820">
              <a:highlight>
                <a:schemeClr val="lt1"/>
              </a:highlight>
              <a:latin typeface="Times New Roman"/>
              <a:ea typeface="Times New Roman"/>
              <a:cs typeface="Times New Roman"/>
              <a:sym typeface="Times New Roman"/>
            </a:endParaRPr>
          </a:p>
        </p:txBody>
      </p:sp>
      <p:sp>
        <p:nvSpPr>
          <p:cNvPr id="191" name="Google Shape;191;p39"/>
          <p:cNvSpPr txBox="1"/>
          <p:nvPr>
            <p:ph idx="1" type="body"/>
          </p:nvPr>
        </p:nvSpPr>
        <p:spPr>
          <a:xfrm>
            <a:off x="109050" y="943025"/>
            <a:ext cx="8925900" cy="4019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30200" lvl="0" marL="457200" rtl="0" algn="just">
              <a:lnSpc>
                <a:spcPct val="150000"/>
              </a:lnSpc>
              <a:spcBef>
                <a:spcPts val="1200"/>
              </a:spcBef>
              <a:spcAft>
                <a:spcPts val="0"/>
              </a:spcAft>
              <a:buClr>
                <a:srgbClr val="000000"/>
              </a:buClr>
              <a:buSzPts val="1600"/>
              <a:buFont typeface="Calibri"/>
              <a:buChar char="●"/>
            </a:pPr>
            <a:r>
              <a:rPr lang="en-GB" sz="1600">
                <a:solidFill>
                  <a:srgbClr val="000000"/>
                </a:solidFill>
                <a:latin typeface="Calibri"/>
                <a:ea typeface="Calibri"/>
                <a:cs typeface="Calibri"/>
                <a:sym typeface="Calibri"/>
              </a:rPr>
              <a:t>In addition to saving power during operation, </a:t>
            </a:r>
            <a:r>
              <a:rPr b="1" lang="en-GB" sz="1600">
                <a:solidFill>
                  <a:srgbClr val="000000"/>
                </a:solidFill>
                <a:latin typeface="Calibri"/>
                <a:ea typeface="Calibri"/>
                <a:cs typeface="Calibri"/>
                <a:sym typeface="Calibri"/>
              </a:rPr>
              <a:t>UCIe 3.0 also reduces power when the system is idle</a:t>
            </a:r>
            <a:r>
              <a:rPr lang="en-GB" sz="1600">
                <a:solidFill>
                  <a:srgbClr val="000000"/>
                </a:solidFill>
                <a:latin typeface="Calibri"/>
                <a:ea typeface="Calibri"/>
                <a:cs typeface="Calibri"/>
                <a:sym typeface="Calibri"/>
              </a:rPr>
              <a:t>.</a:t>
            </a:r>
            <a:endParaRPr sz="1600">
              <a:solidFill>
                <a:srgbClr val="000000"/>
              </a:solidFill>
              <a:latin typeface="Calibri"/>
              <a:ea typeface="Calibri"/>
              <a:cs typeface="Calibri"/>
              <a:sym typeface="Calibri"/>
            </a:endParaRPr>
          </a:p>
          <a:p>
            <a:pPr indent="-330200" lvl="0" marL="457200" rtl="0" algn="just">
              <a:lnSpc>
                <a:spcPct val="150000"/>
              </a:lnSpc>
              <a:spcBef>
                <a:spcPts val="0"/>
              </a:spcBef>
              <a:spcAft>
                <a:spcPts val="0"/>
              </a:spcAft>
              <a:buClr>
                <a:srgbClr val="000000"/>
              </a:buClr>
              <a:buSzPts val="1600"/>
              <a:buFont typeface="Calibri"/>
              <a:buChar char="●"/>
            </a:pPr>
            <a:r>
              <a:rPr lang="en-GB" sz="1600">
                <a:solidFill>
                  <a:srgbClr val="000000"/>
                </a:solidFill>
                <a:latin typeface="Calibri"/>
                <a:ea typeface="Calibri"/>
                <a:cs typeface="Calibri"/>
                <a:sym typeface="Calibri"/>
              </a:rPr>
              <a:t>This is done using </a:t>
            </a:r>
            <a:r>
              <a:rPr b="1" lang="en-GB" sz="1600">
                <a:solidFill>
                  <a:srgbClr val="000000"/>
                </a:solidFill>
                <a:latin typeface="Calibri"/>
                <a:ea typeface="Calibri"/>
                <a:cs typeface="Calibri"/>
                <a:sym typeface="Calibri"/>
              </a:rPr>
              <a:t>L2 state</a:t>
            </a:r>
            <a:r>
              <a:rPr lang="en-GB" sz="1600">
                <a:solidFill>
                  <a:srgbClr val="000000"/>
                </a:solidFill>
                <a:latin typeface="Calibri"/>
                <a:ea typeface="Calibri"/>
                <a:cs typeface="Calibri"/>
                <a:sym typeface="Calibri"/>
              </a:rPr>
              <a:t>, which is the </a:t>
            </a:r>
            <a:r>
              <a:rPr b="1" lang="en-GB" sz="1600">
                <a:solidFill>
                  <a:srgbClr val="000000"/>
                </a:solidFill>
                <a:latin typeface="Calibri"/>
                <a:ea typeface="Calibri"/>
                <a:cs typeface="Calibri"/>
                <a:sym typeface="Calibri"/>
              </a:rPr>
              <a:t>deepest power-saving mode</a:t>
            </a:r>
            <a:r>
              <a:rPr lang="en-GB" sz="1600">
                <a:solidFill>
                  <a:srgbClr val="000000"/>
                </a:solidFill>
                <a:latin typeface="Calibri"/>
                <a:ea typeface="Calibri"/>
                <a:cs typeface="Calibri"/>
                <a:sym typeface="Calibri"/>
              </a:rPr>
              <a:t>. In L2, power and clocks to the </a:t>
            </a:r>
            <a:r>
              <a:rPr b="1" lang="en-GB" sz="1600">
                <a:solidFill>
                  <a:srgbClr val="000000"/>
                </a:solidFill>
                <a:latin typeface="Calibri"/>
                <a:ea typeface="Calibri"/>
                <a:cs typeface="Calibri"/>
                <a:sym typeface="Calibri"/>
              </a:rPr>
              <a:t>sideband logic are turned off</a:t>
            </a:r>
            <a:r>
              <a:rPr lang="en-GB" sz="1600">
                <a:solidFill>
                  <a:srgbClr val="000000"/>
                </a:solidFill>
                <a:latin typeface="Calibri"/>
                <a:ea typeface="Calibri"/>
                <a:cs typeface="Calibri"/>
                <a:sym typeface="Calibri"/>
              </a:rPr>
              <a:t>, resulting in much lower power consumption.</a:t>
            </a:r>
            <a:endParaRPr sz="1600">
              <a:solidFill>
                <a:srgbClr val="000000"/>
              </a:solidFill>
              <a:latin typeface="Calibri"/>
              <a:ea typeface="Calibri"/>
              <a:cs typeface="Calibri"/>
              <a:sym typeface="Calibri"/>
            </a:endParaRPr>
          </a:p>
          <a:p>
            <a:pPr indent="-330200" lvl="0" marL="457200" rtl="0" algn="just">
              <a:lnSpc>
                <a:spcPct val="150000"/>
              </a:lnSpc>
              <a:spcBef>
                <a:spcPts val="0"/>
              </a:spcBef>
              <a:spcAft>
                <a:spcPts val="0"/>
              </a:spcAft>
              <a:buClr>
                <a:srgbClr val="000000"/>
              </a:buClr>
              <a:buSzPts val="1600"/>
              <a:buFont typeface="Calibri"/>
              <a:buChar char="●"/>
            </a:pPr>
            <a:r>
              <a:rPr lang="en-GB" sz="1600">
                <a:solidFill>
                  <a:srgbClr val="000000"/>
                </a:solidFill>
                <a:latin typeface="Calibri"/>
                <a:ea typeface="Calibri"/>
                <a:cs typeface="Calibri"/>
                <a:sym typeface="Calibri"/>
              </a:rPr>
              <a:t>To exit L2 safely, UCIe 3.0 uses the existing </a:t>
            </a:r>
            <a:r>
              <a:rPr b="1" lang="en-GB" sz="1600">
                <a:solidFill>
                  <a:srgbClr val="000000"/>
                </a:solidFill>
                <a:latin typeface="Calibri"/>
                <a:ea typeface="Calibri"/>
                <a:cs typeface="Calibri"/>
                <a:sym typeface="Calibri"/>
              </a:rPr>
              <a:t>sideband clock and data pins</a:t>
            </a:r>
            <a:r>
              <a:rPr lang="en-GB" sz="1600">
                <a:solidFill>
                  <a:srgbClr val="000000"/>
                </a:solidFill>
                <a:latin typeface="Calibri"/>
                <a:ea typeface="Calibri"/>
                <a:cs typeface="Calibri"/>
                <a:sym typeface="Calibri"/>
              </a:rPr>
              <a:t> with simple DC signals. Only a </a:t>
            </a:r>
            <a:r>
              <a:rPr b="1" lang="en-GB" sz="1600">
                <a:solidFill>
                  <a:srgbClr val="000000"/>
                </a:solidFill>
                <a:latin typeface="Calibri"/>
                <a:ea typeface="Calibri"/>
                <a:cs typeface="Calibri"/>
                <a:sym typeface="Calibri"/>
              </a:rPr>
              <a:t>small amount of logic remains active</a:t>
            </a:r>
            <a:r>
              <a:rPr lang="en-GB" sz="1600">
                <a:solidFill>
                  <a:srgbClr val="000000"/>
                </a:solidFill>
                <a:latin typeface="Calibri"/>
                <a:ea typeface="Calibri"/>
                <a:cs typeface="Calibri"/>
                <a:sym typeface="Calibri"/>
              </a:rPr>
              <a:t> to detect this signal and wake up the system.</a:t>
            </a:r>
            <a:endParaRPr sz="1600">
              <a:solidFill>
                <a:srgbClr val="000000"/>
              </a:solidFill>
              <a:latin typeface="Calibri"/>
              <a:ea typeface="Calibri"/>
              <a:cs typeface="Calibri"/>
              <a:sym typeface="Calibri"/>
            </a:endParaRPr>
          </a:p>
          <a:p>
            <a:pPr indent="-330200" lvl="0" marL="457200" rtl="0" algn="just">
              <a:lnSpc>
                <a:spcPct val="150000"/>
              </a:lnSpc>
              <a:spcBef>
                <a:spcPts val="0"/>
              </a:spcBef>
              <a:spcAft>
                <a:spcPts val="0"/>
              </a:spcAft>
              <a:buClr>
                <a:srgbClr val="000000"/>
              </a:buClr>
              <a:buSzPts val="1600"/>
              <a:buFont typeface="Calibri"/>
              <a:buChar char="●"/>
            </a:pPr>
            <a:r>
              <a:rPr lang="en-GB" sz="1600">
                <a:solidFill>
                  <a:srgbClr val="000000"/>
                </a:solidFill>
                <a:latin typeface="Calibri"/>
                <a:ea typeface="Calibri"/>
                <a:cs typeface="Calibri"/>
                <a:sym typeface="Calibri"/>
              </a:rPr>
              <a:t>This allows the system to </a:t>
            </a:r>
            <a:r>
              <a:rPr b="1" lang="en-GB" sz="1600">
                <a:solidFill>
                  <a:srgbClr val="000000"/>
                </a:solidFill>
                <a:latin typeface="Calibri"/>
                <a:ea typeface="Calibri"/>
                <a:cs typeface="Calibri"/>
                <a:sym typeface="Calibri"/>
              </a:rPr>
              <a:t>save maximum power during idle</a:t>
            </a:r>
            <a:r>
              <a:rPr lang="en-GB" sz="1600">
                <a:solidFill>
                  <a:srgbClr val="000000"/>
                </a:solidFill>
                <a:latin typeface="Calibri"/>
                <a:ea typeface="Calibri"/>
                <a:cs typeface="Calibri"/>
                <a:sym typeface="Calibri"/>
              </a:rPr>
              <a:t> while still ensuring a </a:t>
            </a:r>
            <a:r>
              <a:rPr b="1" lang="en-GB" sz="1600">
                <a:solidFill>
                  <a:srgbClr val="000000"/>
                </a:solidFill>
                <a:latin typeface="Calibri"/>
                <a:ea typeface="Calibri"/>
                <a:cs typeface="Calibri"/>
                <a:sym typeface="Calibri"/>
              </a:rPr>
              <a:t>reliable and flexible wake-up</a:t>
            </a:r>
            <a:r>
              <a:rPr lang="en-GB" sz="1600">
                <a:solidFill>
                  <a:srgbClr val="000000"/>
                </a:solidFill>
                <a:latin typeface="Calibri"/>
                <a:ea typeface="Calibri"/>
                <a:cs typeface="Calibri"/>
                <a:sym typeface="Calibri"/>
              </a:rPr>
              <a:t> back to normal operation.</a:t>
            </a:r>
            <a:endParaRPr sz="1600">
              <a:solidFill>
                <a:srgbClr val="000000"/>
              </a:solidFill>
              <a:latin typeface="Calibri"/>
              <a:ea typeface="Calibri"/>
              <a:cs typeface="Calibri"/>
              <a:sym typeface="Calibri"/>
            </a:endParaRPr>
          </a:p>
          <a:p>
            <a:pPr indent="0" lvl="0" marL="0" rtl="0" algn="just">
              <a:lnSpc>
                <a:spcPct val="115000"/>
              </a:lnSpc>
              <a:spcBef>
                <a:spcPts val="1200"/>
              </a:spcBef>
              <a:spcAft>
                <a:spcPts val="0"/>
              </a:spcAft>
              <a:buNone/>
            </a:pPr>
            <a:r>
              <a:t/>
            </a:r>
            <a:endParaRPr>
              <a:solidFill>
                <a:srgbClr val="000000"/>
              </a:solidFill>
              <a:latin typeface="Times New Roman"/>
              <a:ea typeface="Times New Roman"/>
              <a:cs typeface="Times New Roman"/>
              <a:sym typeface="Times New Roman"/>
            </a:endParaRPr>
          </a:p>
          <a:p>
            <a:pPr indent="0" lvl="0" marL="457200" rtl="0" algn="just">
              <a:lnSpc>
                <a:spcPct val="115000"/>
              </a:lnSpc>
              <a:spcBef>
                <a:spcPts val="2600"/>
              </a:spcBef>
              <a:spcAft>
                <a:spcPts val="0"/>
              </a:spcAft>
              <a:buNone/>
            </a:pPr>
            <a:r>
              <a:t/>
            </a:r>
            <a:endParaRPr>
              <a:solidFill>
                <a:srgbClr val="000000"/>
              </a:solidFill>
              <a:latin typeface="Times New Roman"/>
              <a:ea typeface="Times New Roman"/>
              <a:cs typeface="Times New Roman"/>
              <a:sym typeface="Times New Roman"/>
            </a:endParaRPr>
          </a:p>
          <a:p>
            <a:pPr indent="0" lvl="0" marL="457200" rtl="0" algn="just">
              <a:lnSpc>
                <a:spcPct val="115000"/>
              </a:lnSpc>
              <a:spcBef>
                <a:spcPts val="26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0" rtl="0" algn="just">
              <a:lnSpc>
                <a:spcPct val="115000"/>
              </a:lnSpc>
              <a:spcBef>
                <a:spcPts val="3000"/>
              </a:spcBef>
              <a:spcAft>
                <a:spcPts val="3000"/>
              </a:spcAft>
              <a:buNone/>
            </a:pPr>
            <a:r>
              <a:t/>
            </a:r>
            <a:endParaRPr>
              <a:solidFill>
                <a:srgbClr val="2021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40"/>
          <p:cNvSpPr txBox="1"/>
          <p:nvPr>
            <p:ph type="title"/>
          </p:nvPr>
        </p:nvSpPr>
        <p:spPr>
          <a:xfrm>
            <a:off x="277350" y="186775"/>
            <a:ext cx="8589300" cy="4383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sz="2600"/>
              <a:t>Manageability Enhancements for Seamless Interoperability  </a:t>
            </a:r>
            <a:endParaRPr sz="2600"/>
          </a:p>
          <a:p>
            <a:pPr indent="0" lvl="0" marL="0" rtl="0" algn="l">
              <a:spcBef>
                <a:spcPts val="1200"/>
              </a:spcBef>
              <a:spcAft>
                <a:spcPts val="0"/>
              </a:spcAft>
              <a:buNone/>
            </a:pPr>
            <a:r>
              <a:t/>
            </a:r>
            <a:endParaRPr sz="2600"/>
          </a:p>
          <a:p>
            <a:pPr indent="0" lvl="0" marL="0" rtl="0" algn="l">
              <a:lnSpc>
                <a:spcPct val="115000"/>
              </a:lnSpc>
              <a:spcBef>
                <a:spcPts val="0"/>
              </a:spcBef>
              <a:spcAft>
                <a:spcPts val="3000"/>
              </a:spcAft>
              <a:buSzPts val="990"/>
              <a:buNone/>
            </a:pPr>
            <a:r>
              <a:t/>
            </a:r>
            <a:endParaRPr sz="2820">
              <a:highlight>
                <a:schemeClr val="lt1"/>
              </a:highlight>
              <a:latin typeface="Times New Roman"/>
              <a:ea typeface="Times New Roman"/>
              <a:cs typeface="Times New Roman"/>
              <a:sym typeface="Times New Roman"/>
            </a:endParaRPr>
          </a:p>
        </p:txBody>
      </p:sp>
      <p:sp>
        <p:nvSpPr>
          <p:cNvPr id="197" name="Google Shape;197;p40"/>
          <p:cNvSpPr txBox="1"/>
          <p:nvPr>
            <p:ph idx="1" type="body"/>
          </p:nvPr>
        </p:nvSpPr>
        <p:spPr>
          <a:xfrm>
            <a:off x="109050" y="943025"/>
            <a:ext cx="8925900" cy="4019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30200" lvl="0" marL="457200" rtl="0" algn="just">
              <a:lnSpc>
                <a:spcPct val="150000"/>
              </a:lnSpc>
              <a:spcBef>
                <a:spcPts val="1200"/>
              </a:spcBef>
              <a:spcAft>
                <a:spcPts val="0"/>
              </a:spcAft>
              <a:buClr>
                <a:srgbClr val="000000"/>
              </a:buClr>
              <a:buSzPts val="1600"/>
              <a:buFont typeface="Calibri"/>
              <a:buChar char="●"/>
            </a:pPr>
            <a:r>
              <a:rPr lang="en-GB" sz="1600">
                <a:solidFill>
                  <a:srgbClr val="000000"/>
                </a:solidFill>
                <a:latin typeface="Calibri"/>
                <a:ea typeface="Calibri"/>
                <a:cs typeface="Calibri"/>
                <a:sym typeface="Calibri"/>
              </a:rPr>
              <a:t>As the number of chiplets in a system increases, </a:t>
            </a:r>
            <a:r>
              <a:rPr b="1" lang="en-GB" sz="1600">
                <a:solidFill>
                  <a:srgbClr val="000000"/>
                </a:solidFill>
                <a:latin typeface="Calibri"/>
                <a:ea typeface="Calibri"/>
                <a:cs typeface="Calibri"/>
                <a:sym typeface="Calibri"/>
              </a:rPr>
              <a:t>easy management and smooth communication</a:t>
            </a:r>
            <a:r>
              <a:rPr lang="en-GB" sz="1600">
                <a:solidFill>
                  <a:srgbClr val="000000"/>
                </a:solidFill>
                <a:latin typeface="Calibri"/>
                <a:ea typeface="Calibri"/>
                <a:cs typeface="Calibri"/>
                <a:sym typeface="Calibri"/>
              </a:rPr>
              <a:t> between chiplets become very important.</a:t>
            </a:r>
            <a:endParaRPr sz="1600">
              <a:solidFill>
                <a:srgbClr val="000000"/>
              </a:solidFill>
              <a:latin typeface="Calibri"/>
              <a:ea typeface="Calibri"/>
              <a:cs typeface="Calibri"/>
              <a:sym typeface="Calibri"/>
            </a:endParaRPr>
          </a:p>
          <a:p>
            <a:pPr indent="-330200" lvl="0" marL="457200" rtl="0" algn="just">
              <a:lnSpc>
                <a:spcPct val="150000"/>
              </a:lnSpc>
              <a:spcBef>
                <a:spcPts val="0"/>
              </a:spcBef>
              <a:spcAft>
                <a:spcPts val="0"/>
              </a:spcAft>
              <a:buClr>
                <a:srgbClr val="000000"/>
              </a:buClr>
              <a:buSzPts val="1600"/>
              <a:buFont typeface="Calibri"/>
              <a:buChar char="●"/>
            </a:pPr>
            <a:r>
              <a:rPr lang="en-GB" sz="1600">
                <a:solidFill>
                  <a:srgbClr val="000000"/>
                </a:solidFill>
                <a:latin typeface="Calibri"/>
                <a:ea typeface="Calibri"/>
                <a:cs typeface="Calibri"/>
                <a:sym typeface="Calibri"/>
              </a:rPr>
              <a:t>UCIe 3.0 improves </a:t>
            </a:r>
            <a:r>
              <a:rPr b="1" lang="en-GB" sz="1600">
                <a:solidFill>
                  <a:srgbClr val="000000"/>
                </a:solidFill>
                <a:latin typeface="Calibri"/>
                <a:ea typeface="Calibri"/>
                <a:cs typeface="Calibri"/>
                <a:sym typeface="Calibri"/>
              </a:rPr>
              <a:t>manageability and interoperability</a:t>
            </a:r>
            <a:r>
              <a:rPr lang="en-GB" sz="1600">
                <a:solidFill>
                  <a:srgbClr val="000000"/>
                </a:solidFill>
                <a:latin typeface="Calibri"/>
                <a:ea typeface="Calibri"/>
                <a:cs typeface="Calibri"/>
                <a:sym typeface="Calibri"/>
              </a:rPr>
              <a:t> by adding new features that simplify system control and coordination.</a:t>
            </a:r>
            <a:endParaRPr sz="1600">
              <a:solidFill>
                <a:srgbClr val="000000"/>
              </a:solidFill>
              <a:latin typeface="Calibri"/>
              <a:ea typeface="Calibri"/>
              <a:cs typeface="Calibri"/>
              <a:sym typeface="Calibri"/>
            </a:endParaRPr>
          </a:p>
          <a:p>
            <a:pPr indent="-330200" lvl="0" marL="457200" rtl="0" algn="just">
              <a:lnSpc>
                <a:spcPct val="150000"/>
              </a:lnSpc>
              <a:spcBef>
                <a:spcPts val="0"/>
              </a:spcBef>
              <a:spcAft>
                <a:spcPts val="0"/>
              </a:spcAft>
              <a:buClr>
                <a:srgbClr val="000000"/>
              </a:buClr>
              <a:buSzPts val="1600"/>
              <a:buFont typeface="Calibri"/>
              <a:buChar char="●"/>
            </a:pPr>
            <a:r>
              <a:rPr lang="en-GB" sz="1600">
                <a:solidFill>
                  <a:srgbClr val="000000"/>
                </a:solidFill>
                <a:latin typeface="Calibri"/>
                <a:ea typeface="Calibri"/>
                <a:cs typeface="Calibri"/>
                <a:sym typeface="Calibri"/>
              </a:rPr>
              <a:t>These enhancements help build an </a:t>
            </a:r>
            <a:r>
              <a:rPr b="1" lang="en-GB" sz="1600">
                <a:solidFill>
                  <a:srgbClr val="000000"/>
                </a:solidFill>
                <a:latin typeface="Calibri"/>
                <a:ea typeface="Calibri"/>
                <a:cs typeface="Calibri"/>
                <a:sym typeface="Calibri"/>
              </a:rPr>
              <a:t>open and scalable chiplet ecosystem</a:t>
            </a:r>
            <a:r>
              <a:rPr lang="en-GB" sz="1600">
                <a:solidFill>
                  <a:srgbClr val="000000"/>
                </a:solidFill>
                <a:latin typeface="Calibri"/>
                <a:ea typeface="Calibri"/>
                <a:cs typeface="Calibri"/>
                <a:sym typeface="Calibri"/>
              </a:rPr>
              <a:t>.</a:t>
            </a:r>
            <a:endParaRPr sz="1600">
              <a:solidFill>
                <a:srgbClr val="000000"/>
              </a:solidFill>
              <a:latin typeface="Calibri"/>
              <a:ea typeface="Calibri"/>
              <a:cs typeface="Calibri"/>
              <a:sym typeface="Calibri"/>
            </a:endParaRPr>
          </a:p>
          <a:p>
            <a:pPr indent="-330200" lvl="0" marL="457200" rtl="0" algn="just">
              <a:lnSpc>
                <a:spcPct val="150000"/>
              </a:lnSpc>
              <a:spcBef>
                <a:spcPts val="0"/>
              </a:spcBef>
              <a:spcAft>
                <a:spcPts val="0"/>
              </a:spcAft>
              <a:buClr>
                <a:srgbClr val="000000"/>
              </a:buClr>
              <a:buSzPts val="1600"/>
              <a:buFont typeface="Calibri"/>
              <a:buChar char="●"/>
            </a:pPr>
            <a:r>
              <a:rPr lang="en-GB" sz="1600">
                <a:solidFill>
                  <a:srgbClr val="000000"/>
                </a:solidFill>
                <a:latin typeface="Calibri"/>
                <a:ea typeface="Calibri"/>
                <a:cs typeface="Calibri"/>
                <a:sym typeface="Calibri"/>
              </a:rPr>
              <a:t>The key new features in UCIe 3.0 include </a:t>
            </a:r>
            <a:r>
              <a:rPr b="1" lang="en-GB" sz="1600">
                <a:solidFill>
                  <a:srgbClr val="000000"/>
                </a:solidFill>
                <a:latin typeface="Calibri"/>
                <a:ea typeface="Calibri"/>
                <a:cs typeface="Calibri"/>
                <a:sym typeface="Calibri"/>
              </a:rPr>
              <a:t>firmware download</a:t>
            </a:r>
            <a:r>
              <a:rPr lang="en-GB" sz="1600">
                <a:solidFill>
                  <a:srgbClr val="000000"/>
                </a:solidFill>
                <a:latin typeface="Calibri"/>
                <a:ea typeface="Calibri"/>
                <a:cs typeface="Calibri"/>
                <a:sym typeface="Calibri"/>
              </a:rPr>
              <a:t>, </a:t>
            </a:r>
            <a:r>
              <a:rPr b="1" lang="en-GB" sz="1600">
                <a:solidFill>
                  <a:srgbClr val="000000"/>
                </a:solidFill>
                <a:latin typeface="Calibri"/>
                <a:ea typeface="Calibri"/>
                <a:cs typeface="Calibri"/>
                <a:sym typeface="Calibri"/>
              </a:rPr>
              <a:t>priority sideband packets</a:t>
            </a:r>
            <a:r>
              <a:rPr lang="en-GB" sz="1600">
                <a:solidFill>
                  <a:srgbClr val="000000"/>
                </a:solidFill>
                <a:latin typeface="Calibri"/>
                <a:ea typeface="Calibri"/>
                <a:cs typeface="Calibri"/>
                <a:sym typeface="Calibri"/>
              </a:rPr>
              <a:t>, </a:t>
            </a:r>
            <a:r>
              <a:rPr b="1" lang="en-GB" sz="1600">
                <a:solidFill>
                  <a:srgbClr val="000000"/>
                </a:solidFill>
                <a:latin typeface="Calibri"/>
                <a:ea typeface="Calibri"/>
                <a:cs typeface="Calibri"/>
                <a:sym typeface="Calibri"/>
              </a:rPr>
              <a:t>extended sideband reach</a:t>
            </a:r>
            <a:r>
              <a:rPr lang="en-GB" sz="1600">
                <a:solidFill>
                  <a:srgbClr val="000000"/>
                </a:solidFill>
                <a:latin typeface="Calibri"/>
                <a:ea typeface="Calibri"/>
                <a:cs typeface="Calibri"/>
                <a:sym typeface="Calibri"/>
              </a:rPr>
              <a:t>, </a:t>
            </a:r>
            <a:r>
              <a:rPr b="1" lang="en-GB" sz="1600">
                <a:solidFill>
                  <a:srgbClr val="000000"/>
                </a:solidFill>
                <a:latin typeface="Calibri"/>
                <a:ea typeface="Calibri"/>
                <a:cs typeface="Calibri"/>
                <a:sym typeface="Calibri"/>
              </a:rPr>
              <a:t>open-drain pins at the </a:t>
            </a:r>
            <a:r>
              <a:rPr b="1" lang="en-GB" sz="1600">
                <a:solidFill>
                  <a:srgbClr val="000000"/>
                </a:solidFill>
                <a:latin typeface="Arial"/>
                <a:ea typeface="Arial"/>
                <a:cs typeface="Arial"/>
                <a:sym typeface="Arial"/>
              </a:rPr>
              <a:t>SiP level</a:t>
            </a:r>
            <a:r>
              <a:rPr lang="en-GB" sz="1600">
                <a:solidFill>
                  <a:srgbClr val="000000"/>
                </a:solidFill>
                <a:latin typeface="Arial"/>
                <a:ea typeface="Arial"/>
                <a:cs typeface="Arial"/>
                <a:sym typeface="Arial"/>
              </a:rPr>
              <a:t>, and </a:t>
            </a:r>
            <a:r>
              <a:rPr b="1" lang="en-GB" sz="1600">
                <a:solidFill>
                  <a:srgbClr val="000000"/>
                </a:solidFill>
                <a:latin typeface="Arial"/>
                <a:ea typeface="Arial"/>
                <a:cs typeface="Arial"/>
                <a:sym typeface="Arial"/>
              </a:rPr>
              <a:t>fast throttle and emergency shutdown</a:t>
            </a:r>
            <a:r>
              <a:rPr lang="en-GB" sz="1600">
                <a:solidFill>
                  <a:srgbClr val="000000"/>
                </a:solidFill>
                <a:latin typeface="Arial"/>
                <a:ea typeface="Arial"/>
                <a:cs typeface="Arial"/>
                <a:sym typeface="Arial"/>
              </a:rPr>
              <a:t>, which together enable reliable, secure, and efficient system operation.</a:t>
            </a:r>
            <a:endParaRPr sz="1600">
              <a:solidFill>
                <a:srgbClr val="000000"/>
              </a:solidFill>
              <a:latin typeface="Calibri"/>
              <a:ea typeface="Calibri"/>
              <a:cs typeface="Calibri"/>
              <a:sym typeface="Calibri"/>
            </a:endParaRPr>
          </a:p>
          <a:p>
            <a:pPr indent="0" lvl="0" marL="0" rtl="0" algn="just">
              <a:lnSpc>
                <a:spcPct val="115000"/>
              </a:lnSpc>
              <a:spcBef>
                <a:spcPts val="1200"/>
              </a:spcBef>
              <a:spcAft>
                <a:spcPts val="0"/>
              </a:spcAft>
              <a:buNone/>
            </a:pPr>
            <a:r>
              <a:t/>
            </a:r>
            <a:endParaRPr>
              <a:solidFill>
                <a:srgbClr val="000000"/>
              </a:solidFill>
              <a:latin typeface="Times New Roman"/>
              <a:ea typeface="Times New Roman"/>
              <a:cs typeface="Times New Roman"/>
              <a:sym typeface="Times New Roman"/>
            </a:endParaRPr>
          </a:p>
          <a:p>
            <a:pPr indent="0" lvl="0" marL="457200" rtl="0" algn="just">
              <a:lnSpc>
                <a:spcPct val="115000"/>
              </a:lnSpc>
              <a:spcBef>
                <a:spcPts val="2600"/>
              </a:spcBef>
              <a:spcAft>
                <a:spcPts val="0"/>
              </a:spcAft>
              <a:buNone/>
            </a:pPr>
            <a:r>
              <a:t/>
            </a:r>
            <a:endParaRPr>
              <a:solidFill>
                <a:srgbClr val="000000"/>
              </a:solidFill>
              <a:latin typeface="Times New Roman"/>
              <a:ea typeface="Times New Roman"/>
              <a:cs typeface="Times New Roman"/>
              <a:sym typeface="Times New Roman"/>
            </a:endParaRPr>
          </a:p>
          <a:p>
            <a:pPr indent="0" lvl="0" marL="457200" rtl="0" algn="just">
              <a:lnSpc>
                <a:spcPct val="115000"/>
              </a:lnSpc>
              <a:spcBef>
                <a:spcPts val="26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0" rtl="0" algn="just">
              <a:lnSpc>
                <a:spcPct val="115000"/>
              </a:lnSpc>
              <a:spcBef>
                <a:spcPts val="3000"/>
              </a:spcBef>
              <a:spcAft>
                <a:spcPts val="3000"/>
              </a:spcAft>
              <a:buNone/>
            </a:pPr>
            <a:r>
              <a:t/>
            </a:r>
            <a:endParaRPr>
              <a:solidFill>
                <a:srgbClr val="2021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41"/>
          <p:cNvSpPr txBox="1"/>
          <p:nvPr>
            <p:ph type="title"/>
          </p:nvPr>
        </p:nvSpPr>
        <p:spPr>
          <a:xfrm>
            <a:off x="146600" y="46700"/>
            <a:ext cx="8589300" cy="4383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sz="2600"/>
              <a:t>Firmware Download in UCIe 3.0</a:t>
            </a:r>
            <a:endParaRPr sz="2600"/>
          </a:p>
          <a:p>
            <a:pPr indent="0" lvl="0" marL="0" rtl="0" algn="l">
              <a:spcBef>
                <a:spcPts val="1200"/>
              </a:spcBef>
              <a:spcAft>
                <a:spcPts val="0"/>
              </a:spcAft>
              <a:buNone/>
            </a:pPr>
            <a:r>
              <a:t/>
            </a:r>
            <a:endParaRPr sz="2600"/>
          </a:p>
          <a:p>
            <a:pPr indent="0" lvl="0" marL="0" rtl="0" algn="l">
              <a:lnSpc>
                <a:spcPct val="115000"/>
              </a:lnSpc>
              <a:spcBef>
                <a:spcPts val="0"/>
              </a:spcBef>
              <a:spcAft>
                <a:spcPts val="3000"/>
              </a:spcAft>
              <a:buSzPts val="990"/>
              <a:buNone/>
            </a:pPr>
            <a:r>
              <a:t/>
            </a:r>
            <a:endParaRPr sz="2820">
              <a:highlight>
                <a:schemeClr val="lt1"/>
              </a:highlight>
              <a:latin typeface="Times New Roman"/>
              <a:ea typeface="Times New Roman"/>
              <a:cs typeface="Times New Roman"/>
              <a:sym typeface="Times New Roman"/>
            </a:endParaRPr>
          </a:p>
        </p:txBody>
      </p:sp>
      <p:sp>
        <p:nvSpPr>
          <p:cNvPr id="203" name="Google Shape;203;p41"/>
          <p:cNvSpPr txBox="1"/>
          <p:nvPr>
            <p:ph idx="1" type="body"/>
          </p:nvPr>
        </p:nvSpPr>
        <p:spPr>
          <a:xfrm>
            <a:off x="109050" y="485000"/>
            <a:ext cx="8925900" cy="44775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30200" lvl="0" marL="457200" rtl="0" algn="just">
              <a:lnSpc>
                <a:spcPct val="150000"/>
              </a:lnSpc>
              <a:spcBef>
                <a:spcPts val="1200"/>
              </a:spcBef>
              <a:spcAft>
                <a:spcPts val="0"/>
              </a:spcAft>
              <a:buClr>
                <a:srgbClr val="000000"/>
              </a:buClr>
              <a:buSzPts val="1600"/>
              <a:buFont typeface="Calibri"/>
              <a:buChar char="●"/>
            </a:pPr>
            <a:r>
              <a:rPr lang="en-GB" sz="1600">
                <a:solidFill>
                  <a:srgbClr val="000000"/>
                </a:solidFill>
                <a:latin typeface="Calibri"/>
                <a:ea typeface="Calibri"/>
                <a:cs typeface="Calibri"/>
                <a:sym typeface="Calibri"/>
              </a:rPr>
              <a:t>Modern chiplets need </a:t>
            </a:r>
            <a:r>
              <a:rPr b="1" lang="en-GB" sz="1600">
                <a:solidFill>
                  <a:srgbClr val="000000"/>
                </a:solidFill>
                <a:latin typeface="Calibri"/>
                <a:ea typeface="Calibri"/>
                <a:cs typeface="Calibri"/>
                <a:sym typeface="Calibri"/>
              </a:rPr>
              <a:t>firmware</a:t>
            </a:r>
            <a:r>
              <a:rPr lang="en-GB" sz="1600">
                <a:solidFill>
                  <a:srgbClr val="000000"/>
                </a:solidFill>
                <a:latin typeface="Calibri"/>
                <a:ea typeface="Calibri"/>
                <a:cs typeface="Calibri"/>
                <a:sym typeface="Calibri"/>
              </a:rPr>
              <a:t> to work correctly, but giving each chiplet its own flash memory increases </a:t>
            </a:r>
            <a:r>
              <a:rPr b="1" lang="en-GB" sz="1600">
                <a:solidFill>
                  <a:srgbClr val="000000"/>
                </a:solidFill>
                <a:latin typeface="Calibri"/>
                <a:ea typeface="Calibri"/>
                <a:cs typeface="Calibri"/>
                <a:sym typeface="Calibri"/>
              </a:rPr>
              <a:t>cost and complexity</a:t>
            </a:r>
            <a:r>
              <a:rPr lang="en-GB" sz="1600">
                <a:solidFill>
                  <a:srgbClr val="000000"/>
                </a:solidFill>
                <a:latin typeface="Calibri"/>
                <a:ea typeface="Calibri"/>
                <a:cs typeface="Calibri"/>
                <a:sym typeface="Calibri"/>
              </a:rPr>
              <a:t>. </a:t>
            </a:r>
            <a:endParaRPr sz="1600">
              <a:solidFill>
                <a:srgbClr val="000000"/>
              </a:solidFill>
              <a:latin typeface="Calibri"/>
              <a:ea typeface="Calibri"/>
              <a:cs typeface="Calibri"/>
              <a:sym typeface="Calibri"/>
            </a:endParaRPr>
          </a:p>
          <a:p>
            <a:pPr indent="-330200" lvl="0" marL="457200" rtl="0" algn="just">
              <a:lnSpc>
                <a:spcPct val="150000"/>
              </a:lnSpc>
              <a:spcBef>
                <a:spcPts val="0"/>
              </a:spcBef>
              <a:spcAft>
                <a:spcPts val="0"/>
              </a:spcAft>
              <a:buClr>
                <a:srgbClr val="000000"/>
              </a:buClr>
              <a:buSzPts val="1600"/>
              <a:buFont typeface="Calibri"/>
              <a:buChar char="●"/>
            </a:pPr>
            <a:r>
              <a:rPr lang="en-GB" sz="1600">
                <a:solidFill>
                  <a:srgbClr val="000000"/>
                </a:solidFill>
                <a:latin typeface="Calibri"/>
                <a:ea typeface="Calibri"/>
                <a:cs typeface="Calibri"/>
                <a:sym typeface="Calibri"/>
              </a:rPr>
              <a:t>UCIe 3.0 solves this by providing a </a:t>
            </a:r>
            <a:r>
              <a:rPr b="1" lang="en-GB" sz="1600">
                <a:solidFill>
                  <a:srgbClr val="000000"/>
                </a:solidFill>
                <a:latin typeface="Calibri"/>
                <a:ea typeface="Calibri"/>
                <a:cs typeface="Calibri"/>
                <a:sym typeface="Calibri"/>
              </a:rPr>
              <a:t>simple firmware download mechanism</a:t>
            </a:r>
            <a:r>
              <a:rPr lang="en-GB" sz="1600">
                <a:solidFill>
                  <a:srgbClr val="000000"/>
                </a:solidFill>
                <a:latin typeface="Calibri"/>
                <a:ea typeface="Calibri"/>
                <a:cs typeface="Calibri"/>
                <a:sym typeface="Calibri"/>
              </a:rPr>
              <a:t> using registers, which works through either the </a:t>
            </a:r>
            <a:r>
              <a:rPr b="1" lang="en-GB" sz="1600">
                <a:solidFill>
                  <a:srgbClr val="000000"/>
                </a:solidFill>
                <a:latin typeface="Calibri"/>
                <a:ea typeface="Calibri"/>
                <a:cs typeface="Calibri"/>
                <a:sym typeface="Calibri"/>
              </a:rPr>
              <a:t>sideband or mainband</a:t>
            </a:r>
            <a:r>
              <a:rPr lang="en-GB" sz="1600">
                <a:solidFill>
                  <a:srgbClr val="000000"/>
                </a:solidFill>
                <a:latin typeface="Calibri"/>
                <a:ea typeface="Calibri"/>
                <a:cs typeface="Calibri"/>
                <a:sym typeface="Calibri"/>
              </a:rPr>
              <a:t>. </a:t>
            </a:r>
            <a:endParaRPr sz="1600">
              <a:solidFill>
                <a:srgbClr val="000000"/>
              </a:solidFill>
              <a:latin typeface="Calibri"/>
              <a:ea typeface="Calibri"/>
              <a:cs typeface="Calibri"/>
              <a:sym typeface="Calibri"/>
            </a:endParaRPr>
          </a:p>
          <a:p>
            <a:pPr indent="-330200" lvl="0" marL="457200" rtl="0" algn="just">
              <a:lnSpc>
                <a:spcPct val="115000"/>
              </a:lnSpc>
              <a:spcBef>
                <a:spcPts val="0"/>
              </a:spcBef>
              <a:spcAft>
                <a:spcPts val="0"/>
              </a:spcAft>
              <a:buClr>
                <a:srgbClr val="000000"/>
              </a:buClr>
              <a:buSzPts val="1600"/>
              <a:buFont typeface="Calibri"/>
              <a:buChar char="●"/>
            </a:pPr>
            <a:r>
              <a:rPr lang="en-GB" sz="1600">
                <a:solidFill>
                  <a:srgbClr val="000000"/>
                </a:solidFill>
                <a:latin typeface="Calibri"/>
                <a:ea typeface="Calibri"/>
                <a:cs typeface="Calibri"/>
                <a:sym typeface="Calibri"/>
              </a:rPr>
              <a:t>A </a:t>
            </a:r>
            <a:r>
              <a:rPr b="1" lang="en-GB" sz="1600">
                <a:solidFill>
                  <a:srgbClr val="000000"/>
                </a:solidFill>
                <a:latin typeface="Calibri"/>
                <a:ea typeface="Calibri"/>
                <a:cs typeface="Calibri"/>
                <a:sym typeface="Calibri"/>
              </a:rPr>
              <a:t>Director Chiplet</a:t>
            </a:r>
            <a:r>
              <a:rPr lang="en-GB" sz="1600">
                <a:solidFill>
                  <a:srgbClr val="000000"/>
                </a:solidFill>
                <a:latin typeface="Calibri"/>
                <a:ea typeface="Calibri"/>
                <a:cs typeface="Calibri"/>
                <a:sym typeface="Calibri"/>
              </a:rPr>
              <a:t> manages this process by loading firmware from an external source and distributing it to all chiplets in the System-in-Package (SiP). Each chiplet then boots using the downloaded firmware. </a:t>
            </a:r>
            <a:endParaRPr sz="1600">
              <a:solidFill>
                <a:srgbClr val="000000"/>
              </a:solidFill>
              <a:latin typeface="Calibri"/>
              <a:ea typeface="Calibri"/>
              <a:cs typeface="Calibri"/>
              <a:sym typeface="Calibri"/>
            </a:endParaRPr>
          </a:p>
          <a:p>
            <a:pPr indent="0" lvl="0" marL="0" rtl="0" algn="just">
              <a:lnSpc>
                <a:spcPct val="115000"/>
              </a:lnSpc>
              <a:spcBef>
                <a:spcPts val="1200"/>
              </a:spcBef>
              <a:spcAft>
                <a:spcPts val="0"/>
              </a:spcAft>
              <a:buNone/>
            </a:pPr>
            <a:r>
              <a:t/>
            </a:r>
            <a:endParaRPr sz="1600">
              <a:solidFill>
                <a:srgbClr val="000000"/>
              </a:solidFill>
              <a:latin typeface="Calibri"/>
              <a:ea typeface="Calibri"/>
              <a:cs typeface="Calibri"/>
              <a:sym typeface="Calibri"/>
            </a:endParaRPr>
          </a:p>
          <a:p>
            <a:pPr indent="0" lvl="0" marL="0" rtl="0" algn="just">
              <a:lnSpc>
                <a:spcPct val="115000"/>
              </a:lnSpc>
              <a:spcBef>
                <a:spcPts val="1200"/>
              </a:spcBef>
              <a:spcAft>
                <a:spcPts val="0"/>
              </a:spcAft>
              <a:buNone/>
            </a:pPr>
            <a:r>
              <a:t/>
            </a:r>
            <a:endParaRPr sz="1600">
              <a:solidFill>
                <a:srgbClr val="000000"/>
              </a:solidFill>
              <a:latin typeface="Calibri"/>
              <a:ea typeface="Calibri"/>
              <a:cs typeface="Calibri"/>
              <a:sym typeface="Calibri"/>
            </a:endParaRPr>
          </a:p>
          <a:p>
            <a:pPr indent="-330200" lvl="0" marL="457200" rtl="0" algn="just">
              <a:lnSpc>
                <a:spcPct val="115000"/>
              </a:lnSpc>
              <a:spcBef>
                <a:spcPts val="1200"/>
              </a:spcBef>
              <a:spcAft>
                <a:spcPts val="0"/>
              </a:spcAft>
              <a:buClr>
                <a:srgbClr val="000000"/>
              </a:buClr>
              <a:buSzPts val="1600"/>
              <a:buFont typeface="Calibri"/>
              <a:buChar char="●"/>
            </a:pPr>
            <a:r>
              <a:rPr lang="en-GB" sz="1600">
                <a:solidFill>
                  <a:srgbClr val="000000"/>
                </a:solidFill>
                <a:latin typeface="Calibri"/>
                <a:ea typeface="Calibri"/>
                <a:cs typeface="Calibri"/>
                <a:sym typeface="Calibri"/>
              </a:rPr>
              <a:t>After startup, chiplets can request further firmware updates using standard protocols like </a:t>
            </a:r>
            <a:r>
              <a:rPr b="1" lang="en-GB" sz="1600">
                <a:solidFill>
                  <a:srgbClr val="000000"/>
                </a:solidFill>
                <a:latin typeface="Calibri"/>
                <a:ea typeface="Calibri"/>
                <a:cs typeface="Calibri"/>
                <a:sym typeface="Calibri"/>
              </a:rPr>
              <a:t>MCTP (Management Component Transport Protocol)</a:t>
            </a:r>
            <a:r>
              <a:rPr lang="en-GB" sz="1600">
                <a:solidFill>
                  <a:srgbClr val="000000"/>
                </a:solidFill>
                <a:latin typeface="Calibri"/>
                <a:ea typeface="Calibri"/>
                <a:cs typeface="Calibri"/>
                <a:sym typeface="Calibri"/>
              </a:rPr>
              <a:t> and </a:t>
            </a:r>
            <a:r>
              <a:rPr b="1" lang="en-GB" sz="1600">
                <a:solidFill>
                  <a:srgbClr val="000000"/>
                </a:solidFill>
                <a:latin typeface="Calibri"/>
                <a:ea typeface="Calibri"/>
                <a:cs typeface="Calibri"/>
                <a:sym typeface="Calibri"/>
              </a:rPr>
              <a:t>PLDM (Platform Level Data Model)</a:t>
            </a:r>
            <a:r>
              <a:rPr lang="en-GB" sz="1600">
                <a:solidFill>
                  <a:srgbClr val="000000"/>
                </a:solidFill>
                <a:latin typeface="Calibri"/>
                <a:ea typeface="Calibri"/>
                <a:cs typeface="Calibri"/>
                <a:sym typeface="Calibri"/>
              </a:rPr>
              <a:t>. </a:t>
            </a:r>
            <a:endParaRPr sz="1600">
              <a:solidFill>
                <a:srgbClr val="000000"/>
              </a:solidFill>
              <a:latin typeface="Calibri"/>
              <a:ea typeface="Calibri"/>
              <a:cs typeface="Calibri"/>
              <a:sym typeface="Calibri"/>
            </a:endParaRPr>
          </a:p>
          <a:p>
            <a:pPr indent="-330200" lvl="0" marL="457200" rtl="0" algn="just">
              <a:lnSpc>
                <a:spcPct val="150000"/>
              </a:lnSpc>
              <a:spcBef>
                <a:spcPts val="0"/>
              </a:spcBef>
              <a:spcAft>
                <a:spcPts val="0"/>
              </a:spcAft>
              <a:buClr>
                <a:srgbClr val="000000"/>
              </a:buClr>
              <a:buSzPts val="1600"/>
              <a:buFont typeface="Calibri"/>
              <a:buChar char="●"/>
            </a:pPr>
            <a:r>
              <a:rPr lang="en-GB" sz="1600">
                <a:solidFill>
                  <a:srgbClr val="000000"/>
                </a:solidFill>
                <a:latin typeface="Calibri"/>
                <a:ea typeface="Calibri"/>
                <a:cs typeface="Calibri"/>
                <a:sym typeface="Calibri"/>
              </a:rPr>
              <a:t>This approach simplifies design, reduces cost, and ensures smooth coordination between chiplets.</a:t>
            </a:r>
            <a:endParaRPr sz="1600">
              <a:solidFill>
                <a:srgbClr val="000000"/>
              </a:solidFill>
              <a:latin typeface="Calibri"/>
              <a:ea typeface="Calibri"/>
              <a:cs typeface="Calibri"/>
              <a:sym typeface="Calibri"/>
            </a:endParaRPr>
          </a:p>
          <a:p>
            <a:pPr indent="0" lvl="0" marL="0" rtl="0" algn="just">
              <a:lnSpc>
                <a:spcPct val="115000"/>
              </a:lnSpc>
              <a:spcBef>
                <a:spcPts val="1200"/>
              </a:spcBef>
              <a:spcAft>
                <a:spcPts val="0"/>
              </a:spcAft>
              <a:buNone/>
            </a:pPr>
            <a:r>
              <a:t/>
            </a:r>
            <a:endParaRPr>
              <a:solidFill>
                <a:srgbClr val="000000"/>
              </a:solidFill>
              <a:latin typeface="Times New Roman"/>
              <a:ea typeface="Times New Roman"/>
              <a:cs typeface="Times New Roman"/>
              <a:sym typeface="Times New Roman"/>
            </a:endParaRPr>
          </a:p>
          <a:p>
            <a:pPr indent="0" lvl="0" marL="457200" rtl="0" algn="just">
              <a:lnSpc>
                <a:spcPct val="115000"/>
              </a:lnSpc>
              <a:spcBef>
                <a:spcPts val="2600"/>
              </a:spcBef>
              <a:spcAft>
                <a:spcPts val="0"/>
              </a:spcAft>
              <a:buNone/>
            </a:pPr>
            <a:r>
              <a:t/>
            </a:r>
            <a:endParaRPr>
              <a:solidFill>
                <a:srgbClr val="000000"/>
              </a:solidFill>
              <a:latin typeface="Times New Roman"/>
              <a:ea typeface="Times New Roman"/>
              <a:cs typeface="Times New Roman"/>
              <a:sym typeface="Times New Roman"/>
            </a:endParaRPr>
          </a:p>
          <a:p>
            <a:pPr indent="0" lvl="0" marL="457200" rtl="0" algn="just">
              <a:lnSpc>
                <a:spcPct val="115000"/>
              </a:lnSpc>
              <a:spcBef>
                <a:spcPts val="26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0" rtl="0" algn="just">
              <a:lnSpc>
                <a:spcPct val="115000"/>
              </a:lnSpc>
              <a:spcBef>
                <a:spcPts val="3000"/>
              </a:spcBef>
              <a:spcAft>
                <a:spcPts val="3000"/>
              </a:spcAft>
              <a:buNone/>
            </a:pPr>
            <a:r>
              <a:t/>
            </a:r>
            <a:endParaRPr>
              <a:solidFill>
                <a:srgbClr val="202122"/>
              </a:solidFill>
              <a:highlight>
                <a:srgbClr val="FFFFFF"/>
              </a:highlight>
              <a:latin typeface="Times New Roman"/>
              <a:ea typeface="Times New Roman"/>
              <a:cs typeface="Times New Roman"/>
              <a:sym typeface="Times New Roman"/>
            </a:endParaRPr>
          </a:p>
        </p:txBody>
      </p:sp>
      <p:pic>
        <p:nvPicPr>
          <p:cNvPr id="204" name="Google Shape;204;p41"/>
          <p:cNvPicPr preferRelativeResize="0"/>
          <p:nvPr/>
        </p:nvPicPr>
        <p:blipFill>
          <a:blip r:embed="rId3">
            <a:alphaModFix/>
          </a:blip>
          <a:stretch>
            <a:fillRect/>
          </a:stretch>
        </p:blipFill>
        <p:spPr>
          <a:xfrm>
            <a:off x="5184600" y="2571750"/>
            <a:ext cx="2866825" cy="13913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42"/>
          <p:cNvSpPr txBox="1"/>
          <p:nvPr>
            <p:ph type="title"/>
          </p:nvPr>
        </p:nvSpPr>
        <p:spPr>
          <a:xfrm>
            <a:off x="146600" y="46700"/>
            <a:ext cx="8589300" cy="4383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sz="2600"/>
              <a:t>Priority Sideband Packets in UCIe 3.0 (Simple)</a:t>
            </a:r>
            <a:endParaRPr sz="2600"/>
          </a:p>
          <a:p>
            <a:pPr indent="0" lvl="0" marL="0" rtl="0" algn="l">
              <a:spcBef>
                <a:spcPts val="1200"/>
              </a:spcBef>
              <a:spcAft>
                <a:spcPts val="0"/>
              </a:spcAft>
              <a:buNone/>
            </a:pPr>
            <a:r>
              <a:t/>
            </a:r>
            <a:endParaRPr sz="2600"/>
          </a:p>
          <a:p>
            <a:pPr indent="0" lvl="0" marL="0" rtl="0" algn="l">
              <a:lnSpc>
                <a:spcPct val="115000"/>
              </a:lnSpc>
              <a:spcBef>
                <a:spcPts val="0"/>
              </a:spcBef>
              <a:spcAft>
                <a:spcPts val="3000"/>
              </a:spcAft>
              <a:buSzPts val="990"/>
              <a:buNone/>
            </a:pPr>
            <a:r>
              <a:t/>
            </a:r>
            <a:endParaRPr sz="2820">
              <a:highlight>
                <a:schemeClr val="lt1"/>
              </a:highlight>
              <a:latin typeface="Times New Roman"/>
              <a:ea typeface="Times New Roman"/>
              <a:cs typeface="Times New Roman"/>
              <a:sym typeface="Times New Roman"/>
            </a:endParaRPr>
          </a:p>
        </p:txBody>
      </p:sp>
      <p:sp>
        <p:nvSpPr>
          <p:cNvPr id="210" name="Google Shape;210;p42"/>
          <p:cNvSpPr txBox="1"/>
          <p:nvPr>
            <p:ph idx="1" type="body"/>
          </p:nvPr>
        </p:nvSpPr>
        <p:spPr>
          <a:xfrm>
            <a:off x="109050" y="485000"/>
            <a:ext cx="8925900" cy="44775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30200" lvl="0" marL="457200" rtl="0" algn="just">
              <a:lnSpc>
                <a:spcPct val="150000"/>
              </a:lnSpc>
              <a:spcBef>
                <a:spcPts val="1200"/>
              </a:spcBef>
              <a:spcAft>
                <a:spcPts val="0"/>
              </a:spcAft>
              <a:buClr>
                <a:srgbClr val="000000"/>
              </a:buClr>
              <a:buSzPts val="1600"/>
              <a:buFont typeface="Calibri"/>
              <a:buChar char="●"/>
            </a:pPr>
            <a:r>
              <a:rPr lang="en-GB" sz="1600">
                <a:solidFill>
                  <a:srgbClr val="000000"/>
                </a:solidFill>
                <a:latin typeface="Calibri"/>
                <a:ea typeface="Calibri"/>
                <a:cs typeface="Calibri"/>
                <a:sym typeface="Calibri"/>
              </a:rPr>
              <a:t>Certain events such as power down, wake-up, and low-latency telemetry are critical and must be delivered immediately, unlike large debug dumps which can tolerate delay. </a:t>
            </a:r>
            <a:endParaRPr sz="1600">
              <a:solidFill>
                <a:srgbClr val="000000"/>
              </a:solidFill>
              <a:latin typeface="Calibri"/>
              <a:ea typeface="Calibri"/>
              <a:cs typeface="Calibri"/>
              <a:sym typeface="Calibri"/>
            </a:endParaRPr>
          </a:p>
          <a:p>
            <a:pPr indent="-330200" lvl="0" marL="457200" rtl="0" algn="just">
              <a:lnSpc>
                <a:spcPct val="150000"/>
              </a:lnSpc>
              <a:spcBef>
                <a:spcPts val="0"/>
              </a:spcBef>
              <a:spcAft>
                <a:spcPts val="0"/>
              </a:spcAft>
              <a:buClr>
                <a:srgbClr val="000000"/>
              </a:buClr>
              <a:buSzPts val="1600"/>
              <a:buFont typeface="Calibri"/>
              <a:buChar char="●"/>
            </a:pPr>
            <a:r>
              <a:rPr lang="en-GB" sz="1600">
                <a:solidFill>
                  <a:srgbClr val="000000"/>
                </a:solidFill>
                <a:latin typeface="Calibri"/>
                <a:ea typeface="Calibri"/>
                <a:cs typeface="Calibri"/>
                <a:sym typeface="Calibri"/>
              </a:rPr>
              <a:t>To support this, UCIe 3.0 introduces priority sideband packets that can interrupt normal sideband traffic. The interruption occurs at the next aligned 8UI boundary, followed by the sideband clock going low for 8UI to indicate a priority switch. </a:t>
            </a:r>
            <a:endParaRPr sz="1600">
              <a:solidFill>
                <a:srgbClr val="000000"/>
              </a:solidFill>
              <a:latin typeface="Calibri"/>
              <a:ea typeface="Calibri"/>
              <a:cs typeface="Calibri"/>
              <a:sym typeface="Calibri"/>
            </a:endParaRPr>
          </a:p>
          <a:p>
            <a:pPr indent="-330200" lvl="0" marL="457200" rtl="0" algn="just">
              <a:lnSpc>
                <a:spcPct val="150000"/>
              </a:lnSpc>
              <a:spcBef>
                <a:spcPts val="0"/>
              </a:spcBef>
              <a:spcAft>
                <a:spcPts val="0"/>
              </a:spcAft>
              <a:buClr>
                <a:srgbClr val="000000"/>
              </a:buClr>
              <a:buSzPts val="1600"/>
              <a:buFont typeface="Calibri"/>
              <a:buChar char="●"/>
            </a:pPr>
            <a:r>
              <a:rPr lang="en-GB" sz="1600">
                <a:solidFill>
                  <a:srgbClr val="000000"/>
                </a:solidFill>
                <a:latin typeface="Calibri"/>
                <a:ea typeface="Calibri"/>
                <a:cs typeface="Calibri"/>
                <a:sym typeface="Calibri"/>
              </a:rPr>
              <a:t>The priority packet is then transmitted with a bounded hop-to-hop latency of 48UI (≈60 ns at 800 MHz). Each priority packet is 32UI long and includes a 23-bit priority vector, 5-bit opcode, 3 reserved bits, and 1 parity bit, ensuring fast and reliable delivery of critical system events.</a:t>
            </a:r>
            <a:endParaRPr sz="1600">
              <a:solidFill>
                <a:srgbClr val="000000"/>
              </a:solidFill>
              <a:latin typeface="Calibri"/>
              <a:ea typeface="Calibri"/>
              <a:cs typeface="Calibri"/>
              <a:sym typeface="Calibri"/>
            </a:endParaRPr>
          </a:p>
          <a:p>
            <a:pPr indent="0" lvl="0" marL="0" rtl="0" algn="just">
              <a:lnSpc>
                <a:spcPct val="115000"/>
              </a:lnSpc>
              <a:spcBef>
                <a:spcPts val="1200"/>
              </a:spcBef>
              <a:spcAft>
                <a:spcPts val="0"/>
              </a:spcAft>
              <a:buNone/>
            </a:pPr>
            <a:r>
              <a:t/>
            </a:r>
            <a:endParaRPr sz="1600">
              <a:solidFill>
                <a:srgbClr val="000000"/>
              </a:solidFill>
              <a:latin typeface="Calibri"/>
              <a:ea typeface="Calibri"/>
              <a:cs typeface="Calibri"/>
              <a:sym typeface="Calibri"/>
            </a:endParaRPr>
          </a:p>
          <a:p>
            <a:pPr indent="0" lvl="0" marL="0" rtl="0" algn="just">
              <a:lnSpc>
                <a:spcPct val="115000"/>
              </a:lnSpc>
              <a:spcBef>
                <a:spcPts val="1200"/>
              </a:spcBef>
              <a:spcAft>
                <a:spcPts val="0"/>
              </a:spcAft>
              <a:buNone/>
            </a:pPr>
            <a:r>
              <a:t/>
            </a:r>
            <a:endParaRPr sz="1600">
              <a:solidFill>
                <a:srgbClr val="000000"/>
              </a:solidFill>
              <a:latin typeface="Calibri"/>
              <a:ea typeface="Calibri"/>
              <a:cs typeface="Calibri"/>
              <a:sym typeface="Calibri"/>
            </a:endParaRPr>
          </a:p>
          <a:p>
            <a:pPr indent="0" lvl="0" marL="0" rtl="0" algn="just">
              <a:lnSpc>
                <a:spcPct val="115000"/>
              </a:lnSpc>
              <a:spcBef>
                <a:spcPts val="1200"/>
              </a:spcBef>
              <a:spcAft>
                <a:spcPts val="0"/>
              </a:spcAft>
              <a:buNone/>
            </a:pPr>
            <a:r>
              <a:t/>
            </a:r>
            <a:endParaRPr>
              <a:solidFill>
                <a:srgbClr val="000000"/>
              </a:solidFill>
              <a:latin typeface="Times New Roman"/>
              <a:ea typeface="Times New Roman"/>
              <a:cs typeface="Times New Roman"/>
              <a:sym typeface="Times New Roman"/>
            </a:endParaRPr>
          </a:p>
          <a:p>
            <a:pPr indent="0" lvl="0" marL="457200" rtl="0" algn="just">
              <a:lnSpc>
                <a:spcPct val="115000"/>
              </a:lnSpc>
              <a:spcBef>
                <a:spcPts val="2600"/>
              </a:spcBef>
              <a:spcAft>
                <a:spcPts val="0"/>
              </a:spcAft>
              <a:buNone/>
            </a:pPr>
            <a:r>
              <a:t/>
            </a:r>
            <a:endParaRPr>
              <a:solidFill>
                <a:srgbClr val="000000"/>
              </a:solidFill>
              <a:latin typeface="Times New Roman"/>
              <a:ea typeface="Times New Roman"/>
              <a:cs typeface="Times New Roman"/>
              <a:sym typeface="Times New Roman"/>
            </a:endParaRPr>
          </a:p>
          <a:p>
            <a:pPr indent="0" lvl="0" marL="457200" rtl="0" algn="just">
              <a:lnSpc>
                <a:spcPct val="115000"/>
              </a:lnSpc>
              <a:spcBef>
                <a:spcPts val="26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0" rtl="0" algn="just">
              <a:lnSpc>
                <a:spcPct val="115000"/>
              </a:lnSpc>
              <a:spcBef>
                <a:spcPts val="3000"/>
              </a:spcBef>
              <a:spcAft>
                <a:spcPts val="3000"/>
              </a:spcAft>
              <a:buNone/>
            </a:pPr>
            <a:r>
              <a:t/>
            </a:r>
            <a:endParaRPr>
              <a:solidFill>
                <a:srgbClr val="202122"/>
              </a:solidFill>
              <a:highlight>
                <a:srgbClr val="FFFFFF"/>
              </a:highlight>
              <a:latin typeface="Times New Roman"/>
              <a:ea typeface="Times New Roman"/>
              <a:cs typeface="Times New Roman"/>
              <a:sym typeface="Times New Roman"/>
            </a:endParaRPr>
          </a:p>
        </p:txBody>
      </p:sp>
      <p:pic>
        <p:nvPicPr>
          <p:cNvPr id="211" name="Google Shape;211;p42"/>
          <p:cNvPicPr preferRelativeResize="0"/>
          <p:nvPr/>
        </p:nvPicPr>
        <p:blipFill>
          <a:blip r:embed="rId3">
            <a:alphaModFix/>
          </a:blip>
          <a:stretch>
            <a:fillRect/>
          </a:stretch>
        </p:blipFill>
        <p:spPr>
          <a:xfrm>
            <a:off x="406425" y="3425325"/>
            <a:ext cx="8628525" cy="1410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43"/>
          <p:cNvSpPr txBox="1"/>
          <p:nvPr>
            <p:ph type="title"/>
          </p:nvPr>
        </p:nvSpPr>
        <p:spPr>
          <a:xfrm>
            <a:off x="137275" y="0"/>
            <a:ext cx="8589300" cy="4383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sz="2600"/>
              <a:t>Extended Reach Sideband (UCIe-S Only)  </a:t>
            </a:r>
            <a:endParaRPr sz="2600"/>
          </a:p>
          <a:p>
            <a:pPr indent="0" lvl="0" marL="0" rtl="0" algn="l">
              <a:spcBef>
                <a:spcPts val="1200"/>
              </a:spcBef>
              <a:spcAft>
                <a:spcPts val="0"/>
              </a:spcAft>
              <a:buNone/>
            </a:pPr>
            <a:r>
              <a:t/>
            </a:r>
            <a:endParaRPr sz="2600"/>
          </a:p>
          <a:p>
            <a:pPr indent="0" lvl="0" marL="0" rtl="0" algn="l">
              <a:lnSpc>
                <a:spcPct val="115000"/>
              </a:lnSpc>
              <a:spcBef>
                <a:spcPts val="0"/>
              </a:spcBef>
              <a:spcAft>
                <a:spcPts val="3000"/>
              </a:spcAft>
              <a:buSzPts val="990"/>
              <a:buNone/>
            </a:pPr>
            <a:r>
              <a:t/>
            </a:r>
            <a:endParaRPr sz="2820">
              <a:highlight>
                <a:schemeClr val="lt1"/>
              </a:highlight>
              <a:latin typeface="Times New Roman"/>
              <a:ea typeface="Times New Roman"/>
              <a:cs typeface="Times New Roman"/>
              <a:sym typeface="Times New Roman"/>
            </a:endParaRPr>
          </a:p>
        </p:txBody>
      </p:sp>
      <p:sp>
        <p:nvSpPr>
          <p:cNvPr id="217" name="Google Shape;217;p43"/>
          <p:cNvSpPr txBox="1"/>
          <p:nvPr>
            <p:ph idx="1" type="body"/>
          </p:nvPr>
        </p:nvSpPr>
        <p:spPr>
          <a:xfrm>
            <a:off x="218100" y="614450"/>
            <a:ext cx="8925900" cy="42678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30200" lvl="0" marL="457200" rtl="0" algn="just">
              <a:lnSpc>
                <a:spcPct val="150000"/>
              </a:lnSpc>
              <a:spcBef>
                <a:spcPts val="1200"/>
              </a:spcBef>
              <a:spcAft>
                <a:spcPts val="0"/>
              </a:spcAft>
              <a:buClr>
                <a:srgbClr val="000000"/>
              </a:buClr>
              <a:buSzPts val="1600"/>
              <a:buFont typeface="Calibri"/>
              <a:buChar char="●"/>
            </a:pPr>
            <a:r>
              <a:rPr lang="en-GB" sz="1600">
                <a:solidFill>
                  <a:srgbClr val="000000"/>
                </a:solidFill>
                <a:latin typeface="Calibri"/>
                <a:ea typeface="Calibri"/>
                <a:cs typeface="Calibri"/>
                <a:sym typeface="Calibri"/>
              </a:rPr>
              <a:t>UCIe 3.0 extends the sideband channel reach up to </a:t>
            </a:r>
            <a:r>
              <a:rPr b="1" lang="en-GB" sz="1600">
                <a:solidFill>
                  <a:srgbClr val="000000"/>
                </a:solidFill>
                <a:latin typeface="Calibri"/>
                <a:ea typeface="Calibri"/>
                <a:cs typeface="Calibri"/>
                <a:sym typeface="Calibri"/>
              </a:rPr>
              <a:t>100 mm</a:t>
            </a:r>
            <a:r>
              <a:rPr lang="en-GB" sz="1600">
                <a:solidFill>
                  <a:srgbClr val="000000"/>
                </a:solidFill>
                <a:latin typeface="Calibri"/>
                <a:ea typeface="Calibri"/>
                <a:cs typeface="Calibri"/>
                <a:sym typeface="Calibri"/>
              </a:rPr>
              <a:t>, which reduces the need for </a:t>
            </a:r>
            <a:r>
              <a:rPr b="1" lang="en-GB" sz="1600">
                <a:solidFill>
                  <a:srgbClr val="000000"/>
                </a:solidFill>
                <a:latin typeface="Calibri"/>
                <a:ea typeface="Calibri"/>
                <a:cs typeface="Calibri"/>
                <a:sym typeface="Calibri"/>
              </a:rPr>
              <a:t>multiple hops and daisy chaining</a:t>
            </a:r>
            <a:r>
              <a:rPr lang="en-GB" sz="1600">
                <a:solidFill>
                  <a:srgbClr val="000000"/>
                </a:solidFill>
                <a:latin typeface="Calibri"/>
                <a:ea typeface="Calibri"/>
                <a:cs typeface="Calibri"/>
                <a:sym typeface="Calibri"/>
              </a:rPr>
              <a:t> in System-in-Package (SiP) designs.</a:t>
            </a:r>
            <a:endParaRPr sz="1600">
              <a:solidFill>
                <a:srgbClr val="000000"/>
              </a:solidFill>
              <a:latin typeface="Calibri"/>
              <a:ea typeface="Calibri"/>
              <a:cs typeface="Calibri"/>
              <a:sym typeface="Calibri"/>
            </a:endParaRPr>
          </a:p>
          <a:p>
            <a:pPr indent="-330200" lvl="0" marL="457200" rtl="0" algn="just">
              <a:lnSpc>
                <a:spcPct val="150000"/>
              </a:lnSpc>
              <a:spcBef>
                <a:spcPts val="0"/>
              </a:spcBef>
              <a:spcAft>
                <a:spcPts val="0"/>
              </a:spcAft>
              <a:buClr>
                <a:srgbClr val="000000"/>
              </a:buClr>
              <a:buSzPts val="1600"/>
              <a:buFont typeface="Calibri"/>
              <a:buChar char="●"/>
            </a:pPr>
            <a:r>
              <a:rPr lang="en-GB" sz="1600">
                <a:solidFill>
                  <a:srgbClr val="000000"/>
                </a:solidFill>
                <a:latin typeface="Calibri"/>
                <a:ea typeface="Calibri"/>
                <a:cs typeface="Calibri"/>
                <a:sym typeface="Calibri"/>
              </a:rPr>
              <a:t> This makes it possible to use a </a:t>
            </a:r>
            <a:r>
              <a:rPr b="1" lang="en-GB" sz="1600">
                <a:solidFill>
                  <a:srgbClr val="000000"/>
                </a:solidFill>
                <a:latin typeface="Calibri"/>
                <a:ea typeface="Calibri"/>
                <a:cs typeface="Calibri"/>
                <a:sym typeface="Calibri"/>
              </a:rPr>
              <a:t>star topology</a:t>
            </a:r>
            <a:r>
              <a:rPr lang="en-GB" sz="1600">
                <a:solidFill>
                  <a:srgbClr val="000000"/>
                </a:solidFill>
                <a:latin typeface="Calibri"/>
                <a:ea typeface="Calibri"/>
                <a:cs typeface="Calibri"/>
                <a:sym typeface="Calibri"/>
              </a:rPr>
              <a:t>, where the </a:t>
            </a:r>
            <a:r>
              <a:rPr b="1" lang="en-GB" sz="1600">
                <a:solidFill>
                  <a:srgbClr val="000000"/>
                </a:solidFill>
                <a:latin typeface="Calibri"/>
                <a:ea typeface="Calibri"/>
                <a:cs typeface="Calibri"/>
                <a:sym typeface="Calibri"/>
              </a:rPr>
              <a:t>director chiplet communicates directly</a:t>
            </a:r>
            <a:r>
              <a:rPr lang="en-GB" sz="1600">
                <a:solidFill>
                  <a:srgbClr val="000000"/>
                </a:solidFill>
                <a:latin typeface="Calibri"/>
                <a:ea typeface="Calibri"/>
                <a:cs typeface="Calibri"/>
                <a:sym typeface="Calibri"/>
              </a:rPr>
              <a:t> with other chiplets. As a result, the system achieves </a:t>
            </a:r>
            <a:r>
              <a:rPr b="1" lang="en-GB" sz="1600">
                <a:solidFill>
                  <a:srgbClr val="000000"/>
                </a:solidFill>
                <a:latin typeface="Calibri"/>
                <a:ea typeface="Calibri"/>
                <a:cs typeface="Calibri"/>
                <a:sym typeface="Calibri"/>
              </a:rPr>
              <a:t>higher bandwidth, lower latency, and better security</a:t>
            </a:r>
            <a:r>
              <a:rPr lang="en-GB" sz="1600">
                <a:solidFill>
                  <a:srgbClr val="000000"/>
                </a:solidFill>
                <a:latin typeface="Calibri"/>
                <a:ea typeface="Calibri"/>
                <a:cs typeface="Calibri"/>
                <a:sym typeface="Calibri"/>
              </a:rPr>
              <a:t>. </a:t>
            </a:r>
            <a:endParaRPr sz="1600">
              <a:solidFill>
                <a:srgbClr val="000000"/>
              </a:solidFill>
              <a:latin typeface="Calibri"/>
              <a:ea typeface="Calibri"/>
              <a:cs typeface="Calibri"/>
              <a:sym typeface="Calibri"/>
            </a:endParaRPr>
          </a:p>
          <a:p>
            <a:pPr indent="-330200" lvl="0" marL="457200" rtl="0" algn="just">
              <a:lnSpc>
                <a:spcPct val="150000"/>
              </a:lnSpc>
              <a:spcBef>
                <a:spcPts val="0"/>
              </a:spcBef>
              <a:spcAft>
                <a:spcPts val="0"/>
              </a:spcAft>
              <a:buClr>
                <a:srgbClr val="000000"/>
              </a:buClr>
              <a:buSzPts val="1600"/>
              <a:buFont typeface="Calibri"/>
              <a:buChar char="●"/>
            </a:pPr>
            <a:r>
              <a:rPr lang="en-GB" sz="1600">
                <a:solidFill>
                  <a:srgbClr val="000000"/>
                </a:solidFill>
                <a:latin typeface="Calibri"/>
                <a:ea typeface="Calibri"/>
                <a:cs typeface="Calibri"/>
                <a:sym typeface="Calibri"/>
              </a:rPr>
              <a:t>This feature is especially useful in </a:t>
            </a:r>
            <a:r>
              <a:rPr b="1" lang="en-GB" sz="1600">
                <a:solidFill>
                  <a:srgbClr val="000000"/>
                </a:solidFill>
                <a:latin typeface="Calibri"/>
                <a:ea typeface="Calibri"/>
                <a:cs typeface="Calibri"/>
                <a:sym typeface="Calibri"/>
              </a:rPr>
              <a:t>large and complex SiPs</a:t>
            </a:r>
            <a:r>
              <a:rPr lang="en-GB" sz="1600">
                <a:solidFill>
                  <a:srgbClr val="000000"/>
                </a:solidFill>
                <a:latin typeface="Calibri"/>
                <a:ea typeface="Calibri"/>
                <a:cs typeface="Calibri"/>
                <a:sym typeface="Calibri"/>
              </a:rPr>
              <a:t> with many chiplets spread over longer distances. </a:t>
            </a:r>
            <a:endParaRPr sz="1600">
              <a:solidFill>
                <a:srgbClr val="000000"/>
              </a:solidFill>
              <a:latin typeface="Calibri"/>
              <a:ea typeface="Calibri"/>
              <a:cs typeface="Calibri"/>
              <a:sym typeface="Calibri"/>
            </a:endParaRPr>
          </a:p>
          <a:p>
            <a:pPr indent="-330200" lvl="0" marL="457200" rtl="0" algn="just">
              <a:lnSpc>
                <a:spcPct val="150000"/>
              </a:lnSpc>
              <a:spcBef>
                <a:spcPts val="0"/>
              </a:spcBef>
              <a:spcAft>
                <a:spcPts val="0"/>
              </a:spcAft>
              <a:buClr>
                <a:srgbClr val="000000"/>
              </a:buClr>
              <a:buSzPts val="1600"/>
              <a:buFont typeface="Calibri"/>
              <a:buChar char="●"/>
            </a:pPr>
            <a:r>
              <a:rPr lang="en-GB" sz="1600">
                <a:solidFill>
                  <a:srgbClr val="000000"/>
                </a:solidFill>
                <a:latin typeface="Calibri"/>
                <a:ea typeface="Calibri"/>
                <a:cs typeface="Calibri"/>
                <a:sym typeface="Calibri"/>
              </a:rPr>
              <a:t>To ensure reliable communication, UCIe 3.0 defines guidelines for </a:t>
            </a:r>
            <a:r>
              <a:rPr b="1" lang="en-GB" sz="1600">
                <a:solidFill>
                  <a:srgbClr val="000000"/>
                </a:solidFill>
                <a:latin typeface="Calibri"/>
                <a:ea typeface="Calibri"/>
                <a:cs typeface="Calibri"/>
                <a:sym typeface="Calibri"/>
              </a:rPr>
              <a:t>input voltage levels (Vih and Vil)</a:t>
            </a:r>
            <a:r>
              <a:rPr lang="en-GB" sz="1600">
                <a:solidFill>
                  <a:srgbClr val="000000"/>
                </a:solidFill>
                <a:latin typeface="Calibri"/>
                <a:ea typeface="Calibri"/>
                <a:cs typeface="Calibri"/>
                <a:sym typeface="Calibri"/>
              </a:rPr>
              <a:t> and limits the </a:t>
            </a:r>
            <a:r>
              <a:rPr b="1" lang="en-GB" sz="1600">
                <a:solidFill>
                  <a:srgbClr val="000000"/>
                </a:solidFill>
                <a:latin typeface="Calibri"/>
                <a:ea typeface="Calibri"/>
                <a:cs typeface="Calibri"/>
                <a:sym typeface="Calibri"/>
              </a:rPr>
              <a:t>driver on-resistance (Ron) to 60 ohms</a:t>
            </a:r>
            <a:r>
              <a:rPr lang="en-GB" sz="1600">
                <a:solidFill>
                  <a:srgbClr val="000000"/>
                </a:solidFill>
                <a:latin typeface="Calibri"/>
                <a:ea typeface="Calibri"/>
                <a:cs typeface="Calibri"/>
                <a:sym typeface="Calibri"/>
              </a:rPr>
              <a:t>, maintaining good signal quality over extended distances.</a:t>
            </a:r>
            <a:endParaRPr sz="1600">
              <a:solidFill>
                <a:srgbClr val="000000"/>
              </a:solidFill>
              <a:latin typeface="Calibri"/>
              <a:ea typeface="Calibri"/>
              <a:cs typeface="Calibri"/>
              <a:sym typeface="Calibri"/>
            </a:endParaRPr>
          </a:p>
          <a:p>
            <a:pPr indent="0" lvl="0" marL="0" rtl="0" algn="just">
              <a:lnSpc>
                <a:spcPct val="115000"/>
              </a:lnSpc>
              <a:spcBef>
                <a:spcPts val="1200"/>
              </a:spcBef>
              <a:spcAft>
                <a:spcPts val="0"/>
              </a:spcAft>
              <a:buNone/>
            </a:pPr>
            <a:r>
              <a:t/>
            </a:r>
            <a:endParaRPr sz="1600">
              <a:solidFill>
                <a:srgbClr val="000000"/>
              </a:solidFill>
              <a:latin typeface="Calibri"/>
              <a:ea typeface="Calibri"/>
              <a:cs typeface="Calibri"/>
              <a:sym typeface="Calibri"/>
            </a:endParaRPr>
          </a:p>
          <a:p>
            <a:pPr indent="0" lvl="0" marL="0" rtl="0" algn="just">
              <a:lnSpc>
                <a:spcPct val="115000"/>
              </a:lnSpc>
              <a:spcBef>
                <a:spcPts val="1200"/>
              </a:spcBef>
              <a:spcAft>
                <a:spcPts val="0"/>
              </a:spcAft>
              <a:buNone/>
            </a:pPr>
            <a:r>
              <a:t/>
            </a:r>
            <a:endParaRPr sz="1600">
              <a:solidFill>
                <a:srgbClr val="000000"/>
              </a:solidFill>
              <a:latin typeface="Calibri"/>
              <a:ea typeface="Calibri"/>
              <a:cs typeface="Calibri"/>
              <a:sym typeface="Calibri"/>
            </a:endParaRPr>
          </a:p>
          <a:p>
            <a:pPr indent="0" lvl="0" marL="0" rtl="0" algn="just">
              <a:lnSpc>
                <a:spcPct val="115000"/>
              </a:lnSpc>
              <a:spcBef>
                <a:spcPts val="1200"/>
              </a:spcBef>
              <a:spcAft>
                <a:spcPts val="0"/>
              </a:spcAft>
              <a:buNone/>
            </a:pPr>
            <a:r>
              <a:t/>
            </a:r>
            <a:endParaRPr>
              <a:solidFill>
                <a:srgbClr val="000000"/>
              </a:solidFill>
              <a:latin typeface="Times New Roman"/>
              <a:ea typeface="Times New Roman"/>
              <a:cs typeface="Times New Roman"/>
              <a:sym typeface="Times New Roman"/>
            </a:endParaRPr>
          </a:p>
          <a:p>
            <a:pPr indent="0" lvl="0" marL="457200" rtl="0" algn="just">
              <a:lnSpc>
                <a:spcPct val="115000"/>
              </a:lnSpc>
              <a:spcBef>
                <a:spcPts val="2600"/>
              </a:spcBef>
              <a:spcAft>
                <a:spcPts val="0"/>
              </a:spcAft>
              <a:buNone/>
            </a:pPr>
            <a:r>
              <a:t/>
            </a:r>
            <a:endParaRPr>
              <a:solidFill>
                <a:srgbClr val="000000"/>
              </a:solidFill>
              <a:latin typeface="Times New Roman"/>
              <a:ea typeface="Times New Roman"/>
              <a:cs typeface="Times New Roman"/>
              <a:sym typeface="Times New Roman"/>
            </a:endParaRPr>
          </a:p>
          <a:p>
            <a:pPr indent="0" lvl="0" marL="457200" rtl="0" algn="just">
              <a:lnSpc>
                <a:spcPct val="115000"/>
              </a:lnSpc>
              <a:spcBef>
                <a:spcPts val="26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0" rtl="0" algn="just">
              <a:lnSpc>
                <a:spcPct val="115000"/>
              </a:lnSpc>
              <a:spcBef>
                <a:spcPts val="3000"/>
              </a:spcBef>
              <a:spcAft>
                <a:spcPts val="3000"/>
              </a:spcAft>
              <a:buNone/>
            </a:pPr>
            <a:r>
              <a:t/>
            </a:r>
            <a:endParaRPr>
              <a:solidFill>
                <a:srgbClr val="2021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4"/>
          <p:cNvSpPr txBox="1"/>
          <p:nvPr>
            <p:ph type="title"/>
          </p:nvPr>
        </p:nvSpPr>
        <p:spPr>
          <a:xfrm>
            <a:off x="137275" y="0"/>
            <a:ext cx="8589300" cy="4383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sz="2600"/>
              <a:t>Open Drain Pins</a:t>
            </a:r>
            <a:endParaRPr sz="2600"/>
          </a:p>
          <a:p>
            <a:pPr indent="0" lvl="0" marL="0" rtl="0" algn="l">
              <a:spcBef>
                <a:spcPts val="1200"/>
              </a:spcBef>
              <a:spcAft>
                <a:spcPts val="0"/>
              </a:spcAft>
              <a:buNone/>
            </a:pPr>
            <a:r>
              <a:t/>
            </a:r>
            <a:endParaRPr sz="2600"/>
          </a:p>
          <a:p>
            <a:pPr indent="0" lvl="0" marL="0" rtl="0" algn="l">
              <a:lnSpc>
                <a:spcPct val="115000"/>
              </a:lnSpc>
              <a:spcBef>
                <a:spcPts val="0"/>
              </a:spcBef>
              <a:spcAft>
                <a:spcPts val="3000"/>
              </a:spcAft>
              <a:buSzPts val="990"/>
              <a:buNone/>
            </a:pPr>
            <a:r>
              <a:t/>
            </a:r>
            <a:endParaRPr sz="2820">
              <a:highlight>
                <a:schemeClr val="lt1"/>
              </a:highlight>
              <a:latin typeface="Times New Roman"/>
              <a:ea typeface="Times New Roman"/>
              <a:cs typeface="Times New Roman"/>
              <a:sym typeface="Times New Roman"/>
            </a:endParaRPr>
          </a:p>
        </p:txBody>
      </p:sp>
      <p:sp>
        <p:nvSpPr>
          <p:cNvPr id="223" name="Google Shape;223;p44"/>
          <p:cNvSpPr txBox="1"/>
          <p:nvPr>
            <p:ph idx="1" type="body"/>
          </p:nvPr>
        </p:nvSpPr>
        <p:spPr>
          <a:xfrm>
            <a:off x="218100" y="614450"/>
            <a:ext cx="8925900" cy="42678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30200" lvl="0" marL="457200" rtl="0" algn="just">
              <a:lnSpc>
                <a:spcPct val="150000"/>
              </a:lnSpc>
              <a:spcBef>
                <a:spcPts val="1200"/>
              </a:spcBef>
              <a:spcAft>
                <a:spcPts val="0"/>
              </a:spcAft>
              <a:buClr>
                <a:srgbClr val="000000"/>
              </a:buClr>
              <a:buSzPts val="1600"/>
              <a:buFont typeface="Calibri"/>
              <a:buChar char="●"/>
            </a:pPr>
            <a:r>
              <a:rPr lang="en-GB" sz="1600">
                <a:solidFill>
                  <a:srgbClr val="000000"/>
                </a:solidFill>
                <a:latin typeface="Calibri"/>
                <a:ea typeface="Calibri"/>
                <a:cs typeface="Calibri"/>
                <a:sym typeface="Calibri"/>
              </a:rPr>
              <a:t>Some critical events like </a:t>
            </a:r>
            <a:r>
              <a:rPr b="1" lang="en-GB" sz="1600">
                <a:solidFill>
                  <a:srgbClr val="000000"/>
                </a:solidFill>
                <a:latin typeface="Calibri"/>
                <a:ea typeface="Calibri"/>
                <a:cs typeface="Calibri"/>
                <a:sym typeface="Calibri"/>
              </a:rPr>
              <a:t>emergency shutdown</a:t>
            </a:r>
            <a:r>
              <a:rPr lang="en-GB" sz="1600">
                <a:solidFill>
                  <a:srgbClr val="000000"/>
                </a:solidFill>
                <a:latin typeface="Calibri"/>
                <a:ea typeface="Calibri"/>
                <a:cs typeface="Calibri"/>
                <a:sym typeface="Calibri"/>
              </a:rPr>
              <a:t> and </a:t>
            </a:r>
            <a:r>
              <a:rPr b="1" lang="en-GB" sz="1600">
                <a:solidFill>
                  <a:srgbClr val="000000"/>
                </a:solidFill>
                <a:latin typeface="Calibri"/>
                <a:ea typeface="Calibri"/>
                <a:cs typeface="Calibri"/>
                <a:sym typeface="Calibri"/>
              </a:rPr>
              <a:t>fast throttle</a:t>
            </a:r>
            <a:r>
              <a:rPr lang="en-GB" sz="1600">
                <a:solidFill>
                  <a:srgbClr val="000000"/>
                </a:solidFill>
                <a:latin typeface="Calibri"/>
                <a:ea typeface="Calibri"/>
                <a:cs typeface="Calibri"/>
                <a:sym typeface="Calibri"/>
              </a:rPr>
              <a:t> must be </a:t>
            </a:r>
            <a:r>
              <a:rPr b="1" lang="en-GB" sz="1600">
                <a:solidFill>
                  <a:srgbClr val="000000"/>
                </a:solidFill>
                <a:latin typeface="Calibri"/>
                <a:ea typeface="Calibri"/>
                <a:cs typeface="Calibri"/>
                <a:sym typeface="Calibri"/>
              </a:rPr>
              <a:t>sent to all chiplets at the same time</a:t>
            </a:r>
            <a:r>
              <a:rPr lang="en-GB" sz="1600">
                <a:solidFill>
                  <a:srgbClr val="000000"/>
                </a:solidFill>
                <a:latin typeface="Calibri"/>
                <a:ea typeface="Calibri"/>
                <a:cs typeface="Calibri"/>
                <a:sym typeface="Calibri"/>
              </a:rPr>
              <a:t>.</a:t>
            </a:r>
            <a:endParaRPr sz="1600">
              <a:solidFill>
                <a:srgbClr val="000000"/>
              </a:solidFill>
              <a:latin typeface="Calibri"/>
              <a:ea typeface="Calibri"/>
              <a:cs typeface="Calibri"/>
              <a:sym typeface="Calibri"/>
            </a:endParaRPr>
          </a:p>
          <a:p>
            <a:pPr indent="-330200" lvl="0" marL="457200" rtl="0" algn="just">
              <a:lnSpc>
                <a:spcPct val="150000"/>
              </a:lnSpc>
              <a:spcBef>
                <a:spcPts val="0"/>
              </a:spcBef>
              <a:spcAft>
                <a:spcPts val="0"/>
              </a:spcAft>
              <a:buClr>
                <a:srgbClr val="000000"/>
              </a:buClr>
              <a:buSzPts val="1600"/>
              <a:buFont typeface="Calibri"/>
              <a:buChar char="●"/>
            </a:pPr>
            <a:r>
              <a:rPr lang="en-GB" sz="1600">
                <a:solidFill>
                  <a:srgbClr val="000000"/>
                </a:solidFill>
                <a:latin typeface="Calibri"/>
                <a:ea typeface="Calibri"/>
                <a:cs typeface="Calibri"/>
                <a:sym typeface="Calibri"/>
              </a:rPr>
              <a:t>UCIe 3.0 introduces </a:t>
            </a:r>
            <a:r>
              <a:rPr b="1" lang="en-GB" sz="1600">
                <a:solidFill>
                  <a:srgbClr val="000000"/>
                </a:solidFill>
                <a:latin typeface="Calibri"/>
                <a:ea typeface="Calibri"/>
                <a:cs typeface="Calibri"/>
                <a:sym typeface="Calibri"/>
              </a:rPr>
              <a:t>open-drain pins</a:t>
            </a:r>
            <a:r>
              <a:rPr lang="en-GB" sz="1600">
                <a:solidFill>
                  <a:srgbClr val="000000"/>
                </a:solidFill>
                <a:latin typeface="Calibri"/>
                <a:ea typeface="Calibri"/>
                <a:cs typeface="Calibri"/>
                <a:sym typeface="Calibri"/>
              </a:rPr>
              <a:t> to support this.</a:t>
            </a:r>
            <a:endParaRPr sz="1600">
              <a:solidFill>
                <a:srgbClr val="000000"/>
              </a:solidFill>
              <a:latin typeface="Calibri"/>
              <a:ea typeface="Calibri"/>
              <a:cs typeface="Calibri"/>
              <a:sym typeface="Calibri"/>
            </a:endParaRPr>
          </a:p>
          <a:p>
            <a:pPr indent="-330200" lvl="0" marL="457200" rtl="0" algn="just">
              <a:lnSpc>
                <a:spcPct val="150000"/>
              </a:lnSpc>
              <a:spcBef>
                <a:spcPts val="0"/>
              </a:spcBef>
              <a:spcAft>
                <a:spcPts val="0"/>
              </a:spcAft>
              <a:buClr>
                <a:srgbClr val="000000"/>
              </a:buClr>
              <a:buSzPts val="1600"/>
              <a:buFont typeface="Calibri"/>
              <a:buChar char="●"/>
            </a:pPr>
            <a:r>
              <a:rPr lang="en-GB" sz="1600">
                <a:solidFill>
                  <a:srgbClr val="000000"/>
                </a:solidFill>
                <a:latin typeface="Calibri"/>
                <a:ea typeface="Calibri"/>
                <a:cs typeface="Calibri"/>
                <a:sym typeface="Calibri"/>
              </a:rPr>
              <a:t>These pins allow </a:t>
            </a:r>
            <a:r>
              <a:rPr b="1" lang="en-GB" sz="1600">
                <a:solidFill>
                  <a:srgbClr val="000000"/>
                </a:solidFill>
                <a:latin typeface="Calibri"/>
                <a:ea typeface="Calibri"/>
                <a:cs typeface="Calibri"/>
                <a:sym typeface="Calibri"/>
              </a:rPr>
              <a:t>fast, low-latency, two-way signaling</a:t>
            </a:r>
            <a:r>
              <a:rPr lang="en-GB" sz="1600">
                <a:solidFill>
                  <a:srgbClr val="000000"/>
                </a:solidFill>
                <a:latin typeface="Calibri"/>
                <a:ea typeface="Calibri"/>
                <a:cs typeface="Calibri"/>
                <a:sym typeface="Calibri"/>
              </a:rPr>
              <a:t> and are shared across the entire System-in-Package (SiP).</a:t>
            </a:r>
            <a:endParaRPr sz="1600">
              <a:solidFill>
                <a:srgbClr val="000000"/>
              </a:solidFill>
              <a:latin typeface="Calibri"/>
              <a:ea typeface="Calibri"/>
              <a:cs typeface="Calibri"/>
              <a:sym typeface="Calibri"/>
            </a:endParaRPr>
          </a:p>
          <a:p>
            <a:pPr indent="-330200" lvl="0" marL="457200" rtl="0" algn="just">
              <a:lnSpc>
                <a:spcPct val="150000"/>
              </a:lnSpc>
              <a:spcBef>
                <a:spcPts val="0"/>
              </a:spcBef>
              <a:spcAft>
                <a:spcPts val="0"/>
              </a:spcAft>
              <a:buClr>
                <a:srgbClr val="000000"/>
              </a:buClr>
              <a:buSzPts val="1600"/>
              <a:buFont typeface="Calibri"/>
              <a:buChar char="●"/>
            </a:pPr>
            <a:r>
              <a:rPr lang="en-GB" sz="1600">
                <a:solidFill>
                  <a:srgbClr val="000000"/>
                </a:solidFill>
                <a:latin typeface="Calibri"/>
                <a:ea typeface="Calibri"/>
                <a:cs typeface="Calibri"/>
                <a:sym typeface="Calibri"/>
              </a:rPr>
              <a:t>Because they are routed at the </a:t>
            </a:r>
            <a:r>
              <a:rPr b="1" lang="en-GB" sz="1600">
                <a:solidFill>
                  <a:srgbClr val="000000"/>
                </a:solidFill>
                <a:latin typeface="Calibri"/>
                <a:ea typeface="Calibri"/>
                <a:cs typeface="Calibri"/>
                <a:sym typeface="Calibri"/>
              </a:rPr>
              <a:t>package level</a:t>
            </a:r>
            <a:r>
              <a:rPr lang="en-GB" sz="1600">
                <a:solidFill>
                  <a:srgbClr val="000000"/>
                </a:solidFill>
                <a:latin typeface="Calibri"/>
                <a:ea typeface="Calibri"/>
                <a:cs typeface="Calibri"/>
                <a:sym typeface="Calibri"/>
              </a:rPr>
              <a:t>, open-drain pins provide a </a:t>
            </a:r>
            <a:r>
              <a:rPr b="1" lang="en-GB" sz="1600">
                <a:solidFill>
                  <a:srgbClr val="000000"/>
                </a:solidFill>
                <a:latin typeface="Calibri"/>
                <a:ea typeface="Calibri"/>
                <a:cs typeface="Calibri"/>
                <a:sym typeface="Calibri"/>
              </a:rPr>
              <a:t>simple, reliable, and efficient way</a:t>
            </a:r>
            <a:r>
              <a:rPr lang="en-GB" sz="1600">
                <a:solidFill>
                  <a:srgbClr val="000000"/>
                </a:solidFill>
                <a:latin typeface="Calibri"/>
                <a:ea typeface="Calibri"/>
                <a:cs typeface="Calibri"/>
                <a:sym typeface="Calibri"/>
              </a:rPr>
              <a:t> to broadcast urgent signals to all chiplets.</a:t>
            </a:r>
            <a:endParaRPr sz="1600">
              <a:solidFill>
                <a:srgbClr val="000000"/>
              </a:solidFill>
              <a:latin typeface="Calibri"/>
              <a:ea typeface="Calibri"/>
              <a:cs typeface="Calibri"/>
              <a:sym typeface="Calibri"/>
            </a:endParaRPr>
          </a:p>
          <a:p>
            <a:pPr indent="0" lvl="0" marL="0" rtl="0" algn="just">
              <a:lnSpc>
                <a:spcPct val="115000"/>
              </a:lnSpc>
              <a:spcBef>
                <a:spcPts val="1200"/>
              </a:spcBef>
              <a:spcAft>
                <a:spcPts val="0"/>
              </a:spcAft>
              <a:buNone/>
            </a:pPr>
            <a:r>
              <a:t/>
            </a:r>
            <a:endParaRPr sz="1600">
              <a:solidFill>
                <a:srgbClr val="000000"/>
              </a:solidFill>
              <a:latin typeface="Calibri"/>
              <a:ea typeface="Calibri"/>
              <a:cs typeface="Calibri"/>
              <a:sym typeface="Calibri"/>
            </a:endParaRPr>
          </a:p>
          <a:p>
            <a:pPr indent="0" lvl="0" marL="0" rtl="0" algn="just">
              <a:lnSpc>
                <a:spcPct val="115000"/>
              </a:lnSpc>
              <a:spcBef>
                <a:spcPts val="1200"/>
              </a:spcBef>
              <a:spcAft>
                <a:spcPts val="0"/>
              </a:spcAft>
              <a:buNone/>
            </a:pPr>
            <a:r>
              <a:t/>
            </a:r>
            <a:endParaRPr sz="1600">
              <a:solidFill>
                <a:srgbClr val="000000"/>
              </a:solidFill>
              <a:latin typeface="Calibri"/>
              <a:ea typeface="Calibri"/>
              <a:cs typeface="Calibri"/>
              <a:sym typeface="Calibri"/>
            </a:endParaRPr>
          </a:p>
          <a:p>
            <a:pPr indent="0" lvl="0" marL="0" rtl="0" algn="just">
              <a:lnSpc>
                <a:spcPct val="115000"/>
              </a:lnSpc>
              <a:spcBef>
                <a:spcPts val="1200"/>
              </a:spcBef>
              <a:spcAft>
                <a:spcPts val="0"/>
              </a:spcAft>
              <a:buNone/>
            </a:pPr>
            <a:r>
              <a:t/>
            </a:r>
            <a:endParaRPr>
              <a:solidFill>
                <a:srgbClr val="000000"/>
              </a:solidFill>
              <a:latin typeface="Times New Roman"/>
              <a:ea typeface="Times New Roman"/>
              <a:cs typeface="Times New Roman"/>
              <a:sym typeface="Times New Roman"/>
            </a:endParaRPr>
          </a:p>
          <a:p>
            <a:pPr indent="0" lvl="0" marL="457200" rtl="0" algn="just">
              <a:lnSpc>
                <a:spcPct val="115000"/>
              </a:lnSpc>
              <a:spcBef>
                <a:spcPts val="2600"/>
              </a:spcBef>
              <a:spcAft>
                <a:spcPts val="0"/>
              </a:spcAft>
              <a:buNone/>
            </a:pPr>
            <a:r>
              <a:t/>
            </a:r>
            <a:endParaRPr>
              <a:solidFill>
                <a:srgbClr val="000000"/>
              </a:solidFill>
              <a:latin typeface="Times New Roman"/>
              <a:ea typeface="Times New Roman"/>
              <a:cs typeface="Times New Roman"/>
              <a:sym typeface="Times New Roman"/>
            </a:endParaRPr>
          </a:p>
          <a:p>
            <a:pPr indent="0" lvl="0" marL="457200" rtl="0" algn="just">
              <a:lnSpc>
                <a:spcPct val="115000"/>
              </a:lnSpc>
              <a:spcBef>
                <a:spcPts val="26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0" rtl="0" algn="just">
              <a:lnSpc>
                <a:spcPct val="115000"/>
              </a:lnSpc>
              <a:spcBef>
                <a:spcPts val="3000"/>
              </a:spcBef>
              <a:spcAft>
                <a:spcPts val="3000"/>
              </a:spcAft>
              <a:buNone/>
            </a:pPr>
            <a:r>
              <a:t/>
            </a:r>
            <a:endParaRPr>
              <a:solidFill>
                <a:srgbClr val="2021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45"/>
          <p:cNvSpPr txBox="1"/>
          <p:nvPr>
            <p:ph type="title"/>
          </p:nvPr>
        </p:nvSpPr>
        <p:spPr>
          <a:xfrm>
            <a:off x="137275" y="0"/>
            <a:ext cx="8589300" cy="4383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sz="2600"/>
              <a:t>Fast Throttle and Emergency Shutdown</a:t>
            </a:r>
            <a:endParaRPr sz="2600"/>
          </a:p>
          <a:p>
            <a:pPr indent="0" lvl="0" marL="0" rtl="0" algn="l">
              <a:spcBef>
                <a:spcPts val="1200"/>
              </a:spcBef>
              <a:spcAft>
                <a:spcPts val="0"/>
              </a:spcAft>
              <a:buNone/>
            </a:pPr>
            <a:r>
              <a:t/>
            </a:r>
            <a:endParaRPr sz="2600"/>
          </a:p>
          <a:p>
            <a:pPr indent="0" lvl="0" marL="0" rtl="0" algn="l">
              <a:lnSpc>
                <a:spcPct val="115000"/>
              </a:lnSpc>
              <a:spcBef>
                <a:spcPts val="0"/>
              </a:spcBef>
              <a:spcAft>
                <a:spcPts val="3000"/>
              </a:spcAft>
              <a:buSzPts val="990"/>
              <a:buNone/>
            </a:pPr>
            <a:r>
              <a:t/>
            </a:r>
            <a:endParaRPr sz="2820">
              <a:highlight>
                <a:schemeClr val="lt1"/>
              </a:highlight>
              <a:latin typeface="Times New Roman"/>
              <a:ea typeface="Times New Roman"/>
              <a:cs typeface="Times New Roman"/>
              <a:sym typeface="Times New Roman"/>
            </a:endParaRPr>
          </a:p>
        </p:txBody>
      </p:sp>
      <p:sp>
        <p:nvSpPr>
          <p:cNvPr id="229" name="Google Shape;229;p45"/>
          <p:cNvSpPr txBox="1"/>
          <p:nvPr>
            <p:ph idx="1" type="body"/>
          </p:nvPr>
        </p:nvSpPr>
        <p:spPr>
          <a:xfrm>
            <a:off x="218100" y="614450"/>
            <a:ext cx="8925900" cy="42678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30200" lvl="0" marL="457200" rtl="0" algn="just">
              <a:spcBef>
                <a:spcPts val="1200"/>
              </a:spcBef>
              <a:spcAft>
                <a:spcPts val="0"/>
              </a:spcAft>
              <a:buClr>
                <a:srgbClr val="000000"/>
              </a:buClr>
              <a:buSzPts val="1600"/>
              <a:buFont typeface="Arial"/>
              <a:buChar char="●"/>
            </a:pPr>
            <a:r>
              <a:rPr lang="en-GB" sz="1600">
                <a:solidFill>
                  <a:srgbClr val="000000"/>
                </a:solidFill>
                <a:latin typeface="Calibri"/>
                <a:ea typeface="Calibri"/>
                <a:cs typeface="Calibri"/>
                <a:sym typeface="Calibri"/>
              </a:rPr>
              <a:t>In a </a:t>
            </a:r>
            <a:r>
              <a:rPr b="1" lang="en-GB" sz="1600">
                <a:solidFill>
                  <a:srgbClr val="000000"/>
                </a:solidFill>
                <a:latin typeface="Calibri"/>
                <a:ea typeface="Calibri"/>
                <a:cs typeface="Calibri"/>
                <a:sym typeface="Calibri"/>
              </a:rPr>
              <a:t>System-in-Package (SiP)</a:t>
            </a:r>
            <a:r>
              <a:rPr lang="en-GB" sz="1600">
                <a:solidFill>
                  <a:srgbClr val="000000"/>
                </a:solidFill>
                <a:latin typeface="Calibri"/>
                <a:ea typeface="Calibri"/>
                <a:cs typeface="Calibri"/>
                <a:sym typeface="Calibri"/>
              </a:rPr>
              <a:t> with many chiplets from different vendors, </a:t>
            </a:r>
            <a:r>
              <a:rPr b="1" lang="en-GB" sz="1600">
                <a:solidFill>
                  <a:srgbClr val="000000"/>
                </a:solidFill>
                <a:latin typeface="Calibri"/>
                <a:ea typeface="Calibri"/>
                <a:cs typeface="Calibri"/>
                <a:sym typeface="Calibri"/>
              </a:rPr>
              <a:t>temperature control is difficult</a:t>
            </a:r>
            <a:r>
              <a:rPr lang="en-GB" sz="1600">
                <a:solidFill>
                  <a:srgbClr val="000000"/>
                </a:solidFill>
                <a:latin typeface="Calibri"/>
                <a:ea typeface="Calibri"/>
                <a:cs typeface="Calibri"/>
                <a:sym typeface="Calibri"/>
              </a:rPr>
              <a:t> because each chiplet has its own safe temperature limit. If these limits are exceeded, the chiplet can fail.</a:t>
            </a:r>
            <a:endParaRPr sz="1600">
              <a:solidFill>
                <a:srgbClr val="000000"/>
              </a:solidFill>
              <a:latin typeface="Calibri"/>
              <a:ea typeface="Calibri"/>
              <a:cs typeface="Calibri"/>
              <a:sym typeface="Calibri"/>
            </a:endParaRPr>
          </a:p>
          <a:p>
            <a:pPr indent="-330200" lvl="1" marL="914400" rtl="0" algn="just">
              <a:spcBef>
                <a:spcPts val="0"/>
              </a:spcBef>
              <a:spcAft>
                <a:spcPts val="0"/>
              </a:spcAft>
              <a:buClr>
                <a:srgbClr val="000000"/>
              </a:buClr>
              <a:buSzPts val="1600"/>
              <a:buFont typeface="Arial"/>
              <a:buChar char="○"/>
            </a:pPr>
            <a:r>
              <a:rPr lang="en-GB" sz="1600">
                <a:solidFill>
                  <a:srgbClr val="000000"/>
                </a:solidFill>
                <a:latin typeface="Calibri"/>
                <a:ea typeface="Calibri"/>
                <a:cs typeface="Calibri"/>
                <a:sym typeface="Calibri"/>
              </a:rPr>
              <a:t>To handle this safely, </a:t>
            </a:r>
            <a:r>
              <a:rPr b="1" lang="en-GB" sz="1600">
                <a:solidFill>
                  <a:srgbClr val="000000"/>
                </a:solidFill>
                <a:latin typeface="Calibri"/>
                <a:ea typeface="Calibri"/>
                <a:cs typeface="Calibri"/>
                <a:sym typeface="Calibri"/>
              </a:rPr>
              <a:t>UCIe 3.0 introduces two protection mechanisms: Fast Throttle and Emergency Shutdown</a:t>
            </a:r>
            <a:r>
              <a:rPr lang="en-GB" sz="1600">
                <a:solidFill>
                  <a:srgbClr val="000000"/>
                </a:solidFill>
                <a:latin typeface="Calibri"/>
                <a:ea typeface="Calibri"/>
                <a:cs typeface="Calibri"/>
                <a:sym typeface="Calibri"/>
              </a:rPr>
              <a:t>.</a:t>
            </a:r>
            <a:endParaRPr sz="1600">
              <a:solidFill>
                <a:srgbClr val="000000"/>
              </a:solidFill>
              <a:latin typeface="Calibri"/>
              <a:ea typeface="Calibri"/>
              <a:cs typeface="Calibri"/>
              <a:sym typeface="Calibri"/>
            </a:endParaRPr>
          </a:p>
          <a:p>
            <a:pPr indent="-330200" lvl="0" marL="457200" rtl="0" algn="just">
              <a:spcBef>
                <a:spcPts val="0"/>
              </a:spcBef>
              <a:spcAft>
                <a:spcPts val="0"/>
              </a:spcAft>
              <a:buClr>
                <a:srgbClr val="000000"/>
              </a:buClr>
              <a:buSzPts val="1600"/>
              <a:buFont typeface="Calibri"/>
              <a:buChar char="●"/>
            </a:pPr>
            <a:r>
              <a:rPr b="1" lang="en-GB" sz="1600">
                <a:solidFill>
                  <a:srgbClr val="000000"/>
                </a:solidFill>
                <a:latin typeface="Calibri"/>
                <a:ea typeface="Calibri"/>
                <a:cs typeface="Calibri"/>
                <a:sym typeface="Calibri"/>
              </a:rPr>
              <a:t>Fast Throttle</a:t>
            </a:r>
            <a:r>
              <a:rPr lang="en-GB" sz="1600">
                <a:solidFill>
                  <a:srgbClr val="000000"/>
                </a:solidFill>
                <a:latin typeface="Calibri"/>
                <a:ea typeface="Calibri"/>
                <a:cs typeface="Calibri"/>
                <a:sym typeface="Calibri"/>
              </a:rPr>
              <a:t> is used when temperature starts rising. A </a:t>
            </a:r>
            <a:r>
              <a:rPr b="1" lang="en-GB" sz="1600">
                <a:solidFill>
                  <a:srgbClr val="000000"/>
                </a:solidFill>
                <a:latin typeface="Calibri"/>
                <a:ea typeface="Calibri"/>
                <a:cs typeface="Calibri"/>
                <a:sym typeface="Calibri"/>
              </a:rPr>
              <a:t>shared open-drain pin</a:t>
            </a:r>
            <a:r>
              <a:rPr lang="en-GB" sz="1600">
                <a:solidFill>
                  <a:srgbClr val="000000"/>
                </a:solidFill>
                <a:latin typeface="Calibri"/>
                <a:ea typeface="Calibri"/>
                <a:cs typeface="Calibri"/>
                <a:sym typeface="Calibri"/>
              </a:rPr>
              <a:t> allows any chiplet to signal overheating. When this happens, </a:t>
            </a:r>
            <a:r>
              <a:rPr b="1" lang="en-GB" sz="1600">
                <a:solidFill>
                  <a:srgbClr val="000000"/>
                </a:solidFill>
                <a:latin typeface="Calibri"/>
                <a:ea typeface="Calibri"/>
                <a:cs typeface="Calibri"/>
                <a:sym typeface="Calibri"/>
              </a:rPr>
              <a:t>all chiplets immediately reduce their performance</a:t>
            </a:r>
            <a:r>
              <a:rPr lang="en-GB" sz="1600">
                <a:solidFill>
                  <a:srgbClr val="000000"/>
                </a:solidFill>
                <a:latin typeface="Calibri"/>
                <a:ea typeface="Calibri"/>
                <a:cs typeface="Calibri"/>
                <a:sym typeface="Calibri"/>
              </a:rPr>
              <a:t>, which lowers power and heat.</a:t>
            </a:r>
            <a:endParaRPr sz="1600">
              <a:solidFill>
                <a:srgbClr val="000000"/>
              </a:solidFill>
              <a:latin typeface="Calibri"/>
              <a:ea typeface="Calibri"/>
              <a:cs typeface="Calibri"/>
              <a:sym typeface="Calibri"/>
            </a:endParaRPr>
          </a:p>
          <a:p>
            <a:pPr indent="-330200" lvl="0" marL="457200" rtl="0" algn="just">
              <a:spcBef>
                <a:spcPts val="0"/>
              </a:spcBef>
              <a:spcAft>
                <a:spcPts val="0"/>
              </a:spcAft>
              <a:buClr>
                <a:srgbClr val="000000"/>
              </a:buClr>
              <a:buSzPts val="1600"/>
              <a:buFont typeface="Calibri"/>
              <a:buChar char="●"/>
            </a:pPr>
            <a:r>
              <a:rPr b="1" lang="en-GB" sz="1600">
                <a:solidFill>
                  <a:srgbClr val="000000"/>
                </a:solidFill>
                <a:latin typeface="Calibri"/>
                <a:ea typeface="Calibri"/>
                <a:cs typeface="Calibri"/>
                <a:sym typeface="Calibri"/>
              </a:rPr>
              <a:t>Emergency Shutdown</a:t>
            </a:r>
            <a:r>
              <a:rPr lang="en-GB" sz="1600">
                <a:solidFill>
                  <a:srgbClr val="000000"/>
                </a:solidFill>
                <a:latin typeface="Calibri"/>
                <a:ea typeface="Calibri"/>
                <a:cs typeface="Calibri"/>
                <a:sym typeface="Calibri"/>
              </a:rPr>
              <a:t> is used in extreme cases. If a chiplet crosses its </a:t>
            </a:r>
            <a:r>
              <a:rPr b="1" lang="en-GB" sz="1600">
                <a:solidFill>
                  <a:srgbClr val="000000"/>
                </a:solidFill>
                <a:latin typeface="Calibri"/>
                <a:ea typeface="Calibri"/>
                <a:cs typeface="Calibri"/>
                <a:sym typeface="Calibri"/>
              </a:rPr>
              <a:t>maximum safe temperature</a:t>
            </a:r>
            <a:r>
              <a:rPr lang="en-GB" sz="1600">
                <a:solidFill>
                  <a:srgbClr val="000000"/>
                </a:solidFill>
                <a:latin typeface="Calibri"/>
                <a:ea typeface="Calibri"/>
                <a:cs typeface="Calibri"/>
                <a:sym typeface="Calibri"/>
              </a:rPr>
              <a:t>, it asserts another open-drain pin that </a:t>
            </a:r>
            <a:r>
              <a:rPr b="1" lang="en-GB" sz="1600">
                <a:solidFill>
                  <a:srgbClr val="000000"/>
                </a:solidFill>
                <a:latin typeface="Calibri"/>
                <a:ea typeface="Calibri"/>
                <a:cs typeface="Calibri"/>
                <a:sym typeface="Calibri"/>
              </a:rPr>
              <a:t>cuts off power</a:t>
            </a:r>
            <a:r>
              <a:rPr lang="en-GB" sz="1600">
                <a:solidFill>
                  <a:srgbClr val="000000"/>
                </a:solidFill>
                <a:latin typeface="Calibri"/>
                <a:ea typeface="Calibri"/>
                <a:cs typeface="Calibri"/>
                <a:sym typeface="Calibri"/>
              </a:rPr>
              <a:t> to the chiplets and external supplies. This prevents permanent damage to the system.</a:t>
            </a:r>
            <a:endParaRPr sz="1600">
              <a:solidFill>
                <a:srgbClr val="000000"/>
              </a:solidFill>
              <a:latin typeface="Calibri"/>
              <a:ea typeface="Calibri"/>
              <a:cs typeface="Calibri"/>
              <a:sym typeface="Calibri"/>
            </a:endParaRPr>
          </a:p>
          <a:p>
            <a:pPr indent="-330200" lvl="0" marL="457200" rtl="0" algn="just">
              <a:spcBef>
                <a:spcPts val="0"/>
              </a:spcBef>
              <a:spcAft>
                <a:spcPts val="0"/>
              </a:spcAft>
              <a:buClr>
                <a:srgbClr val="000000"/>
              </a:buClr>
              <a:buSzPts val="1600"/>
              <a:buFont typeface="Calibri"/>
              <a:buChar char="●"/>
            </a:pPr>
            <a:r>
              <a:rPr lang="en-GB" sz="1600">
                <a:solidFill>
                  <a:srgbClr val="000000"/>
                </a:solidFill>
                <a:latin typeface="Calibri"/>
                <a:ea typeface="Calibri"/>
                <a:cs typeface="Calibri"/>
                <a:sym typeface="Calibri"/>
              </a:rPr>
              <a:t>Together, these mechanisms provide a </a:t>
            </a:r>
            <a:r>
              <a:rPr b="1" lang="en-GB" sz="1600">
                <a:solidFill>
                  <a:srgbClr val="000000"/>
                </a:solidFill>
                <a:latin typeface="Calibri"/>
                <a:ea typeface="Calibri"/>
                <a:cs typeface="Calibri"/>
                <a:sym typeface="Calibri"/>
              </a:rPr>
              <a:t>standard, fast, and reliable way</a:t>
            </a:r>
            <a:r>
              <a:rPr lang="en-GB" sz="1600">
                <a:solidFill>
                  <a:srgbClr val="000000"/>
                </a:solidFill>
                <a:latin typeface="Calibri"/>
                <a:ea typeface="Calibri"/>
                <a:cs typeface="Calibri"/>
                <a:sym typeface="Calibri"/>
              </a:rPr>
              <a:t> to protect multi-vendor chiplet systems from thermal failures.</a:t>
            </a:r>
            <a:endParaRPr sz="1600">
              <a:solidFill>
                <a:srgbClr val="000000"/>
              </a:solidFill>
              <a:latin typeface="Calibri"/>
              <a:ea typeface="Calibri"/>
              <a:cs typeface="Calibri"/>
              <a:sym typeface="Calibri"/>
            </a:endParaRPr>
          </a:p>
          <a:p>
            <a:pPr indent="0" lvl="0" marL="0" rtl="0" algn="just">
              <a:lnSpc>
                <a:spcPct val="115000"/>
              </a:lnSpc>
              <a:spcBef>
                <a:spcPts val="1200"/>
              </a:spcBef>
              <a:spcAft>
                <a:spcPts val="0"/>
              </a:spcAft>
              <a:buNone/>
            </a:pPr>
            <a:r>
              <a:t/>
            </a:r>
            <a:endParaRPr sz="1600">
              <a:solidFill>
                <a:srgbClr val="000000"/>
              </a:solidFill>
              <a:latin typeface="Calibri"/>
              <a:ea typeface="Calibri"/>
              <a:cs typeface="Calibri"/>
              <a:sym typeface="Calibri"/>
            </a:endParaRPr>
          </a:p>
          <a:p>
            <a:pPr indent="0" lvl="0" marL="0" rtl="0" algn="just">
              <a:lnSpc>
                <a:spcPct val="115000"/>
              </a:lnSpc>
              <a:spcBef>
                <a:spcPts val="1200"/>
              </a:spcBef>
              <a:spcAft>
                <a:spcPts val="0"/>
              </a:spcAft>
              <a:buNone/>
            </a:pPr>
            <a:r>
              <a:t/>
            </a:r>
            <a:endParaRPr sz="1600">
              <a:solidFill>
                <a:srgbClr val="000000"/>
              </a:solidFill>
              <a:latin typeface="Calibri"/>
              <a:ea typeface="Calibri"/>
              <a:cs typeface="Calibri"/>
              <a:sym typeface="Calibri"/>
            </a:endParaRPr>
          </a:p>
          <a:p>
            <a:pPr indent="0" lvl="0" marL="0" rtl="0" algn="just">
              <a:lnSpc>
                <a:spcPct val="115000"/>
              </a:lnSpc>
              <a:spcBef>
                <a:spcPts val="1200"/>
              </a:spcBef>
              <a:spcAft>
                <a:spcPts val="0"/>
              </a:spcAft>
              <a:buNone/>
            </a:pPr>
            <a:r>
              <a:t/>
            </a:r>
            <a:endParaRPr>
              <a:solidFill>
                <a:srgbClr val="000000"/>
              </a:solidFill>
              <a:latin typeface="Times New Roman"/>
              <a:ea typeface="Times New Roman"/>
              <a:cs typeface="Times New Roman"/>
              <a:sym typeface="Times New Roman"/>
            </a:endParaRPr>
          </a:p>
          <a:p>
            <a:pPr indent="0" lvl="0" marL="457200" rtl="0" algn="just">
              <a:lnSpc>
                <a:spcPct val="115000"/>
              </a:lnSpc>
              <a:spcBef>
                <a:spcPts val="2600"/>
              </a:spcBef>
              <a:spcAft>
                <a:spcPts val="0"/>
              </a:spcAft>
              <a:buNone/>
            </a:pPr>
            <a:r>
              <a:t/>
            </a:r>
            <a:endParaRPr>
              <a:solidFill>
                <a:srgbClr val="000000"/>
              </a:solidFill>
              <a:latin typeface="Times New Roman"/>
              <a:ea typeface="Times New Roman"/>
              <a:cs typeface="Times New Roman"/>
              <a:sym typeface="Times New Roman"/>
            </a:endParaRPr>
          </a:p>
          <a:p>
            <a:pPr indent="0" lvl="0" marL="457200" rtl="0" algn="just">
              <a:lnSpc>
                <a:spcPct val="115000"/>
              </a:lnSpc>
              <a:spcBef>
                <a:spcPts val="26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0" rtl="0" algn="just">
              <a:lnSpc>
                <a:spcPct val="115000"/>
              </a:lnSpc>
              <a:spcBef>
                <a:spcPts val="3000"/>
              </a:spcBef>
              <a:spcAft>
                <a:spcPts val="3000"/>
              </a:spcAft>
              <a:buNone/>
            </a:pPr>
            <a:r>
              <a:t/>
            </a:r>
            <a:endParaRPr>
              <a:solidFill>
                <a:srgbClr val="2021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6"/>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Thank You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7"/>
          <p:cNvSpPr txBox="1"/>
          <p:nvPr>
            <p:ph type="title"/>
          </p:nvPr>
        </p:nvSpPr>
        <p:spPr>
          <a:xfrm>
            <a:off x="137275" y="0"/>
            <a:ext cx="8589300" cy="4104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sz="2600"/>
              <a:t>Comparison</a:t>
            </a:r>
            <a:r>
              <a:rPr lang="en-GB" sz="2600"/>
              <a:t> of UCIe 1.0 &amp; 1.1 &amp; 2.0 &amp;3.0</a:t>
            </a:r>
            <a:endParaRPr sz="2600"/>
          </a:p>
          <a:p>
            <a:pPr indent="0" lvl="0" marL="0" rtl="0" algn="l">
              <a:spcBef>
                <a:spcPts val="1200"/>
              </a:spcBef>
              <a:spcAft>
                <a:spcPts val="0"/>
              </a:spcAft>
              <a:buNone/>
            </a:pPr>
            <a:r>
              <a:t/>
            </a:r>
            <a:endParaRPr sz="2600"/>
          </a:p>
          <a:p>
            <a:pPr indent="0" lvl="0" marL="0" rtl="0" algn="l">
              <a:lnSpc>
                <a:spcPct val="115000"/>
              </a:lnSpc>
              <a:spcBef>
                <a:spcPts val="0"/>
              </a:spcBef>
              <a:spcAft>
                <a:spcPts val="3000"/>
              </a:spcAft>
              <a:buSzPts val="990"/>
              <a:buNone/>
            </a:pPr>
            <a:r>
              <a:t/>
            </a:r>
            <a:endParaRPr sz="2820">
              <a:highlight>
                <a:schemeClr val="lt1"/>
              </a:highlight>
              <a:latin typeface="Times New Roman"/>
              <a:ea typeface="Times New Roman"/>
              <a:cs typeface="Times New Roman"/>
              <a:sym typeface="Times New Roman"/>
            </a:endParaRPr>
          </a:p>
        </p:txBody>
      </p:sp>
      <p:graphicFrame>
        <p:nvGraphicFramePr>
          <p:cNvPr id="240" name="Google Shape;240;p47"/>
          <p:cNvGraphicFramePr/>
          <p:nvPr/>
        </p:nvGraphicFramePr>
        <p:xfrm>
          <a:off x="51900" y="500800"/>
          <a:ext cx="3000000" cy="3000000"/>
        </p:xfrm>
        <a:graphic>
          <a:graphicData uri="http://schemas.openxmlformats.org/drawingml/2006/table">
            <a:tbl>
              <a:tblPr>
                <a:noFill/>
                <a:tableStyleId>{1AB4EEAA-C7D4-4ECF-91C5-392DB34F8957}</a:tableStyleId>
              </a:tblPr>
              <a:tblGrid>
                <a:gridCol w="1808050"/>
                <a:gridCol w="1808050"/>
                <a:gridCol w="1808050"/>
                <a:gridCol w="1808050"/>
                <a:gridCol w="1808050"/>
              </a:tblGrid>
              <a:tr h="569475">
                <a:tc>
                  <a:txBody>
                    <a:bodyPr/>
                    <a:lstStyle/>
                    <a:p>
                      <a:pPr indent="0" lvl="0" marL="0" rtl="0" algn="ctr">
                        <a:lnSpc>
                          <a:spcPct val="115000"/>
                        </a:lnSpc>
                        <a:spcBef>
                          <a:spcPts val="0"/>
                        </a:spcBef>
                        <a:spcAft>
                          <a:spcPts val="0"/>
                        </a:spcAft>
                        <a:buNone/>
                      </a:pPr>
                      <a:r>
                        <a:rPr b="1" lang="en-GB" sz="1800">
                          <a:latin typeface="Calibri"/>
                          <a:ea typeface="Calibri"/>
                          <a:cs typeface="Calibri"/>
                          <a:sym typeface="Calibri"/>
                        </a:rPr>
                        <a:t>Aspect</a:t>
                      </a:r>
                      <a:endParaRPr b="1" sz="1800">
                        <a:latin typeface="Calibri"/>
                        <a:ea typeface="Calibri"/>
                        <a:cs typeface="Calibri"/>
                        <a:sym typeface="Calibri"/>
                      </a:endParaRPr>
                    </a:p>
                  </a:txBody>
                  <a:tcPr marT="91425" marB="91425" marR="91425" marL="91425">
                    <a:noFill/>
                  </a:tcPr>
                </a:tc>
                <a:tc>
                  <a:txBody>
                    <a:bodyPr/>
                    <a:lstStyle/>
                    <a:p>
                      <a:pPr indent="0" lvl="0" marL="0" rtl="0" algn="ctr">
                        <a:lnSpc>
                          <a:spcPct val="115000"/>
                        </a:lnSpc>
                        <a:spcBef>
                          <a:spcPts val="0"/>
                        </a:spcBef>
                        <a:spcAft>
                          <a:spcPts val="0"/>
                        </a:spcAft>
                        <a:buNone/>
                      </a:pPr>
                      <a:r>
                        <a:rPr b="1" lang="en-GB" sz="1800">
                          <a:latin typeface="Calibri"/>
                          <a:ea typeface="Calibri"/>
                          <a:cs typeface="Calibri"/>
                          <a:sym typeface="Calibri"/>
                        </a:rPr>
                        <a:t>UCIe 1.0</a:t>
                      </a:r>
                      <a:endParaRPr b="1" sz="1800">
                        <a:latin typeface="Calibri"/>
                        <a:ea typeface="Calibri"/>
                        <a:cs typeface="Calibri"/>
                        <a:sym typeface="Calibri"/>
                      </a:endParaRPr>
                    </a:p>
                  </a:txBody>
                  <a:tcPr marT="91425" marB="91425" marR="91425" marL="91425">
                    <a:noFill/>
                  </a:tcPr>
                </a:tc>
                <a:tc>
                  <a:txBody>
                    <a:bodyPr/>
                    <a:lstStyle/>
                    <a:p>
                      <a:pPr indent="0" lvl="0" marL="0" rtl="0" algn="ctr">
                        <a:lnSpc>
                          <a:spcPct val="115000"/>
                        </a:lnSpc>
                        <a:spcBef>
                          <a:spcPts val="0"/>
                        </a:spcBef>
                        <a:spcAft>
                          <a:spcPts val="0"/>
                        </a:spcAft>
                        <a:buNone/>
                      </a:pPr>
                      <a:r>
                        <a:rPr b="1" lang="en-GB" sz="1800">
                          <a:latin typeface="Calibri"/>
                          <a:ea typeface="Calibri"/>
                          <a:cs typeface="Calibri"/>
                          <a:sym typeface="Calibri"/>
                        </a:rPr>
                        <a:t>UCIe 1.1</a:t>
                      </a:r>
                      <a:endParaRPr b="1" sz="1800">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b="1" lang="en-GB" sz="1800">
                          <a:latin typeface="Calibri"/>
                          <a:ea typeface="Calibri"/>
                          <a:cs typeface="Calibri"/>
                          <a:sym typeface="Calibri"/>
                        </a:rPr>
                        <a:t>UCIe 2.0</a:t>
                      </a:r>
                      <a:endParaRPr b="1" sz="1800">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b="1" lang="en-GB" sz="1800">
                          <a:latin typeface="Calibri"/>
                          <a:ea typeface="Calibri"/>
                          <a:cs typeface="Calibri"/>
                          <a:sym typeface="Calibri"/>
                        </a:rPr>
                        <a:t>UCIe 3.0</a:t>
                      </a:r>
                      <a:endParaRPr b="1" sz="1800">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noFill/>
                  </a:tcPr>
                </a:tc>
              </a:tr>
              <a:tr h="569475">
                <a:tc>
                  <a:txBody>
                    <a:bodyPr/>
                    <a:lstStyle/>
                    <a:p>
                      <a:pPr indent="0" lvl="0" marL="0" rtl="0" algn="ctr">
                        <a:spcBef>
                          <a:spcPts val="0"/>
                        </a:spcBef>
                        <a:spcAft>
                          <a:spcPts val="0"/>
                        </a:spcAft>
                        <a:buNone/>
                      </a:pPr>
                      <a:r>
                        <a:rPr b="1" lang="en-GB" sz="1600">
                          <a:latin typeface="Calibri"/>
                          <a:ea typeface="Calibri"/>
                          <a:cs typeface="Calibri"/>
                          <a:sym typeface="Calibri"/>
                        </a:rPr>
                        <a:t>Design Focus</a:t>
                      </a:r>
                      <a:endParaRPr b="1" sz="1600">
                        <a:latin typeface="Calibri"/>
                        <a:ea typeface="Calibri"/>
                        <a:cs typeface="Calibri"/>
                        <a:sym typeface="Calibri"/>
                      </a:endParaRPr>
                    </a:p>
                  </a:txBody>
                  <a:tcPr marT="91425" marB="91425" marR="91425" marL="91425">
                    <a:noFill/>
                  </a:tcPr>
                </a:tc>
                <a:tc>
                  <a:txBody>
                    <a:bodyPr/>
                    <a:lstStyle/>
                    <a:p>
                      <a:pPr indent="0" lvl="0" marL="0" rtl="0" algn="ctr">
                        <a:spcBef>
                          <a:spcPts val="0"/>
                        </a:spcBef>
                        <a:spcAft>
                          <a:spcPts val="0"/>
                        </a:spcAft>
                        <a:buNone/>
                      </a:pPr>
                      <a:r>
                        <a:rPr lang="en-GB" sz="1600">
                          <a:latin typeface="Calibri"/>
                          <a:ea typeface="Calibri"/>
                          <a:cs typeface="Calibri"/>
                          <a:sym typeface="Calibri"/>
                        </a:rPr>
                        <a:t>Basic chiplet connectivity</a:t>
                      </a:r>
                      <a:endParaRPr>
                        <a:latin typeface="Calibri"/>
                        <a:ea typeface="Calibri"/>
                        <a:cs typeface="Calibri"/>
                        <a:sym typeface="Calibri"/>
                      </a:endParaRPr>
                    </a:p>
                  </a:txBody>
                  <a:tcPr marT="91425" marB="91425" marR="91425" marL="91425">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noFill/>
                  </a:tcPr>
                </a:tc>
                <a:tc>
                  <a:txBody>
                    <a:bodyPr/>
                    <a:lstStyle/>
                    <a:p>
                      <a:pPr indent="0" lvl="0" marL="0" rtl="0" algn="ctr">
                        <a:spcBef>
                          <a:spcPts val="0"/>
                        </a:spcBef>
                        <a:spcAft>
                          <a:spcPts val="0"/>
                        </a:spcAft>
                        <a:buNone/>
                      </a:pPr>
                      <a:r>
                        <a:rPr lang="en-GB" sz="1600">
                          <a:latin typeface="Calibri"/>
                          <a:ea typeface="Calibri"/>
                          <a:cs typeface="Calibri"/>
                          <a:sym typeface="Calibri"/>
                        </a:rPr>
                        <a:t>Refinement &amp; adoption</a:t>
                      </a:r>
                      <a:endParaRPr sz="1600">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ctr">
                        <a:spcBef>
                          <a:spcPts val="0"/>
                        </a:spcBef>
                        <a:spcAft>
                          <a:spcPts val="0"/>
                        </a:spcAft>
                        <a:buNone/>
                      </a:pPr>
                      <a:r>
                        <a:rPr lang="en-GB" sz="1600">
                          <a:latin typeface="Calibri"/>
                          <a:ea typeface="Calibri"/>
                          <a:cs typeface="Calibri"/>
                          <a:sym typeface="Calibri"/>
                        </a:rPr>
                        <a:t>Manageability &amp; DFx</a:t>
                      </a:r>
                      <a:endParaRPr sz="1600">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ctr">
                        <a:spcBef>
                          <a:spcPts val="0"/>
                        </a:spcBef>
                        <a:spcAft>
                          <a:spcPts val="0"/>
                        </a:spcAft>
                        <a:buNone/>
                      </a:pPr>
                      <a:r>
                        <a:rPr lang="en-GB" sz="1600">
                          <a:latin typeface="Calibri"/>
                          <a:ea typeface="Calibri"/>
                          <a:cs typeface="Calibri"/>
                          <a:sym typeface="Calibri"/>
                        </a:rPr>
                        <a:t>Performance, power &amp; scalability</a:t>
                      </a:r>
                      <a:endParaRPr sz="1600">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r>
              <a:tr h="569475">
                <a:tc>
                  <a:txBody>
                    <a:bodyPr/>
                    <a:lstStyle/>
                    <a:p>
                      <a:pPr indent="0" lvl="0" marL="0" rtl="0" algn="ctr">
                        <a:spcBef>
                          <a:spcPts val="0"/>
                        </a:spcBef>
                        <a:spcAft>
                          <a:spcPts val="0"/>
                        </a:spcAft>
                        <a:buNone/>
                      </a:pPr>
                      <a:r>
                        <a:rPr b="1" lang="en-GB" sz="1600">
                          <a:latin typeface="Calibri"/>
                          <a:ea typeface="Calibri"/>
                          <a:cs typeface="Calibri"/>
                          <a:sym typeface="Calibri"/>
                        </a:rPr>
                        <a:t>Max Data Rate</a:t>
                      </a:r>
                      <a:endParaRPr b="1" sz="1600">
                        <a:latin typeface="Calibri"/>
                        <a:ea typeface="Calibri"/>
                        <a:cs typeface="Calibri"/>
                        <a:sym typeface="Calibri"/>
                      </a:endParaRPr>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ctr">
                        <a:spcBef>
                          <a:spcPts val="0"/>
                        </a:spcBef>
                        <a:spcAft>
                          <a:spcPts val="0"/>
                        </a:spcAft>
                        <a:buNone/>
                      </a:pPr>
                      <a:r>
                        <a:rPr lang="en-GB" sz="1600">
                          <a:latin typeface="Calibri"/>
                          <a:ea typeface="Calibri"/>
                          <a:cs typeface="Calibri"/>
                          <a:sym typeface="Calibri"/>
                        </a:rPr>
                        <a:t>Up to 32 GT/s</a:t>
                      </a:r>
                      <a:endParaRPr sz="1600">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ctr">
                        <a:spcBef>
                          <a:spcPts val="0"/>
                        </a:spcBef>
                        <a:spcAft>
                          <a:spcPts val="0"/>
                        </a:spcAft>
                        <a:buNone/>
                      </a:pPr>
                      <a:r>
                        <a:rPr lang="en-GB" sz="1600">
                          <a:latin typeface="Calibri"/>
                          <a:ea typeface="Calibri"/>
                          <a:cs typeface="Calibri"/>
                          <a:sym typeface="Calibri"/>
                        </a:rPr>
                        <a:t>Up to 32 GT/s</a:t>
                      </a:r>
                      <a:endParaRPr sz="1600">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ctr">
                        <a:spcBef>
                          <a:spcPts val="0"/>
                        </a:spcBef>
                        <a:spcAft>
                          <a:spcPts val="0"/>
                        </a:spcAft>
                        <a:buNone/>
                      </a:pPr>
                      <a:r>
                        <a:rPr lang="en-GB" sz="1600">
                          <a:latin typeface="Calibri"/>
                          <a:ea typeface="Calibri"/>
                          <a:cs typeface="Calibri"/>
                          <a:sym typeface="Calibri"/>
                        </a:rPr>
                        <a:t>Up to 32 GT/s</a:t>
                      </a:r>
                      <a:endParaRPr sz="1600">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ctr">
                        <a:spcBef>
                          <a:spcPts val="0"/>
                        </a:spcBef>
                        <a:spcAft>
                          <a:spcPts val="0"/>
                        </a:spcAft>
                        <a:buNone/>
                      </a:pPr>
                      <a:r>
                        <a:rPr b="1" lang="en-GB" sz="1600">
                          <a:latin typeface="Calibri"/>
                          <a:ea typeface="Calibri"/>
                          <a:cs typeface="Calibri"/>
                          <a:sym typeface="Calibri"/>
                        </a:rPr>
                        <a:t>Up to 64 GT/s </a:t>
                      </a:r>
                      <a:r>
                        <a:rPr lang="en-GB" sz="1600">
                          <a:latin typeface="Calibri"/>
                          <a:ea typeface="Calibri"/>
                          <a:cs typeface="Calibri"/>
                          <a:sym typeface="Calibri"/>
                        </a:rPr>
                        <a:t>(also 48 GT/s)</a:t>
                      </a:r>
                      <a:endParaRPr b="1" sz="1600">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r>
              <a:tr h="569475">
                <a:tc>
                  <a:txBody>
                    <a:bodyPr/>
                    <a:lstStyle/>
                    <a:p>
                      <a:pPr indent="0" lvl="0" marL="0" rtl="0" algn="ctr">
                        <a:spcBef>
                          <a:spcPts val="0"/>
                        </a:spcBef>
                        <a:spcAft>
                          <a:spcPts val="0"/>
                        </a:spcAft>
                        <a:buNone/>
                      </a:pPr>
                      <a:r>
                        <a:rPr b="1" lang="en-GB" sz="1600">
                          <a:latin typeface="Calibri"/>
                          <a:ea typeface="Calibri"/>
                          <a:cs typeface="Calibri"/>
                          <a:sym typeface="Calibri"/>
                        </a:rPr>
                        <a:t>Signaling</a:t>
                      </a:r>
                      <a:endParaRPr b="1" sz="1600">
                        <a:latin typeface="Calibri"/>
                        <a:ea typeface="Calibri"/>
                        <a:cs typeface="Calibri"/>
                        <a:sym typeface="Calibri"/>
                      </a:endParaRPr>
                    </a:p>
                  </a:txBody>
                  <a:tcPr marT="91425" marB="91425" marR="91425" marL="91425">
                    <a:noFill/>
                  </a:tcPr>
                </a:tc>
                <a:tc>
                  <a:txBody>
                    <a:bodyPr/>
                    <a:lstStyle/>
                    <a:p>
                      <a:pPr indent="0" lvl="0" marL="0" rtl="0" algn="ctr">
                        <a:spcBef>
                          <a:spcPts val="0"/>
                        </a:spcBef>
                        <a:spcAft>
                          <a:spcPts val="0"/>
                        </a:spcAft>
                        <a:buNone/>
                      </a:pPr>
                      <a:r>
                        <a:rPr lang="en-GB">
                          <a:latin typeface="Calibri"/>
                          <a:ea typeface="Calibri"/>
                          <a:cs typeface="Calibri"/>
                          <a:sym typeface="Calibri"/>
                        </a:rPr>
                        <a:t>NRZ</a:t>
                      </a:r>
                      <a:endParaRPr>
                        <a:latin typeface="Calibri"/>
                        <a:ea typeface="Calibri"/>
                        <a:cs typeface="Calibri"/>
                        <a:sym typeface="Calibri"/>
                      </a:endParaRPr>
                    </a:p>
                  </a:txBody>
                  <a:tcPr marT="91425" marB="91425" marR="91425" marL="91425">
                    <a:lnT cap="flat" cmpd="sng" w="9525">
                      <a:solidFill>
                        <a:srgbClr val="9E9E9E"/>
                      </a:solidFill>
                      <a:prstDash val="solid"/>
                      <a:round/>
                      <a:headEnd len="sm" w="sm" type="none"/>
                      <a:tailEnd len="sm" w="sm" type="none"/>
                    </a:lnT>
                    <a:noFill/>
                  </a:tcPr>
                </a:tc>
                <a:tc>
                  <a:txBody>
                    <a:bodyPr/>
                    <a:lstStyle/>
                    <a:p>
                      <a:pPr indent="0" lvl="0" marL="0" rtl="0" algn="ctr">
                        <a:spcBef>
                          <a:spcPts val="0"/>
                        </a:spcBef>
                        <a:spcAft>
                          <a:spcPts val="0"/>
                        </a:spcAft>
                        <a:buNone/>
                      </a:pPr>
                      <a:r>
                        <a:rPr lang="en-GB">
                          <a:latin typeface="Calibri"/>
                          <a:ea typeface="Calibri"/>
                          <a:cs typeface="Calibri"/>
                          <a:sym typeface="Calibri"/>
                        </a:rPr>
                        <a:t>NRZ</a:t>
                      </a:r>
                      <a:endParaRPr>
                        <a:latin typeface="Calibri"/>
                        <a:ea typeface="Calibri"/>
                        <a:cs typeface="Calibri"/>
                        <a:sym typeface="Calibri"/>
                      </a:endParaRPr>
                    </a:p>
                  </a:txBody>
                  <a:tcPr marT="91425" marB="91425" marR="91425" marL="91425">
                    <a:lnT cap="flat" cmpd="sng" w="9525">
                      <a:solidFill>
                        <a:srgbClr val="9E9E9E"/>
                      </a:solidFill>
                      <a:prstDash val="solid"/>
                      <a:round/>
                      <a:headEnd len="sm" w="sm" type="none"/>
                      <a:tailEnd len="sm" w="sm" type="none"/>
                    </a:lnT>
                    <a:noFill/>
                  </a:tcPr>
                </a:tc>
                <a:tc>
                  <a:txBody>
                    <a:bodyPr/>
                    <a:lstStyle/>
                    <a:p>
                      <a:pPr indent="0" lvl="0" marL="0" rtl="0" algn="ctr">
                        <a:spcBef>
                          <a:spcPts val="0"/>
                        </a:spcBef>
                        <a:spcAft>
                          <a:spcPts val="0"/>
                        </a:spcAft>
                        <a:buNone/>
                      </a:pPr>
                      <a:r>
                        <a:rPr lang="en-GB">
                          <a:latin typeface="Calibri"/>
                          <a:ea typeface="Calibri"/>
                          <a:cs typeface="Calibri"/>
                          <a:sym typeface="Calibri"/>
                        </a:rPr>
                        <a:t>NRZ</a:t>
                      </a:r>
                      <a:endParaRPr>
                        <a:latin typeface="Calibri"/>
                        <a:ea typeface="Calibri"/>
                        <a:cs typeface="Calibri"/>
                        <a:sym typeface="Calibri"/>
                      </a:endParaRPr>
                    </a:p>
                  </a:txBody>
                  <a:tcPr marT="91425" marB="91425" marR="91425" marL="91425">
                    <a:lnT cap="flat" cmpd="sng" w="9525">
                      <a:solidFill>
                        <a:srgbClr val="9E9E9E"/>
                      </a:solidFill>
                      <a:prstDash val="solid"/>
                      <a:round/>
                      <a:headEnd len="sm" w="sm" type="none"/>
                      <a:tailEnd len="sm" w="sm" type="none"/>
                    </a:lnT>
                    <a:noFill/>
                  </a:tcPr>
                </a:tc>
                <a:tc>
                  <a:txBody>
                    <a:bodyPr/>
                    <a:lstStyle/>
                    <a:p>
                      <a:pPr indent="0" lvl="0" marL="0" rtl="0" algn="ctr">
                        <a:spcBef>
                          <a:spcPts val="0"/>
                        </a:spcBef>
                        <a:spcAft>
                          <a:spcPts val="0"/>
                        </a:spcAft>
                        <a:buNone/>
                      </a:pPr>
                      <a:r>
                        <a:rPr lang="en-GB">
                          <a:latin typeface="Calibri"/>
                          <a:ea typeface="Calibri"/>
                          <a:cs typeface="Calibri"/>
                          <a:sym typeface="Calibri"/>
                        </a:rPr>
                        <a:t>NRZ + enhanced EQ</a:t>
                      </a:r>
                      <a:endParaRPr>
                        <a:latin typeface="Calibri"/>
                        <a:ea typeface="Calibri"/>
                        <a:cs typeface="Calibri"/>
                        <a:sym typeface="Calibri"/>
                      </a:endParaRPr>
                    </a:p>
                  </a:txBody>
                  <a:tcPr marT="91425" marB="91425" marR="91425" marL="91425">
                    <a:lnT cap="flat" cmpd="sng" w="9525">
                      <a:solidFill>
                        <a:srgbClr val="9E9E9E"/>
                      </a:solidFill>
                      <a:prstDash val="solid"/>
                      <a:round/>
                      <a:headEnd len="sm" w="sm" type="none"/>
                      <a:tailEnd len="sm" w="sm" type="none"/>
                    </a:lnT>
                    <a:noFill/>
                  </a:tcPr>
                </a:tc>
              </a:tr>
              <a:tr h="569475">
                <a:tc>
                  <a:txBody>
                    <a:bodyPr/>
                    <a:lstStyle/>
                    <a:p>
                      <a:pPr indent="0" lvl="0" marL="0" rtl="0" algn="ctr">
                        <a:spcBef>
                          <a:spcPts val="0"/>
                        </a:spcBef>
                        <a:spcAft>
                          <a:spcPts val="0"/>
                        </a:spcAft>
                        <a:buNone/>
                      </a:pPr>
                      <a:r>
                        <a:rPr b="1" lang="en-GB" sz="1600">
                          <a:latin typeface="Calibri"/>
                          <a:ea typeface="Calibri"/>
                          <a:cs typeface="Calibri"/>
                          <a:sym typeface="Calibri"/>
                        </a:rPr>
                        <a:t>Packaging</a:t>
                      </a:r>
                      <a:endParaRPr b="1" sz="1600">
                        <a:latin typeface="Calibri"/>
                        <a:ea typeface="Calibri"/>
                        <a:cs typeface="Calibri"/>
                        <a:sym typeface="Calibri"/>
                      </a:endParaRPr>
                    </a:p>
                  </a:txBody>
                  <a:tcPr marT="91425" marB="91425" marR="91425" marL="91425">
                    <a:noFill/>
                  </a:tcPr>
                </a:tc>
                <a:tc>
                  <a:txBody>
                    <a:bodyPr/>
                    <a:lstStyle/>
                    <a:p>
                      <a:pPr indent="0" lvl="0" marL="0" rtl="0" algn="ctr">
                        <a:spcBef>
                          <a:spcPts val="0"/>
                        </a:spcBef>
                        <a:spcAft>
                          <a:spcPts val="0"/>
                        </a:spcAft>
                        <a:buNone/>
                      </a:pPr>
                      <a:r>
                        <a:rPr lang="en-GB">
                          <a:latin typeface="Calibri"/>
                          <a:ea typeface="Calibri"/>
                          <a:cs typeface="Calibri"/>
                          <a:sym typeface="Calibri"/>
                        </a:rPr>
                        <a:t>2D / 2.5D</a:t>
                      </a:r>
                      <a:endParaRPr>
                        <a:latin typeface="Calibri"/>
                        <a:ea typeface="Calibri"/>
                        <a:cs typeface="Calibri"/>
                        <a:sym typeface="Calibri"/>
                      </a:endParaRPr>
                    </a:p>
                  </a:txBody>
                  <a:tcPr marT="91425" marB="91425" marR="91425" marL="91425">
                    <a:noFill/>
                  </a:tcPr>
                </a:tc>
                <a:tc>
                  <a:txBody>
                    <a:bodyPr/>
                    <a:lstStyle/>
                    <a:p>
                      <a:pPr indent="0" lvl="0" marL="0" rtl="0" algn="ctr">
                        <a:spcBef>
                          <a:spcPts val="0"/>
                        </a:spcBef>
                        <a:spcAft>
                          <a:spcPts val="0"/>
                        </a:spcAft>
                        <a:buNone/>
                      </a:pPr>
                      <a:r>
                        <a:rPr lang="en-GB">
                          <a:latin typeface="Calibri"/>
                          <a:ea typeface="Calibri"/>
                          <a:cs typeface="Calibri"/>
                          <a:sym typeface="Calibri"/>
                        </a:rPr>
                        <a:t>2D / 2.5D</a:t>
                      </a:r>
                      <a:endParaRPr>
                        <a:latin typeface="Calibri"/>
                        <a:ea typeface="Calibri"/>
                        <a:cs typeface="Calibri"/>
                        <a:sym typeface="Calibri"/>
                      </a:endParaRPr>
                    </a:p>
                  </a:txBody>
                  <a:tcPr marT="91425" marB="91425" marR="91425" marL="91425">
                    <a:noFill/>
                  </a:tcPr>
                </a:tc>
                <a:tc>
                  <a:txBody>
                    <a:bodyPr/>
                    <a:lstStyle/>
                    <a:p>
                      <a:pPr indent="0" lvl="0" marL="0" rtl="0" algn="ctr">
                        <a:spcBef>
                          <a:spcPts val="0"/>
                        </a:spcBef>
                        <a:spcAft>
                          <a:spcPts val="0"/>
                        </a:spcAft>
                        <a:buNone/>
                      </a:pPr>
                      <a:r>
                        <a:rPr lang="en-GB">
                          <a:latin typeface="Calibri"/>
                          <a:ea typeface="Calibri"/>
                          <a:cs typeface="Calibri"/>
                          <a:sym typeface="Calibri"/>
                        </a:rPr>
                        <a:t>2D / 2.5D / 3D</a:t>
                      </a:r>
                      <a:endParaRPr>
                        <a:latin typeface="Calibri"/>
                        <a:ea typeface="Calibri"/>
                        <a:cs typeface="Calibri"/>
                        <a:sym typeface="Calibri"/>
                      </a:endParaRPr>
                    </a:p>
                  </a:txBody>
                  <a:tcPr marT="91425" marB="91425" marR="91425" marL="91425">
                    <a:noFill/>
                  </a:tcPr>
                </a:tc>
                <a:tc>
                  <a:txBody>
                    <a:bodyPr/>
                    <a:lstStyle/>
                    <a:p>
                      <a:pPr indent="0" lvl="0" marL="0" rtl="0" algn="ctr">
                        <a:spcBef>
                          <a:spcPts val="0"/>
                        </a:spcBef>
                        <a:spcAft>
                          <a:spcPts val="0"/>
                        </a:spcAft>
                        <a:buNone/>
                      </a:pPr>
                      <a:r>
                        <a:rPr lang="en-GB">
                          <a:latin typeface="Calibri"/>
                          <a:ea typeface="Calibri"/>
                          <a:cs typeface="Calibri"/>
                          <a:sym typeface="Calibri"/>
                        </a:rPr>
                        <a:t>2D / 2.5D / 3D</a:t>
                      </a:r>
                      <a:endParaRPr>
                        <a:latin typeface="Calibri"/>
                        <a:ea typeface="Calibri"/>
                        <a:cs typeface="Calibri"/>
                        <a:sym typeface="Calibri"/>
                      </a:endParaRPr>
                    </a:p>
                  </a:txBody>
                  <a:tcPr marT="91425" marB="91425" marR="91425" marL="91425">
                    <a:noFill/>
                  </a:tcPr>
                </a:tc>
              </a:tr>
              <a:tr h="569475">
                <a:tc>
                  <a:txBody>
                    <a:bodyPr/>
                    <a:lstStyle/>
                    <a:p>
                      <a:pPr indent="0" lvl="0" marL="0" rtl="0" algn="ctr">
                        <a:spcBef>
                          <a:spcPts val="0"/>
                        </a:spcBef>
                        <a:spcAft>
                          <a:spcPts val="0"/>
                        </a:spcAft>
                        <a:buNone/>
                      </a:pPr>
                      <a:r>
                        <a:rPr b="1" lang="en-GB" sz="1600">
                          <a:latin typeface="Calibri"/>
                          <a:ea typeface="Calibri"/>
                          <a:cs typeface="Calibri"/>
                          <a:sym typeface="Calibri"/>
                        </a:rPr>
                        <a:t>Topology</a:t>
                      </a:r>
                      <a:endParaRPr b="1" sz="1600">
                        <a:latin typeface="Calibri"/>
                        <a:ea typeface="Calibri"/>
                        <a:cs typeface="Calibri"/>
                        <a:sym typeface="Calibri"/>
                      </a:endParaRPr>
                    </a:p>
                  </a:txBody>
                  <a:tcPr marT="91425" marB="91425" marR="91425" marL="91425">
                    <a:noFill/>
                  </a:tcPr>
                </a:tc>
                <a:tc>
                  <a:txBody>
                    <a:bodyPr/>
                    <a:lstStyle/>
                    <a:p>
                      <a:pPr indent="0" lvl="0" marL="0" rtl="0" algn="ctr">
                        <a:spcBef>
                          <a:spcPts val="0"/>
                        </a:spcBef>
                        <a:spcAft>
                          <a:spcPts val="0"/>
                        </a:spcAft>
                        <a:buNone/>
                      </a:pPr>
                      <a:r>
                        <a:rPr lang="en-GB">
                          <a:latin typeface="Calibri"/>
                          <a:ea typeface="Calibri"/>
                          <a:cs typeface="Calibri"/>
                          <a:sym typeface="Calibri"/>
                        </a:rPr>
                        <a:t>Point-to-point</a:t>
                      </a:r>
                      <a:endParaRPr>
                        <a:latin typeface="Calibri"/>
                        <a:ea typeface="Calibri"/>
                        <a:cs typeface="Calibri"/>
                        <a:sym typeface="Calibri"/>
                      </a:endParaRPr>
                    </a:p>
                  </a:txBody>
                  <a:tcPr marT="91425" marB="91425" marR="91425" marL="91425">
                    <a:noFill/>
                  </a:tcPr>
                </a:tc>
                <a:tc>
                  <a:txBody>
                    <a:bodyPr/>
                    <a:lstStyle/>
                    <a:p>
                      <a:pPr indent="0" lvl="0" marL="0" rtl="0" algn="ctr">
                        <a:spcBef>
                          <a:spcPts val="0"/>
                        </a:spcBef>
                        <a:spcAft>
                          <a:spcPts val="0"/>
                        </a:spcAft>
                        <a:buNone/>
                      </a:pPr>
                      <a:r>
                        <a:rPr lang="en-GB">
                          <a:latin typeface="Calibri"/>
                          <a:ea typeface="Calibri"/>
                          <a:cs typeface="Calibri"/>
                          <a:sym typeface="Calibri"/>
                        </a:rPr>
                        <a:t>Point-to-point</a:t>
                      </a:r>
                      <a:endParaRPr>
                        <a:latin typeface="Calibri"/>
                        <a:ea typeface="Calibri"/>
                        <a:cs typeface="Calibri"/>
                        <a:sym typeface="Calibri"/>
                      </a:endParaRPr>
                    </a:p>
                  </a:txBody>
                  <a:tcPr marT="91425" marB="91425" marR="91425" marL="91425">
                    <a:noFill/>
                  </a:tcPr>
                </a:tc>
                <a:tc>
                  <a:txBody>
                    <a:bodyPr/>
                    <a:lstStyle/>
                    <a:p>
                      <a:pPr indent="0" lvl="0" marL="0" rtl="0" algn="ctr">
                        <a:spcBef>
                          <a:spcPts val="0"/>
                        </a:spcBef>
                        <a:spcAft>
                          <a:spcPts val="0"/>
                        </a:spcAft>
                        <a:buNone/>
                      </a:pPr>
                      <a:r>
                        <a:rPr lang="en-GB">
                          <a:latin typeface="Calibri"/>
                          <a:ea typeface="Calibri"/>
                          <a:cs typeface="Calibri"/>
                          <a:sym typeface="Calibri"/>
                        </a:rPr>
                        <a:t>Limited multi-hop</a:t>
                      </a:r>
                      <a:endParaRPr>
                        <a:latin typeface="Calibri"/>
                        <a:ea typeface="Calibri"/>
                        <a:cs typeface="Calibri"/>
                        <a:sym typeface="Calibri"/>
                      </a:endParaRPr>
                    </a:p>
                  </a:txBody>
                  <a:tcPr marT="91425" marB="91425" marR="91425" marL="91425">
                    <a:noFill/>
                  </a:tcPr>
                </a:tc>
                <a:tc>
                  <a:txBody>
                    <a:bodyPr/>
                    <a:lstStyle/>
                    <a:p>
                      <a:pPr indent="0" lvl="0" marL="0" rtl="0" algn="ctr">
                        <a:spcBef>
                          <a:spcPts val="0"/>
                        </a:spcBef>
                        <a:spcAft>
                          <a:spcPts val="0"/>
                        </a:spcAft>
                        <a:buNone/>
                      </a:pPr>
                      <a:r>
                        <a:rPr lang="en-GB">
                          <a:latin typeface="Calibri"/>
                          <a:ea typeface="Calibri"/>
                          <a:cs typeface="Calibri"/>
                          <a:sym typeface="Calibri"/>
                        </a:rPr>
                        <a:t>Star topology</a:t>
                      </a:r>
                      <a:endParaRPr>
                        <a:latin typeface="Calibri"/>
                        <a:ea typeface="Calibri"/>
                        <a:cs typeface="Calibri"/>
                        <a:sym typeface="Calibri"/>
                      </a:endParaRPr>
                    </a:p>
                  </a:txBody>
                  <a:tcPr marT="91425" marB="91425" marR="91425" marL="91425">
                    <a:noFill/>
                  </a:tcPr>
                </a:tc>
              </a:tr>
              <a:tr h="569475">
                <a:tc>
                  <a:txBody>
                    <a:bodyPr/>
                    <a:lstStyle/>
                    <a:p>
                      <a:pPr indent="0" lvl="0" marL="0" rtl="0" algn="ctr">
                        <a:spcBef>
                          <a:spcPts val="0"/>
                        </a:spcBef>
                        <a:spcAft>
                          <a:spcPts val="0"/>
                        </a:spcAft>
                        <a:buNone/>
                      </a:pPr>
                      <a:r>
                        <a:rPr b="1" lang="en-GB" sz="1600">
                          <a:latin typeface="Calibri"/>
                          <a:ea typeface="Calibri"/>
                          <a:cs typeface="Calibri"/>
                          <a:sym typeface="Calibri"/>
                        </a:rPr>
                        <a:t>Sideband Reach</a:t>
                      </a:r>
                      <a:endParaRPr b="1" sz="1600">
                        <a:latin typeface="Calibri"/>
                        <a:ea typeface="Calibri"/>
                        <a:cs typeface="Calibri"/>
                        <a:sym typeface="Calibri"/>
                      </a:endParaRPr>
                    </a:p>
                  </a:txBody>
                  <a:tcPr marT="91425" marB="91425" marR="91425" marL="91425">
                    <a:noFill/>
                  </a:tcPr>
                </a:tc>
                <a:tc>
                  <a:txBody>
                    <a:bodyPr/>
                    <a:lstStyle/>
                    <a:p>
                      <a:pPr indent="0" lvl="0" marL="0" rtl="0" algn="ctr">
                        <a:spcBef>
                          <a:spcPts val="0"/>
                        </a:spcBef>
                        <a:spcAft>
                          <a:spcPts val="0"/>
                        </a:spcAft>
                        <a:buNone/>
                      </a:pPr>
                      <a:r>
                        <a:rPr lang="en-GB">
                          <a:latin typeface="Calibri"/>
                          <a:ea typeface="Calibri"/>
                          <a:cs typeface="Calibri"/>
                          <a:sym typeface="Calibri"/>
                        </a:rPr>
                        <a:t>Short</a:t>
                      </a:r>
                      <a:endParaRPr>
                        <a:latin typeface="Calibri"/>
                        <a:ea typeface="Calibri"/>
                        <a:cs typeface="Calibri"/>
                        <a:sym typeface="Calibri"/>
                      </a:endParaRPr>
                    </a:p>
                  </a:txBody>
                  <a:tcPr marT="91425" marB="91425" marR="91425" marL="91425">
                    <a:noFill/>
                  </a:tcPr>
                </a:tc>
                <a:tc>
                  <a:txBody>
                    <a:bodyPr/>
                    <a:lstStyle/>
                    <a:p>
                      <a:pPr indent="0" lvl="0" marL="0" rtl="0" algn="ctr">
                        <a:spcBef>
                          <a:spcPts val="0"/>
                        </a:spcBef>
                        <a:spcAft>
                          <a:spcPts val="0"/>
                        </a:spcAft>
                        <a:buNone/>
                      </a:pPr>
                      <a:r>
                        <a:rPr lang="en-GB">
                          <a:latin typeface="Calibri"/>
                          <a:ea typeface="Calibri"/>
                          <a:cs typeface="Calibri"/>
                          <a:sym typeface="Calibri"/>
                        </a:rPr>
                        <a:t>Short</a:t>
                      </a:r>
                      <a:endParaRPr>
                        <a:latin typeface="Calibri"/>
                        <a:ea typeface="Calibri"/>
                        <a:cs typeface="Calibri"/>
                        <a:sym typeface="Calibri"/>
                      </a:endParaRPr>
                    </a:p>
                  </a:txBody>
                  <a:tcPr marT="91425" marB="91425" marR="91425" marL="91425">
                    <a:noFill/>
                  </a:tcPr>
                </a:tc>
                <a:tc>
                  <a:txBody>
                    <a:bodyPr/>
                    <a:lstStyle/>
                    <a:p>
                      <a:pPr indent="0" lvl="0" marL="0" rtl="0" algn="ctr">
                        <a:spcBef>
                          <a:spcPts val="0"/>
                        </a:spcBef>
                        <a:spcAft>
                          <a:spcPts val="0"/>
                        </a:spcAft>
                        <a:buNone/>
                      </a:pPr>
                      <a:r>
                        <a:rPr lang="en-GB">
                          <a:latin typeface="Calibri"/>
                          <a:ea typeface="Calibri"/>
                          <a:cs typeface="Calibri"/>
                          <a:sym typeface="Calibri"/>
                        </a:rPr>
                        <a:t>Moderate</a:t>
                      </a:r>
                      <a:endParaRPr>
                        <a:latin typeface="Calibri"/>
                        <a:ea typeface="Calibri"/>
                        <a:cs typeface="Calibri"/>
                        <a:sym typeface="Calibri"/>
                      </a:endParaRPr>
                    </a:p>
                  </a:txBody>
                  <a:tcPr marT="91425" marB="91425" marR="91425" marL="91425">
                    <a:noFill/>
                  </a:tcPr>
                </a:tc>
                <a:tc>
                  <a:txBody>
                    <a:bodyPr/>
                    <a:lstStyle/>
                    <a:p>
                      <a:pPr indent="0" lvl="0" marL="0" rtl="0" algn="ctr">
                        <a:spcBef>
                          <a:spcPts val="0"/>
                        </a:spcBef>
                        <a:spcAft>
                          <a:spcPts val="0"/>
                        </a:spcAft>
                        <a:buNone/>
                      </a:pPr>
                      <a:r>
                        <a:rPr lang="en-GB">
                          <a:latin typeface="Calibri"/>
                          <a:ea typeface="Calibri"/>
                          <a:cs typeface="Calibri"/>
                          <a:sym typeface="Calibri"/>
                        </a:rPr>
                        <a:t>Extended (100 mm)</a:t>
                      </a:r>
                      <a:endParaRPr>
                        <a:latin typeface="Calibri"/>
                        <a:ea typeface="Calibri"/>
                        <a:cs typeface="Calibri"/>
                        <a:sym typeface="Calibri"/>
                      </a:endParaRPr>
                    </a:p>
                  </a:txBody>
                  <a:tcPr marT="91425" marB="91425" marR="91425" marL="91425">
                    <a:no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8"/>
          <p:cNvSpPr txBox="1"/>
          <p:nvPr>
            <p:ph type="title"/>
          </p:nvPr>
        </p:nvSpPr>
        <p:spPr>
          <a:xfrm>
            <a:off x="137275" y="0"/>
            <a:ext cx="8589300" cy="4104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sz="2600"/>
              <a:t>Comparison of UCIe 1.0 &amp; 1.1 &amp; 2.0 &amp;3.0</a:t>
            </a:r>
            <a:endParaRPr sz="2600"/>
          </a:p>
          <a:p>
            <a:pPr indent="0" lvl="0" marL="0" rtl="0" algn="l">
              <a:spcBef>
                <a:spcPts val="1200"/>
              </a:spcBef>
              <a:spcAft>
                <a:spcPts val="0"/>
              </a:spcAft>
              <a:buNone/>
            </a:pPr>
            <a:r>
              <a:t/>
            </a:r>
            <a:endParaRPr sz="2600"/>
          </a:p>
          <a:p>
            <a:pPr indent="0" lvl="0" marL="0" rtl="0" algn="l">
              <a:lnSpc>
                <a:spcPct val="115000"/>
              </a:lnSpc>
              <a:spcBef>
                <a:spcPts val="0"/>
              </a:spcBef>
              <a:spcAft>
                <a:spcPts val="3000"/>
              </a:spcAft>
              <a:buSzPts val="990"/>
              <a:buNone/>
            </a:pPr>
            <a:r>
              <a:t/>
            </a:r>
            <a:endParaRPr sz="2820">
              <a:highlight>
                <a:schemeClr val="lt1"/>
              </a:highlight>
              <a:latin typeface="Times New Roman"/>
              <a:ea typeface="Times New Roman"/>
              <a:cs typeface="Times New Roman"/>
              <a:sym typeface="Times New Roman"/>
            </a:endParaRPr>
          </a:p>
        </p:txBody>
      </p:sp>
      <p:graphicFrame>
        <p:nvGraphicFramePr>
          <p:cNvPr id="246" name="Google Shape;246;p48"/>
          <p:cNvGraphicFramePr/>
          <p:nvPr/>
        </p:nvGraphicFramePr>
        <p:xfrm>
          <a:off x="137275" y="500800"/>
          <a:ext cx="3000000" cy="3000000"/>
        </p:xfrm>
        <a:graphic>
          <a:graphicData uri="http://schemas.openxmlformats.org/drawingml/2006/table">
            <a:tbl>
              <a:tblPr>
                <a:noFill/>
                <a:tableStyleId>{1AB4EEAA-C7D4-4ECF-91C5-392DB34F8957}</a:tableStyleId>
              </a:tblPr>
              <a:tblGrid>
                <a:gridCol w="1790975"/>
                <a:gridCol w="1790975"/>
                <a:gridCol w="1790975"/>
                <a:gridCol w="1790975"/>
                <a:gridCol w="1790975"/>
              </a:tblGrid>
              <a:tr h="627600">
                <a:tc>
                  <a:txBody>
                    <a:bodyPr/>
                    <a:lstStyle/>
                    <a:p>
                      <a:pPr indent="0" lvl="0" marL="0" rtl="0" algn="ctr">
                        <a:lnSpc>
                          <a:spcPct val="115000"/>
                        </a:lnSpc>
                        <a:spcBef>
                          <a:spcPts val="0"/>
                        </a:spcBef>
                        <a:spcAft>
                          <a:spcPts val="0"/>
                        </a:spcAft>
                        <a:buNone/>
                      </a:pPr>
                      <a:r>
                        <a:rPr b="1" lang="en-GB" sz="1800">
                          <a:latin typeface="Calibri"/>
                          <a:ea typeface="Calibri"/>
                          <a:cs typeface="Calibri"/>
                          <a:sym typeface="Calibri"/>
                        </a:rPr>
                        <a:t>Aspect</a:t>
                      </a:r>
                      <a:endParaRPr b="1" sz="1800">
                        <a:latin typeface="Calibri"/>
                        <a:ea typeface="Calibri"/>
                        <a:cs typeface="Calibri"/>
                        <a:sym typeface="Calibri"/>
                      </a:endParaRPr>
                    </a:p>
                  </a:txBody>
                  <a:tcPr marT="91425" marB="91425" marR="91425" marL="91425">
                    <a:lnB cap="flat" cmpd="sng" w="7625">
                      <a:solidFill>
                        <a:srgbClr val="83CAEB"/>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b="1" lang="en-GB" sz="1800">
                          <a:latin typeface="Calibri"/>
                          <a:ea typeface="Calibri"/>
                          <a:cs typeface="Calibri"/>
                          <a:sym typeface="Calibri"/>
                        </a:rPr>
                        <a:t>UCIe 1.0</a:t>
                      </a:r>
                      <a:endParaRPr b="1" sz="1800">
                        <a:latin typeface="Calibri"/>
                        <a:ea typeface="Calibri"/>
                        <a:cs typeface="Calibri"/>
                        <a:sym typeface="Calibri"/>
                      </a:endParaRPr>
                    </a:p>
                  </a:txBody>
                  <a:tcPr marT="91425" marB="91425" marR="91425" marL="91425">
                    <a:lnB cap="flat" cmpd="sng" w="7625">
                      <a:solidFill>
                        <a:srgbClr val="83CAEB"/>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b="1" lang="en-GB" sz="1800">
                          <a:latin typeface="Calibri"/>
                          <a:ea typeface="Calibri"/>
                          <a:cs typeface="Calibri"/>
                          <a:sym typeface="Calibri"/>
                        </a:rPr>
                        <a:t>UCIe 1.1</a:t>
                      </a:r>
                      <a:endParaRPr b="1" sz="1800">
                        <a:latin typeface="Calibri"/>
                        <a:ea typeface="Calibri"/>
                        <a:cs typeface="Calibri"/>
                        <a:sym typeface="Calibri"/>
                      </a:endParaRPr>
                    </a:p>
                  </a:txBody>
                  <a:tcPr marT="91425" marB="91425" marR="91425" marL="91425">
                    <a:lnB cap="flat" cmpd="sng" w="7625">
                      <a:solidFill>
                        <a:srgbClr val="83CAEB"/>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b="1" lang="en-GB" sz="1800">
                          <a:latin typeface="Calibri"/>
                          <a:ea typeface="Calibri"/>
                          <a:cs typeface="Calibri"/>
                          <a:sym typeface="Calibri"/>
                        </a:rPr>
                        <a:t>UCIe 2.0</a:t>
                      </a:r>
                      <a:endParaRPr b="1" sz="1800">
                        <a:latin typeface="Calibri"/>
                        <a:ea typeface="Calibri"/>
                        <a:cs typeface="Calibri"/>
                        <a:sym typeface="Calibri"/>
                      </a:endParaRPr>
                    </a:p>
                  </a:txBody>
                  <a:tcPr marT="91425" marB="91425" marR="91425" marL="91425">
                    <a:lnB cap="flat" cmpd="sng" w="7625">
                      <a:solidFill>
                        <a:srgbClr val="83CAEB"/>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b="1" lang="en-GB" sz="1800">
                          <a:latin typeface="Calibri"/>
                          <a:ea typeface="Calibri"/>
                          <a:cs typeface="Calibri"/>
                          <a:sym typeface="Calibri"/>
                        </a:rPr>
                        <a:t>UCIe 3.0</a:t>
                      </a:r>
                      <a:endParaRPr b="1" sz="1800">
                        <a:latin typeface="Calibri"/>
                        <a:ea typeface="Calibri"/>
                        <a:cs typeface="Calibri"/>
                        <a:sym typeface="Calibri"/>
                      </a:endParaRPr>
                    </a:p>
                  </a:txBody>
                  <a:tcPr marT="91425" marB="91425" marR="91425" marL="91425">
                    <a:lnB cap="flat" cmpd="sng" w="7625">
                      <a:solidFill>
                        <a:srgbClr val="83CAEB"/>
                      </a:solidFill>
                      <a:prstDash val="solid"/>
                      <a:round/>
                      <a:headEnd len="sm" w="sm" type="none"/>
                      <a:tailEnd len="sm" w="sm" type="none"/>
                    </a:lnB>
                    <a:noFill/>
                  </a:tcPr>
                </a:tc>
              </a:tr>
              <a:tr h="627600">
                <a:tc>
                  <a:txBody>
                    <a:bodyPr/>
                    <a:lstStyle/>
                    <a:p>
                      <a:pPr indent="0" lvl="0" marL="63500" marR="63500" rtl="0" algn="l">
                        <a:lnSpc>
                          <a:spcPct val="115000"/>
                        </a:lnSpc>
                        <a:spcBef>
                          <a:spcPts val="0"/>
                        </a:spcBef>
                        <a:spcAft>
                          <a:spcPts val="0"/>
                        </a:spcAft>
                        <a:buNone/>
                      </a:pPr>
                      <a:r>
                        <a:rPr b="1" lang="en-GB" sz="1500">
                          <a:latin typeface="Calibri"/>
                          <a:ea typeface="Calibri"/>
                          <a:cs typeface="Calibri"/>
                          <a:sym typeface="Calibri"/>
                        </a:rPr>
                        <a:t>Manageability </a:t>
                      </a:r>
                      <a:endParaRPr b="1" sz="1500">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c>
                  <a:txBody>
                    <a:bodyPr/>
                    <a:lstStyle/>
                    <a:p>
                      <a:pPr indent="0" lvl="0" marL="63500" marR="63500" rtl="0" algn="ctr">
                        <a:lnSpc>
                          <a:spcPct val="115000"/>
                        </a:lnSpc>
                        <a:spcBef>
                          <a:spcPts val="0"/>
                        </a:spcBef>
                        <a:spcAft>
                          <a:spcPts val="0"/>
                        </a:spcAft>
                        <a:buNone/>
                      </a:pPr>
                      <a:r>
                        <a:rPr lang="en-GB">
                          <a:latin typeface="Calibri"/>
                          <a:ea typeface="Calibri"/>
                          <a:cs typeface="Calibri"/>
                          <a:sym typeface="Calibri"/>
                        </a:rPr>
                        <a:t>Not defined </a:t>
                      </a:r>
                      <a:endParaRPr>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c>
                  <a:txBody>
                    <a:bodyPr/>
                    <a:lstStyle/>
                    <a:p>
                      <a:pPr indent="0" lvl="0" marL="63500" marR="63500" rtl="0" algn="ctr">
                        <a:lnSpc>
                          <a:spcPct val="115000"/>
                        </a:lnSpc>
                        <a:spcBef>
                          <a:spcPts val="0"/>
                        </a:spcBef>
                        <a:spcAft>
                          <a:spcPts val="0"/>
                        </a:spcAft>
                        <a:buNone/>
                      </a:pPr>
                      <a:r>
                        <a:rPr lang="en-GB">
                          <a:latin typeface="Calibri"/>
                          <a:ea typeface="Calibri"/>
                          <a:cs typeface="Calibri"/>
                          <a:sym typeface="Calibri"/>
                        </a:rPr>
                        <a:t>Not defined </a:t>
                      </a:r>
                      <a:endParaRPr>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c>
                  <a:txBody>
                    <a:bodyPr/>
                    <a:lstStyle/>
                    <a:p>
                      <a:pPr indent="0" lvl="0" marL="63500" marR="63500" rtl="0" algn="ctr">
                        <a:lnSpc>
                          <a:spcPct val="115000"/>
                        </a:lnSpc>
                        <a:spcBef>
                          <a:spcPts val="0"/>
                        </a:spcBef>
                        <a:spcAft>
                          <a:spcPts val="0"/>
                        </a:spcAft>
                        <a:buNone/>
                      </a:pPr>
                      <a:r>
                        <a:rPr lang="en-GB">
                          <a:latin typeface="Calibri"/>
                          <a:ea typeface="Calibri"/>
                          <a:cs typeface="Calibri"/>
                          <a:sym typeface="Calibri"/>
                        </a:rPr>
                        <a:t>System-level </a:t>
                      </a:r>
                      <a:endParaRPr>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c>
                  <a:txBody>
                    <a:bodyPr/>
                    <a:lstStyle/>
                    <a:p>
                      <a:pPr indent="0" lvl="0" marL="63500" marR="63500" rtl="0" algn="ctr">
                        <a:lnSpc>
                          <a:spcPct val="115000"/>
                        </a:lnSpc>
                        <a:spcBef>
                          <a:spcPts val="0"/>
                        </a:spcBef>
                        <a:spcAft>
                          <a:spcPts val="0"/>
                        </a:spcAft>
                        <a:buNone/>
                      </a:pPr>
                      <a:r>
                        <a:rPr lang="en-GB">
                          <a:latin typeface="Calibri"/>
                          <a:ea typeface="Calibri"/>
                          <a:cs typeface="Calibri"/>
                          <a:sym typeface="Calibri"/>
                        </a:rPr>
                        <a:t>Advanced </a:t>
                      </a:r>
                      <a:endParaRPr>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r>
              <a:tr h="627600">
                <a:tc>
                  <a:txBody>
                    <a:bodyPr/>
                    <a:lstStyle/>
                    <a:p>
                      <a:pPr indent="0" lvl="0" marL="63500" marR="63500" rtl="0" algn="ctr">
                        <a:lnSpc>
                          <a:spcPct val="115000"/>
                        </a:lnSpc>
                        <a:spcBef>
                          <a:spcPts val="0"/>
                        </a:spcBef>
                        <a:spcAft>
                          <a:spcPts val="0"/>
                        </a:spcAft>
                        <a:buNone/>
                      </a:pPr>
                      <a:r>
                        <a:rPr b="1" lang="en-GB" sz="1000">
                          <a:latin typeface="Calibri"/>
                          <a:ea typeface="Calibri"/>
                          <a:cs typeface="Calibri"/>
                          <a:sym typeface="Calibri"/>
                        </a:rPr>
                        <a:t>DFx </a:t>
                      </a:r>
                      <a:endParaRPr b="1" sz="1000">
                        <a:latin typeface="Calibri"/>
                        <a:ea typeface="Calibri"/>
                        <a:cs typeface="Calibri"/>
                        <a:sym typeface="Calibri"/>
                      </a:endParaRPr>
                    </a:p>
                    <a:p>
                      <a:pPr indent="0" lvl="0" marL="63500" marR="63500" rtl="0" algn="ctr">
                        <a:lnSpc>
                          <a:spcPct val="115000"/>
                        </a:lnSpc>
                        <a:spcBef>
                          <a:spcPts val="0"/>
                        </a:spcBef>
                        <a:spcAft>
                          <a:spcPts val="0"/>
                        </a:spcAft>
                        <a:buNone/>
                      </a:pPr>
                      <a:r>
                        <a:rPr b="1" lang="en-GB" sz="1000">
                          <a:latin typeface="Calibri"/>
                          <a:ea typeface="Calibri"/>
                          <a:cs typeface="Calibri"/>
                          <a:sym typeface="Calibri"/>
                        </a:rPr>
                        <a:t>(Debug, Test, Telemetry)</a:t>
                      </a:r>
                      <a:endParaRPr b="1" sz="1000">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c>
                  <a:txBody>
                    <a:bodyPr/>
                    <a:lstStyle/>
                    <a:p>
                      <a:pPr indent="0" lvl="0" marL="63500" marR="63500" rtl="0" algn="ctr">
                        <a:lnSpc>
                          <a:spcPct val="115000"/>
                        </a:lnSpc>
                        <a:spcBef>
                          <a:spcPts val="0"/>
                        </a:spcBef>
                        <a:spcAft>
                          <a:spcPts val="0"/>
                        </a:spcAft>
                        <a:buNone/>
                      </a:pPr>
                      <a:r>
                        <a:rPr lang="en-GB">
                          <a:latin typeface="Calibri"/>
                          <a:ea typeface="Calibri"/>
                          <a:cs typeface="Calibri"/>
                          <a:sym typeface="Calibri"/>
                        </a:rPr>
                        <a:t>Link-level </a:t>
                      </a:r>
                      <a:endParaRPr>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c>
                  <a:txBody>
                    <a:bodyPr/>
                    <a:lstStyle/>
                    <a:p>
                      <a:pPr indent="0" lvl="0" marL="63500" marR="63500" rtl="0" algn="ctr">
                        <a:lnSpc>
                          <a:spcPct val="115000"/>
                        </a:lnSpc>
                        <a:spcBef>
                          <a:spcPts val="0"/>
                        </a:spcBef>
                        <a:spcAft>
                          <a:spcPts val="0"/>
                        </a:spcAft>
                        <a:buNone/>
                      </a:pPr>
                      <a:r>
                        <a:rPr lang="en-GB">
                          <a:latin typeface="Calibri"/>
                          <a:ea typeface="Calibri"/>
                          <a:cs typeface="Calibri"/>
                          <a:sym typeface="Calibri"/>
                        </a:rPr>
                        <a:t>Improved link-level </a:t>
                      </a:r>
                      <a:endParaRPr>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c>
                  <a:txBody>
                    <a:bodyPr/>
                    <a:lstStyle/>
                    <a:p>
                      <a:pPr indent="0" lvl="0" marL="63500" marR="63500" rtl="0" algn="ctr">
                        <a:lnSpc>
                          <a:spcPct val="115000"/>
                        </a:lnSpc>
                        <a:spcBef>
                          <a:spcPts val="0"/>
                        </a:spcBef>
                        <a:spcAft>
                          <a:spcPts val="0"/>
                        </a:spcAft>
                        <a:buNone/>
                      </a:pPr>
                      <a:r>
                        <a:rPr lang="en-GB">
                          <a:latin typeface="Calibri"/>
                          <a:ea typeface="Calibri"/>
                          <a:cs typeface="Calibri"/>
                          <a:sym typeface="Calibri"/>
                        </a:rPr>
                        <a:t>System-wide DFx </a:t>
                      </a:r>
                      <a:endParaRPr>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c>
                  <a:txBody>
                    <a:bodyPr/>
                    <a:lstStyle/>
                    <a:p>
                      <a:pPr indent="0" lvl="0" marL="63500" marR="63500" rtl="0" algn="ctr">
                        <a:lnSpc>
                          <a:spcPct val="115000"/>
                        </a:lnSpc>
                        <a:spcBef>
                          <a:spcPts val="0"/>
                        </a:spcBef>
                        <a:spcAft>
                          <a:spcPts val="0"/>
                        </a:spcAft>
                        <a:buNone/>
                      </a:pPr>
                      <a:r>
                        <a:rPr lang="en-GB">
                          <a:latin typeface="Calibri"/>
                          <a:ea typeface="Calibri"/>
                          <a:cs typeface="Calibri"/>
                          <a:sym typeface="Calibri"/>
                        </a:rPr>
                        <a:t>Enhanced DFx </a:t>
                      </a:r>
                      <a:endParaRPr>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r>
              <a:tr h="634800">
                <a:tc>
                  <a:txBody>
                    <a:bodyPr/>
                    <a:lstStyle/>
                    <a:p>
                      <a:pPr indent="0" lvl="0" marL="63500" marR="63500" rtl="0" algn="l">
                        <a:lnSpc>
                          <a:spcPct val="115000"/>
                        </a:lnSpc>
                        <a:spcBef>
                          <a:spcPts val="0"/>
                        </a:spcBef>
                        <a:spcAft>
                          <a:spcPts val="0"/>
                        </a:spcAft>
                        <a:buNone/>
                      </a:pPr>
                      <a:r>
                        <a:rPr b="1" lang="en-GB" sz="1500">
                          <a:latin typeface="Calibri"/>
                          <a:ea typeface="Calibri"/>
                          <a:cs typeface="Calibri"/>
                          <a:sym typeface="Calibri"/>
                        </a:rPr>
                        <a:t>Firmware Support </a:t>
                      </a:r>
                      <a:endParaRPr b="1" sz="1500">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c>
                  <a:txBody>
                    <a:bodyPr/>
                    <a:lstStyle/>
                    <a:p>
                      <a:pPr indent="0" lvl="0" marL="63500" marR="63500" rtl="0" algn="ctr">
                        <a:lnSpc>
                          <a:spcPct val="115000"/>
                        </a:lnSpc>
                        <a:spcBef>
                          <a:spcPts val="0"/>
                        </a:spcBef>
                        <a:spcAft>
                          <a:spcPts val="0"/>
                        </a:spcAft>
                        <a:buNone/>
                      </a:pPr>
                      <a:r>
                        <a:rPr lang="en-GB">
                          <a:latin typeface="Calibri"/>
                          <a:ea typeface="Calibri"/>
                          <a:cs typeface="Calibri"/>
                          <a:sym typeface="Calibri"/>
                        </a:rPr>
                        <a:t>Not defined </a:t>
                      </a:r>
                      <a:endParaRPr>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c>
                  <a:txBody>
                    <a:bodyPr/>
                    <a:lstStyle/>
                    <a:p>
                      <a:pPr indent="0" lvl="0" marL="63500" marR="63500" rtl="0" algn="ctr">
                        <a:lnSpc>
                          <a:spcPct val="115000"/>
                        </a:lnSpc>
                        <a:spcBef>
                          <a:spcPts val="0"/>
                        </a:spcBef>
                        <a:spcAft>
                          <a:spcPts val="0"/>
                        </a:spcAft>
                        <a:buNone/>
                      </a:pPr>
                      <a:r>
                        <a:rPr lang="en-GB">
                          <a:latin typeface="Calibri"/>
                          <a:ea typeface="Calibri"/>
                          <a:cs typeface="Calibri"/>
                          <a:sym typeface="Calibri"/>
                        </a:rPr>
                        <a:t>Not defined </a:t>
                      </a:r>
                      <a:endParaRPr>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c>
                  <a:txBody>
                    <a:bodyPr/>
                    <a:lstStyle/>
                    <a:p>
                      <a:pPr indent="0" lvl="0" marL="63500" marR="63500" rtl="0" algn="ctr">
                        <a:lnSpc>
                          <a:spcPct val="115000"/>
                        </a:lnSpc>
                        <a:spcBef>
                          <a:spcPts val="0"/>
                        </a:spcBef>
                        <a:spcAft>
                          <a:spcPts val="0"/>
                        </a:spcAft>
                        <a:buNone/>
                      </a:pPr>
                      <a:r>
                        <a:rPr lang="en-GB">
                          <a:latin typeface="Calibri"/>
                          <a:ea typeface="Calibri"/>
                          <a:cs typeface="Calibri"/>
                          <a:sym typeface="Calibri"/>
                        </a:rPr>
                        <a:t>Limited / vendor-specific </a:t>
                      </a:r>
                      <a:endParaRPr>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c>
                  <a:txBody>
                    <a:bodyPr/>
                    <a:lstStyle/>
                    <a:p>
                      <a:pPr indent="0" lvl="0" marL="63500" marR="63500" rtl="0" algn="ctr">
                        <a:lnSpc>
                          <a:spcPct val="115000"/>
                        </a:lnSpc>
                        <a:spcBef>
                          <a:spcPts val="0"/>
                        </a:spcBef>
                        <a:spcAft>
                          <a:spcPts val="0"/>
                        </a:spcAft>
                        <a:buNone/>
                      </a:pPr>
                      <a:r>
                        <a:rPr lang="en-GB">
                          <a:latin typeface="Calibri"/>
                          <a:ea typeface="Calibri"/>
                          <a:cs typeface="Calibri"/>
                          <a:sym typeface="Calibri"/>
                        </a:rPr>
                        <a:t>Standardized </a:t>
                      </a:r>
                      <a:endParaRPr>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r>
              <a:tr h="647950">
                <a:tc>
                  <a:txBody>
                    <a:bodyPr/>
                    <a:lstStyle/>
                    <a:p>
                      <a:pPr indent="0" lvl="0" marL="63500" marR="63500" rtl="0" algn="l">
                        <a:lnSpc>
                          <a:spcPct val="115000"/>
                        </a:lnSpc>
                        <a:spcBef>
                          <a:spcPts val="0"/>
                        </a:spcBef>
                        <a:spcAft>
                          <a:spcPts val="0"/>
                        </a:spcAft>
                        <a:buNone/>
                      </a:pPr>
                      <a:r>
                        <a:rPr b="1" lang="en-GB" sz="1500">
                          <a:latin typeface="Calibri"/>
                          <a:ea typeface="Calibri"/>
                          <a:cs typeface="Calibri"/>
                          <a:sym typeface="Calibri"/>
                        </a:rPr>
                        <a:t>Continuous Transmission </a:t>
                      </a:r>
                      <a:endParaRPr b="1" sz="1500">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c>
                  <a:txBody>
                    <a:bodyPr/>
                    <a:lstStyle/>
                    <a:p>
                      <a:pPr indent="0" lvl="0" marL="63500" marR="63500" rtl="0" algn="ctr">
                        <a:lnSpc>
                          <a:spcPct val="115000"/>
                        </a:lnSpc>
                        <a:spcBef>
                          <a:spcPts val="0"/>
                        </a:spcBef>
                        <a:spcAft>
                          <a:spcPts val="0"/>
                        </a:spcAft>
                        <a:buNone/>
                      </a:pPr>
                      <a:r>
                        <a:rPr lang="en-GB">
                          <a:latin typeface="Calibri"/>
                          <a:ea typeface="Calibri"/>
                          <a:cs typeface="Calibri"/>
                          <a:sym typeface="Calibri"/>
                        </a:rPr>
                        <a:t>Not defined </a:t>
                      </a:r>
                      <a:endParaRPr>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c>
                  <a:txBody>
                    <a:bodyPr/>
                    <a:lstStyle/>
                    <a:p>
                      <a:pPr indent="0" lvl="0" marL="63500" marR="63500" rtl="0" algn="ctr">
                        <a:lnSpc>
                          <a:spcPct val="115000"/>
                        </a:lnSpc>
                        <a:spcBef>
                          <a:spcPts val="0"/>
                        </a:spcBef>
                        <a:spcAft>
                          <a:spcPts val="0"/>
                        </a:spcAft>
                        <a:buNone/>
                      </a:pPr>
                      <a:r>
                        <a:rPr lang="en-GB">
                          <a:latin typeface="Calibri"/>
                          <a:ea typeface="Calibri"/>
                          <a:cs typeface="Calibri"/>
                          <a:sym typeface="Calibri"/>
                        </a:rPr>
                        <a:t>Not defined </a:t>
                      </a:r>
                      <a:endParaRPr>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c>
                  <a:txBody>
                    <a:bodyPr/>
                    <a:lstStyle/>
                    <a:p>
                      <a:pPr indent="0" lvl="0" marL="63500" marR="63500" rtl="0" algn="ctr">
                        <a:lnSpc>
                          <a:spcPct val="115000"/>
                        </a:lnSpc>
                        <a:spcBef>
                          <a:spcPts val="0"/>
                        </a:spcBef>
                        <a:spcAft>
                          <a:spcPts val="0"/>
                        </a:spcAft>
                        <a:buNone/>
                      </a:pPr>
                      <a:r>
                        <a:rPr lang="en-GB">
                          <a:latin typeface="Calibri"/>
                          <a:ea typeface="Calibri"/>
                          <a:cs typeface="Calibri"/>
                          <a:sym typeface="Calibri"/>
                        </a:rPr>
                        <a:t>Not defined </a:t>
                      </a:r>
                      <a:endParaRPr>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c>
                  <a:txBody>
                    <a:bodyPr/>
                    <a:lstStyle/>
                    <a:p>
                      <a:pPr indent="0" lvl="0" marL="63500" marR="63500" rtl="0" algn="ctr">
                        <a:lnSpc>
                          <a:spcPct val="115000"/>
                        </a:lnSpc>
                        <a:spcBef>
                          <a:spcPts val="0"/>
                        </a:spcBef>
                        <a:spcAft>
                          <a:spcPts val="0"/>
                        </a:spcAft>
                        <a:buNone/>
                      </a:pPr>
                      <a:r>
                        <a:rPr lang="en-GB">
                          <a:latin typeface="Calibri"/>
                          <a:ea typeface="Calibri"/>
                          <a:cs typeface="Calibri"/>
                          <a:sym typeface="Calibri"/>
                        </a:rPr>
                        <a:t>Supported </a:t>
                      </a:r>
                      <a:endParaRPr>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r>
              <a:tr h="647950">
                <a:tc>
                  <a:txBody>
                    <a:bodyPr/>
                    <a:lstStyle/>
                    <a:p>
                      <a:pPr indent="0" lvl="0" marL="63500" marR="63500" rtl="0" algn="l">
                        <a:lnSpc>
                          <a:spcPct val="115000"/>
                        </a:lnSpc>
                        <a:spcBef>
                          <a:spcPts val="0"/>
                        </a:spcBef>
                        <a:spcAft>
                          <a:spcPts val="0"/>
                        </a:spcAft>
                        <a:buNone/>
                      </a:pPr>
                      <a:r>
                        <a:rPr b="1" lang="en-GB" sz="1500">
                          <a:latin typeface="Calibri"/>
                          <a:ea typeface="Calibri"/>
                          <a:cs typeface="Calibri"/>
                          <a:sym typeface="Calibri"/>
                        </a:rPr>
                        <a:t>Power Optimization </a:t>
                      </a:r>
                      <a:endParaRPr b="1" sz="1500">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c>
                  <a:txBody>
                    <a:bodyPr/>
                    <a:lstStyle/>
                    <a:p>
                      <a:pPr indent="0" lvl="0" marL="63500" marR="63500" rtl="0" algn="ctr">
                        <a:lnSpc>
                          <a:spcPct val="115000"/>
                        </a:lnSpc>
                        <a:spcBef>
                          <a:spcPts val="0"/>
                        </a:spcBef>
                        <a:spcAft>
                          <a:spcPts val="0"/>
                        </a:spcAft>
                        <a:buNone/>
                      </a:pPr>
                      <a:r>
                        <a:rPr lang="en-GB">
                          <a:latin typeface="Calibri"/>
                          <a:ea typeface="Calibri"/>
                          <a:cs typeface="Calibri"/>
                          <a:sym typeface="Calibri"/>
                        </a:rPr>
                        <a:t>Basic </a:t>
                      </a:r>
                      <a:endParaRPr>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c>
                  <a:txBody>
                    <a:bodyPr/>
                    <a:lstStyle/>
                    <a:p>
                      <a:pPr indent="0" lvl="0" marL="63500" marR="63500" rtl="0" algn="ctr">
                        <a:lnSpc>
                          <a:spcPct val="115000"/>
                        </a:lnSpc>
                        <a:spcBef>
                          <a:spcPts val="0"/>
                        </a:spcBef>
                        <a:spcAft>
                          <a:spcPts val="0"/>
                        </a:spcAft>
                        <a:buNone/>
                      </a:pPr>
                      <a:r>
                        <a:rPr lang="en-GB">
                          <a:latin typeface="Calibri"/>
                          <a:ea typeface="Calibri"/>
                          <a:cs typeface="Calibri"/>
                          <a:sym typeface="Calibri"/>
                        </a:rPr>
                        <a:t>Basic </a:t>
                      </a:r>
                      <a:endParaRPr>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c>
                  <a:txBody>
                    <a:bodyPr/>
                    <a:lstStyle/>
                    <a:p>
                      <a:pPr indent="0" lvl="0" marL="63500" marR="63500" rtl="0" algn="ctr">
                        <a:lnSpc>
                          <a:spcPct val="115000"/>
                        </a:lnSpc>
                        <a:spcBef>
                          <a:spcPts val="0"/>
                        </a:spcBef>
                        <a:spcAft>
                          <a:spcPts val="0"/>
                        </a:spcAft>
                        <a:buNone/>
                      </a:pPr>
                      <a:r>
                        <a:rPr lang="en-GB">
                          <a:latin typeface="Calibri"/>
                          <a:ea typeface="Calibri"/>
                          <a:cs typeface="Calibri"/>
                          <a:sym typeface="Calibri"/>
                        </a:rPr>
                        <a:t>Improved </a:t>
                      </a:r>
                      <a:endParaRPr>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c>
                  <a:txBody>
                    <a:bodyPr/>
                    <a:lstStyle/>
                    <a:p>
                      <a:pPr indent="0" lvl="0" marL="63500" marR="63500" rtl="0" algn="ctr">
                        <a:lnSpc>
                          <a:spcPct val="115000"/>
                        </a:lnSpc>
                        <a:spcBef>
                          <a:spcPts val="0"/>
                        </a:spcBef>
                        <a:spcAft>
                          <a:spcPts val="0"/>
                        </a:spcAft>
                        <a:buNone/>
                      </a:pPr>
                      <a:r>
                        <a:rPr lang="en-GB">
                          <a:latin typeface="Calibri"/>
                          <a:ea typeface="Calibri"/>
                          <a:cs typeface="Calibri"/>
                          <a:sym typeface="Calibri"/>
                        </a:rPr>
                        <a:t>Advanced </a:t>
                      </a:r>
                      <a:endParaRPr>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r>
              <a:tr h="627600">
                <a:tc>
                  <a:txBody>
                    <a:bodyPr/>
                    <a:lstStyle/>
                    <a:p>
                      <a:pPr indent="0" lvl="0" marL="63500" marR="63500" rtl="0" algn="l">
                        <a:lnSpc>
                          <a:spcPct val="115000"/>
                        </a:lnSpc>
                        <a:spcBef>
                          <a:spcPts val="0"/>
                        </a:spcBef>
                        <a:spcAft>
                          <a:spcPts val="0"/>
                        </a:spcAft>
                        <a:buNone/>
                      </a:pPr>
                      <a:r>
                        <a:rPr b="1" lang="en-GB" sz="1500">
                          <a:latin typeface="Calibri"/>
                          <a:ea typeface="Calibri"/>
                          <a:cs typeface="Calibri"/>
                          <a:sym typeface="Calibri"/>
                        </a:rPr>
                        <a:t>Idle Power (L2) </a:t>
                      </a:r>
                      <a:endParaRPr b="1" sz="1500">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c>
                  <a:txBody>
                    <a:bodyPr/>
                    <a:lstStyle/>
                    <a:p>
                      <a:pPr indent="0" lvl="0" marL="63500" marR="63500" rtl="0" algn="ctr">
                        <a:lnSpc>
                          <a:spcPct val="115000"/>
                        </a:lnSpc>
                        <a:spcBef>
                          <a:spcPts val="0"/>
                        </a:spcBef>
                        <a:spcAft>
                          <a:spcPts val="0"/>
                        </a:spcAft>
                        <a:buNone/>
                      </a:pPr>
                      <a:r>
                        <a:rPr lang="en-GB">
                          <a:latin typeface="Calibri"/>
                          <a:ea typeface="Calibri"/>
                          <a:cs typeface="Calibri"/>
                          <a:sym typeface="Calibri"/>
                        </a:rPr>
                        <a:t>Not defined </a:t>
                      </a:r>
                      <a:endParaRPr>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c>
                  <a:txBody>
                    <a:bodyPr/>
                    <a:lstStyle/>
                    <a:p>
                      <a:pPr indent="0" lvl="0" marL="63500" marR="63500" rtl="0" algn="ctr">
                        <a:lnSpc>
                          <a:spcPct val="115000"/>
                        </a:lnSpc>
                        <a:spcBef>
                          <a:spcPts val="0"/>
                        </a:spcBef>
                        <a:spcAft>
                          <a:spcPts val="0"/>
                        </a:spcAft>
                        <a:buNone/>
                      </a:pPr>
                      <a:r>
                        <a:rPr lang="en-GB">
                          <a:latin typeface="Calibri"/>
                          <a:ea typeface="Calibri"/>
                          <a:cs typeface="Calibri"/>
                          <a:sym typeface="Calibri"/>
                        </a:rPr>
                        <a:t>Not defined </a:t>
                      </a:r>
                      <a:endParaRPr>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c>
                  <a:txBody>
                    <a:bodyPr/>
                    <a:lstStyle/>
                    <a:p>
                      <a:pPr indent="0" lvl="0" marL="63500" marR="63500" rtl="0" algn="ctr">
                        <a:lnSpc>
                          <a:spcPct val="115000"/>
                        </a:lnSpc>
                        <a:spcBef>
                          <a:spcPts val="0"/>
                        </a:spcBef>
                        <a:spcAft>
                          <a:spcPts val="0"/>
                        </a:spcAft>
                        <a:buNone/>
                      </a:pPr>
                      <a:r>
                        <a:rPr lang="en-GB">
                          <a:latin typeface="Calibri"/>
                          <a:ea typeface="Calibri"/>
                          <a:cs typeface="Calibri"/>
                          <a:sym typeface="Calibri"/>
                        </a:rPr>
                        <a:t>Not defined </a:t>
                      </a:r>
                      <a:endParaRPr>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c>
                  <a:txBody>
                    <a:bodyPr/>
                    <a:lstStyle/>
                    <a:p>
                      <a:pPr indent="0" lvl="0" marL="63500" marR="63500" rtl="0" algn="ctr">
                        <a:lnSpc>
                          <a:spcPct val="115000"/>
                        </a:lnSpc>
                        <a:spcBef>
                          <a:spcPts val="0"/>
                        </a:spcBef>
                        <a:spcAft>
                          <a:spcPts val="0"/>
                        </a:spcAft>
                        <a:buNone/>
                      </a:pPr>
                      <a:r>
                        <a:rPr lang="en-GB">
                          <a:latin typeface="Calibri"/>
                          <a:ea typeface="Calibri"/>
                          <a:cs typeface="Calibri"/>
                          <a:sym typeface="Calibri"/>
                        </a:rPr>
                        <a:t>Supported </a:t>
                      </a:r>
                      <a:endParaRPr>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9"/>
          <p:cNvSpPr txBox="1"/>
          <p:nvPr>
            <p:ph type="title"/>
          </p:nvPr>
        </p:nvSpPr>
        <p:spPr>
          <a:xfrm>
            <a:off x="137275" y="0"/>
            <a:ext cx="8589300" cy="4104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sz="2600"/>
              <a:t>Comparison of UCIe 1.0 &amp; 1.1 &amp; 2.0 &amp;3.0</a:t>
            </a:r>
            <a:endParaRPr sz="2600"/>
          </a:p>
          <a:p>
            <a:pPr indent="0" lvl="0" marL="0" rtl="0" algn="l">
              <a:spcBef>
                <a:spcPts val="1200"/>
              </a:spcBef>
              <a:spcAft>
                <a:spcPts val="0"/>
              </a:spcAft>
              <a:buNone/>
            </a:pPr>
            <a:r>
              <a:t/>
            </a:r>
            <a:endParaRPr sz="2600"/>
          </a:p>
          <a:p>
            <a:pPr indent="0" lvl="0" marL="0" rtl="0" algn="l">
              <a:lnSpc>
                <a:spcPct val="115000"/>
              </a:lnSpc>
              <a:spcBef>
                <a:spcPts val="0"/>
              </a:spcBef>
              <a:spcAft>
                <a:spcPts val="3000"/>
              </a:spcAft>
              <a:buSzPts val="990"/>
              <a:buNone/>
            </a:pPr>
            <a:r>
              <a:t/>
            </a:r>
            <a:endParaRPr sz="2820">
              <a:highlight>
                <a:schemeClr val="lt1"/>
              </a:highlight>
              <a:latin typeface="Times New Roman"/>
              <a:ea typeface="Times New Roman"/>
              <a:cs typeface="Times New Roman"/>
              <a:sym typeface="Times New Roman"/>
            </a:endParaRPr>
          </a:p>
        </p:txBody>
      </p:sp>
      <p:graphicFrame>
        <p:nvGraphicFramePr>
          <p:cNvPr id="252" name="Google Shape;252;p49"/>
          <p:cNvGraphicFramePr/>
          <p:nvPr/>
        </p:nvGraphicFramePr>
        <p:xfrm>
          <a:off x="51900" y="500800"/>
          <a:ext cx="3000000" cy="3000000"/>
        </p:xfrm>
        <a:graphic>
          <a:graphicData uri="http://schemas.openxmlformats.org/drawingml/2006/table">
            <a:tbl>
              <a:tblPr>
                <a:noFill/>
                <a:tableStyleId>{1AB4EEAA-C7D4-4ECF-91C5-392DB34F8957}</a:tableStyleId>
              </a:tblPr>
              <a:tblGrid>
                <a:gridCol w="1808050"/>
                <a:gridCol w="1808050"/>
                <a:gridCol w="1808050"/>
                <a:gridCol w="1808050"/>
                <a:gridCol w="1808050"/>
              </a:tblGrid>
              <a:tr h="653150">
                <a:tc>
                  <a:txBody>
                    <a:bodyPr/>
                    <a:lstStyle/>
                    <a:p>
                      <a:pPr indent="0" lvl="0" marL="0" rtl="0" algn="ctr">
                        <a:lnSpc>
                          <a:spcPct val="115000"/>
                        </a:lnSpc>
                        <a:spcBef>
                          <a:spcPts val="0"/>
                        </a:spcBef>
                        <a:spcAft>
                          <a:spcPts val="0"/>
                        </a:spcAft>
                        <a:buNone/>
                      </a:pPr>
                      <a:r>
                        <a:rPr b="1" lang="en-GB" sz="1600">
                          <a:latin typeface="Calibri"/>
                          <a:ea typeface="Calibri"/>
                          <a:cs typeface="Calibri"/>
                          <a:sym typeface="Calibri"/>
                        </a:rPr>
                        <a:t>Aspect</a:t>
                      </a:r>
                      <a:endParaRPr b="1" sz="1600">
                        <a:latin typeface="Calibri"/>
                        <a:ea typeface="Calibri"/>
                        <a:cs typeface="Calibri"/>
                        <a:sym typeface="Calibri"/>
                      </a:endParaRPr>
                    </a:p>
                  </a:txBody>
                  <a:tcPr marT="91425" marB="91425" marR="91425" marL="91425">
                    <a:lnB cap="flat" cmpd="sng" w="7625">
                      <a:solidFill>
                        <a:srgbClr val="83CAEB"/>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b="1" lang="en-GB" sz="1600">
                          <a:latin typeface="Calibri"/>
                          <a:ea typeface="Calibri"/>
                          <a:cs typeface="Calibri"/>
                          <a:sym typeface="Calibri"/>
                        </a:rPr>
                        <a:t>UCIe 1.0</a:t>
                      </a:r>
                      <a:endParaRPr b="1" sz="1600">
                        <a:latin typeface="Calibri"/>
                        <a:ea typeface="Calibri"/>
                        <a:cs typeface="Calibri"/>
                        <a:sym typeface="Calibri"/>
                      </a:endParaRPr>
                    </a:p>
                  </a:txBody>
                  <a:tcPr marT="91425" marB="91425" marR="91425" marL="91425">
                    <a:lnB cap="flat" cmpd="sng" w="7625">
                      <a:solidFill>
                        <a:srgbClr val="83CAEB"/>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b="1" lang="en-GB" sz="1600">
                          <a:latin typeface="Calibri"/>
                          <a:ea typeface="Calibri"/>
                          <a:cs typeface="Calibri"/>
                          <a:sym typeface="Calibri"/>
                        </a:rPr>
                        <a:t>UCIe 1.1</a:t>
                      </a:r>
                      <a:endParaRPr b="1" sz="1600">
                        <a:latin typeface="Calibri"/>
                        <a:ea typeface="Calibri"/>
                        <a:cs typeface="Calibri"/>
                        <a:sym typeface="Calibri"/>
                      </a:endParaRPr>
                    </a:p>
                  </a:txBody>
                  <a:tcPr marT="91425" marB="91425" marR="91425" marL="91425">
                    <a:lnB cap="flat" cmpd="sng" w="7625">
                      <a:solidFill>
                        <a:srgbClr val="83CAEB"/>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b="1" lang="en-GB" sz="1600">
                          <a:latin typeface="Calibri"/>
                          <a:ea typeface="Calibri"/>
                          <a:cs typeface="Calibri"/>
                          <a:sym typeface="Calibri"/>
                        </a:rPr>
                        <a:t>UCIe 2.0</a:t>
                      </a:r>
                      <a:endParaRPr b="1" sz="1600">
                        <a:latin typeface="Calibri"/>
                        <a:ea typeface="Calibri"/>
                        <a:cs typeface="Calibri"/>
                        <a:sym typeface="Calibri"/>
                      </a:endParaRPr>
                    </a:p>
                  </a:txBody>
                  <a:tcPr marT="91425" marB="91425" marR="91425" marL="91425">
                    <a:lnB cap="flat" cmpd="sng" w="7625">
                      <a:solidFill>
                        <a:srgbClr val="83CAEB"/>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b="1" lang="en-GB" sz="1600">
                          <a:latin typeface="Calibri"/>
                          <a:ea typeface="Calibri"/>
                          <a:cs typeface="Calibri"/>
                          <a:sym typeface="Calibri"/>
                        </a:rPr>
                        <a:t>UCIe 3.0</a:t>
                      </a:r>
                      <a:endParaRPr b="1" sz="1600">
                        <a:latin typeface="Calibri"/>
                        <a:ea typeface="Calibri"/>
                        <a:cs typeface="Calibri"/>
                        <a:sym typeface="Calibri"/>
                      </a:endParaRPr>
                    </a:p>
                  </a:txBody>
                  <a:tcPr marT="91425" marB="91425" marR="91425" marL="91425">
                    <a:lnB cap="flat" cmpd="sng" w="7625">
                      <a:solidFill>
                        <a:srgbClr val="83CAEB"/>
                      </a:solidFill>
                      <a:prstDash val="solid"/>
                      <a:round/>
                      <a:headEnd len="sm" w="sm" type="none"/>
                      <a:tailEnd len="sm" w="sm" type="none"/>
                    </a:lnB>
                    <a:noFill/>
                  </a:tcPr>
                </a:tc>
              </a:tr>
              <a:tr h="653150">
                <a:tc>
                  <a:txBody>
                    <a:bodyPr/>
                    <a:lstStyle/>
                    <a:p>
                      <a:pPr indent="0" lvl="0" marL="63500" marR="63500" rtl="0" algn="l">
                        <a:lnSpc>
                          <a:spcPct val="115000"/>
                        </a:lnSpc>
                        <a:spcBef>
                          <a:spcPts val="0"/>
                        </a:spcBef>
                        <a:spcAft>
                          <a:spcPts val="0"/>
                        </a:spcAft>
                        <a:buNone/>
                      </a:pPr>
                      <a:r>
                        <a:rPr b="1" lang="en-GB" sz="1600">
                          <a:latin typeface="Calibri"/>
                          <a:ea typeface="Calibri"/>
                          <a:cs typeface="Calibri"/>
                          <a:sym typeface="Calibri"/>
                        </a:rPr>
                        <a:t>Thermal Protection </a:t>
                      </a:r>
                      <a:endParaRPr b="1" sz="1600">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c>
                  <a:txBody>
                    <a:bodyPr/>
                    <a:lstStyle/>
                    <a:p>
                      <a:pPr indent="0" lvl="0" marL="63500" marR="63500" rtl="0" algn="ctr">
                        <a:lnSpc>
                          <a:spcPct val="115000"/>
                        </a:lnSpc>
                        <a:spcBef>
                          <a:spcPts val="0"/>
                        </a:spcBef>
                        <a:spcAft>
                          <a:spcPts val="0"/>
                        </a:spcAft>
                        <a:buNone/>
                      </a:pPr>
                      <a:r>
                        <a:rPr lang="en-GB" sz="1600">
                          <a:latin typeface="Calibri"/>
                          <a:ea typeface="Calibri"/>
                          <a:cs typeface="Calibri"/>
                          <a:sym typeface="Calibri"/>
                        </a:rPr>
                        <a:t>Not defined </a:t>
                      </a:r>
                      <a:endParaRPr sz="1600">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c>
                  <a:txBody>
                    <a:bodyPr/>
                    <a:lstStyle/>
                    <a:p>
                      <a:pPr indent="0" lvl="0" marL="63500" marR="63500" rtl="0" algn="ctr">
                        <a:lnSpc>
                          <a:spcPct val="115000"/>
                        </a:lnSpc>
                        <a:spcBef>
                          <a:spcPts val="0"/>
                        </a:spcBef>
                        <a:spcAft>
                          <a:spcPts val="0"/>
                        </a:spcAft>
                        <a:buNone/>
                      </a:pPr>
                      <a:r>
                        <a:rPr lang="en-GB" sz="1600">
                          <a:latin typeface="Calibri"/>
                          <a:ea typeface="Calibri"/>
                          <a:cs typeface="Calibri"/>
                          <a:sym typeface="Calibri"/>
                        </a:rPr>
                        <a:t>Not defined </a:t>
                      </a:r>
                      <a:endParaRPr sz="1600">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c>
                  <a:txBody>
                    <a:bodyPr/>
                    <a:lstStyle/>
                    <a:p>
                      <a:pPr indent="0" lvl="0" marL="63500" marR="63500" rtl="0" algn="ctr">
                        <a:lnSpc>
                          <a:spcPct val="115000"/>
                        </a:lnSpc>
                        <a:spcBef>
                          <a:spcPts val="0"/>
                        </a:spcBef>
                        <a:spcAft>
                          <a:spcPts val="0"/>
                        </a:spcAft>
                        <a:buNone/>
                      </a:pPr>
                      <a:r>
                        <a:rPr lang="en-GB" sz="1600">
                          <a:latin typeface="Calibri"/>
                          <a:ea typeface="Calibri"/>
                          <a:cs typeface="Calibri"/>
                          <a:sym typeface="Calibri"/>
                        </a:rPr>
                        <a:t>Not defined </a:t>
                      </a:r>
                      <a:endParaRPr sz="1600">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c>
                  <a:txBody>
                    <a:bodyPr/>
                    <a:lstStyle/>
                    <a:p>
                      <a:pPr indent="0" lvl="0" marL="63500" marR="63500" rtl="0" algn="ctr">
                        <a:lnSpc>
                          <a:spcPct val="115000"/>
                        </a:lnSpc>
                        <a:spcBef>
                          <a:spcPts val="0"/>
                        </a:spcBef>
                        <a:spcAft>
                          <a:spcPts val="0"/>
                        </a:spcAft>
                        <a:buNone/>
                      </a:pPr>
                      <a:r>
                        <a:rPr lang="en-GB" sz="1600">
                          <a:latin typeface="Calibri"/>
                          <a:ea typeface="Calibri"/>
                          <a:cs typeface="Calibri"/>
                          <a:sym typeface="Calibri"/>
                        </a:rPr>
                        <a:t>Fast throttle &amp; shutdown </a:t>
                      </a:r>
                      <a:endParaRPr sz="1600">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r>
              <a:tr h="653150">
                <a:tc>
                  <a:txBody>
                    <a:bodyPr/>
                    <a:lstStyle/>
                    <a:p>
                      <a:pPr indent="0" lvl="0" marL="63500" marR="63500" rtl="0" algn="l">
                        <a:lnSpc>
                          <a:spcPct val="115000"/>
                        </a:lnSpc>
                        <a:spcBef>
                          <a:spcPts val="0"/>
                        </a:spcBef>
                        <a:spcAft>
                          <a:spcPts val="0"/>
                        </a:spcAft>
                        <a:buNone/>
                      </a:pPr>
                      <a:r>
                        <a:rPr b="1" lang="en-GB" sz="1600">
                          <a:latin typeface="Calibri"/>
                          <a:ea typeface="Calibri"/>
                          <a:cs typeface="Calibri"/>
                          <a:sym typeface="Calibri"/>
                        </a:rPr>
                        <a:t>Backward Compatibility </a:t>
                      </a:r>
                      <a:endParaRPr b="1" sz="1600">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c>
                  <a:txBody>
                    <a:bodyPr/>
                    <a:lstStyle/>
                    <a:p>
                      <a:pPr indent="0" lvl="0" marL="63500" marR="63500" rtl="0" algn="ctr">
                        <a:lnSpc>
                          <a:spcPct val="115000"/>
                        </a:lnSpc>
                        <a:spcBef>
                          <a:spcPts val="0"/>
                        </a:spcBef>
                        <a:spcAft>
                          <a:spcPts val="0"/>
                        </a:spcAft>
                        <a:buNone/>
                      </a:pPr>
                      <a:r>
                        <a:rPr lang="en-GB" sz="1600">
                          <a:latin typeface="Calibri"/>
                          <a:ea typeface="Calibri"/>
                          <a:cs typeface="Calibri"/>
                          <a:sym typeface="Calibri"/>
                        </a:rPr>
                        <a:t>— </a:t>
                      </a:r>
                      <a:endParaRPr sz="1600">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c>
                  <a:txBody>
                    <a:bodyPr/>
                    <a:lstStyle/>
                    <a:p>
                      <a:pPr indent="0" lvl="0" marL="63500" marR="63500" rtl="0" algn="ctr">
                        <a:lnSpc>
                          <a:spcPct val="115000"/>
                        </a:lnSpc>
                        <a:spcBef>
                          <a:spcPts val="0"/>
                        </a:spcBef>
                        <a:spcAft>
                          <a:spcPts val="0"/>
                        </a:spcAft>
                        <a:buNone/>
                      </a:pPr>
                      <a:r>
                        <a:rPr lang="en-GB" sz="1600">
                          <a:latin typeface="Calibri"/>
                          <a:ea typeface="Calibri"/>
                          <a:cs typeface="Calibri"/>
                          <a:sym typeface="Calibri"/>
                        </a:rPr>
                        <a:t>With 1.0 </a:t>
                      </a:r>
                      <a:endParaRPr sz="1600">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c>
                  <a:txBody>
                    <a:bodyPr/>
                    <a:lstStyle/>
                    <a:p>
                      <a:pPr indent="0" lvl="0" marL="63500" marR="63500" rtl="0" algn="ctr">
                        <a:lnSpc>
                          <a:spcPct val="115000"/>
                        </a:lnSpc>
                        <a:spcBef>
                          <a:spcPts val="0"/>
                        </a:spcBef>
                        <a:spcAft>
                          <a:spcPts val="0"/>
                        </a:spcAft>
                        <a:buNone/>
                      </a:pPr>
                      <a:r>
                        <a:rPr lang="en-GB" sz="1600">
                          <a:latin typeface="Calibri"/>
                          <a:ea typeface="Calibri"/>
                          <a:cs typeface="Calibri"/>
                          <a:sym typeface="Calibri"/>
                        </a:rPr>
                        <a:t>With 1.x </a:t>
                      </a:r>
                      <a:endParaRPr sz="1600">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c>
                  <a:txBody>
                    <a:bodyPr/>
                    <a:lstStyle/>
                    <a:p>
                      <a:pPr indent="0" lvl="0" marL="63500" marR="63500" rtl="0" algn="ctr">
                        <a:lnSpc>
                          <a:spcPct val="115000"/>
                        </a:lnSpc>
                        <a:spcBef>
                          <a:spcPts val="0"/>
                        </a:spcBef>
                        <a:spcAft>
                          <a:spcPts val="0"/>
                        </a:spcAft>
                        <a:buNone/>
                      </a:pPr>
                      <a:r>
                        <a:rPr lang="en-GB" sz="1600">
                          <a:latin typeface="Calibri"/>
                          <a:ea typeface="Calibri"/>
                          <a:cs typeface="Calibri"/>
                          <a:sym typeface="Calibri"/>
                        </a:rPr>
                        <a:t>With 1.x &amp; 2.0 </a:t>
                      </a:r>
                      <a:endParaRPr sz="1600">
                        <a:latin typeface="Calibri"/>
                        <a:ea typeface="Calibri"/>
                        <a:cs typeface="Calibri"/>
                        <a:sym typeface="Calibri"/>
                      </a:endParaRPr>
                    </a:p>
                  </a:txBody>
                  <a:tcPr marT="91425" marB="91425" marR="91425" marL="91425">
                    <a:lnL cap="flat" cmpd="sng" w="7625">
                      <a:solidFill>
                        <a:srgbClr val="83CAEB"/>
                      </a:solidFill>
                      <a:prstDash val="solid"/>
                      <a:round/>
                      <a:headEnd len="sm" w="sm" type="none"/>
                      <a:tailEnd len="sm" w="sm" type="none"/>
                    </a:lnL>
                    <a:lnR cap="flat" cmpd="sng" w="7625">
                      <a:solidFill>
                        <a:srgbClr val="83CAEB"/>
                      </a:solidFill>
                      <a:prstDash val="solid"/>
                      <a:round/>
                      <a:headEnd len="sm" w="sm" type="none"/>
                      <a:tailEnd len="sm" w="sm" type="none"/>
                    </a:lnR>
                    <a:lnT cap="flat" cmpd="sng" w="7625">
                      <a:solidFill>
                        <a:srgbClr val="83CAEB"/>
                      </a:solidFill>
                      <a:prstDash val="solid"/>
                      <a:round/>
                      <a:headEnd len="sm" w="sm" type="none"/>
                      <a:tailEnd len="sm" w="sm" type="none"/>
                    </a:lnT>
                    <a:lnB cap="flat" cmpd="sng" w="7625">
                      <a:solidFill>
                        <a:srgbClr val="83CAEB"/>
                      </a:solidFill>
                      <a:prstDash val="solid"/>
                      <a:round/>
                      <a:headEnd len="sm" w="sm" type="none"/>
                      <a:tailEnd len="sm" w="sm" type="none"/>
                    </a:lnB>
                    <a:noFill/>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