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9144000" cy="5143500" type="screen16x9"/>
  <p:notesSz cx="6858000" cy="9144000"/>
  <p:embeddedFontLst>
    <p:embeddedFont>
      <p:font typeface="Open Sans" panose="020B0606030504020204" pitchFamily="34" charset="0"/>
      <p:regular r:id="rId16"/>
      <p:bold r:id="rId17"/>
      <p:italic r:id="rId18"/>
      <p:boldItalic r:id="rId19"/>
    </p:embeddedFont>
    <p:embeddedFont>
      <p:font typeface="PT Sans Narrow" panose="020B0506020203020204" pitchFamily="34" charset="0"/>
      <p:regular r:id="rId20"/>
      <p:bold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A79989-81CD-23DD-09FF-9BF100BDE582}" v="1" dt="2026-01-06T11:06:09.938"/>
    <p1510:client id="{8BAB9923-6029-C42B-6102-5E0FF1FAE789}" v="2" dt="2026-01-06T11:07:44.8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3.fntdata"/><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font" Target="fonts/font6.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font" Target="fonts/font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resh Boddu" userId="S::giresh@chipweave.com::ea7ea635-759d-420b-8b9c-43126ae2baca" providerId="AD" clId="Web-{45A79989-81CD-23DD-09FF-9BF100BDE582}"/>
    <pc:docChg chg="modSld">
      <pc:chgData name="Giresh Boddu" userId="S::giresh@chipweave.com::ea7ea635-759d-420b-8b9c-43126ae2baca" providerId="AD" clId="Web-{45A79989-81CD-23DD-09FF-9BF100BDE582}" dt="2026-01-06T11:06:09.938" v="0" actId="20577"/>
      <pc:docMkLst>
        <pc:docMk/>
      </pc:docMkLst>
      <pc:sldChg chg="modSp">
        <pc:chgData name="Giresh Boddu" userId="S::giresh@chipweave.com::ea7ea635-759d-420b-8b9c-43126ae2baca" providerId="AD" clId="Web-{45A79989-81CD-23DD-09FF-9BF100BDE582}" dt="2026-01-06T11:06:09.938" v="0" actId="20577"/>
        <pc:sldMkLst>
          <pc:docMk/>
          <pc:sldMk cId="0" sldId="258"/>
        </pc:sldMkLst>
        <pc:spChg chg="mod">
          <ac:chgData name="Giresh Boddu" userId="S::giresh@chipweave.com::ea7ea635-759d-420b-8b9c-43126ae2baca" providerId="AD" clId="Web-{45A79989-81CD-23DD-09FF-9BF100BDE582}" dt="2026-01-06T11:06:09.938" v="0" actId="20577"/>
          <ac:spMkLst>
            <pc:docMk/>
            <pc:sldMk cId="0" sldId="258"/>
            <ac:spMk id="125" creationId="{00000000-0000-0000-0000-000000000000}"/>
          </ac:spMkLst>
        </pc:spChg>
      </pc:sldChg>
    </pc:docChg>
  </pc:docChgLst>
  <pc:docChgLst>
    <pc:chgData name="Lokesh Kumbaganti" userId="S::lokesh@chipweave.com::9af9a424-b510-4b66-918b-de78c0da00c6" providerId="AD" clId="Web-{8BAB9923-6029-C42B-6102-5E0FF1FAE789}"/>
    <pc:docChg chg="modSld">
      <pc:chgData name="Lokesh Kumbaganti" userId="S::lokesh@chipweave.com::9af9a424-b510-4b66-918b-de78c0da00c6" providerId="AD" clId="Web-{8BAB9923-6029-C42B-6102-5E0FF1FAE789}" dt="2026-01-06T11:07:44.892" v="1" actId="14100"/>
      <pc:docMkLst>
        <pc:docMk/>
      </pc:docMkLst>
      <pc:sldChg chg="modSp">
        <pc:chgData name="Lokesh Kumbaganti" userId="S::lokesh@chipweave.com::9af9a424-b510-4b66-918b-de78c0da00c6" providerId="AD" clId="Web-{8BAB9923-6029-C42B-6102-5E0FF1FAE789}" dt="2026-01-06T11:07:44.892" v="1" actId="14100"/>
        <pc:sldMkLst>
          <pc:docMk/>
          <pc:sldMk cId="0" sldId="261"/>
        </pc:sldMkLst>
        <pc:picChg chg="mod">
          <ac:chgData name="Lokesh Kumbaganti" userId="S::lokesh@chipweave.com::9af9a424-b510-4b66-918b-de78c0da00c6" providerId="AD" clId="Web-{8BAB9923-6029-C42B-6102-5E0FF1FAE789}" dt="2026-01-06T11:07:44.892" v="1" actId="14100"/>
          <ac:picMkLst>
            <pc:docMk/>
            <pc:sldMk cId="0" sldId="261"/>
            <ac:picMk id="146"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b37729ef42_0_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b37729ef42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b37729ef42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b37729ef42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b37729ef42_0_1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b37729ef42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b280558773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b280558773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b37729ef42_0_3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b37729ef42_0_3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b37729ef42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b37729ef42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b37729ef42_0_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b37729ef42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b37729ef42_0_3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b37729ef42_0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b280558773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b280558773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b280558773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b280558773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b37729ef42_0_3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b37729ef42_0_3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b37729ef42_0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b37729ef42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cxnSp>
        <p:nvCxnSpPr>
          <p:cNvPr id="55" name="Google Shape;55;p14"/>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56" name="Google Shape;56;p14"/>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57" name="Google Shape;57;p14"/>
          <p:cNvGrpSpPr/>
          <p:nvPr/>
        </p:nvGrpSpPr>
        <p:grpSpPr>
          <a:xfrm>
            <a:off x="1004144" y="1022025"/>
            <a:ext cx="7136668" cy="152400"/>
            <a:chOff x="1346429" y="1011300"/>
            <a:chExt cx="6452100" cy="152400"/>
          </a:xfrm>
        </p:grpSpPr>
        <p:cxnSp>
          <p:nvCxnSpPr>
            <p:cNvPr id="58" name="Google Shape;58;p14"/>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59" name="Google Shape;59;p14"/>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60" name="Google Shape;60;p14"/>
          <p:cNvGrpSpPr/>
          <p:nvPr/>
        </p:nvGrpSpPr>
        <p:grpSpPr>
          <a:xfrm>
            <a:off x="1004151" y="3969100"/>
            <a:ext cx="7136668" cy="152400"/>
            <a:chOff x="1346435" y="3969088"/>
            <a:chExt cx="6452100" cy="152400"/>
          </a:xfrm>
        </p:grpSpPr>
        <p:cxnSp>
          <p:nvCxnSpPr>
            <p:cNvPr id="61" name="Google Shape;61;p14"/>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62" name="Google Shape;62;p14"/>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63" name="Google Shape;63;p14"/>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64" name="Google Shape;64;p14"/>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65" name="Google Shape;65;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6"/>
        <p:cNvGrpSpPr/>
        <p:nvPr/>
      </p:nvGrpSpPr>
      <p:grpSpPr>
        <a:xfrm>
          <a:off x="0" y="0"/>
          <a:ext cx="0" cy="0"/>
          <a:chOff x="0" y="0"/>
          <a:chExt cx="0" cy="0"/>
        </a:xfrm>
      </p:grpSpPr>
      <p:sp>
        <p:nvSpPr>
          <p:cNvPr id="67" name="Google Shape;67;p15"/>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5"/>
          <p:cNvSpPr txBox="1">
            <a:spLocks noGrp="1"/>
          </p:cNvSpPr>
          <p:nvPr>
            <p:ph type="title"/>
          </p:nvPr>
        </p:nvSpPr>
        <p:spPr>
          <a:xfrm>
            <a:off x="311700" y="814800"/>
            <a:ext cx="8571300" cy="942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a:p>
        </p:txBody>
      </p:sp>
      <p:sp>
        <p:nvSpPr>
          <p:cNvPr id="69" name="Google Shape;69;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0"/>
        <p:cNvGrpSpPr/>
        <p:nvPr/>
      </p:nvGrpSpPr>
      <p:grpSpPr>
        <a:xfrm>
          <a:off x="0" y="0"/>
          <a:ext cx="0" cy="0"/>
          <a:chOff x="0" y="0"/>
          <a:chExt cx="0" cy="0"/>
        </a:xfrm>
      </p:grpSpPr>
      <p:sp>
        <p:nvSpPr>
          <p:cNvPr id="71" name="Google Shape;71;p16"/>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73" name="Google Shape;73;p16"/>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74" name="Google Shape;74;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5"/>
        <p:cNvGrpSpPr/>
        <p:nvPr/>
      </p:nvGrpSpPr>
      <p:grpSpPr>
        <a:xfrm>
          <a:off x="0" y="0"/>
          <a:ext cx="0" cy="0"/>
          <a:chOff x="0" y="0"/>
          <a:chExt cx="0" cy="0"/>
        </a:xfrm>
      </p:grpSpPr>
      <p:sp>
        <p:nvSpPr>
          <p:cNvPr id="76" name="Google Shape;76;p1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77" name="Google Shape;77;p17"/>
          <p:cNvSpPr txBox="1">
            <a:spLocks noGrp="1"/>
          </p:cNvSpPr>
          <p:nvPr>
            <p:ph type="body" idx="1"/>
          </p:nvPr>
        </p:nvSpPr>
        <p:spPr>
          <a:xfrm>
            <a:off x="3117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8" name="Google Shape;78;p17"/>
          <p:cNvSpPr txBox="1">
            <a:spLocks noGrp="1"/>
          </p:cNvSpPr>
          <p:nvPr>
            <p:ph type="body" idx="2"/>
          </p:nvPr>
        </p:nvSpPr>
        <p:spPr>
          <a:xfrm>
            <a:off x="48324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9" name="Google Shape;7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0"/>
        <p:cNvGrpSpPr/>
        <p:nvPr/>
      </p:nvGrpSpPr>
      <p:grpSpPr>
        <a:xfrm>
          <a:off x="0" y="0"/>
          <a:ext cx="0" cy="0"/>
          <a:chOff x="0" y="0"/>
          <a:chExt cx="0" cy="0"/>
        </a:xfrm>
      </p:grpSpPr>
      <p:sp>
        <p:nvSpPr>
          <p:cNvPr id="81" name="Google Shape;81;p1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82" name="Google Shape;8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3"/>
        <p:cNvGrpSpPr/>
        <p:nvPr/>
      </p:nvGrpSpPr>
      <p:grpSpPr>
        <a:xfrm>
          <a:off x="0" y="0"/>
          <a:ext cx="0" cy="0"/>
          <a:chOff x="0" y="0"/>
          <a:chExt cx="0" cy="0"/>
        </a:xfrm>
      </p:grpSpPr>
      <p:sp>
        <p:nvSpPr>
          <p:cNvPr id="84" name="Google Shape;84;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85" name="Google Shape;85;p1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86" name="Google Shape;86;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87"/>
        <p:cNvGrpSpPr/>
        <p:nvPr/>
      </p:nvGrpSpPr>
      <p:grpSpPr>
        <a:xfrm>
          <a:off x="0" y="0"/>
          <a:ext cx="0" cy="0"/>
          <a:chOff x="0" y="0"/>
          <a:chExt cx="0" cy="0"/>
        </a:xfrm>
      </p:grpSpPr>
      <p:sp>
        <p:nvSpPr>
          <p:cNvPr id="88" name="Google Shape;88;p20"/>
          <p:cNvSpPr txBox="1">
            <a:spLocks noGrp="1"/>
          </p:cNvSpPr>
          <p:nvPr>
            <p:ph type="title"/>
          </p:nvPr>
        </p:nvSpPr>
        <p:spPr>
          <a:xfrm>
            <a:off x="490250" y="526350"/>
            <a:ext cx="56136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dk2"/>
              </a:buClr>
              <a:buSzPts val="5400"/>
              <a:buNone/>
              <a:defRPr sz="5400" b="0">
                <a:solidFill>
                  <a:schemeClr val="dk2"/>
                </a:solidFill>
              </a:defRPr>
            </a:lvl1pPr>
            <a:lvl2pPr lvl="1">
              <a:spcBef>
                <a:spcPts val="0"/>
              </a:spcBef>
              <a:spcAft>
                <a:spcPts val="0"/>
              </a:spcAft>
              <a:buClr>
                <a:schemeClr val="dk2"/>
              </a:buClr>
              <a:buSzPts val="5400"/>
              <a:buNone/>
              <a:defRPr sz="5400" b="0">
                <a:solidFill>
                  <a:schemeClr val="dk2"/>
                </a:solidFill>
              </a:defRPr>
            </a:lvl2pPr>
            <a:lvl3pPr lvl="2">
              <a:spcBef>
                <a:spcPts val="0"/>
              </a:spcBef>
              <a:spcAft>
                <a:spcPts val="0"/>
              </a:spcAft>
              <a:buClr>
                <a:schemeClr val="dk2"/>
              </a:buClr>
              <a:buSzPts val="5400"/>
              <a:buNone/>
              <a:defRPr sz="5400" b="0">
                <a:solidFill>
                  <a:schemeClr val="dk2"/>
                </a:solidFill>
              </a:defRPr>
            </a:lvl3pPr>
            <a:lvl4pPr lvl="3">
              <a:spcBef>
                <a:spcPts val="0"/>
              </a:spcBef>
              <a:spcAft>
                <a:spcPts val="0"/>
              </a:spcAft>
              <a:buClr>
                <a:schemeClr val="dk2"/>
              </a:buClr>
              <a:buSzPts val="5400"/>
              <a:buNone/>
              <a:defRPr sz="5400" b="0">
                <a:solidFill>
                  <a:schemeClr val="dk2"/>
                </a:solidFill>
              </a:defRPr>
            </a:lvl4pPr>
            <a:lvl5pPr lvl="4">
              <a:spcBef>
                <a:spcPts val="0"/>
              </a:spcBef>
              <a:spcAft>
                <a:spcPts val="0"/>
              </a:spcAft>
              <a:buClr>
                <a:schemeClr val="dk2"/>
              </a:buClr>
              <a:buSzPts val="5400"/>
              <a:buNone/>
              <a:defRPr sz="5400" b="0">
                <a:solidFill>
                  <a:schemeClr val="dk2"/>
                </a:solidFill>
              </a:defRPr>
            </a:lvl5pPr>
            <a:lvl6pPr lvl="5">
              <a:spcBef>
                <a:spcPts val="0"/>
              </a:spcBef>
              <a:spcAft>
                <a:spcPts val="0"/>
              </a:spcAft>
              <a:buClr>
                <a:schemeClr val="dk2"/>
              </a:buClr>
              <a:buSzPts val="5400"/>
              <a:buNone/>
              <a:defRPr sz="5400" b="0">
                <a:solidFill>
                  <a:schemeClr val="dk2"/>
                </a:solidFill>
              </a:defRPr>
            </a:lvl6pPr>
            <a:lvl7pPr lvl="6">
              <a:spcBef>
                <a:spcPts val="0"/>
              </a:spcBef>
              <a:spcAft>
                <a:spcPts val="0"/>
              </a:spcAft>
              <a:buClr>
                <a:schemeClr val="dk2"/>
              </a:buClr>
              <a:buSzPts val="5400"/>
              <a:buNone/>
              <a:defRPr sz="5400" b="0">
                <a:solidFill>
                  <a:schemeClr val="dk2"/>
                </a:solidFill>
              </a:defRPr>
            </a:lvl7pPr>
            <a:lvl8pPr lvl="7">
              <a:spcBef>
                <a:spcPts val="0"/>
              </a:spcBef>
              <a:spcAft>
                <a:spcPts val="0"/>
              </a:spcAft>
              <a:buClr>
                <a:schemeClr val="dk2"/>
              </a:buClr>
              <a:buSzPts val="5400"/>
              <a:buNone/>
              <a:defRPr sz="5400" b="0">
                <a:solidFill>
                  <a:schemeClr val="dk2"/>
                </a:solidFill>
              </a:defRPr>
            </a:lvl8pPr>
            <a:lvl9pPr lvl="8">
              <a:spcBef>
                <a:spcPts val="0"/>
              </a:spcBef>
              <a:spcAft>
                <a:spcPts val="0"/>
              </a:spcAft>
              <a:buClr>
                <a:schemeClr val="dk2"/>
              </a:buClr>
              <a:buSzPts val="5400"/>
              <a:buNone/>
              <a:defRPr sz="5400" b="0">
                <a:solidFill>
                  <a:schemeClr val="dk2"/>
                </a:solidFill>
              </a:defRPr>
            </a:lvl9pPr>
          </a:lstStyle>
          <a:p>
            <a:endParaRPr/>
          </a:p>
        </p:txBody>
      </p:sp>
      <p:sp>
        <p:nvSpPr>
          <p:cNvPr id="89" name="Google Shape;89;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0"/>
        <p:cNvGrpSpPr/>
        <p:nvPr/>
      </p:nvGrpSpPr>
      <p:grpSpPr>
        <a:xfrm>
          <a:off x="0" y="0"/>
          <a:ext cx="0" cy="0"/>
          <a:chOff x="0" y="0"/>
          <a:chExt cx="0" cy="0"/>
        </a:xfrm>
      </p:grpSpPr>
      <p:sp>
        <p:nvSpPr>
          <p:cNvPr id="91" name="Google Shape;91;p21"/>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2" name="Google Shape;92;p21"/>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93" name="Google Shape;93;p21"/>
          <p:cNvSpPr txBox="1">
            <a:spLocks noGrp="1"/>
          </p:cNvSpPr>
          <p:nvPr>
            <p:ph type="title"/>
          </p:nvPr>
        </p:nvSpPr>
        <p:spPr>
          <a:xfrm>
            <a:off x="265500" y="1039675"/>
            <a:ext cx="4045200" cy="16758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94" name="Google Shape;94;p21"/>
          <p:cNvSpPr txBox="1">
            <a:spLocks noGrp="1"/>
          </p:cNvSpPr>
          <p:nvPr>
            <p:ph type="subTitle" idx="1"/>
          </p:nvPr>
        </p:nvSpPr>
        <p:spPr>
          <a:xfrm>
            <a:off x="265500" y="27268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5" name="Google Shape;95;p2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96" name="Google Shape;96;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7"/>
        <p:cNvGrpSpPr/>
        <p:nvPr/>
      </p:nvGrpSpPr>
      <p:grpSpPr>
        <a:xfrm>
          <a:off x="0" y="0"/>
          <a:ext cx="0" cy="0"/>
          <a:chOff x="0" y="0"/>
          <a:chExt cx="0" cy="0"/>
        </a:xfrm>
      </p:grpSpPr>
      <p:sp>
        <p:nvSpPr>
          <p:cNvPr id="98" name="Google Shape;98;p22"/>
          <p:cNvSpPr txBox="1">
            <a:spLocks noGrp="1"/>
          </p:cNvSpPr>
          <p:nvPr>
            <p:ph type="body" idx="1"/>
          </p:nvPr>
        </p:nvSpPr>
        <p:spPr>
          <a:xfrm>
            <a:off x="311700" y="4230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99" name="Google Shape;99;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0"/>
        <p:cNvGrpSpPr/>
        <p:nvPr/>
      </p:nvGrpSpPr>
      <p:grpSpPr>
        <a:xfrm>
          <a:off x="0" y="0"/>
          <a:ext cx="0" cy="0"/>
          <a:chOff x="0" y="0"/>
          <a:chExt cx="0" cy="0"/>
        </a:xfrm>
      </p:grpSpPr>
      <p:sp>
        <p:nvSpPr>
          <p:cNvPr id="101" name="Google Shape;101;p23"/>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3"/>
          <p:cNvSpPr txBox="1">
            <a:spLocks noGrp="1"/>
          </p:cNvSpPr>
          <p:nvPr>
            <p:ph type="title" hasCustomPrompt="1"/>
          </p:nvPr>
        </p:nvSpPr>
        <p:spPr>
          <a:xfrm>
            <a:off x="311700" y="1304850"/>
            <a:ext cx="85206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103" name="Google Shape;103;p23"/>
          <p:cNvSpPr txBox="1">
            <a:spLocks noGrp="1"/>
          </p:cNvSpPr>
          <p:nvPr>
            <p:ph type="body" idx="1"/>
          </p:nvPr>
        </p:nvSpPr>
        <p:spPr>
          <a:xfrm>
            <a:off x="311700" y="29956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104" name="Google Shape;104;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5"/>
        <p:cNvGrpSpPr/>
        <p:nvPr/>
      </p:nvGrpSpPr>
      <p:grpSpPr>
        <a:xfrm>
          <a:off x="0" y="0"/>
          <a:ext cx="0" cy="0"/>
          <a:chOff x="0" y="0"/>
          <a:chExt cx="0" cy="0"/>
        </a:xfrm>
      </p:grpSpPr>
      <p:sp>
        <p:nvSpPr>
          <p:cNvPr id="106" name="Google Shape;106;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52" name="Google Shape;52;p13"/>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5"/>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GB" sz="5622"/>
              <a:t>          Inter-Integrated</a:t>
            </a:r>
            <a:endParaRPr sz="5622"/>
          </a:p>
          <a:p>
            <a:pPr marL="0" lvl="0" indent="0" algn="l" rtl="0">
              <a:spcBef>
                <a:spcPts val="0"/>
              </a:spcBef>
              <a:spcAft>
                <a:spcPts val="0"/>
              </a:spcAft>
              <a:buNone/>
            </a:pPr>
            <a:r>
              <a:rPr lang="en-GB"/>
              <a:t>        Circuit (I2C) Protocol</a:t>
            </a:r>
            <a:endParaRPr/>
          </a:p>
        </p:txBody>
      </p:sp>
      <p:sp>
        <p:nvSpPr>
          <p:cNvPr id="112" name="Google Shape;112;p25"/>
          <p:cNvSpPr txBox="1">
            <a:spLocks noGrp="1"/>
          </p:cNvSpPr>
          <p:nvPr>
            <p:ph type="subTitle" idx="1"/>
          </p:nvPr>
        </p:nvSpPr>
        <p:spPr>
          <a:xfrm>
            <a:off x="3494400" y="2877375"/>
            <a:ext cx="4297800" cy="792600"/>
          </a:xfrm>
          <a:prstGeom prst="rect">
            <a:avLst/>
          </a:prstGeom>
        </p:spPr>
        <p:txBody>
          <a:bodyPr spcFirstLastPara="1" wrap="square" lIns="91425" tIns="91425" rIns="91425" bIns="91425" anchor="t" anchorCtr="0">
            <a:normAutofit fontScale="55000"/>
          </a:bodyPr>
          <a:lstStyle/>
          <a:p>
            <a:pPr marL="2286000" lvl="0" indent="0" algn="l" rtl="0">
              <a:spcBef>
                <a:spcPts val="0"/>
              </a:spcBef>
              <a:spcAft>
                <a:spcPts val="0"/>
              </a:spcAft>
              <a:buNone/>
            </a:pPr>
            <a:r>
              <a:rPr lang="en-GB" sz="3600" b="1">
                <a:solidFill>
                  <a:schemeClr val="accent1"/>
                </a:solidFill>
                <a:latin typeface="PT Sans Narrow"/>
                <a:ea typeface="PT Sans Narrow"/>
                <a:cs typeface="PT Sans Narrow"/>
                <a:sym typeface="PT Sans Narrow"/>
              </a:rPr>
              <a:t>    K.LOKESH</a:t>
            </a:r>
            <a:endParaRPr sz="3600" b="1">
              <a:solidFill>
                <a:schemeClr val="accent1"/>
              </a:solidFill>
              <a:latin typeface="PT Sans Narrow"/>
              <a:ea typeface="PT Sans Narrow"/>
              <a:cs typeface="PT Sans Narrow"/>
              <a:sym typeface="PT Sans Narrow"/>
            </a:endParaRPr>
          </a:p>
          <a:p>
            <a:pPr marL="1371600" lvl="0" indent="457200" algn="l" rtl="0">
              <a:spcBef>
                <a:spcPts val="0"/>
              </a:spcBef>
              <a:spcAft>
                <a:spcPts val="0"/>
              </a:spcAft>
              <a:buNone/>
            </a:pPr>
            <a:r>
              <a:rPr lang="en-GB" sz="2257" b="1">
                <a:solidFill>
                  <a:schemeClr val="accent1"/>
                </a:solidFill>
                <a:latin typeface="PT Sans Narrow"/>
                <a:ea typeface="PT Sans Narrow"/>
                <a:cs typeface="PT Sans Narrow"/>
                <a:sym typeface="PT Sans Narrow"/>
              </a:rPr>
              <a:t>Chipweave Technologies Private Limited</a:t>
            </a:r>
            <a:endParaRPr sz="2257" b="1">
              <a:solidFill>
                <a:schemeClr val="accent1"/>
              </a:solidFill>
              <a:latin typeface="PT Sans Narrow"/>
              <a:ea typeface="PT Sans Narrow"/>
              <a:cs typeface="PT Sans Narrow"/>
              <a:sym typeface="PT Sans Narrow"/>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115600" y="0"/>
            <a:ext cx="8589300" cy="438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3000"/>
              </a:spcAft>
              <a:buSzPts val="990"/>
              <a:buNone/>
            </a:pPr>
            <a:r>
              <a:rPr lang="en-GB" sz="2420">
                <a:highlight>
                  <a:schemeClr val="lt1"/>
                </a:highlight>
                <a:latin typeface="Times New Roman"/>
                <a:ea typeface="Times New Roman"/>
                <a:cs typeface="Times New Roman"/>
                <a:sym typeface="Times New Roman"/>
              </a:rPr>
              <a:t>Introduction to the I2C Protocol</a:t>
            </a:r>
            <a:endParaRPr sz="3500"/>
          </a:p>
        </p:txBody>
      </p:sp>
      <p:sp>
        <p:nvSpPr>
          <p:cNvPr id="118" name="Google Shape;118;p26"/>
          <p:cNvSpPr txBox="1">
            <a:spLocks noGrp="1"/>
          </p:cNvSpPr>
          <p:nvPr>
            <p:ph type="body" idx="1"/>
          </p:nvPr>
        </p:nvSpPr>
        <p:spPr>
          <a:xfrm>
            <a:off x="115600" y="460175"/>
            <a:ext cx="8925900" cy="4529700"/>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457200" lvl="0" indent="-342900" algn="just" rtl="0">
              <a:lnSpc>
                <a:spcPct val="150000"/>
              </a:lnSpc>
              <a:spcBef>
                <a:spcPts val="0"/>
              </a:spcBef>
              <a:spcAft>
                <a:spcPts val="0"/>
              </a:spcAft>
              <a:buClr>
                <a:srgbClr val="000000"/>
              </a:buClr>
              <a:buSzPts val="1800"/>
              <a:buFont typeface="Times New Roman"/>
              <a:buChar char="●"/>
            </a:pPr>
            <a:r>
              <a:rPr lang="en-GB">
                <a:solidFill>
                  <a:srgbClr val="000000"/>
                </a:solidFill>
                <a:latin typeface="Times New Roman"/>
                <a:ea typeface="Times New Roman"/>
                <a:cs typeface="Times New Roman"/>
                <a:sym typeface="Times New Roman"/>
              </a:rPr>
              <a:t>I²C stands for </a:t>
            </a:r>
            <a:r>
              <a:rPr lang="en-GB" b="1">
                <a:solidFill>
                  <a:srgbClr val="000000"/>
                </a:solidFill>
                <a:latin typeface="Times New Roman"/>
                <a:ea typeface="Times New Roman"/>
                <a:cs typeface="Times New Roman"/>
                <a:sym typeface="Times New Roman"/>
              </a:rPr>
              <a:t>Inter-Integrated Circuit</a:t>
            </a:r>
            <a:endParaRPr>
              <a:solidFill>
                <a:srgbClr val="000000"/>
              </a:solidFill>
              <a:latin typeface="Times New Roman"/>
              <a:ea typeface="Times New Roman"/>
              <a:cs typeface="Times New Roman"/>
              <a:sym typeface="Times New Roman"/>
            </a:endParaRPr>
          </a:p>
          <a:p>
            <a:pPr marL="457200" lvl="0" indent="-342900" algn="just" rtl="0">
              <a:lnSpc>
                <a:spcPct val="150000"/>
              </a:lnSpc>
              <a:spcBef>
                <a:spcPts val="0"/>
              </a:spcBef>
              <a:spcAft>
                <a:spcPts val="0"/>
              </a:spcAft>
              <a:buClr>
                <a:srgbClr val="000000"/>
              </a:buClr>
              <a:buSzPts val="1800"/>
              <a:buFont typeface="Times New Roman"/>
              <a:buChar char="●"/>
            </a:pPr>
            <a:r>
              <a:rPr lang="en-GB">
                <a:solidFill>
                  <a:srgbClr val="000000"/>
                </a:solidFill>
                <a:latin typeface="Times New Roman"/>
                <a:ea typeface="Times New Roman"/>
                <a:cs typeface="Times New Roman"/>
                <a:sym typeface="Times New Roman"/>
              </a:rPr>
              <a:t>It is a </a:t>
            </a:r>
            <a:r>
              <a:rPr lang="en-GB" b="1">
                <a:solidFill>
                  <a:srgbClr val="000000"/>
                </a:solidFill>
                <a:latin typeface="Times New Roman"/>
                <a:ea typeface="Times New Roman"/>
                <a:cs typeface="Times New Roman"/>
                <a:sym typeface="Times New Roman"/>
              </a:rPr>
              <a:t>serial </a:t>
            </a:r>
            <a:r>
              <a:rPr lang="en-GB">
                <a:solidFill>
                  <a:srgbClr val="000000"/>
                </a:solidFill>
                <a:latin typeface="Times New Roman"/>
                <a:ea typeface="Times New Roman"/>
                <a:cs typeface="Times New Roman"/>
                <a:sym typeface="Times New Roman"/>
              </a:rPr>
              <a:t>and </a:t>
            </a:r>
            <a:r>
              <a:rPr lang="en-GB" b="1">
                <a:solidFill>
                  <a:srgbClr val="000000"/>
                </a:solidFill>
                <a:latin typeface="Times New Roman"/>
                <a:ea typeface="Times New Roman"/>
                <a:cs typeface="Times New Roman"/>
                <a:sym typeface="Times New Roman"/>
              </a:rPr>
              <a:t>synchronous</a:t>
            </a:r>
            <a:r>
              <a:rPr lang="en-GB">
                <a:solidFill>
                  <a:srgbClr val="000000"/>
                </a:solidFill>
                <a:latin typeface="Times New Roman"/>
                <a:ea typeface="Times New Roman"/>
                <a:cs typeface="Times New Roman"/>
                <a:sym typeface="Times New Roman"/>
              </a:rPr>
              <a:t> communication protocol</a:t>
            </a:r>
            <a:endParaRPr>
              <a:solidFill>
                <a:srgbClr val="000000"/>
              </a:solidFill>
              <a:latin typeface="Times New Roman"/>
              <a:ea typeface="Times New Roman"/>
              <a:cs typeface="Times New Roman"/>
              <a:sym typeface="Times New Roman"/>
            </a:endParaRPr>
          </a:p>
          <a:p>
            <a:pPr marL="457200" lvl="0" indent="-342900" algn="just" rtl="0">
              <a:lnSpc>
                <a:spcPct val="150000"/>
              </a:lnSpc>
              <a:spcBef>
                <a:spcPts val="0"/>
              </a:spcBef>
              <a:spcAft>
                <a:spcPts val="0"/>
              </a:spcAft>
              <a:buClr>
                <a:srgbClr val="000000"/>
              </a:buClr>
              <a:buSzPts val="1800"/>
              <a:buFont typeface="Times New Roman"/>
              <a:buChar char="●"/>
            </a:pPr>
            <a:r>
              <a:rPr lang="en-GB">
                <a:solidFill>
                  <a:srgbClr val="000000"/>
                </a:solidFill>
                <a:latin typeface="Times New Roman"/>
                <a:ea typeface="Times New Roman"/>
                <a:cs typeface="Times New Roman"/>
                <a:sym typeface="Times New Roman"/>
              </a:rPr>
              <a:t>I2C is a serial communication protocol, so data is transferred bit by bit along a single wire (the SDA line).</a:t>
            </a:r>
            <a:endParaRPr>
              <a:solidFill>
                <a:srgbClr val="000000"/>
              </a:solidFill>
              <a:latin typeface="Times New Roman"/>
              <a:ea typeface="Times New Roman"/>
              <a:cs typeface="Times New Roman"/>
              <a:sym typeface="Times New Roman"/>
            </a:endParaRPr>
          </a:p>
          <a:p>
            <a:pPr marL="457200" lvl="0" indent="-342900" algn="just" rtl="0">
              <a:lnSpc>
                <a:spcPct val="150000"/>
              </a:lnSpc>
              <a:spcBef>
                <a:spcPts val="0"/>
              </a:spcBef>
              <a:spcAft>
                <a:spcPts val="0"/>
              </a:spcAft>
              <a:buClr>
                <a:srgbClr val="000000"/>
              </a:buClr>
              <a:buSzPts val="1800"/>
              <a:buFont typeface="Times New Roman"/>
              <a:buChar char="●"/>
            </a:pPr>
            <a:r>
              <a:rPr lang="en-GB">
                <a:solidFill>
                  <a:srgbClr val="000000"/>
                </a:solidFill>
                <a:latin typeface="Times New Roman"/>
                <a:ea typeface="Times New Roman"/>
                <a:cs typeface="Times New Roman"/>
                <a:sym typeface="Times New Roman"/>
              </a:rPr>
              <a:t>I2C only uses two wires to transmit data between devices:</a:t>
            </a:r>
            <a:endParaRPr>
              <a:solidFill>
                <a:srgbClr val="000000"/>
              </a:solidFill>
              <a:latin typeface="Times New Roman"/>
              <a:ea typeface="Times New Roman"/>
              <a:cs typeface="Times New Roman"/>
              <a:sym typeface="Times New Roman"/>
            </a:endParaRPr>
          </a:p>
          <a:p>
            <a:pPr marL="1828800" lvl="2" indent="-317500" algn="l" rtl="0">
              <a:lnSpc>
                <a:spcPct val="150000"/>
              </a:lnSpc>
              <a:spcBef>
                <a:spcPts val="0"/>
              </a:spcBef>
              <a:spcAft>
                <a:spcPts val="0"/>
              </a:spcAft>
              <a:buClr>
                <a:srgbClr val="000000"/>
              </a:buClr>
              <a:buSzPts val="1400"/>
              <a:buFont typeface="Times New Roman"/>
              <a:buChar char="■"/>
            </a:pPr>
            <a:r>
              <a:rPr lang="en-GB" sz="1500" b="1">
                <a:solidFill>
                  <a:srgbClr val="4B4F58"/>
                </a:solidFill>
                <a:highlight>
                  <a:schemeClr val="lt1"/>
                </a:highlight>
                <a:latin typeface="Arial"/>
                <a:ea typeface="Arial"/>
                <a:cs typeface="Arial"/>
                <a:sym typeface="Arial"/>
              </a:rPr>
              <a:t>SDA (Serial Data)</a:t>
            </a:r>
            <a:r>
              <a:rPr lang="en-GB" sz="1500">
                <a:solidFill>
                  <a:srgbClr val="4B4F58"/>
                </a:solidFill>
                <a:highlight>
                  <a:schemeClr val="lt1"/>
                </a:highlight>
                <a:latin typeface="Arial"/>
                <a:ea typeface="Arial"/>
                <a:cs typeface="Arial"/>
                <a:sym typeface="Arial"/>
              </a:rPr>
              <a:t> – The line for the master                                                        and slave to send and receive data.</a:t>
            </a:r>
            <a:endParaRPr sz="1500">
              <a:solidFill>
                <a:srgbClr val="4B4F58"/>
              </a:solidFill>
              <a:highlight>
                <a:schemeClr val="lt1"/>
              </a:highlight>
              <a:latin typeface="Arial"/>
              <a:ea typeface="Arial"/>
              <a:cs typeface="Arial"/>
              <a:sym typeface="Arial"/>
            </a:endParaRPr>
          </a:p>
          <a:p>
            <a:pPr marL="1828800" lvl="2" indent="-317500" algn="l" rtl="0">
              <a:lnSpc>
                <a:spcPct val="150000"/>
              </a:lnSpc>
              <a:spcBef>
                <a:spcPts val="0"/>
              </a:spcBef>
              <a:spcAft>
                <a:spcPts val="0"/>
              </a:spcAft>
              <a:buClr>
                <a:srgbClr val="000000"/>
              </a:buClr>
              <a:buSzPts val="1400"/>
              <a:buFont typeface="Times New Roman"/>
              <a:buChar char="■"/>
            </a:pPr>
            <a:r>
              <a:rPr lang="en-GB" sz="1500" b="1">
                <a:solidFill>
                  <a:srgbClr val="4B4F58"/>
                </a:solidFill>
                <a:highlight>
                  <a:schemeClr val="lt1"/>
                </a:highlight>
                <a:latin typeface="Arial"/>
                <a:ea typeface="Arial"/>
                <a:cs typeface="Arial"/>
                <a:sym typeface="Arial"/>
              </a:rPr>
              <a:t>SCL (Serial Clock)</a:t>
            </a:r>
            <a:r>
              <a:rPr lang="en-GB" sz="1500">
                <a:solidFill>
                  <a:srgbClr val="4B4F58"/>
                </a:solidFill>
                <a:highlight>
                  <a:schemeClr val="lt1"/>
                </a:highlight>
                <a:latin typeface="Arial"/>
                <a:ea typeface="Arial"/>
                <a:cs typeface="Arial"/>
                <a:sym typeface="Arial"/>
              </a:rPr>
              <a:t> – The line that carries the                                                  clock signal.</a:t>
            </a:r>
            <a:endParaRPr sz="1500">
              <a:solidFill>
                <a:srgbClr val="4B4F58"/>
              </a:solidFill>
              <a:highlight>
                <a:schemeClr val="lt1"/>
              </a:highlight>
              <a:latin typeface="Arial"/>
              <a:ea typeface="Arial"/>
              <a:cs typeface="Arial"/>
              <a:sym typeface="Arial"/>
            </a:endParaRPr>
          </a:p>
          <a:p>
            <a:pPr marL="457200" lvl="0" indent="-342900" algn="just" rtl="0">
              <a:lnSpc>
                <a:spcPct val="150000"/>
              </a:lnSpc>
              <a:spcBef>
                <a:spcPts val="0"/>
              </a:spcBef>
              <a:spcAft>
                <a:spcPts val="0"/>
              </a:spcAft>
              <a:buClr>
                <a:srgbClr val="000000"/>
              </a:buClr>
              <a:buSzPts val="1800"/>
              <a:buFont typeface="Times New Roman"/>
              <a:buChar char="●"/>
            </a:pPr>
            <a:r>
              <a:rPr lang="en-GB">
                <a:solidFill>
                  <a:srgbClr val="000000"/>
                </a:solidFill>
                <a:latin typeface="Times New Roman"/>
                <a:ea typeface="Times New Roman"/>
                <a:cs typeface="Times New Roman"/>
                <a:sym typeface="Times New Roman"/>
              </a:rPr>
              <a:t>Widely used for </a:t>
            </a:r>
            <a:r>
              <a:rPr lang="en-GB" b="1">
                <a:solidFill>
                  <a:srgbClr val="000000"/>
                </a:solidFill>
                <a:latin typeface="Times New Roman"/>
                <a:ea typeface="Times New Roman"/>
                <a:cs typeface="Times New Roman"/>
                <a:sym typeface="Times New Roman"/>
              </a:rPr>
              <a:t>on-board communication</a:t>
            </a:r>
            <a:r>
              <a:rPr lang="en-GB">
                <a:solidFill>
                  <a:srgbClr val="000000"/>
                </a:solidFill>
                <a:latin typeface="Times New Roman"/>
                <a:ea typeface="Times New Roman"/>
                <a:cs typeface="Times New Roman"/>
                <a:sym typeface="Times New Roman"/>
              </a:rPr>
              <a:t> between ICs.</a:t>
            </a:r>
            <a:endParaRPr>
              <a:solidFill>
                <a:srgbClr val="000000"/>
              </a:solidFill>
              <a:latin typeface="Times New Roman"/>
              <a:ea typeface="Times New Roman"/>
              <a:cs typeface="Times New Roman"/>
              <a:sym typeface="Times New Roman"/>
            </a:endParaRPr>
          </a:p>
          <a:p>
            <a:pPr marL="914400" lvl="0" indent="0" algn="just" rtl="0">
              <a:lnSpc>
                <a:spcPct val="150000"/>
              </a:lnSpc>
              <a:spcBef>
                <a:spcPts val="3000"/>
              </a:spcBef>
              <a:spcAft>
                <a:spcPts val="0"/>
              </a:spcAft>
              <a:buNone/>
            </a:pPr>
            <a:endParaRPr b="1">
              <a:solidFill>
                <a:srgbClr val="000000"/>
              </a:solidFill>
              <a:latin typeface="Times New Roman"/>
              <a:ea typeface="Times New Roman"/>
              <a:cs typeface="Times New Roman"/>
              <a:sym typeface="Times New Roman"/>
            </a:endParaRPr>
          </a:p>
          <a:p>
            <a:pPr marL="0" lvl="0" indent="0" algn="just" rtl="0">
              <a:lnSpc>
                <a:spcPct val="115000"/>
              </a:lnSpc>
              <a:spcBef>
                <a:spcPts val="3000"/>
              </a:spcBef>
              <a:spcAft>
                <a:spcPts val="3000"/>
              </a:spcAft>
              <a:buNone/>
            </a:pPr>
            <a:endParaRPr sz="2000">
              <a:solidFill>
                <a:srgbClr val="202122"/>
              </a:solidFill>
              <a:highlight>
                <a:srgbClr val="FFFFFF"/>
              </a:highlight>
              <a:latin typeface="Times New Roman"/>
              <a:ea typeface="Times New Roman"/>
              <a:cs typeface="Times New Roman"/>
              <a:sym typeface="Times New Roman"/>
            </a:endParaRPr>
          </a:p>
        </p:txBody>
      </p:sp>
      <p:pic>
        <p:nvPicPr>
          <p:cNvPr id="119" name="Google Shape;119;p26"/>
          <p:cNvPicPr preferRelativeResize="0"/>
          <p:nvPr/>
        </p:nvPicPr>
        <p:blipFill>
          <a:blip r:embed="rId3">
            <a:alphaModFix/>
          </a:blip>
          <a:stretch>
            <a:fillRect/>
          </a:stretch>
        </p:blipFill>
        <p:spPr>
          <a:xfrm>
            <a:off x="6020500" y="2160750"/>
            <a:ext cx="2956800" cy="22757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7"/>
          <p:cNvSpPr txBox="1">
            <a:spLocks noGrp="1"/>
          </p:cNvSpPr>
          <p:nvPr>
            <p:ph type="title"/>
          </p:nvPr>
        </p:nvSpPr>
        <p:spPr>
          <a:xfrm>
            <a:off x="46900" y="0"/>
            <a:ext cx="8589300" cy="438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3000"/>
              </a:spcAft>
              <a:buSzPts val="990"/>
              <a:buNone/>
            </a:pPr>
            <a:r>
              <a:rPr lang="en-GB" sz="2820">
                <a:highlight>
                  <a:schemeClr val="lt1"/>
                </a:highlight>
                <a:latin typeface="Times New Roman"/>
                <a:ea typeface="Times New Roman"/>
                <a:cs typeface="Times New Roman"/>
                <a:sym typeface="Times New Roman"/>
              </a:rPr>
              <a:t>Introduction to the I2C Protocol</a:t>
            </a:r>
            <a:endParaRPr sz="3900"/>
          </a:p>
        </p:txBody>
      </p:sp>
      <p:sp>
        <p:nvSpPr>
          <p:cNvPr id="125" name="Google Shape;125;p27"/>
          <p:cNvSpPr txBox="1">
            <a:spLocks noGrp="1"/>
          </p:cNvSpPr>
          <p:nvPr>
            <p:ph type="body" idx="1"/>
          </p:nvPr>
        </p:nvSpPr>
        <p:spPr>
          <a:xfrm>
            <a:off x="115600" y="522800"/>
            <a:ext cx="8925900" cy="4467000"/>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457200" lvl="0" indent="-342900" algn="just" rtl="0">
              <a:lnSpc>
                <a:spcPct val="150000"/>
              </a:lnSpc>
              <a:spcBef>
                <a:spcPts val="0"/>
              </a:spcBef>
              <a:spcAft>
                <a:spcPts val="0"/>
              </a:spcAft>
              <a:buClr>
                <a:srgbClr val="000000"/>
              </a:buClr>
              <a:buSzPts val="1800"/>
              <a:buFont typeface="Arial"/>
              <a:buChar char="●"/>
            </a:pPr>
            <a:r>
              <a:rPr lang="en-GB">
                <a:solidFill>
                  <a:srgbClr val="000000"/>
                </a:solidFill>
                <a:latin typeface="Times New Roman"/>
                <a:ea typeface="Times New Roman"/>
                <a:cs typeface="Times New Roman"/>
                <a:sym typeface="Times New Roman"/>
              </a:rPr>
              <a:t>Multiple devices can communicate using the same two I²C lines (SDA and SCL).</a:t>
            </a:r>
            <a:endParaRPr>
              <a:solidFill>
                <a:srgbClr val="000000"/>
              </a:solidFill>
              <a:latin typeface="Times New Roman"/>
              <a:ea typeface="Times New Roman"/>
              <a:cs typeface="Times New Roman"/>
              <a:sym typeface="Times New Roman"/>
            </a:endParaRPr>
          </a:p>
          <a:p>
            <a:pPr marL="457200" lvl="0" indent="-342900" algn="just" rtl="0">
              <a:lnSpc>
                <a:spcPct val="150000"/>
              </a:lnSpc>
              <a:spcBef>
                <a:spcPts val="0"/>
              </a:spcBef>
              <a:spcAft>
                <a:spcPts val="0"/>
              </a:spcAft>
              <a:buClr>
                <a:srgbClr val="000000"/>
              </a:buClr>
              <a:buSzPts val="1800"/>
              <a:buFont typeface="Arial"/>
              <a:buChar char="●"/>
            </a:pPr>
            <a:r>
              <a:rPr lang="en-GB">
                <a:solidFill>
                  <a:srgbClr val="000000"/>
                </a:solidFill>
                <a:latin typeface="Times New Roman"/>
                <a:ea typeface="Times New Roman"/>
                <a:cs typeface="Times New Roman"/>
                <a:sym typeface="Times New Roman"/>
              </a:rPr>
              <a:t>Supports </a:t>
            </a:r>
            <a:r>
              <a:rPr lang="en-GB" b="1">
                <a:solidFill>
                  <a:srgbClr val="000000"/>
                </a:solidFill>
                <a:latin typeface="Times New Roman"/>
                <a:ea typeface="Times New Roman"/>
                <a:cs typeface="Times New Roman"/>
                <a:sym typeface="Times New Roman"/>
              </a:rPr>
              <a:t>bidirectional, half-duplex communication.</a:t>
            </a:r>
            <a:endParaRPr b="1">
              <a:solidFill>
                <a:srgbClr val="000000"/>
              </a:solidFill>
              <a:latin typeface="Times New Roman"/>
              <a:ea typeface="Times New Roman"/>
              <a:cs typeface="Times New Roman"/>
              <a:sym typeface="Times New Roman"/>
            </a:endParaRPr>
          </a:p>
          <a:p>
            <a:pPr marL="457200" lvl="0" indent="-342900" algn="just" rtl="0">
              <a:lnSpc>
                <a:spcPct val="150000"/>
              </a:lnSpc>
              <a:spcBef>
                <a:spcPts val="0"/>
              </a:spcBef>
              <a:spcAft>
                <a:spcPts val="0"/>
              </a:spcAft>
              <a:buClr>
                <a:srgbClr val="000000"/>
              </a:buClr>
              <a:buSzPts val="1800"/>
              <a:buFont typeface="Arial"/>
              <a:buChar char="●"/>
            </a:pPr>
            <a:r>
              <a:rPr lang="en-GB">
                <a:solidFill>
                  <a:srgbClr val="000000"/>
                </a:solidFill>
                <a:latin typeface="Times New Roman"/>
                <a:ea typeface="Times New Roman"/>
                <a:cs typeface="Times New Roman"/>
                <a:sym typeface="Times New Roman"/>
              </a:rPr>
              <a:t>Both </a:t>
            </a:r>
            <a:r>
              <a:rPr lang="en-GB" b="1">
                <a:solidFill>
                  <a:srgbClr val="000000"/>
                </a:solidFill>
                <a:latin typeface="Times New Roman"/>
                <a:ea typeface="Times New Roman"/>
                <a:cs typeface="Times New Roman"/>
                <a:sym typeface="Times New Roman"/>
              </a:rPr>
              <a:t>master and slave devices</a:t>
            </a:r>
            <a:r>
              <a:rPr lang="en-GB">
                <a:solidFill>
                  <a:srgbClr val="000000"/>
                </a:solidFill>
                <a:latin typeface="Times New Roman"/>
                <a:ea typeface="Times New Roman"/>
                <a:cs typeface="Times New Roman"/>
                <a:sym typeface="Times New Roman"/>
              </a:rPr>
              <a:t> can send and receive data.</a:t>
            </a:r>
            <a:endParaRPr b="1">
              <a:solidFill>
                <a:srgbClr val="000000"/>
              </a:solidFill>
              <a:latin typeface="Times New Roman"/>
              <a:ea typeface="Times New Roman"/>
              <a:cs typeface="Times New Roman"/>
              <a:sym typeface="Times New Roman"/>
            </a:endParaRPr>
          </a:p>
          <a:p>
            <a:pPr marL="457200" lvl="0" indent="-342900" algn="just" rtl="0">
              <a:lnSpc>
                <a:spcPct val="150000"/>
              </a:lnSpc>
              <a:spcBef>
                <a:spcPts val="0"/>
              </a:spcBef>
              <a:spcAft>
                <a:spcPts val="0"/>
              </a:spcAft>
              <a:buClr>
                <a:srgbClr val="000000"/>
              </a:buClr>
              <a:buSzPts val="1800"/>
              <a:buFont typeface="Arial"/>
              <a:buChar char="●"/>
            </a:pPr>
            <a:r>
              <a:rPr lang="en-GB">
                <a:solidFill>
                  <a:srgbClr val="000000"/>
                </a:solidFill>
                <a:latin typeface="Times New Roman"/>
                <a:ea typeface="Times New Roman"/>
                <a:cs typeface="Times New Roman"/>
                <a:sym typeface="Times New Roman"/>
              </a:rPr>
              <a:t>Can operate at </a:t>
            </a:r>
            <a:r>
              <a:rPr lang="en-GB" b="1">
                <a:solidFill>
                  <a:srgbClr val="000000"/>
                </a:solidFill>
                <a:latin typeface="Times New Roman"/>
                <a:ea typeface="Times New Roman"/>
                <a:cs typeface="Times New Roman"/>
                <a:sym typeface="Times New Roman"/>
              </a:rPr>
              <a:t>different speed modes</a:t>
            </a:r>
            <a:r>
              <a:rPr lang="en-GB">
                <a:solidFill>
                  <a:srgbClr val="000000"/>
                </a:solidFill>
                <a:latin typeface="Times New Roman"/>
                <a:ea typeface="Times New Roman"/>
                <a:cs typeface="Times New Roman"/>
                <a:sym typeface="Times New Roman"/>
              </a:rPr>
              <a:t>:</a:t>
            </a:r>
            <a:endParaRPr>
              <a:solidFill>
                <a:srgbClr val="000000"/>
              </a:solidFill>
              <a:latin typeface="Times New Roman"/>
              <a:ea typeface="Times New Roman"/>
              <a:cs typeface="Times New Roman"/>
              <a:sym typeface="Times New Roman"/>
            </a:endParaRPr>
          </a:p>
          <a:p>
            <a:pPr marL="1371600" lvl="2" indent="-342900" algn="just" rtl="0">
              <a:lnSpc>
                <a:spcPct val="150000"/>
              </a:lnSpc>
              <a:spcBef>
                <a:spcPts val="0"/>
              </a:spcBef>
              <a:spcAft>
                <a:spcPts val="0"/>
              </a:spcAft>
              <a:buClr>
                <a:srgbClr val="000000"/>
              </a:buClr>
              <a:buSzPts val="1800"/>
              <a:buFont typeface="Arial"/>
              <a:buChar char="■"/>
            </a:pPr>
            <a:r>
              <a:rPr lang="en-GB" sz="1800">
                <a:solidFill>
                  <a:srgbClr val="000000"/>
                </a:solidFill>
                <a:latin typeface="Times New Roman"/>
                <a:ea typeface="Times New Roman"/>
                <a:cs typeface="Times New Roman"/>
                <a:sym typeface="Times New Roman"/>
              </a:rPr>
              <a:t>Up to </a:t>
            </a:r>
            <a:r>
              <a:rPr lang="en-GB" sz="1800" b="1">
                <a:solidFill>
                  <a:srgbClr val="000000"/>
                </a:solidFill>
                <a:latin typeface="Times New Roman"/>
                <a:ea typeface="Times New Roman"/>
                <a:cs typeface="Times New Roman"/>
                <a:sym typeface="Times New Roman"/>
              </a:rPr>
              <a:t>100 kbit/s</a:t>
            </a:r>
            <a:r>
              <a:rPr lang="en-GB" sz="1800">
                <a:solidFill>
                  <a:srgbClr val="000000"/>
                </a:solidFill>
                <a:latin typeface="Times New Roman"/>
                <a:ea typeface="Times New Roman"/>
                <a:cs typeface="Times New Roman"/>
                <a:sym typeface="Times New Roman"/>
              </a:rPr>
              <a:t> in </a:t>
            </a:r>
            <a:r>
              <a:rPr lang="en-GB" sz="1800" b="1">
                <a:solidFill>
                  <a:srgbClr val="000000"/>
                </a:solidFill>
                <a:latin typeface="Times New Roman"/>
                <a:ea typeface="Times New Roman"/>
                <a:cs typeface="Times New Roman"/>
                <a:sym typeface="Times New Roman"/>
              </a:rPr>
              <a:t>Standard Mode</a:t>
            </a:r>
            <a:endParaRPr sz="1800" b="1">
              <a:solidFill>
                <a:srgbClr val="000000"/>
              </a:solidFill>
              <a:latin typeface="Times New Roman"/>
              <a:ea typeface="Times New Roman"/>
              <a:cs typeface="Times New Roman"/>
              <a:sym typeface="Times New Roman"/>
            </a:endParaRPr>
          </a:p>
          <a:p>
            <a:pPr marL="1371600" lvl="2" indent="-342900" algn="just" rtl="0">
              <a:lnSpc>
                <a:spcPct val="150000"/>
              </a:lnSpc>
              <a:spcBef>
                <a:spcPts val="0"/>
              </a:spcBef>
              <a:spcAft>
                <a:spcPts val="0"/>
              </a:spcAft>
              <a:buClr>
                <a:srgbClr val="000000"/>
              </a:buClr>
              <a:buSzPts val="1800"/>
              <a:buFont typeface="Arial"/>
              <a:buChar char="■"/>
            </a:pPr>
            <a:r>
              <a:rPr lang="en-GB" sz="1800">
                <a:solidFill>
                  <a:srgbClr val="000000"/>
                </a:solidFill>
                <a:latin typeface="Times New Roman"/>
                <a:ea typeface="Times New Roman"/>
                <a:cs typeface="Times New Roman"/>
                <a:sym typeface="Times New Roman"/>
              </a:rPr>
              <a:t>Up to </a:t>
            </a:r>
            <a:r>
              <a:rPr lang="en-GB" sz="1800" b="1">
                <a:solidFill>
                  <a:srgbClr val="000000"/>
                </a:solidFill>
                <a:latin typeface="Times New Roman"/>
                <a:ea typeface="Times New Roman"/>
                <a:cs typeface="Times New Roman"/>
                <a:sym typeface="Times New Roman"/>
              </a:rPr>
              <a:t>400 kbit/s</a:t>
            </a:r>
            <a:r>
              <a:rPr lang="en-GB" sz="1800">
                <a:solidFill>
                  <a:srgbClr val="000000"/>
                </a:solidFill>
                <a:latin typeface="Times New Roman"/>
                <a:ea typeface="Times New Roman"/>
                <a:cs typeface="Times New Roman"/>
                <a:sym typeface="Times New Roman"/>
              </a:rPr>
              <a:t> in </a:t>
            </a:r>
            <a:r>
              <a:rPr lang="en-GB" sz="1800" b="1">
                <a:solidFill>
                  <a:srgbClr val="000000"/>
                </a:solidFill>
                <a:latin typeface="Times New Roman"/>
                <a:ea typeface="Times New Roman"/>
                <a:cs typeface="Times New Roman"/>
                <a:sym typeface="Times New Roman"/>
              </a:rPr>
              <a:t>Fast Mode</a:t>
            </a:r>
            <a:endParaRPr sz="1800" b="1">
              <a:solidFill>
                <a:srgbClr val="000000"/>
              </a:solidFill>
              <a:latin typeface="Times New Roman"/>
              <a:ea typeface="Times New Roman"/>
              <a:cs typeface="Times New Roman"/>
              <a:sym typeface="Times New Roman"/>
            </a:endParaRPr>
          </a:p>
          <a:p>
            <a:pPr marL="1371600" lvl="2" indent="-342900" algn="just" rtl="0">
              <a:lnSpc>
                <a:spcPct val="150000"/>
              </a:lnSpc>
              <a:spcBef>
                <a:spcPts val="0"/>
              </a:spcBef>
              <a:spcAft>
                <a:spcPts val="0"/>
              </a:spcAft>
              <a:buClr>
                <a:srgbClr val="000000"/>
              </a:buClr>
              <a:buSzPts val="1800"/>
              <a:buFont typeface="Arial"/>
              <a:buChar char="■"/>
            </a:pPr>
            <a:r>
              <a:rPr lang="en-GB" sz="1800">
                <a:solidFill>
                  <a:srgbClr val="000000"/>
                </a:solidFill>
                <a:latin typeface="Times New Roman"/>
                <a:ea typeface="Times New Roman"/>
                <a:cs typeface="Times New Roman"/>
                <a:sym typeface="Times New Roman"/>
              </a:rPr>
              <a:t>Up to </a:t>
            </a:r>
            <a:r>
              <a:rPr lang="en-GB" sz="1800" b="1">
                <a:solidFill>
                  <a:srgbClr val="000000"/>
                </a:solidFill>
                <a:latin typeface="Times New Roman"/>
                <a:ea typeface="Times New Roman"/>
                <a:cs typeface="Times New Roman"/>
                <a:sym typeface="Times New Roman"/>
              </a:rPr>
              <a:t>1 Mbit/s</a:t>
            </a:r>
            <a:r>
              <a:rPr lang="en-GB" sz="1800">
                <a:solidFill>
                  <a:srgbClr val="000000"/>
                </a:solidFill>
                <a:latin typeface="Times New Roman"/>
                <a:ea typeface="Times New Roman"/>
                <a:cs typeface="Times New Roman"/>
                <a:sym typeface="Times New Roman"/>
              </a:rPr>
              <a:t> in </a:t>
            </a:r>
            <a:r>
              <a:rPr lang="en-GB" sz="1800" b="1">
                <a:solidFill>
                  <a:srgbClr val="000000"/>
                </a:solidFill>
                <a:latin typeface="Times New Roman"/>
                <a:ea typeface="Times New Roman"/>
                <a:cs typeface="Times New Roman"/>
                <a:sym typeface="Times New Roman"/>
              </a:rPr>
              <a:t>Fast-mode Plus</a:t>
            </a:r>
            <a:endParaRPr sz="1800" b="1">
              <a:solidFill>
                <a:srgbClr val="000000"/>
              </a:solidFill>
              <a:latin typeface="Times New Roman"/>
              <a:ea typeface="Times New Roman"/>
              <a:cs typeface="Times New Roman"/>
              <a:sym typeface="Times New Roman"/>
            </a:endParaRPr>
          </a:p>
          <a:p>
            <a:pPr marL="1371600" lvl="2" indent="-342900" algn="just" rtl="0">
              <a:lnSpc>
                <a:spcPct val="150000"/>
              </a:lnSpc>
              <a:spcBef>
                <a:spcPts val="0"/>
              </a:spcBef>
              <a:spcAft>
                <a:spcPts val="0"/>
              </a:spcAft>
              <a:buClr>
                <a:srgbClr val="000000"/>
              </a:buClr>
              <a:buSzPts val="1800"/>
              <a:buFont typeface="Arial"/>
              <a:buChar char="■"/>
            </a:pPr>
            <a:r>
              <a:rPr lang="en-GB" sz="1800">
                <a:solidFill>
                  <a:srgbClr val="000000"/>
                </a:solidFill>
                <a:latin typeface="Times New Roman"/>
                <a:ea typeface="Times New Roman"/>
                <a:cs typeface="Times New Roman"/>
                <a:sym typeface="Times New Roman"/>
              </a:rPr>
              <a:t>Up to </a:t>
            </a:r>
            <a:r>
              <a:rPr lang="en-GB" sz="1800" b="1">
                <a:solidFill>
                  <a:srgbClr val="000000"/>
                </a:solidFill>
                <a:latin typeface="Times New Roman"/>
                <a:ea typeface="Times New Roman"/>
                <a:cs typeface="Times New Roman"/>
                <a:sym typeface="Times New Roman"/>
              </a:rPr>
              <a:t>3.4 Mbit/s</a:t>
            </a:r>
            <a:r>
              <a:rPr lang="en-GB" sz="1800">
                <a:solidFill>
                  <a:srgbClr val="000000"/>
                </a:solidFill>
                <a:latin typeface="Times New Roman"/>
                <a:ea typeface="Times New Roman"/>
                <a:cs typeface="Times New Roman"/>
                <a:sym typeface="Times New Roman"/>
              </a:rPr>
              <a:t> in </a:t>
            </a:r>
            <a:r>
              <a:rPr lang="en-GB" sz="1800" b="1">
                <a:solidFill>
                  <a:srgbClr val="000000"/>
                </a:solidFill>
                <a:latin typeface="Times New Roman"/>
                <a:ea typeface="Times New Roman"/>
                <a:cs typeface="Times New Roman"/>
                <a:sym typeface="Times New Roman"/>
              </a:rPr>
              <a:t>High-speed Mode</a:t>
            </a:r>
            <a:endParaRPr sz="1800" b="1">
              <a:solidFill>
                <a:srgbClr val="000000"/>
              </a:solidFill>
              <a:latin typeface="Times New Roman"/>
              <a:ea typeface="Times New Roman"/>
              <a:cs typeface="Times New Roman"/>
              <a:sym typeface="Times New Roman"/>
            </a:endParaRPr>
          </a:p>
          <a:p>
            <a:pPr marL="1371600" lvl="2" indent="-342900" rtl="0">
              <a:lnSpc>
                <a:spcPct val="150000"/>
              </a:lnSpc>
              <a:spcBef>
                <a:spcPts val="0"/>
              </a:spcBef>
              <a:spcAft>
                <a:spcPts val="0"/>
              </a:spcAft>
              <a:buClr>
                <a:srgbClr val="000000"/>
              </a:buClr>
              <a:buSzPts val="1800"/>
              <a:buFont typeface="Arial"/>
              <a:buChar char="■"/>
            </a:pPr>
            <a:r>
              <a:rPr lang="en-GB" sz="1800">
                <a:solidFill>
                  <a:srgbClr val="000000"/>
                </a:solidFill>
                <a:latin typeface="Times New Roman"/>
                <a:ea typeface="Times New Roman"/>
                <a:cs typeface="Times New Roman"/>
                <a:sym typeface="Times New Roman"/>
              </a:rPr>
              <a:t>Up to </a:t>
            </a:r>
            <a:r>
              <a:rPr lang="en-GB" sz="1800" b="1">
                <a:solidFill>
                  <a:srgbClr val="000000"/>
                </a:solidFill>
                <a:latin typeface="Times New Roman"/>
                <a:ea typeface="Times New Roman"/>
                <a:cs typeface="Times New Roman"/>
                <a:sym typeface="Times New Roman"/>
              </a:rPr>
              <a:t>5 Mbit/s</a:t>
            </a:r>
            <a:r>
              <a:rPr lang="en-GB" sz="1800">
                <a:solidFill>
                  <a:srgbClr val="000000"/>
                </a:solidFill>
                <a:latin typeface="Times New Roman"/>
                <a:ea typeface="Times New Roman"/>
                <a:cs typeface="Times New Roman"/>
                <a:sym typeface="Times New Roman"/>
              </a:rPr>
              <a:t> in </a:t>
            </a:r>
            <a:r>
              <a:rPr lang="en-GB" sz="1800" b="1">
                <a:solidFill>
                  <a:srgbClr val="000000"/>
                </a:solidFill>
                <a:latin typeface="Times New Roman"/>
                <a:ea typeface="Times New Roman"/>
                <a:cs typeface="Times New Roman"/>
                <a:sym typeface="Times New Roman"/>
              </a:rPr>
              <a:t>Ultra-Fast Mode</a:t>
            </a:r>
            <a:br>
              <a:rPr lang="en-GB" sz="1800" b="1">
                <a:solidFill>
                  <a:srgbClr val="000000"/>
                </a:solidFill>
                <a:latin typeface="Times New Roman"/>
                <a:ea typeface="Times New Roman"/>
                <a:cs typeface="Times New Roman"/>
                <a:sym typeface="Times New Roman"/>
              </a:rPr>
            </a:br>
            <a:endParaRPr sz="1800" b="1">
              <a:solidFill>
                <a:srgbClr val="000000"/>
              </a:solidFill>
              <a:latin typeface="Times New Roman"/>
              <a:ea typeface="Times New Roman"/>
              <a:cs typeface="Times New Roman"/>
            </a:endParaRPr>
          </a:p>
          <a:p>
            <a:pPr marL="0" lvl="0" indent="0" algn="just" rtl="0">
              <a:lnSpc>
                <a:spcPct val="150000"/>
              </a:lnSpc>
              <a:spcBef>
                <a:spcPts val="3000"/>
              </a:spcBef>
              <a:spcAft>
                <a:spcPts val="3000"/>
              </a:spcAft>
              <a:buNone/>
            </a:pPr>
            <a:endParaRPr sz="1100" b="1">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8"/>
          <p:cNvSpPr txBox="1">
            <a:spLocks noGrp="1"/>
          </p:cNvSpPr>
          <p:nvPr>
            <p:ph type="title"/>
          </p:nvPr>
        </p:nvSpPr>
        <p:spPr>
          <a:xfrm>
            <a:off x="46900" y="0"/>
            <a:ext cx="8589300" cy="438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3000"/>
              </a:spcAft>
              <a:buSzPts val="990"/>
              <a:buNone/>
            </a:pPr>
            <a:r>
              <a:rPr lang="en-GB" sz="2820">
                <a:highlight>
                  <a:schemeClr val="lt1"/>
                </a:highlight>
                <a:latin typeface="Times New Roman"/>
                <a:ea typeface="Times New Roman"/>
                <a:cs typeface="Times New Roman"/>
                <a:sym typeface="Times New Roman"/>
              </a:rPr>
              <a:t>Advanced I2C Features</a:t>
            </a:r>
            <a:endParaRPr sz="3900"/>
          </a:p>
        </p:txBody>
      </p:sp>
      <p:sp>
        <p:nvSpPr>
          <p:cNvPr id="131" name="Google Shape;131;p28"/>
          <p:cNvSpPr txBox="1">
            <a:spLocks noGrp="1"/>
          </p:cNvSpPr>
          <p:nvPr>
            <p:ph type="body" idx="1"/>
          </p:nvPr>
        </p:nvSpPr>
        <p:spPr>
          <a:xfrm>
            <a:off x="115600" y="522800"/>
            <a:ext cx="8925900" cy="4467000"/>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457200" lvl="0" indent="-342900" algn="l" rtl="0">
              <a:spcBef>
                <a:spcPts val="1400"/>
              </a:spcBef>
              <a:spcAft>
                <a:spcPts val="0"/>
              </a:spcAft>
              <a:buClr>
                <a:srgbClr val="000000"/>
              </a:buClr>
              <a:buSzPts val="1800"/>
              <a:buFont typeface="Times New Roman"/>
              <a:buChar char="●"/>
            </a:pPr>
            <a:r>
              <a:rPr lang="en-GB" b="1">
                <a:solidFill>
                  <a:srgbClr val="000000"/>
                </a:solidFill>
                <a:latin typeface="Times New Roman"/>
                <a:ea typeface="Times New Roman"/>
                <a:cs typeface="Times New Roman"/>
                <a:sym typeface="Times New Roman"/>
              </a:rPr>
              <a:t>Clock Stretching</a:t>
            </a:r>
            <a:endParaRPr b="1">
              <a:solidFill>
                <a:srgbClr val="000000"/>
              </a:solidFill>
              <a:latin typeface="Times New Roman"/>
              <a:ea typeface="Times New Roman"/>
              <a:cs typeface="Times New Roman"/>
              <a:sym typeface="Times New Roman"/>
            </a:endParaRPr>
          </a:p>
          <a:p>
            <a:pPr marL="1371600" lvl="2" indent="-317500" algn="just" rtl="0">
              <a:spcBef>
                <a:spcPts val="0"/>
              </a:spcBef>
              <a:spcAft>
                <a:spcPts val="0"/>
              </a:spcAft>
              <a:buClr>
                <a:srgbClr val="000000"/>
              </a:buClr>
              <a:buSzPts val="1400"/>
              <a:buFont typeface="Times New Roman"/>
              <a:buChar char="■"/>
            </a:pPr>
            <a:r>
              <a:rPr lang="en-GB">
                <a:solidFill>
                  <a:srgbClr val="000000"/>
                </a:solidFill>
                <a:latin typeface="Times New Roman"/>
                <a:ea typeface="Times New Roman"/>
                <a:cs typeface="Times New Roman"/>
                <a:sym typeface="Times New Roman"/>
              </a:rPr>
              <a:t>Clock stretching allows slave devices to slow down the clock signal when they need more time to process data, providing a mechanism for better control over data flow and ensuring reliable communication.</a:t>
            </a:r>
            <a:endParaRPr>
              <a:solidFill>
                <a:srgbClr val="000000"/>
              </a:solidFill>
              <a:latin typeface="Times New Roman"/>
              <a:ea typeface="Times New Roman"/>
              <a:cs typeface="Times New Roman"/>
              <a:sym typeface="Times New Roman"/>
            </a:endParaRPr>
          </a:p>
          <a:p>
            <a:pPr marL="1371600" lvl="0" indent="0" algn="l" rtl="0">
              <a:spcBef>
                <a:spcPts val="1400"/>
              </a:spcBef>
              <a:spcAft>
                <a:spcPts val="0"/>
              </a:spcAft>
              <a:buNone/>
            </a:pPr>
            <a:r>
              <a:rPr lang="en-GB" sz="1100">
                <a:solidFill>
                  <a:srgbClr val="000000"/>
                </a:solidFill>
                <a:latin typeface="Arial"/>
                <a:ea typeface="Arial"/>
                <a:cs typeface="Arial"/>
                <a:sym typeface="Arial"/>
              </a:rPr>
              <a:t>.</a:t>
            </a:r>
            <a:endParaRPr>
              <a:solidFill>
                <a:srgbClr val="000000"/>
              </a:solidFill>
              <a:latin typeface="Times New Roman"/>
              <a:ea typeface="Times New Roman"/>
              <a:cs typeface="Times New Roman"/>
              <a:sym typeface="Times New Roman"/>
            </a:endParaRPr>
          </a:p>
          <a:p>
            <a:pPr marL="457200" lvl="0" indent="0" algn="just" rtl="0">
              <a:lnSpc>
                <a:spcPct val="150000"/>
              </a:lnSpc>
              <a:spcBef>
                <a:spcPts val="400"/>
              </a:spcBef>
              <a:spcAft>
                <a:spcPts val="0"/>
              </a:spcAft>
              <a:buNone/>
            </a:pPr>
            <a:endParaRPr sz="1800" b="1">
              <a:solidFill>
                <a:srgbClr val="000000"/>
              </a:solidFill>
              <a:latin typeface="Times New Roman"/>
              <a:ea typeface="Times New Roman"/>
              <a:cs typeface="Times New Roman"/>
              <a:sym typeface="Times New Roman"/>
            </a:endParaRPr>
          </a:p>
          <a:p>
            <a:pPr marL="0" lvl="0" indent="0" algn="just" rtl="0">
              <a:lnSpc>
                <a:spcPct val="150000"/>
              </a:lnSpc>
              <a:spcBef>
                <a:spcPts val="3000"/>
              </a:spcBef>
              <a:spcAft>
                <a:spcPts val="3000"/>
              </a:spcAft>
              <a:buNone/>
            </a:pPr>
            <a:endParaRPr sz="1100" b="1">
              <a:solidFill>
                <a:srgbClr val="000000"/>
              </a:solidFill>
              <a:latin typeface="Arial"/>
              <a:ea typeface="Arial"/>
              <a:cs typeface="Arial"/>
              <a:sym typeface="Arial"/>
            </a:endParaRPr>
          </a:p>
        </p:txBody>
      </p:sp>
      <p:pic>
        <p:nvPicPr>
          <p:cNvPr id="132" name="Google Shape;132;p28"/>
          <p:cNvPicPr preferRelativeResize="0"/>
          <p:nvPr/>
        </p:nvPicPr>
        <p:blipFill>
          <a:blip r:embed="rId3">
            <a:alphaModFix/>
          </a:blip>
          <a:stretch>
            <a:fillRect/>
          </a:stretch>
        </p:blipFill>
        <p:spPr>
          <a:xfrm>
            <a:off x="661700" y="1675925"/>
            <a:ext cx="7638401" cy="3313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9"/>
          <p:cNvSpPr txBox="1">
            <a:spLocks noGrp="1"/>
          </p:cNvSpPr>
          <p:nvPr>
            <p:ph type="title"/>
          </p:nvPr>
        </p:nvSpPr>
        <p:spPr>
          <a:xfrm>
            <a:off x="46900" y="0"/>
            <a:ext cx="8589300" cy="438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3000"/>
              </a:spcAft>
              <a:buSzPts val="990"/>
              <a:buNone/>
            </a:pPr>
            <a:r>
              <a:rPr lang="en-GB" sz="2820">
                <a:highlight>
                  <a:schemeClr val="lt1"/>
                </a:highlight>
                <a:latin typeface="Times New Roman"/>
                <a:ea typeface="Times New Roman"/>
                <a:cs typeface="Times New Roman"/>
                <a:sym typeface="Times New Roman"/>
              </a:rPr>
              <a:t>Advanced I2C Features</a:t>
            </a:r>
            <a:endParaRPr sz="3900"/>
          </a:p>
        </p:txBody>
      </p:sp>
      <p:sp>
        <p:nvSpPr>
          <p:cNvPr id="138" name="Google Shape;138;p29"/>
          <p:cNvSpPr txBox="1">
            <a:spLocks noGrp="1"/>
          </p:cNvSpPr>
          <p:nvPr>
            <p:ph type="body" idx="1"/>
          </p:nvPr>
        </p:nvSpPr>
        <p:spPr>
          <a:xfrm>
            <a:off x="115600" y="522800"/>
            <a:ext cx="8925900" cy="4467000"/>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457200" lvl="0" indent="-342900" algn="l" rtl="0">
              <a:spcBef>
                <a:spcPts val="1400"/>
              </a:spcBef>
              <a:spcAft>
                <a:spcPts val="0"/>
              </a:spcAft>
              <a:buClr>
                <a:srgbClr val="000000"/>
              </a:buClr>
              <a:buSzPts val="1800"/>
              <a:buFont typeface="Arial"/>
              <a:buChar char="●"/>
            </a:pPr>
            <a:r>
              <a:rPr lang="en-GB" sz="1300" b="1">
                <a:solidFill>
                  <a:srgbClr val="000000"/>
                </a:solidFill>
                <a:latin typeface="Arial"/>
                <a:ea typeface="Arial"/>
                <a:cs typeface="Arial"/>
                <a:sym typeface="Arial"/>
              </a:rPr>
              <a:t>Multi-Master Arbitration</a:t>
            </a:r>
            <a:endParaRPr sz="1300" b="1">
              <a:solidFill>
                <a:srgbClr val="000000"/>
              </a:solidFill>
              <a:latin typeface="Arial"/>
              <a:ea typeface="Arial"/>
              <a:cs typeface="Arial"/>
              <a:sym typeface="Arial"/>
            </a:endParaRPr>
          </a:p>
          <a:p>
            <a:pPr marL="1371600" lvl="2" indent="-374650" algn="just" rtl="0">
              <a:spcBef>
                <a:spcPts val="0"/>
              </a:spcBef>
              <a:spcAft>
                <a:spcPts val="0"/>
              </a:spcAft>
              <a:buClr>
                <a:srgbClr val="000000"/>
              </a:buClr>
              <a:buSzPts val="2300"/>
              <a:buFont typeface="Times New Roman"/>
              <a:buChar char="■"/>
            </a:pPr>
            <a:r>
              <a:rPr lang="en-GB" sz="1600">
                <a:solidFill>
                  <a:srgbClr val="000000"/>
                </a:solidFill>
                <a:latin typeface="Times New Roman"/>
                <a:ea typeface="Times New Roman"/>
                <a:cs typeface="Times New Roman"/>
                <a:sym typeface="Times New Roman"/>
              </a:rPr>
              <a:t>I2C supports multi-master configurations, allowing multiple master devices to share the bus. Collision detection and resolution mechanisms ensure that data integrity is maintained during simultaneous access attempts.</a:t>
            </a:r>
            <a:endParaRPr sz="1600">
              <a:solidFill>
                <a:srgbClr val="000000"/>
              </a:solidFill>
              <a:latin typeface="Times New Roman"/>
              <a:ea typeface="Times New Roman"/>
              <a:cs typeface="Times New Roman"/>
              <a:sym typeface="Times New Roman"/>
            </a:endParaRPr>
          </a:p>
          <a:p>
            <a:pPr marL="457200" lvl="0" indent="0" algn="just" rtl="0">
              <a:lnSpc>
                <a:spcPct val="150000"/>
              </a:lnSpc>
              <a:spcBef>
                <a:spcPts val="400"/>
              </a:spcBef>
              <a:spcAft>
                <a:spcPts val="0"/>
              </a:spcAft>
              <a:buNone/>
            </a:pPr>
            <a:br>
              <a:rPr lang="en-GB" sz="1800" b="1">
                <a:solidFill>
                  <a:srgbClr val="000000"/>
                </a:solidFill>
                <a:latin typeface="Times New Roman"/>
                <a:ea typeface="Times New Roman"/>
                <a:cs typeface="Times New Roman"/>
                <a:sym typeface="Times New Roman"/>
              </a:rPr>
            </a:br>
            <a:endParaRPr sz="1800" b="1">
              <a:solidFill>
                <a:srgbClr val="000000"/>
              </a:solidFill>
              <a:latin typeface="Times New Roman"/>
              <a:ea typeface="Times New Roman"/>
              <a:cs typeface="Times New Roman"/>
              <a:sym typeface="Times New Roman"/>
            </a:endParaRPr>
          </a:p>
          <a:p>
            <a:pPr marL="0" lvl="0" indent="0" algn="just" rtl="0">
              <a:lnSpc>
                <a:spcPct val="150000"/>
              </a:lnSpc>
              <a:spcBef>
                <a:spcPts val="3000"/>
              </a:spcBef>
              <a:spcAft>
                <a:spcPts val="3000"/>
              </a:spcAft>
              <a:buNone/>
            </a:pPr>
            <a:endParaRPr sz="1100" b="1">
              <a:solidFill>
                <a:srgbClr val="000000"/>
              </a:solidFill>
              <a:latin typeface="Arial"/>
              <a:ea typeface="Arial"/>
              <a:cs typeface="Arial"/>
              <a:sym typeface="Arial"/>
            </a:endParaRPr>
          </a:p>
        </p:txBody>
      </p:sp>
      <p:pic>
        <p:nvPicPr>
          <p:cNvPr id="139" name="Google Shape;139;p29"/>
          <p:cNvPicPr preferRelativeResize="0"/>
          <p:nvPr/>
        </p:nvPicPr>
        <p:blipFill>
          <a:blip r:embed="rId3">
            <a:alphaModFix/>
          </a:blip>
          <a:stretch>
            <a:fillRect/>
          </a:stretch>
        </p:blipFill>
        <p:spPr>
          <a:xfrm>
            <a:off x="851525" y="1947125"/>
            <a:ext cx="7674576" cy="30426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0"/>
          <p:cNvSpPr txBox="1">
            <a:spLocks noGrp="1"/>
          </p:cNvSpPr>
          <p:nvPr>
            <p:ph type="title"/>
          </p:nvPr>
        </p:nvSpPr>
        <p:spPr>
          <a:xfrm>
            <a:off x="243000" y="0"/>
            <a:ext cx="8589300" cy="438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3000"/>
              </a:spcAft>
              <a:buSzPts val="990"/>
              <a:buNone/>
            </a:pPr>
            <a:r>
              <a:rPr lang="en-GB" sz="2820">
                <a:highlight>
                  <a:schemeClr val="lt1"/>
                </a:highlight>
                <a:latin typeface="Times New Roman"/>
                <a:ea typeface="Times New Roman"/>
                <a:cs typeface="Times New Roman"/>
                <a:sym typeface="Times New Roman"/>
              </a:rPr>
              <a:t>How I2C Work</a:t>
            </a:r>
            <a:endParaRPr sz="2820">
              <a:highlight>
                <a:schemeClr val="lt1"/>
              </a:highlight>
              <a:latin typeface="Times New Roman"/>
              <a:ea typeface="Times New Roman"/>
              <a:cs typeface="Times New Roman"/>
              <a:sym typeface="Times New Roman"/>
            </a:endParaRPr>
          </a:p>
        </p:txBody>
      </p:sp>
      <p:sp>
        <p:nvSpPr>
          <p:cNvPr id="145" name="Google Shape;145;p30"/>
          <p:cNvSpPr txBox="1">
            <a:spLocks noGrp="1"/>
          </p:cNvSpPr>
          <p:nvPr>
            <p:ph type="body" idx="1"/>
          </p:nvPr>
        </p:nvSpPr>
        <p:spPr>
          <a:xfrm>
            <a:off x="115600" y="522800"/>
            <a:ext cx="8925900" cy="4507500"/>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457200" lvl="0" indent="-342900" algn="just" rtl="0">
              <a:spcBef>
                <a:spcPts val="0"/>
              </a:spcBef>
              <a:spcAft>
                <a:spcPts val="0"/>
              </a:spcAft>
              <a:buClr>
                <a:srgbClr val="000000"/>
              </a:buClr>
              <a:buSzPts val="1800"/>
              <a:buFont typeface="Times New Roman"/>
              <a:buChar char="●"/>
            </a:pPr>
            <a:r>
              <a:rPr lang="en-GB">
                <a:solidFill>
                  <a:srgbClr val="4B4F58"/>
                </a:solidFill>
                <a:highlight>
                  <a:srgbClr val="FFFFFF"/>
                </a:highlight>
                <a:latin typeface="Times New Roman"/>
                <a:ea typeface="Times New Roman"/>
                <a:cs typeface="Times New Roman"/>
                <a:sym typeface="Times New Roman"/>
              </a:rPr>
              <a:t>With I2C, data is transferred in messages. Messages are broken up into frames of data. Each message has an address frame that contains the binary address of the slave, and one or more data frames that contain the data being transmitted. </a:t>
            </a:r>
            <a:endParaRPr>
              <a:solidFill>
                <a:srgbClr val="000000"/>
              </a:solidFill>
              <a:latin typeface="Times New Roman"/>
              <a:ea typeface="Times New Roman"/>
              <a:cs typeface="Times New Roman"/>
              <a:sym typeface="Times New Roman"/>
            </a:endParaRPr>
          </a:p>
          <a:p>
            <a:pPr marL="457200" lvl="0" indent="-342900" algn="just" rtl="0">
              <a:spcBef>
                <a:spcPts val="0"/>
              </a:spcBef>
              <a:spcAft>
                <a:spcPts val="0"/>
              </a:spcAft>
              <a:buClr>
                <a:srgbClr val="000000"/>
              </a:buClr>
              <a:buSzPts val="1800"/>
              <a:buFont typeface="Times New Roman"/>
              <a:buChar char="●"/>
            </a:pPr>
            <a:r>
              <a:rPr lang="en-GB">
                <a:solidFill>
                  <a:srgbClr val="4B4F58"/>
                </a:solidFill>
                <a:highlight>
                  <a:srgbClr val="FFFFFF"/>
                </a:highlight>
                <a:latin typeface="Times New Roman"/>
                <a:ea typeface="Times New Roman"/>
                <a:cs typeface="Times New Roman"/>
                <a:sym typeface="Times New Roman"/>
              </a:rPr>
              <a:t>The message also includes start and stop conditions, read/write bits, and ACK/NACK bits between each data frame:</a:t>
            </a:r>
            <a:endParaRPr>
              <a:solidFill>
                <a:srgbClr val="000000"/>
              </a:solidFill>
              <a:latin typeface="Times New Roman"/>
              <a:ea typeface="Times New Roman"/>
              <a:cs typeface="Times New Roman"/>
              <a:sym typeface="Times New Roman"/>
            </a:endParaRPr>
          </a:p>
          <a:p>
            <a:pPr marL="914400" lvl="0" indent="0" algn="just" rtl="0">
              <a:spcBef>
                <a:spcPts val="800"/>
              </a:spcBef>
              <a:spcAft>
                <a:spcPts val="0"/>
              </a:spcAft>
              <a:buNone/>
            </a:pPr>
            <a:endParaRPr sz="1600">
              <a:solidFill>
                <a:srgbClr val="000000"/>
              </a:solidFill>
              <a:latin typeface="Times New Roman"/>
              <a:ea typeface="Times New Roman"/>
              <a:cs typeface="Times New Roman"/>
              <a:sym typeface="Times New Roman"/>
            </a:endParaRPr>
          </a:p>
          <a:p>
            <a:pPr marL="0" lvl="0" indent="0" algn="just" rtl="0">
              <a:spcBef>
                <a:spcPts val="700"/>
              </a:spcBef>
              <a:spcAft>
                <a:spcPts val="0"/>
              </a:spcAft>
              <a:buNone/>
            </a:pPr>
            <a:endParaRPr sz="1600">
              <a:solidFill>
                <a:srgbClr val="1A1A1A"/>
              </a:solidFill>
              <a:highlight>
                <a:srgbClr val="FFFFFF"/>
              </a:highlight>
              <a:latin typeface="Times New Roman"/>
              <a:ea typeface="Times New Roman"/>
              <a:cs typeface="Times New Roman"/>
              <a:sym typeface="Times New Roman"/>
            </a:endParaRPr>
          </a:p>
          <a:p>
            <a:pPr marL="0" lvl="0" indent="0" algn="just" rtl="0">
              <a:spcBef>
                <a:spcPts val="0"/>
              </a:spcBef>
              <a:spcAft>
                <a:spcPts val="0"/>
              </a:spcAft>
              <a:buNone/>
            </a:pPr>
            <a:endParaRPr sz="1400">
              <a:solidFill>
                <a:srgbClr val="000000"/>
              </a:solidFill>
              <a:latin typeface="Times New Roman"/>
              <a:ea typeface="Times New Roman"/>
              <a:cs typeface="Times New Roman"/>
              <a:sym typeface="Times New Roman"/>
            </a:endParaRPr>
          </a:p>
          <a:p>
            <a:pPr marL="0" lvl="0" indent="0" algn="just" rtl="0">
              <a:spcBef>
                <a:spcPts val="3000"/>
              </a:spcBef>
              <a:spcAft>
                <a:spcPts val="0"/>
              </a:spcAft>
              <a:buNone/>
            </a:pPr>
            <a:endParaRPr sz="1400">
              <a:solidFill>
                <a:srgbClr val="000000"/>
              </a:solidFill>
              <a:latin typeface="Times New Roman"/>
              <a:ea typeface="Times New Roman"/>
              <a:cs typeface="Times New Roman"/>
              <a:sym typeface="Times New Roman"/>
            </a:endParaRPr>
          </a:p>
          <a:p>
            <a:pPr marL="0" lvl="0" indent="0" algn="just" rtl="0">
              <a:spcBef>
                <a:spcPts val="3000"/>
              </a:spcBef>
              <a:spcAft>
                <a:spcPts val="0"/>
              </a:spcAft>
              <a:buNone/>
            </a:pPr>
            <a:endParaRPr sz="1400">
              <a:solidFill>
                <a:srgbClr val="000000"/>
              </a:solidFill>
              <a:latin typeface="Times New Roman"/>
              <a:ea typeface="Times New Roman"/>
              <a:cs typeface="Times New Roman"/>
              <a:sym typeface="Times New Roman"/>
            </a:endParaRPr>
          </a:p>
          <a:p>
            <a:pPr marL="457200" lvl="0" indent="0" algn="just" rtl="0">
              <a:lnSpc>
                <a:spcPct val="115000"/>
              </a:lnSpc>
              <a:spcBef>
                <a:spcPts val="3000"/>
              </a:spcBef>
              <a:spcAft>
                <a:spcPts val="0"/>
              </a:spcAft>
              <a:buNone/>
            </a:pPr>
            <a:endParaRPr sz="1400">
              <a:solidFill>
                <a:srgbClr val="000000"/>
              </a:solidFill>
              <a:highlight>
                <a:srgbClr val="FFFFFF"/>
              </a:highlight>
              <a:latin typeface="Times New Roman"/>
              <a:ea typeface="Times New Roman"/>
              <a:cs typeface="Times New Roman"/>
              <a:sym typeface="Times New Roman"/>
            </a:endParaRPr>
          </a:p>
          <a:p>
            <a:pPr marL="0" lvl="0" indent="0" algn="just" rtl="0">
              <a:lnSpc>
                <a:spcPct val="115000"/>
              </a:lnSpc>
              <a:spcBef>
                <a:spcPts val="3000"/>
              </a:spcBef>
              <a:spcAft>
                <a:spcPts val="3000"/>
              </a:spcAft>
              <a:buNone/>
            </a:pPr>
            <a:endParaRPr sz="1400">
              <a:solidFill>
                <a:srgbClr val="202122"/>
              </a:solidFill>
              <a:highlight>
                <a:srgbClr val="FFFFFF"/>
              </a:highlight>
              <a:latin typeface="Times New Roman"/>
              <a:ea typeface="Times New Roman"/>
              <a:cs typeface="Times New Roman"/>
              <a:sym typeface="Times New Roman"/>
            </a:endParaRPr>
          </a:p>
        </p:txBody>
      </p:sp>
      <p:pic>
        <p:nvPicPr>
          <p:cNvPr id="146" name="Google Shape;146;p30"/>
          <p:cNvPicPr preferRelativeResize="0"/>
          <p:nvPr/>
        </p:nvPicPr>
        <p:blipFill>
          <a:blip r:embed="rId3">
            <a:alphaModFix/>
          </a:blip>
          <a:stretch>
            <a:fillRect/>
          </a:stretch>
        </p:blipFill>
        <p:spPr>
          <a:xfrm>
            <a:off x="228571" y="2258425"/>
            <a:ext cx="8812930" cy="2307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1"/>
          <p:cNvSpPr txBox="1">
            <a:spLocks noGrp="1"/>
          </p:cNvSpPr>
          <p:nvPr>
            <p:ph type="title"/>
          </p:nvPr>
        </p:nvSpPr>
        <p:spPr>
          <a:xfrm>
            <a:off x="243000" y="0"/>
            <a:ext cx="8589300" cy="438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90"/>
              <a:buNone/>
            </a:pPr>
            <a:r>
              <a:rPr lang="en-GB" sz="2820">
                <a:highlight>
                  <a:schemeClr val="lt1"/>
                </a:highlight>
                <a:latin typeface="Times New Roman"/>
                <a:ea typeface="Times New Roman"/>
                <a:cs typeface="Times New Roman"/>
                <a:sym typeface="Times New Roman"/>
              </a:rPr>
              <a:t>Data Frame Overview of I²C Protocol</a:t>
            </a:r>
            <a:endParaRPr sz="1100" b="0">
              <a:solidFill>
                <a:srgbClr val="000000"/>
              </a:solidFill>
              <a:latin typeface="Arial"/>
              <a:ea typeface="Arial"/>
              <a:cs typeface="Arial"/>
              <a:sym typeface="Arial"/>
            </a:endParaRPr>
          </a:p>
          <a:p>
            <a:pPr marL="0" lvl="0" indent="0" algn="l" rtl="0">
              <a:lnSpc>
                <a:spcPct val="115000"/>
              </a:lnSpc>
              <a:spcBef>
                <a:spcPts val="3000"/>
              </a:spcBef>
              <a:spcAft>
                <a:spcPts val="3000"/>
              </a:spcAft>
              <a:buSzPts val="990"/>
              <a:buNone/>
            </a:pPr>
            <a:endParaRPr sz="2820">
              <a:highlight>
                <a:schemeClr val="lt1"/>
              </a:highlight>
              <a:latin typeface="Times New Roman"/>
              <a:ea typeface="Times New Roman"/>
              <a:cs typeface="Times New Roman"/>
              <a:sym typeface="Times New Roman"/>
            </a:endParaRPr>
          </a:p>
        </p:txBody>
      </p:sp>
      <p:sp>
        <p:nvSpPr>
          <p:cNvPr id="152" name="Google Shape;152;p31"/>
          <p:cNvSpPr txBox="1">
            <a:spLocks noGrp="1"/>
          </p:cNvSpPr>
          <p:nvPr>
            <p:ph type="body" idx="1"/>
          </p:nvPr>
        </p:nvSpPr>
        <p:spPr>
          <a:xfrm>
            <a:off x="115600" y="522800"/>
            <a:ext cx="8925900" cy="4507500"/>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457200" lvl="0" indent="-342900" algn="just" rtl="0">
              <a:lnSpc>
                <a:spcPct val="115000"/>
              </a:lnSpc>
              <a:spcBef>
                <a:spcPts val="0"/>
              </a:spcBef>
              <a:spcAft>
                <a:spcPts val="0"/>
              </a:spcAft>
              <a:buClr>
                <a:srgbClr val="000000"/>
              </a:buClr>
              <a:buSzPts val="1800"/>
              <a:buFont typeface="Times New Roman"/>
              <a:buChar char="●"/>
            </a:pPr>
            <a:r>
              <a:rPr lang="en-GB" b="1">
                <a:solidFill>
                  <a:srgbClr val="000000"/>
                </a:solidFill>
                <a:latin typeface="Times New Roman"/>
                <a:ea typeface="Times New Roman"/>
                <a:cs typeface="Times New Roman"/>
                <a:sym typeface="Times New Roman"/>
              </a:rPr>
              <a:t>Start Condition:</a:t>
            </a:r>
            <a:r>
              <a:rPr lang="en-GB">
                <a:solidFill>
                  <a:srgbClr val="000000"/>
                </a:solidFill>
                <a:latin typeface="Times New Roman"/>
                <a:ea typeface="Times New Roman"/>
                <a:cs typeface="Times New Roman"/>
                <a:sym typeface="Times New Roman"/>
              </a:rPr>
              <a:t> SDA line switches from a high voltage to low voltage level </a:t>
            </a:r>
            <a:r>
              <a:rPr lang="en-GB" b="1">
                <a:solidFill>
                  <a:srgbClr val="000000"/>
                </a:solidFill>
                <a:latin typeface="Times New Roman"/>
                <a:ea typeface="Times New Roman"/>
                <a:cs typeface="Times New Roman"/>
                <a:sym typeface="Times New Roman"/>
              </a:rPr>
              <a:t>before</a:t>
            </a:r>
            <a:r>
              <a:rPr lang="en-GB">
                <a:solidFill>
                  <a:srgbClr val="000000"/>
                </a:solidFill>
                <a:latin typeface="Times New Roman"/>
                <a:ea typeface="Times New Roman"/>
                <a:cs typeface="Times New Roman"/>
                <a:sym typeface="Times New Roman"/>
              </a:rPr>
              <a:t> the SCL line switches from high to low.</a:t>
            </a:r>
            <a:endParaRPr>
              <a:solidFill>
                <a:srgbClr val="000000"/>
              </a:solidFill>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r>
              <a:rPr lang="en-GB" b="1">
                <a:solidFill>
                  <a:srgbClr val="000000"/>
                </a:solidFill>
                <a:latin typeface="Times New Roman"/>
                <a:ea typeface="Times New Roman"/>
                <a:cs typeface="Times New Roman"/>
                <a:sym typeface="Times New Roman"/>
              </a:rPr>
              <a:t>Stop Condition:</a:t>
            </a:r>
            <a:r>
              <a:rPr lang="en-GB">
                <a:solidFill>
                  <a:srgbClr val="FF0000"/>
                </a:solidFill>
                <a:latin typeface="Times New Roman"/>
                <a:ea typeface="Times New Roman"/>
                <a:cs typeface="Times New Roman"/>
                <a:sym typeface="Times New Roman"/>
              </a:rPr>
              <a:t> </a:t>
            </a:r>
            <a:r>
              <a:rPr lang="en-GB">
                <a:solidFill>
                  <a:srgbClr val="1A1A1A"/>
                </a:solidFill>
                <a:latin typeface="Times New Roman"/>
                <a:ea typeface="Times New Roman"/>
                <a:cs typeface="Times New Roman"/>
                <a:sym typeface="Times New Roman"/>
              </a:rPr>
              <a:t>SDA line switches from a low voltage to high voltage level </a:t>
            </a:r>
            <a:r>
              <a:rPr lang="en-GB" b="1">
                <a:solidFill>
                  <a:srgbClr val="1A1A1A"/>
                </a:solidFill>
                <a:latin typeface="Times New Roman"/>
                <a:ea typeface="Times New Roman"/>
                <a:cs typeface="Times New Roman"/>
                <a:sym typeface="Times New Roman"/>
              </a:rPr>
              <a:t>after</a:t>
            </a:r>
            <a:r>
              <a:rPr lang="en-GB">
                <a:solidFill>
                  <a:srgbClr val="1A1A1A"/>
                </a:solidFill>
                <a:latin typeface="Times New Roman"/>
                <a:ea typeface="Times New Roman"/>
                <a:cs typeface="Times New Roman"/>
                <a:sym typeface="Times New Roman"/>
              </a:rPr>
              <a:t> the SCL line switches from low to high.</a:t>
            </a:r>
            <a:endParaRPr>
              <a:solidFill>
                <a:srgbClr val="1A1A1A"/>
              </a:solidFill>
              <a:latin typeface="Times New Roman"/>
              <a:ea typeface="Times New Roman"/>
              <a:cs typeface="Times New Roman"/>
              <a:sym typeface="Times New Roman"/>
            </a:endParaRPr>
          </a:p>
          <a:p>
            <a:pPr marL="457200" lvl="0" indent="-342900" algn="just" rtl="0">
              <a:lnSpc>
                <a:spcPct val="115000"/>
              </a:lnSpc>
              <a:spcBef>
                <a:spcPts val="0"/>
              </a:spcBef>
              <a:spcAft>
                <a:spcPts val="0"/>
              </a:spcAft>
              <a:buClr>
                <a:srgbClr val="000000"/>
              </a:buClr>
              <a:buSzPts val="1800"/>
              <a:buFont typeface="Times New Roman"/>
              <a:buChar char="●"/>
            </a:pPr>
            <a:r>
              <a:rPr lang="en-GB">
                <a:solidFill>
                  <a:srgbClr val="000000"/>
                </a:solidFill>
                <a:latin typeface="Times New Roman"/>
                <a:ea typeface="Times New Roman"/>
                <a:cs typeface="Times New Roman"/>
                <a:sym typeface="Times New Roman"/>
              </a:rPr>
              <a:t>A </a:t>
            </a:r>
            <a:r>
              <a:rPr lang="en-GB" b="1">
                <a:solidFill>
                  <a:srgbClr val="000000"/>
                </a:solidFill>
                <a:latin typeface="Times New Roman"/>
                <a:ea typeface="Times New Roman"/>
                <a:cs typeface="Times New Roman"/>
                <a:sym typeface="Times New Roman"/>
              </a:rPr>
              <a:t>START</a:t>
            </a:r>
            <a:r>
              <a:rPr lang="en-GB">
                <a:solidFill>
                  <a:srgbClr val="000000"/>
                </a:solidFill>
                <a:latin typeface="Times New Roman"/>
                <a:ea typeface="Times New Roman"/>
                <a:cs typeface="Times New Roman"/>
                <a:sym typeface="Times New Roman"/>
              </a:rPr>
              <a:t> and </a:t>
            </a:r>
            <a:r>
              <a:rPr lang="en-GB" b="1">
                <a:solidFill>
                  <a:srgbClr val="000000"/>
                </a:solidFill>
                <a:latin typeface="Times New Roman"/>
                <a:ea typeface="Times New Roman"/>
                <a:cs typeface="Times New Roman"/>
                <a:sym typeface="Times New Roman"/>
              </a:rPr>
              <a:t>STOP</a:t>
            </a:r>
            <a:r>
              <a:rPr lang="en-GB">
                <a:solidFill>
                  <a:srgbClr val="000000"/>
                </a:solidFill>
                <a:latin typeface="Times New Roman"/>
                <a:ea typeface="Times New Roman"/>
                <a:cs typeface="Times New Roman"/>
                <a:sym typeface="Times New Roman"/>
              </a:rPr>
              <a:t> condition are always </a:t>
            </a:r>
            <a:r>
              <a:rPr lang="en-GB" b="1">
                <a:solidFill>
                  <a:srgbClr val="000000"/>
                </a:solidFill>
                <a:latin typeface="Times New Roman"/>
                <a:ea typeface="Times New Roman"/>
                <a:cs typeface="Times New Roman"/>
                <a:sym typeface="Times New Roman"/>
              </a:rPr>
              <a:t>asserted by the master</a:t>
            </a:r>
            <a:r>
              <a:rPr lang="en-GB">
                <a:solidFill>
                  <a:srgbClr val="000000"/>
                </a:solidFill>
                <a:latin typeface="Times New Roman"/>
                <a:ea typeface="Times New Roman"/>
                <a:cs typeface="Times New Roman"/>
                <a:sym typeface="Times New Roman"/>
              </a:rPr>
              <a:t>.</a:t>
            </a:r>
            <a:endParaRPr>
              <a:solidFill>
                <a:srgbClr val="000000"/>
              </a:solidFill>
              <a:latin typeface="Times New Roman"/>
              <a:ea typeface="Times New Roman"/>
              <a:cs typeface="Times New Roman"/>
              <a:sym typeface="Times New Roman"/>
            </a:endParaRPr>
          </a:p>
          <a:p>
            <a:pPr marL="457200" lvl="0" indent="0" algn="just" rtl="0">
              <a:lnSpc>
                <a:spcPct val="115000"/>
              </a:lnSpc>
              <a:spcBef>
                <a:spcPts val="2600"/>
              </a:spcBef>
              <a:spcAft>
                <a:spcPts val="0"/>
              </a:spcAft>
              <a:buNone/>
            </a:pPr>
            <a:endParaRPr>
              <a:solidFill>
                <a:srgbClr val="000000"/>
              </a:solidFill>
              <a:highlight>
                <a:srgbClr val="FFFFFF"/>
              </a:highlight>
              <a:latin typeface="Times New Roman"/>
              <a:ea typeface="Times New Roman"/>
              <a:cs typeface="Times New Roman"/>
              <a:sym typeface="Times New Roman"/>
            </a:endParaRPr>
          </a:p>
          <a:p>
            <a:pPr marL="0" lvl="0" indent="0" algn="just" rtl="0">
              <a:lnSpc>
                <a:spcPct val="115000"/>
              </a:lnSpc>
              <a:spcBef>
                <a:spcPts val="3000"/>
              </a:spcBef>
              <a:spcAft>
                <a:spcPts val="3000"/>
              </a:spcAft>
              <a:buNone/>
            </a:pPr>
            <a:endParaRPr>
              <a:solidFill>
                <a:srgbClr val="202122"/>
              </a:solidFill>
              <a:highlight>
                <a:srgbClr val="FFFFFF"/>
              </a:highlight>
              <a:latin typeface="Times New Roman"/>
              <a:ea typeface="Times New Roman"/>
              <a:cs typeface="Times New Roman"/>
              <a:sym typeface="Times New Roman"/>
            </a:endParaRPr>
          </a:p>
        </p:txBody>
      </p:sp>
      <p:pic>
        <p:nvPicPr>
          <p:cNvPr id="153" name="Google Shape;153;p31"/>
          <p:cNvPicPr preferRelativeResize="0"/>
          <p:nvPr/>
        </p:nvPicPr>
        <p:blipFill>
          <a:blip r:embed="rId3">
            <a:alphaModFix/>
          </a:blip>
          <a:stretch>
            <a:fillRect/>
          </a:stretch>
        </p:blipFill>
        <p:spPr>
          <a:xfrm>
            <a:off x="223975" y="2180800"/>
            <a:ext cx="8709176" cy="2766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2"/>
          <p:cNvSpPr txBox="1">
            <a:spLocks noGrp="1"/>
          </p:cNvSpPr>
          <p:nvPr>
            <p:ph type="title"/>
          </p:nvPr>
        </p:nvSpPr>
        <p:spPr>
          <a:xfrm>
            <a:off x="243000" y="0"/>
            <a:ext cx="8589300" cy="438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90"/>
              <a:buNone/>
            </a:pPr>
            <a:r>
              <a:rPr lang="en-GB" sz="2820">
                <a:highlight>
                  <a:schemeClr val="lt1"/>
                </a:highlight>
                <a:latin typeface="Times New Roman"/>
                <a:ea typeface="Times New Roman"/>
                <a:cs typeface="Times New Roman"/>
                <a:sym typeface="Times New Roman"/>
              </a:rPr>
              <a:t>Data Frame Overview of I²C Protocol</a:t>
            </a:r>
            <a:endParaRPr sz="1100" b="0">
              <a:solidFill>
                <a:srgbClr val="000000"/>
              </a:solidFill>
              <a:latin typeface="Arial"/>
              <a:ea typeface="Arial"/>
              <a:cs typeface="Arial"/>
              <a:sym typeface="Arial"/>
            </a:endParaRPr>
          </a:p>
          <a:p>
            <a:pPr marL="0" lvl="0" indent="0" algn="l" rtl="0">
              <a:lnSpc>
                <a:spcPct val="115000"/>
              </a:lnSpc>
              <a:spcBef>
                <a:spcPts val="3000"/>
              </a:spcBef>
              <a:spcAft>
                <a:spcPts val="3000"/>
              </a:spcAft>
              <a:buSzPts val="990"/>
              <a:buNone/>
            </a:pPr>
            <a:endParaRPr sz="2820">
              <a:highlight>
                <a:schemeClr val="lt1"/>
              </a:highlight>
              <a:latin typeface="Times New Roman"/>
              <a:ea typeface="Times New Roman"/>
              <a:cs typeface="Times New Roman"/>
              <a:sym typeface="Times New Roman"/>
            </a:endParaRPr>
          </a:p>
        </p:txBody>
      </p:sp>
      <p:sp>
        <p:nvSpPr>
          <p:cNvPr id="159" name="Google Shape;159;p32"/>
          <p:cNvSpPr txBox="1">
            <a:spLocks noGrp="1"/>
          </p:cNvSpPr>
          <p:nvPr>
            <p:ph type="body" idx="1"/>
          </p:nvPr>
        </p:nvSpPr>
        <p:spPr>
          <a:xfrm>
            <a:off x="115600" y="522800"/>
            <a:ext cx="8925900" cy="4507500"/>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457200" lvl="0" indent="-330200" algn="l" rtl="0">
              <a:spcBef>
                <a:spcPts val="1200"/>
              </a:spcBef>
              <a:spcAft>
                <a:spcPts val="0"/>
              </a:spcAft>
              <a:buClr>
                <a:srgbClr val="000000"/>
              </a:buClr>
              <a:buSzPts val="1600"/>
              <a:buFont typeface="Arial"/>
              <a:buChar char="●"/>
            </a:pPr>
            <a:r>
              <a:rPr lang="en-GB" sz="1600" b="1">
                <a:solidFill>
                  <a:srgbClr val="000000"/>
                </a:solidFill>
                <a:latin typeface="Times New Roman"/>
                <a:ea typeface="Times New Roman"/>
                <a:cs typeface="Times New Roman"/>
                <a:sym typeface="Times New Roman"/>
              </a:rPr>
              <a:t>Address Frame:</a:t>
            </a:r>
            <a:r>
              <a:rPr lang="en-GB" sz="1600">
                <a:solidFill>
                  <a:srgbClr val="000000"/>
                </a:solidFill>
                <a:latin typeface="Times New Roman"/>
                <a:ea typeface="Times New Roman"/>
                <a:cs typeface="Times New Roman"/>
                <a:sym typeface="Times New Roman"/>
              </a:rPr>
              <a:t> </a:t>
            </a:r>
            <a:endParaRPr sz="1600">
              <a:solidFill>
                <a:srgbClr val="000000"/>
              </a:solidFill>
              <a:latin typeface="Times New Roman"/>
              <a:ea typeface="Times New Roman"/>
              <a:cs typeface="Times New Roman"/>
              <a:sym typeface="Times New Roman"/>
            </a:endParaRPr>
          </a:p>
          <a:p>
            <a:pPr marL="1371600" lvl="2" indent="-330200" algn="just" rtl="0">
              <a:lnSpc>
                <a:spcPct val="100000"/>
              </a:lnSpc>
              <a:spcBef>
                <a:spcPts val="0"/>
              </a:spcBef>
              <a:spcAft>
                <a:spcPts val="0"/>
              </a:spcAft>
              <a:buClr>
                <a:srgbClr val="000000"/>
              </a:buClr>
              <a:buSzPts val="1600"/>
              <a:buFont typeface="Arial"/>
              <a:buChar char="■"/>
            </a:pPr>
            <a:r>
              <a:rPr lang="en-GB" sz="1600">
                <a:solidFill>
                  <a:srgbClr val="000000"/>
                </a:solidFill>
                <a:latin typeface="Times New Roman"/>
                <a:ea typeface="Times New Roman"/>
                <a:cs typeface="Times New Roman"/>
                <a:sym typeface="Times New Roman"/>
              </a:rPr>
              <a:t>A </a:t>
            </a:r>
            <a:r>
              <a:rPr lang="en-GB" sz="1600" b="1">
                <a:solidFill>
                  <a:srgbClr val="000000"/>
                </a:solidFill>
                <a:latin typeface="Times New Roman"/>
                <a:ea typeface="Times New Roman"/>
                <a:cs typeface="Times New Roman"/>
                <a:sym typeface="Times New Roman"/>
              </a:rPr>
              <a:t>7-bit or 10-bit unique sequence</a:t>
            </a:r>
            <a:r>
              <a:rPr lang="en-GB" sz="1600">
                <a:solidFill>
                  <a:srgbClr val="000000"/>
                </a:solidFill>
                <a:latin typeface="Times New Roman"/>
                <a:ea typeface="Times New Roman"/>
                <a:cs typeface="Times New Roman"/>
                <a:sym typeface="Times New Roman"/>
              </a:rPr>
              <a:t> used to identify the slave device when the master wants to communicate with it.</a:t>
            </a:r>
            <a:endParaRPr sz="1600" b="1">
              <a:solidFill>
                <a:srgbClr val="000000"/>
              </a:solidFill>
              <a:latin typeface="Times New Roman"/>
              <a:ea typeface="Times New Roman"/>
              <a:cs typeface="Times New Roman"/>
              <a:sym typeface="Times New Roman"/>
            </a:endParaRPr>
          </a:p>
          <a:p>
            <a:pPr marL="457200" lvl="0" indent="-330200" algn="l" rtl="0">
              <a:spcBef>
                <a:spcPts val="0"/>
              </a:spcBef>
              <a:spcAft>
                <a:spcPts val="0"/>
              </a:spcAft>
              <a:buClr>
                <a:srgbClr val="000000"/>
              </a:buClr>
              <a:buSzPts val="1600"/>
              <a:buFont typeface="Times New Roman"/>
              <a:buChar char="●"/>
            </a:pPr>
            <a:r>
              <a:rPr lang="en-GB" sz="1600" b="1">
                <a:solidFill>
                  <a:srgbClr val="000000"/>
                </a:solidFill>
                <a:highlight>
                  <a:srgbClr val="FFFFFF"/>
                </a:highlight>
                <a:latin typeface="Times New Roman"/>
                <a:ea typeface="Times New Roman"/>
                <a:cs typeface="Times New Roman"/>
                <a:sym typeface="Times New Roman"/>
              </a:rPr>
              <a:t>Read/Write Bit</a:t>
            </a:r>
            <a:endParaRPr sz="1600" b="1">
              <a:solidFill>
                <a:srgbClr val="000000"/>
              </a:solidFill>
              <a:highlight>
                <a:srgbClr val="FFFFFF"/>
              </a:highlight>
              <a:latin typeface="Times New Roman"/>
              <a:ea typeface="Times New Roman"/>
              <a:cs typeface="Times New Roman"/>
              <a:sym typeface="Times New Roman"/>
            </a:endParaRPr>
          </a:p>
          <a:p>
            <a:pPr marL="1371600" lvl="2" indent="-330200" algn="just" rtl="0">
              <a:spcBef>
                <a:spcPts val="0"/>
              </a:spcBef>
              <a:spcAft>
                <a:spcPts val="0"/>
              </a:spcAft>
              <a:buClr>
                <a:srgbClr val="000000"/>
              </a:buClr>
              <a:buSzPts val="1600"/>
              <a:buFont typeface="Times New Roman"/>
              <a:buChar char="■"/>
            </a:pPr>
            <a:r>
              <a:rPr lang="en-GB" sz="1600">
                <a:solidFill>
                  <a:srgbClr val="000000"/>
                </a:solidFill>
                <a:highlight>
                  <a:srgbClr val="FFFFFF"/>
                </a:highlight>
                <a:latin typeface="Times New Roman"/>
                <a:ea typeface="Times New Roman"/>
                <a:cs typeface="Times New Roman"/>
                <a:sym typeface="Times New Roman"/>
              </a:rPr>
              <a:t>This bit specifies the direction of data transfer. If the master device/IC need to send data to a slave device, this bit is set to ‘0’. If the master IC needs to receive data from the slave device, it is set to ‘1’</a:t>
            </a:r>
            <a:r>
              <a:rPr lang="en-GB" sz="1600">
                <a:solidFill>
                  <a:srgbClr val="000000"/>
                </a:solidFill>
                <a:latin typeface="Times New Roman"/>
                <a:ea typeface="Times New Roman"/>
                <a:cs typeface="Times New Roman"/>
                <a:sym typeface="Times New Roman"/>
              </a:rPr>
              <a:t>.</a:t>
            </a:r>
            <a:endParaRPr sz="1700" b="1">
              <a:solidFill>
                <a:srgbClr val="000000"/>
              </a:solidFill>
              <a:highlight>
                <a:srgbClr val="FFFFFF"/>
              </a:highlight>
              <a:latin typeface="Times New Roman"/>
              <a:ea typeface="Times New Roman"/>
              <a:cs typeface="Times New Roman"/>
              <a:sym typeface="Times New Roman"/>
            </a:endParaRPr>
          </a:p>
          <a:p>
            <a:pPr marL="457200" lvl="0" indent="-349250" algn="l" rtl="0">
              <a:lnSpc>
                <a:spcPct val="100000"/>
              </a:lnSpc>
              <a:spcBef>
                <a:spcPts val="0"/>
              </a:spcBef>
              <a:spcAft>
                <a:spcPts val="0"/>
              </a:spcAft>
              <a:buClr>
                <a:srgbClr val="000000"/>
              </a:buClr>
              <a:buSzPts val="1900"/>
              <a:buFont typeface="Times New Roman"/>
              <a:buChar char="●"/>
            </a:pPr>
            <a:r>
              <a:rPr lang="en-GB" sz="1600" b="1">
                <a:solidFill>
                  <a:srgbClr val="000000"/>
                </a:solidFill>
                <a:highlight>
                  <a:srgbClr val="FFFFFF"/>
                </a:highlight>
                <a:latin typeface="Times New Roman"/>
                <a:ea typeface="Times New Roman"/>
                <a:cs typeface="Times New Roman"/>
                <a:sym typeface="Times New Roman"/>
              </a:rPr>
              <a:t>ACK/NACK Bit</a:t>
            </a:r>
            <a:endParaRPr sz="1600" b="1">
              <a:solidFill>
                <a:srgbClr val="000000"/>
              </a:solidFill>
              <a:highlight>
                <a:srgbClr val="FFFFFF"/>
              </a:highlight>
              <a:latin typeface="Times New Roman"/>
              <a:ea typeface="Times New Roman"/>
              <a:cs typeface="Times New Roman"/>
              <a:sym typeface="Times New Roman"/>
            </a:endParaRPr>
          </a:p>
          <a:p>
            <a:pPr marL="1371600" lvl="2" indent="-336550" algn="l" rtl="0">
              <a:lnSpc>
                <a:spcPct val="100000"/>
              </a:lnSpc>
              <a:spcBef>
                <a:spcPts val="0"/>
              </a:spcBef>
              <a:spcAft>
                <a:spcPts val="0"/>
              </a:spcAft>
              <a:buClr>
                <a:srgbClr val="000000"/>
              </a:buClr>
              <a:buSzPts val="1700"/>
              <a:buFont typeface="Times New Roman"/>
              <a:buChar char="■"/>
            </a:pPr>
            <a:r>
              <a:rPr lang="en-GB" sz="1600">
                <a:solidFill>
                  <a:srgbClr val="000000"/>
                </a:solidFill>
                <a:highlight>
                  <a:srgbClr val="FFFFFF"/>
                </a:highlight>
                <a:latin typeface="Times New Roman"/>
                <a:ea typeface="Times New Roman"/>
                <a:cs typeface="Times New Roman"/>
                <a:sym typeface="Times New Roman"/>
              </a:rPr>
              <a:t>It stands for Acknowledged/Not-Acknowledged bit. If the physical address of any slave device coincides with the address broadcasted by the master device.</a:t>
            </a:r>
            <a:endParaRPr sz="1600">
              <a:solidFill>
                <a:srgbClr val="000000"/>
              </a:solidFill>
              <a:highlight>
                <a:srgbClr val="FFFFFF"/>
              </a:highlight>
              <a:latin typeface="Times New Roman"/>
              <a:ea typeface="Times New Roman"/>
              <a:cs typeface="Times New Roman"/>
              <a:sym typeface="Times New Roman"/>
            </a:endParaRPr>
          </a:p>
          <a:p>
            <a:pPr marL="1371600" lvl="2" indent="-336550" algn="l" rtl="0">
              <a:lnSpc>
                <a:spcPct val="100000"/>
              </a:lnSpc>
              <a:spcBef>
                <a:spcPts val="0"/>
              </a:spcBef>
              <a:spcAft>
                <a:spcPts val="0"/>
              </a:spcAft>
              <a:buClr>
                <a:srgbClr val="000000"/>
              </a:buClr>
              <a:buSzPts val="1700"/>
              <a:buFont typeface="Times New Roman"/>
              <a:buChar char="■"/>
            </a:pPr>
            <a:r>
              <a:rPr lang="en-GB" sz="1600">
                <a:solidFill>
                  <a:srgbClr val="000000"/>
                </a:solidFill>
                <a:highlight>
                  <a:srgbClr val="FFFFFF"/>
                </a:highlight>
                <a:latin typeface="Times New Roman"/>
                <a:ea typeface="Times New Roman"/>
                <a:cs typeface="Times New Roman"/>
                <a:sym typeface="Times New Roman"/>
              </a:rPr>
              <a:t>The value of this bit is set to ‘0’ by the slave device. Otherwise it remains at logic ‘1’ (default).</a:t>
            </a:r>
            <a:endParaRPr b="1">
              <a:solidFill>
                <a:srgbClr val="000000"/>
              </a:solidFill>
              <a:highlight>
                <a:srgbClr val="FFFFFF"/>
              </a:highlight>
              <a:latin typeface="Times New Roman"/>
              <a:ea typeface="Times New Roman"/>
              <a:cs typeface="Times New Roman"/>
              <a:sym typeface="Times New Roman"/>
            </a:endParaRPr>
          </a:p>
          <a:p>
            <a:pPr marL="457200" lvl="0" indent="-330200" algn="l" rtl="0">
              <a:lnSpc>
                <a:spcPct val="115000"/>
              </a:lnSpc>
              <a:spcBef>
                <a:spcPts val="0"/>
              </a:spcBef>
              <a:spcAft>
                <a:spcPts val="0"/>
              </a:spcAft>
              <a:buClr>
                <a:srgbClr val="000000"/>
              </a:buClr>
              <a:buSzPts val="1600"/>
              <a:buFont typeface="Times New Roman"/>
              <a:buChar char="●"/>
            </a:pPr>
            <a:r>
              <a:rPr lang="en-GB" sz="1600" b="1">
                <a:solidFill>
                  <a:srgbClr val="000000"/>
                </a:solidFill>
                <a:highlight>
                  <a:srgbClr val="FFFFFF"/>
                </a:highlight>
                <a:latin typeface="Times New Roman"/>
                <a:ea typeface="Times New Roman"/>
                <a:cs typeface="Times New Roman"/>
                <a:sym typeface="Times New Roman"/>
              </a:rPr>
              <a:t>Data Block</a:t>
            </a:r>
            <a:endParaRPr sz="1600" b="1">
              <a:solidFill>
                <a:srgbClr val="000000"/>
              </a:solidFill>
              <a:highlight>
                <a:srgbClr val="FFFFFF"/>
              </a:highlight>
              <a:latin typeface="Times New Roman"/>
              <a:ea typeface="Times New Roman"/>
              <a:cs typeface="Times New Roman"/>
              <a:sym typeface="Times New Roman"/>
            </a:endParaRPr>
          </a:p>
          <a:p>
            <a:pPr marL="1371600" lvl="2" indent="-330200" algn="l" rtl="0">
              <a:lnSpc>
                <a:spcPct val="115000"/>
              </a:lnSpc>
              <a:spcBef>
                <a:spcPts val="0"/>
              </a:spcBef>
              <a:spcAft>
                <a:spcPts val="0"/>
              </a:spcAft>
              <a:buClr>
                <a:srgbClr val="000000"/>
              </a:buClr>
              <a:buSzPts val="1600"/>
              <a:buFont typeface="Times New Roman"/>
              <a:buChar char="■"/>
            </a:pPr>
            <a:r>
              <a:rPr lang="en-GB" sz="1600">
                <a:solidFill>
                  <a:srgbClr val="000000"/>
                </a:solidFill>
                <a:highlight>
                  <a:srgbClr val="FFFFFF"/>
                </a:highlight>
                <a:latin typeface="Times New Roman"/>
                <a:ea typeface="Times New Roman"/>
                <a:cs typeface="Times New Roman"/>
                <a:sym typeface="Times New Roman"/>
              </a:rPr>
              <a:t>It comprises of 8 bits and they are set by the sender, with the data bits it needs to transfer to the receiver. This block is followed by an ACK/NACK bit and is set to ‘0’ by the receiver if it successfully receives data. Otherwise it stays at logic ‘1’.</a:t>
            </a:r>
            <a:endParaRPr sz="1600">
              <a:solidFill>
                <a:srgbClr val="000000"/>
              </a:solidFill>
              <a:highlight>
                <a:srgbClr val="FFFFFF"/>
              </a:highlight>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600">
              <a:solidFill>
                <a:srgbClr val="000000"/>
              </a:solidFill>
              <a:latin typeface="Times New Roman"/>
              <a:ea typeface="Times New Roman"/>
              <a:cs typeface="Times New Roman"/>
              <a:sym typeface="Times New Roman"/>
            </a:endParaRPr>
          </a:p>
          <a:p>
            <a:pPr marL="0" lvl="0" indent="0" algn="l" rtl="0">
              <a:lnSpc>
                <a:spcPct val="100000"/>
              </a:lnSpc>
              <a:spcBef>
                <a:spcPts val="1200"/>
              </a:spcBef>
              <a:spcAft>
                <a:spcPts val="0"/>
              </a:spcAft>
              <a:buNone/>
            </a:pPr>
            <a:endParaRPr sz="1300">
              <a:solidFill>
                <a:srgbClr val="000000"/>
              </a:solidFill>
              <a:highlight>
                <a:srgbClr val="FFFFFF"/>
              </a:highlight>
            </a:endParaRPr>
          </a:p>
          <a:p>
            <a:pPr marL="0" lvl="0" indent="0" algn="just" rtl="0">
              <a:lnSpc>
                <a:spcPct val="100000"/>
              </a:lnSpc>
              <a:spcBef>
                <a:spcPts val="1200"/>
              </a:spcBef>
              <a:spcAft>
                <a:spcPts val="0"/>
              </a:spcAft>
              <a:buNone/>
            </a:pPr>
            <a:endParaRPr sz="1600">
              <a:solidFill>
                <a:srgbClr val="000000"/>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None/>
            </a:pPr>
            <a:endParaRPr sz="1600">
              <a:solidFill>
                <a:srgbClr val="000000"/>
              </a:solidFill>
              <a:latin typeface="Times New Roman"/>
              <a:ea typeface="Times New Roman"/>
              <a:cs typeface="Times New Roman"/>
              <a:sym typeface="Times New Roman"/>
            </a:endParaRPr>
          </a:p>
          <a:p>
            <a:pPr marL="457200" lvl="0" indent="0" algn="just" rtl="0">
              <a:lnSpc>
                <a:spcPct val="115000"/>
              </a:lnSpc>
              <a:spcBef>
                <a:spcPts val="200"/>
              </a:spcBef>
              <a:spcAft>
                <a:spcPts val="0"/>
              </a:spcAft>
              <a:buNone/>
            </a:pPr>
            <a:endParaRPr>
              <a:solidFill>
                <a:srgbClr val="000000"/>
              </a:solidFill>
              <a:highlight>
                <a:srgbClr val="FFFFFF"/>
              </a:highlight>
              <a:latin typeface="Times New Roman"/>
              <a:ea typeface="Times New Roman"/>
              <a:cs typeface="Times New Roman"/>
              <a:sym typeface="Times New Roman"/>
            </a:endParaRPr>
          </a:p>
          <a:p>
            <a:pPr marL="0" lvl="0" indent="0" algn="just" rtl="0">
              <a:lnSpc>
                <a:spcPct val="115000"/>
              </a:lnSpc>
              <a:spcBef>
                <a:spcPts val="3000"/>
              </a:spcBef>
              <a:spcAft>
                <a:spcPts val="3000"/>
              </a:spcAft>
              <a:buNone/>
            </a:pPr>
            <a:endParaRPr>
              <a:solidFill>
                <a:srgbClr val="2021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3"/>
          <p:cNvSpPr txBox="1">
            <a:spLocks noGrp="1"/>
          </p:cNvSpPr>
          <p:nvPr>
            <p:ph type="title"/>
          </p:nvPr>
        </p:nvSpPr>
        <p:spPr>
          <a:xfrm>
            <a:off x="243000" y="0"/>
            <a:ext cx="8589300" cy="438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90"/>
              <a:buNone/>
            </a:pPr>
            <a:r>
              <a:rPr lang="en-GB" sz="2820">
                <a:highlight>
                  <a:schemeClr val="lt1"/>
                </a:highlight>
                <a:latin typeface="Times New Roman"/>
                <a:ea typeface="Times New Roman"/>
                <a:cs typeface="Times New Roman"/>
                <a:sym typeface="Times New Roman"/>
              </a:rPr>
              <a:t>Steps of I2C Data Transmission</a:t>
            </a:r>
            <a:endParaRPr sz="1100" b="0">
              <a:solidFill>
                <a:srgbClr val="000000"/>
              </a:solidFill>
              <a:latin typeface="Arial"/>
              <a:ea typeface="Arial"/>
              <a:cs typeface="Arial"/>
              <a:sym typeface="Arial"/>
            </a:endParaRPr>
          </a:p>
          <a:p>
            <a:pPr marL="0" lvl="0" indent="0" algn="l" rtl="0">
              <a:lnSpc>
                <a:spcPct val="115000"/>
              </a:lnSpc>
              <a:spcBef>
                <a:spcPts val="3000"/>
              </a:spcBef>
              <a:spcAft>
                <a:spcPts val="0"/>
              </a:spcAft>
              <a:buSzPts val="990"/>
              <a:buNone/>
            </a:pPr>
            <a:endParaRPr sz="2820">
              <a:highlight>
                <a:schemeClr val="lt1"/>
              </a:highlight>
              <a:latin typeface="Times New Roman"/>
              <a:ea typeface="Times New Roman"/>
              <a:cs typeface="Times New Roman"/>
              <a:sym typeface="Times New Roman"/>
            </a:endParaRPr>
          </a:p>
          <a:p>
            <a:pPr marL="0" lvl="0" indent="0" algn="l" rtl="0">
              <a:lnSpc>
                <a:spcPct val="115000"/>
              </a:lnSpc>
              <a:spcBef>
                <a:spcPts val="3000"/>
              </a:spcBef>
              <a:spcAft>
                <a:spcPts val="3000"/>
              </a:spcAft>
              <a:buSzPts val="990"/>
              <a:buNone/>
            </a:pPr>
            <a:endParaRPr sz="2820">
              <a:highlight>
                <a:schemeClr val="lt1"/>
              </a:highlight>
              <a:latin typeface="Times New Roman"/>
              <a:ea typeface="Times New Roman"/>
              <a:cs typeface="Times New Roman"/>
              <a:sym typeface="Times New Roman"/>
            </a:endParaRPr>
          </a:p>
        </p:txBody>
      </p:sp>
      <p:sp>
        <p:nvSpPr>
          <p:cNvPr id="165" name="Google Shape;165;p33"/>
          <p:cNvSpPr txBox="1">
            <a:spLocks noGrp="1"/>
          </p:cNvSpPr>
          <p:nvPr>
            <p:ph type="body" idx="1"/>
          </p:nvPr>
        </p:nvSpPr>
        <p:spPr>
          <a:xfrm>
            <a:off x="115600" y="522800"/>
            <a:ext cx="8925900" cy="4507500"/>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457200" lvl="0" indent="-342900" algn="just" rtl="0">
              <a:spcBef>
                <a:spcPts val="1200"/>
              </a:spcBef>
              <a:spcAft>
                <a:spcPts val="0"/>
              </a:spcAft>
              <a:buClr>
                <a:srgbClr val="000000"/>
              </a:buClr>
              <a:buSzPts val="1800"/>
              <a:buFont typeface="Times New Roman"/>
              <a:buAutoNum type="arabicPeriod"/>
            </a:pPr>
            <a:r>
              <a:rPr lang="en-GB">
                <a:solidFill>
                  <a:srgbClr val="000000"/>
                </a:solidFill>
                <a:latin typeface="Times New Roman"/>
                <a:ea typeface="Times New Roman"/>
                <a:cs typeface="Times New Roman"/>
                <a:sym typeface="Times New Roman"/>
              </a:rPr>
              <a:t>The master sends the start condition to every connected slave by switching the SDA line from a high voltage level to a low voltage level before switching the SCL line from high to low.</a:t>
            </a:r>
            <a:endParaRPr>
              <a:solidFill>
                <a:srgbClr val="000000"/>
              </a:solidFill>
              <a:latin typeface="Times New Roman"/>
              <a:ea typeface="Times New Roman"/>
              <a:cs typeface="Times New Roman"/>
              <a:sym typeface="Times New Roman"/>
            </a:endParaRPr>
          </a:p>
          <a:p>
            <a:pPr marL="0" lvl="0" indent="0" algn="just" rtl="0">
              <a:spcBef>
                <a:spcPts val="1200"/>
              </a:spcBef>
              <a:spcAft>
                <a:spcPts val="0"/>
              </a:spcAft>
              <a:buNone/>
            </a:pPr>
            <a:endParaRPr>
              <a:solidFill>
                <a:srgbClr val="000000"/>
              </a:solidFill>
              <a:latin typeface="Times New Roman"/>
              <a:ea typeface="Times New Roman"/>
              <a:cs typeface="Times New Roman"/>
              <a:sym typeface="Times New Roman"/>
            </a:endParaRPr>
          </a:p>
          <a:p>
            <a:pPr marL="0" lvl="0" indent="0" algn="just" rtl="0">
              <a:spcBef>
                <a:spcPts val="1200"/>
              </a:spcBef>
              <a:spcAft>
                <a:spcPts val="0"/>
              </a:spcAft>
              <a:buNone/>
            </a:pPr>
            <a:endParaRPr>
              <a:solidFill>
                <a:srgbClr val="000000"/>
              </a:solidFill>
              <a:latin typeface="Times New Roman"/>
              <a:ea typeface="Times New Roman"/>
              <a:cs typeface="Times New Roman"/>
              <a:sym typeface="Times New Roman"/>
            </a:endParaRPr>
          </a:p>
          <a:p>
            <a:pPr marL="0" lvl="0" indent="0" algn="just" rtl="0">
              <a:spcBef>
                <a:spcPts val="1200"/>
              </a:spcBef>
              <a:spcAft>
                <a:spcPts val="0"/>
              </a:spcAft>
              <a:buNone/>
            </a:pPr>
            <a:endParaRPr>
              <a:solidFill>
                <a:srgbClr val="000000"/>
              </a:solidFill>
              <a:latin typeface="Times New Roman"/>
              <a:ea typeface="Times New Roman"/>
              <a:cs typeface="Times New Roman"/>
              <a:sym typeface="Times New Roman"/>
            </a:endParaRPr>
          </a:p>
          <a:p>
            <a:pPr marL="457200" lvl="0" indent="-342900" algn="just" rtl="0">
              <a:spcBef>
                <a:spcPts val="1200"/>
              </a:spcBef>
              <a:spcAft>
                <a:spcPts val="0"/>
              </a:spcAft>
              <a:buClr>
                <a:srgbClr val="000000"/>
              </a:buClr>
              <a:buSzPts val="1800"/>
              <a:buFont typeface="Times New Roman"/>
              <a:buAutoNum type="arabicPeriod"/>
            </a:pPr>
            <a:r>
              <a:rPr lang="en-GB">
                <a:solidFill>
                  <a:srgbClr val="000000"/>
                </a:solidFill>
                <a:latin typeface="Times New Roman"/>
                <a:ea typeface="Times New Roman"/>
                <a:cs typeface="Times New Roman"/>
                <a:sym typeface="Times New Roman"/>
              </a:rPr>
              <a:t>The master sends each slave the 7 or 10 bit address of the slave it wants to communicate with, along with the read/write bit:</a:t>
            </a:r>
            <a:endParaRPr>
              <a:solidFill>
                <a:srgbClr val="000000"/>
              </a:solidFill>
              <a:latin typeface="Times New Roman"/>
              <a:ea typeface="Times New Roman"/>
              <a:cs typeface="Times New Roman"/>
              <a:sym typeface="Times New Roman"/>
            </a:endParaRPr>
          </a:p>
          <a:p>
            <a:pPr marL="457200" lvl="0" indent="-342900" algn="just" rtl="0">
              <a:spcBef>
                <a:spcPts val="0"/>
              </a:spcBef>
              <a:spcAft>
                <a:spcPts val="0"/>
              </a:spcAft>
              <a:buClr>
                <a:srgbClr val="000000"/>
              </a:buClr>
              <a:buSzPts val="1800"/>
              <a:buFont typeface="Times New Roman"/>
              <a:buAutoNum type="arabicPeriod"/>
            </a:pPr>
            <a:r>
              <a:rPr lang="en-GB">
                <a:solidFill>
                  <a:srgbClr val="000000"/>
                </a:solidFill>
                <a:latin typeface="Times New Roman"/>
                <a:ea typeface="Times New Roman"/>
                <a:cs typeface="Times New Roman"/>
                <a:sym typeface="Times New Roman"/>
              </a:rPr>
              <a:t>Each slave compares the address sent from the master to its own address. If the address matches, the slave returns an ACK bit by pulling the SDA line low for one bit. If the address from the master does not match the slave’s own address, the slave leaves the SDA line high.</a:t>
            </a:r>
            <a:endParaRPr>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endParaRPr sz="1600" b="1">
              <a:solidFill>
                <a:srgbClr val="000000"/>
              </a:solidFill>
              <a:highlight>
                <a:srgbClr val="FFFFFF"/>
              </a:highlight>
              <a:latin typeface="Times New Roman"/>
              <a:ea typeface="Times New Roman"/>
              <a:cs typeface="Times New Roman"/>
              <a:sym typeface="Times New Roman"/>
            </a:endParaRPr>
          </a:p>
          <a:p>
            <a:pPr marL="0" lvl="0" indent="0" algn="l" rtl="0">
              <a:lnSpc>
                <a:spcPct val="100000"/>
              </a:lnSpc>
              <a:spcBef>
                <a:spcPts val="1200"/>
              </a:spcBef>
              <a:spcAft>
                <a:spcPts val="0"/>
              </a:spcAft>
              <a:buNone/>
            </a:pPr>
            <a:endParaRPr sz="1300">
              <a:solidFill>
                <a:srgbClr val="000000"/>
              </a:solidFill>
              <a:highlight>
                <a:srgbClr val="FFFFFF"/>
              </a:highlight>
            </a:endParaRPr>
          </a:p>
          <a:p>
            <a:pPr marL="0" lvl="0" indent="0" algn="just" rtl="0">
              <a:lnSpc>
                <a:spcPct val="100000"/>
              </a:lnSpc>
              <a:spcBef>
                <a:spcPts val="1200"/>
              </a:spcBef>
              <a:spcAft>
                <a:spcPts val="0"/>
              </a:spcAft>
              <a:buNone/>
            </a:pPr>
            <a:endParaRPr sz="1600">
              <a:solidFill>
                <a:srgbClr val="000000"/>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None/>
            </a:pPr>
            <a:endParaRPr sz="1600">
              <a:solidFill>
                <a:srgbClr val="000000"/>
              </a:solidFill>
              <a:latin typeface="Times New Roman"/>
              <a:ea typeface="Times New Roman"/>
              <a:cs typeface="Times New Roman"/>
              <a:sym typeface="Times New Roman"/>
            </a:endParaRPr>
          </a:p>
          <a:p>
            <a:pPr marL="457200" lvl="0" indent="0" algn="just" rtl="0">
              <a:lnSpc>
                <a:spcPct val="115000"/>
              </a:lnSpc>
              <a:spcBef>
                <a:spcPts val="200"/>
              </a:spcBef>
              <a:spcAft>
                <a:spcPts val="0"/>
              </a:spcAft>
              <a:buNone/>
            </a:pPr>
            <a:endParaRPr>
              <a:solidFill>
                <a:srgbClr val="000000"/>
              </a:solidFill>
              <a:highlight>
                <a:srgbClr val="FFFFFF"/>
              </a:highlight>
              <a:latin typeface="Times New Roman"/>
              <a:ea typeface="Times New Roman"/>
              <a:cs typeface="Times New Roman"/>
              <a:sym typeface="Times New Roman"/>
            </a:endParaRPr>
          </a:p>
          <a:p>
            <a:pPr marL="0" lvl="0" indent="0" algn="just" rtl="0">
              <a:lnSpc>
                <a:spcPct val="115000"/>
              </a:lnSpc>
              <a:spcBef>
                <a:spcPts val="3000"/>
              </a:spcBef>
              <a:spcAft>
                <a:spcPts val="3000"/>
              </a:spcAft>
              <a:buNone/>
            </a:pPr>
            <a:endParaRPr>
              <a:solidFill>
                <a:srgbClr val="202122"/>
              </a:solidFill>
              <a:highlight>
                <a:srgbClr val="FFFFFF"/>
              </a:highlight>
              <a:latin typeface="Times New Roman"/>
              <a:ea typeface="Times New Roman"/>
              <a:cs typeface="Times New Roman"/>
              <a:sym typeface="Times New Roman"/>
            </a:endParaRPr>
          </a:p>
        </p:txBody>
      </p:sp>
      <p:pic>
        <p:nvPicPr>
          <p:cNvPr id="166" name="Google Shape;166;p33"/>
          <p:cNvPicPr preferRelativeResize="0"/>
          <p:nvPr/>
        </p:nvPicPr>
        <p:blipFill>
          <a:blip r:embed="rId3">
            <a:alphaModFix/>
          </a:blip>
          <a:stretch>
            <a:fillRect/>
          </a:stretch>
        </p:blipFill>
        <p:spPr>
          <a:xfrm>
            <a:off x="1610575" y="1245450"/>
            <a:ext cx="7319276" cy="1875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4"/>
          <p:cNvSpPr txBox="1">
            <a:spLocks noGrp="1"/>
          </p:cNvSpPr>
          <p:nvPr>
            <p:ph type="title"/>
          </p:nvPr>
        </p:nvSpPr>
        <p:spPr>
          <a:xfrm>
            <a:off x="243000" y="0"/>
            <a:ext cx="8589300" cy="438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90"/>
              <a:buNone/>
            </a:pPr>
            <a:r>
              <a:rPr lang="en-GB" sz="2820">
                <a:highlight>
                  <a:schemeClr val="lt1"/>
                </a:highlight>
                <a:latin typeface="Times New Roman"/>
                <a:ea typeface="Times New Roman"/>
                <a:cs typeface="Times New Roman"/>
                <a:sym typeface="Times New Roman"/>
              </a:rPr>
              <a:t>Data Frame Overview of I²C Protocol</a:t>
            </a:r>
            <a:endParaRPr sz="1100" b="0">
              <a:solidFill>
                <a:srgbClr val="000000"/>
              </a:solidFill>
              <a:latin typeface="Arial"/>
              <a:ea typeface="Arial"/>
              <a:cs typeface="Arial"/>
              <a:sym typeface="Arial"/>
            </a:endParaRPr>
          </a:p>
          <a:p>
            <a:pPr marL="0" lvl="0" indent="0" algn="l" rtl="0">
              <a:lnSpc>
                <a:spcPct val="115000"/>
              </a:lnSpc>
              <a:spcBef>
                <a:spcPts val="3000"/>
              </a:spcBef>
              <a:spcAft>
                <a:spcPts val="3000"/>
              </a:spcAft>
              <a:buSzPts val="990"/>
              <a:buNone/>
            </a:pPr>
            <a:endParaRPr sz="2820">
              <a:highlight>
                <a:schemeClr val="lt1"/>
              </a:highlight>
              <a:latin typeface="Times New Roman"/>
              <a:ea typeface="Times New Roman"/>
              <a:cs typeface="Times New Roman"/>
              <a:sym typeface="Times New Roman"/>
            </a:endParaRPr>
          </a:p>
        </p:txBody>
      </p:sp>
      <p:sp>
        <p:nvSpPr>
          <p:cNvPr id="172" name="Google Shape;172;p34"/>
          <p:cNvSpPr txBox="1">
            <a:spLocks noGrp="1"/>
          </p:cNvSpPr>
          <p:nvPr>
            <p:ph type="body" idx="1"/>
          </p:nvPr>
        </p:nvSpPr>
        <p:spPr>
          <a:xfrm>
            <a:off x="115600" y="522800"/>
            <a:ext cx="8925900" cy="4507500"/>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just" rtl="0">
              <a:spcBef>
                <a:spcPts val="1200"/>
              </a:spcBef>
              <a:spcAft>
                <a:spcPts val="0"/>
              </a:spcAft>
              <a:buNone/>
            </a:pPr>
            <a:r>
              <a:rPr lang="en-GB">
                <a:solidFill>
                  <a:srgbClr val="000000"/>
                </a:solidFill>
                <a:latin typeface="Times New Roman"/>
                <a:ea typeface="Times New Roman"/>
                <a:cs typeface="Times New Roman"/>
                <a:sym typeface="Times New Roman"/>
              </a:rPr>
              <a:t>4.The master sends or receives the data frame.</a:t>
            </a:r>
            <a:endParaRPr>
              <a:solidFill>
                <a:srgbClr val="000000"/>
              </a:solidFill>
              <a:latin typeface="Times New Roman"/>
              <a:ea typeface="Times New Roman"/>
              <a:cs typeface="Times New Roman"/>
              <a:sym typeface="Times New Roman"/>
            </a:endParaRPr>
          </a:p>
          <a:p>
            <a:pPr marL="0" lvl="0" indent="0" algn="just" rtl="0">
              <a:spcBef>
                <a:spcPts val="1200"/>
              </a:spcBef>
              <a:spcAft>
                <a:spcPts val="0"/>
              </a:spcAft>
              <a:buNone/>
            </a:pPr>
            <a:r>
              <a:rPr lang="en-GB">
                <a:solidFill>
                  <a:srgbClr val="000000"/>
                </a:solidFill>
                <a:latin typeface="Times New Roman"/>
                <a:ea typeface="Times New Roman"/>
                <a:cs typeface="Times New Roman"/>
                <a:sym typeface="Times New Roman"/>
              </a:rPr>
              <a:t>5. After each data frame has been transferred, the receiving device returns another ACK bit to        the sender to acknowledge successful receipt of the frame.</a:t>
            </a:r>
            <a:endParaRPr>
              <a:solidFill>
                <a:srgbClr val="000000"/>
              </a:solidFill>
              <a:latin typeface="Times New Roman"/>
              <a:ea typeface="Times New Roman"/>
              <a:cs typeface="Times New Roman"/>
              <a:sym typeface="Times New Roman"/>
            </a:endParaRPr>
          </a:p>
          <a:p>
            <a:pPr marL="0" lvl="0" indent="0" algn="just" rtl="0">
              <a:spcBef>
                <a:spcPts val="1200"/>
              </a:spcBef>
              <a:spcAft>
                <a:spcPts val="0"/>
              </a:spcAft>
              <a:buNone/>
            </a:pPr>
            <a:r>
              <a:rPr lang="en-GB">
                <a:solidFill>
                  <a:srgbClr val="000000"/>
                </a:solidFill>
                <a:latin typeface="Times New Roman"/>
                <a:ea typeface="Times New Roman"/>
                <a:cs typeface="Times New Roman"/>
                <a:sym typeface="Times New Roman"/>
              </a:rPr>
              <a:t>6. To stop the data transmission, the master sends a stop condition to the slave by switching SCL high before switching SDA high:</a:t>
            </a:r>
            <a:endParaRPr>
              <a:solidFill>
                <a:srgbClr val="000000"/>
              </a:solidFill>
              <a:latin typeface="Times New Roman"/>
              <a:ea typeface="Times New Roman"/>
              <a:cs typeface="Times New Roman"/>
              <a:sym typeface="Times New Roman"/>
            </a:endParaRPr>
          </a:p>
          <a:p>
            <a:pPr marL="0" lvl="0" indent="0" algn="just" rtl="0">
              <a:lnSpc>
                <a:spcPct val="115000"/>
              </a:lnSpc>
              <a:spcBef>
                <a:spcPts val="1200"/>
              </a:spcBef>
              <a:spcAft>
                <a:spcPts val="3000"/>
              </a:spcAft>
              <a:buNone/>
            </a:pPr>
            <a:endParaRPr>
              <a:solidFill>
                <a:srgbClr val="202122"/>
              </a:solidFill>
              <a:highlight>
                <a:srgbClr val="FFFFFF"/>
              </a:highlight>
              <a:latin typeface="Times New Roman"/>
              <a:ea typeface="Times New Roman"/>
              <a:cs typeface="Times New Roman"/>
              <a:sym typeface="Times New Roman"/>
            </a:endParaRPr>
          </a:p>
        </p:txBody>
      </p:sp>
      <p:pic>
        <p:nvPicPr>
          <p:cNvPr id="173" name="Google Shape;173;p34"/>
          <p:cNvPicPr preferRelativeResize="0"/>
          <p:nvPr/>
        </p:nvPicPr>
        <p:blipFill>
          <a:blip r:embed="rId3">
            <a:alphaModFix/>
          </a:blip>
          <a:stretch>
            <a:fillRect/>
          </a:stretch>
        </p:blipFill>
        <p:spPr>
          <a:xfrm>
            <a:off x="115600" y="2670275"/>
            <a:ext cx="8925901" cy="2360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5"/>
          <p:cNvSpPr txBox="1">
            <a:spLocks noGrp="1"/>
          </p:cNvSpPr>
          <p:nvPr>
            <p:ph type="title"/>
          </p:nvPr>
        </p:nvSpPr>
        <p:spPr>
          <a:xfrm>
            <a:off x="243000" y="0"/>
            <a:ext cx="8589300" cy="438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90"/>
              <a:buNone/>
            </a:pPr>
            <a:r>
              <a:rPr lang="en-GB" sz="2820">
                <a:highlight>
                  <a:schemeClr val="lt1"/>
                </a:highlight>
                <a:latin typeface="Times New Roman"/>
                <a:ea typeface="Times New Roman"/>
                <a:cs typeface="Times New Roman"/>
                <a:sym typeface="Times New Roman"/>
              </a:rPr>
              <a:t>Data Frame Overview of I²C Protocol</a:t>
            </a:r>
            <a:endParaRPr sz="1100" b="0">
              <a:solidFill>
                <a:srgbClr val="000000"/>
              </a:solidFill>
              <a:latin typeface="Arial"/>
              <a:ea typeface="Arial"/>
              <a:cs typeface="Arial"/>
              <a:sym typeface="Arial"/>
            </a:endParaRPr>
          </a:p>
          <a:p>
            <a:pPr marL="0" lvl="0" indent="0" algn="l" rtl="0">
              <a:lnSpc>
                <a:spcPct val="115000"/>
              </a:lnSpc>
              <a:spcBef>
                <a:spcPts val="3000"/>
              </a:spcBef>
              <a:spcAft>
                <a:spcPts val="3000"/>
              </a:spcAft>
              <a:buSzPts val="990"/>
              <a:buNone/>
            </a:pPr>
            <a:endParaRPr sz="2820">
              <a:highlight>
                <a:schemeClr val="lt1"/>
              </a:highlight>
              <a:latin typeface="Times New Roman"/>
              <a:ea typeface="Times New Roman"/>
              <a:cs typeface="Times New Roman"/>
              <a:sym typeface="Times New Roman"/>
            </a:endParaRPr>
          </a:p>
        </p:txBody>
      </p:sp>
      <p:sp>
        <p:nvSpPr>
          <p:cNvPr id="179" name="Google Shape;179;p35"/>
          <p:cNvSpPr txBox="1">
            <a:spLocks noGrp="1"/>
          </p:cNvSpPr>
          <p:nvPr>
            <p:ph type="body" idx="1"/>
          </p:nvPr>
        </p:nvSpPr>
        <p:spPr>
          <a:xfrm>
            <a:off x="115600" y="522800"/>
            <a:ext cx="8925900" cy="4507500"/>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0000"/>
              </a:lnSpc>
              <a:spcBef>
                <a:spcPts val="0"/>
              </a:spcBef>
              <a:spcAft>
                <a:spcPts val="0"/>
              </a:spcAft>
              <a:buNone/>
            </a:pPr>
            <a:r>
              <a:rPr lang="en-GB" b="1">
                <a:solidFill>
                  <a:srgbClr val="3A3A3A"/>
                </a:solidFill>
                <a:highlight>
                  <a:srgbClr val="FFFFFF"/>
                </a:highlight>
                <a:latin typeface="Times New Roman"/>
                <a:ea typeface="Times New Roman"/>
                <a:cs typeface="Times New Roman"/>
                <a:sym typeface="Times New Roman"/>
              </a:rPr>
              <a:t>Advantages</a:t>
            </a:r>
            <a:endParaRPr b="1">
              <a:solidFill>
                <a:srgbClr val="3A3A3A"/>
              </a:solidFill>
              <a:highlight>
                <a:srgbClr val="FFFFFF"/>
              </a:highlight>
              <a:latin typeface="Times New Roman"/>
              <a:ea typeface="Times New Roman"/>
              <a:cs typeface="Times New Roman"/>
              <a:sym typeface="Times New Roman"/>
            </a:endParaRPr>
          </a:p>
          <a:p>
            <a:pPr marL="1028700" lvl="0" indent="-342900" algn="l" rtl="0">
              <a:spcBef>
                <a:spcPts val="0"/>
              </a:spcBef>
              <a:spcAft>
                <a:spcPts val="0"/>
              </a:spcAft>
              <a:buClr>
                <a:srgbClr val="4B4F58"/>
              </a:buClr>
              <a:buSzPts val="1800"/>
              <a:buFont typeface="Times New Roman"/>
              <a:buChar char="●"/>
            </a:pPr>
            <a:r>
              <a:rPr lang="en-GB">
                <a:solidFill>
                  <a:srgbClr val="4B4F58"/>
                </a:solidFill>
                <a:highlight>
                  <a:schemeClr val="lt1"/>
                </a:highlight>
                <a:latin typeface="Times New Roman"/>
                <a:ea typeface="Times New Roman"/>
                <a:cs typeface="Times New Roman"/>
                <a:sym typeface="Times New Roman"/>
              </a:rPr>
              <a:t>Only uses two wires</a:t>
            </a:r>
            <a:endParaRPr>
              <a:solidFill>
                <a:srgbClr val="4B4F58"/>
              </a:solidFill>
              <a:highlight>
                <a:schemeClr val="lt1"/>
              </a:highlight>
              <a:latin typeface="Times New Roman"/>
              <a:ea typeface="Times New Roman"/>
              <a:cs typeface="Times New Roman"/>
              <a:sym typeface="Times New Roman"/>
            </a:endParaRPr>
          </a:p>
          <a:p>
            <a:pPr marL="1028700" lvl="0" indent="-342900" algn="l" rtl="0">
              <a:spcBef>
                <a:spcPts val="0"/>
              </a:spcBef>
              <a:spcAft>
                <a:spcPts val="0"/>
              </a:spcAft>
              <a:buClr>
                <a:srgbClr val="4B4F58"/>
              </a:buClr>
              <a:buSzPts val="1800"/>
              <a:buFont typeface="Times New Roman"/>
              <a:buChar char="●"/>
            </a:pPr>
            <a:r>
              <a:rPr lang="en-GB">
                <a:solidFill>
                  <a:srgbClr val="4B4F58"/>
                </a:solidFill>
                <a:highlight>
                  <a:schemeClr val="lt1"/>
                </a:highlight>
                <a:latin typeface="Times New Roman"/>
                <a:ea typeface="Times New Roman"/>
                <a:cs typeface="Times New Roman"/>
                <a:sym typeface="Times New Roman"/>
              </a:rPr>
              <a:t>Supports multiple masters and multiple slaves</a:t>
            </a:r>
            <a:endParaRPr>
              <a:solidFill>
                <a:srgbClr val="4B4F58"/>
              </a:solidFill>
              <a:highlight>
                <a:schemeClr val="lt1"/>
              </a:highlight>
              <a:latin typeface="Times New Roman"/>
              <a:ea typeface="Times New Roman"/>
              <a:cs typeface="Times New Roman"/>
              <a:sym typeface="Times New Roman"/>
            </a:endParaRPr>
          </a:p>
          <a:p>
            <a:pPr marL="1028700" lvl="0" indent="-342900" algn="l" rtl="0">
              <a:spcBef>
                <a:spcPts val="0"/>
              </a:spcBef>
              <a:spcAft>
                <a:spcPts val="0"/>
              </a:spcAft>
              <a:buClr>
                <a:srgbClr val="4B4F58"/>
              </a:buClr>
              <a:buSzPts val="1800"/>
              <a:buFont typeface="Times New Roman"/>
              <a:buChar char="●"/>
            </a:pPr>
            <a:r>
              <a:rPr lang="en-GB">
                <a:solidFill>
                  <a:srgbClr val="4B4F58"/>
                </a:solidFill>
                <a:highlight>
                  <a:schemeClr val="lt1"/>
                </a:highlight>
                <a:latin typeface="Times New Roman"/>
                <a:ea typeface="Times New Roman"/>
                <a:cs typeface="Times New Roman"/>
                <a:sym typeface="Times New Roman"/>
              </a:rPr>
              <a:t>ACK/NACK bit gives confirmation that each frame is transferred successfully</a:t>
            </a:r>
            <a:endParaRPr>
              <a:solidFill>
                <a:srgbClr val="4B4F58"/>
              </a:solidFill>
              <a:highlight>
                <a:schemeClr val="lt1"/>
              </a:highlight>
              <a:latin typeface="Times New Roman"/>
              <a:ea typeface="Times New Roman"/>
              <a:cs typeface="Times New Roman"/>
              <a:sym typeface="Times New Roman"/>
            </a:endParaRPr>
          </a:p>
          <a:p>
            <a:pPr marL="1028700" lvl="0" indent="-342900" algn="l" rtl="0">
              <a:spcBef>
                <a:spcPts val="0"/>
              </a:spcBef>
              <a:spcAft>
                <a:spcPts val="0"/>
              </a:spcAft>
              <a:buClr>
                <a:srgbClr val="4B4F58"/>
              </a:buClr>
              <a:buSzPts val="1800"/>
              <a:buFont typeface="Times New Roman"/>
              <a:buChar char="●"/>
            </a:pPr>
            <a:r>
              <a:rPr lang="en-GB">
                <a:solidFill>
                  <a:srgbClr val="4B4F58"/>
                </a:solidFill>
                <a:highlight>
                  <a:schemeClr val="lt1"/>
                </a:highlight>
                <a:latin typeface="Times New Roman"/>
                <a:ea typeface="Times New Roman"/>
                <a:cs typeface="Times New Roman"/>
                <a:sym typeface="Times New Roman"/>
              </a:rPr>
              <a:t>Hardware is less complicated than with UARTs</a:t>
            </a:r>
            <a:endParaRPr>
              <a:solidFill>
                <a:srgbClr val="4B4F58"/>
              </a:solidFill>
              <a:highlight>
                <a:schemeClr val="lt1"/>
              </a:highlight>
              <a:latin typeface="Times New Roman"/>
              <a:ea typeface="Times New Roman"/>
              <a:cs typeface="Times New Roman"/>
              <a:sym typeface="Times New Roman"/>
            </a:endParaRPr>
          </a:p>
          <a:p>
            <a:pPr marL="1028700" lvl="0" indent="-323850" algn="l" rtl="0">
              <a:spcBef>
                <a:spcPts val="0"/>
              </a:spcBef>
              <a:spcAft>
                <a:spcPts val="0"/>
              </a:spcAft>
              <a:buClr>
                <a:srgbClr val="4B4F58"/>
              </a:buClr>
              <a:buSzPts val="1500"/>
              <a:buFont typeface="Times New Roman"/>
              <a:buChar char="●"/>
            </a:pPr>
            <a:r>
              <a:rPr lang="en-GB">
                <a:solidFill>
                  <a:srgbClr val="4B4F58"/>
                </a:solidFill>
                <a:highlight>
                  <a:schemeClr val="lt1"/>
                </a:highlight>
                <a:latin typeface="Times New Roman"/>
                <a:ea typeface="Times New Roman"/>
                <a:cs typeface="Times New Roman"/>
                <a:sym typeface="Times New Roman"/>
              </a:rPr>
              <a:t>Well known and widely used protocol</a:t>
            </a:r>
            <a:endParaRPr>
              <a:solidFill>
                <a:srgbClr val="4B4F58"/>
              </a:solidFill>
              <a:highlight>
                <a:schemeClr val="lt1"/>
              </a:highlight>
              <a:latin typeface="Times New Roman"/>
              <a:ea typeface="Times New Roman"/>
              <a:cs typeface="Times New Roman"/>
              <a:sym typeface="Times New Roman"/>
            </a:endParaRPr>
          </a:p>
          <a:p>
            <a:pPr marL="1028700" lvl="0" indent="-342900" algn="l" rtl="0">
              <a:lnSpc>
                <a:spcPct val="100000"/>
              </a:lnSpc>
              <a:spcBef>
                <a:spcPts val="0"/>
              </a:spcBef>
              <a:spcAft>
                <a:spcPts val="0"/>
              </a:spcAft>
              <a:buClr>
                <a:srgbClr val="4B4F58"/>
              </a:buClr>
              <a:buSzPts val="1800"/>
              <a:buFont typeface="Times New Roman"/>
              <a:buChar char="●"/>
            </a:pPr>
            <a:r>
              <a:rPr lang="en-GB">
                <a:solidFill>
                  <a:srgbClr val="000000"/>
                </a:solidFill>
                <a:highlight>
                  <a:schemeClr val="lt1"/>
                </a:highlight>
                <a:latin typeface="Times New Roman"/>
                <a:ea typeface="Times New Roman"/>
                <a:cs typeface="Times New Roman"/>
                <a:sym typeface="Times New Roman"/>
              </a:rPr>
              <a:t>Error Detection</a:t>
            </a:r>
            <a:endParaRPr b="1">
              <a:solidFill>
                <a:srgbClr val="3A3A3A"/>
              </a:solidFill>
              <a:highlight>
                <a:srgbClr val="FFFFFF"/>
              </a:highlight>
              <a:latin typeface="Times New Roman"/>
              <a:ea typeface="Times New Roman"/>
              <a:cs typeface="Times New Roman"/>
              <a:sym typeface="Times New Roman"/>
            </a:endParaRPr>
          </a:p>
          <a:p>
            <a:pPr marL="0" lvl="0" indent="0" algn="l" rtl="0">
              <a:lnSpc>
                <a:spcPct val="100000"/>
              </a:lnSpc>
              <a:spcBef>
                <a:spcPts val="2300"/>
              </a:spcBef>
              <a:spcAft>
                <a:spcPts val="0"/>
              </a:spcAft>
              <a:buNone/>
            </a:pPr>
            <a:r>
              <a:rPr lang="en-GB" b="1">
                <a:solidFill>
                  <a:srgbClr val="3A3A3A"/>
                </a:solidFill>
                <a:highlight>
                  <a:srgbClr val="FFFFFF"/>
                </a:highlight>
                <a:latin typeface="Times New Roman"/>
                <a:ea typeface="Times New Roman"/>
                <a:cs typeface="Times New Roman"/>
                <a:sym typeface="Times New Roman"/>
              </a:rPr>
              <a:t>Disadvantages</a:t>
            </a:r>
            <a:endParaRPr b="1">
              <a:solidFill>
                <a:srgbClr val="3A3A3A"/>
              </a:solidFill>
              <a:highlight>
                <a:srgbClr val="FFFFFF"/>
              </a:highlight>
              <a:latin typeface="Times New Roman"/>
              <a:ea typeface="Times New Roman"/>
              <a:cs typeface="Times New Roman"/>
              <a:sym typeface="Times New Roman"/>
            </a:endParaRPr>
          </a:p>
          <a:p>
            <a:pPr marL="1028700" lvl="0" indent="-342900" algn="l" rtl="0">
              <a:lnSpc>
                <a:spcPct val="100000"/>
              </a:lnSpc>
              <a:spcBef>
                <a:spcPts val="2300"/>
              </a:spcBef>
              <a:spcAft>
                <a:spcPts val="0"/>
              </a:spcAft>
              <a:buClr>
                <a:srgbClr val="4B4F58"/>
              </a:buClr>
              <a:buSzPts val="1800"/>
              <a:buFont typeface="Times New Roman"/>
              <a:buChar char="●"/>
            </a:pPr>
            <a:r>
              <a:rPr lang="en-GB">
                <a:solidFill>
                  <a:srgbClr val="4B4F58"/>
                </a:solidFill>
                <a:highlight>
                  <a:srgbClr val="FFFFFF"/>
                </a:highlight>
                <a:latin typeface="Times New Roman"/>
                <a:ea typeface="Times New Roman"/>
                <a:cs typeface="Times New Roman"/>
                <a:sym typeface="Times New Roman"/>
              </a:rPr>
              <a:t>Slower data transfer rate than SPI</a:t>
            </a:r>
            <a:endParaRPr>
              <a:solidFill>
                <a:srgbClr val="4B4F58"/>
              </a:solidFill>
              <a:highlight>
                <a:srgbClr val="FFFFFF"/>
              </a:highlight>
              <a:latin typeface="Times New Roman"/>
              <a:ea typeface="Times New Roman"/>
              <a:cs typeface="Times New Roman"/>
              <a:sym typeface="Times New Roman"/>
            </a:endParaRPr>
          </a:p>
          <a:p>
            <a:pPr marL="1028700" lvl="0" indent="-342900" algn="l" rtl="0">
              <a:spcBef>
                <a:spcPts val="0"/>
              </a:spcBef>
              <a:spcAft>
                <a:spcPts val="0"/>
              </a:spcAft>
              <a:buClr>
                <a:srgbClr val="4B4F58"/>
              </a:buClr>
              <a:buSzPts val="1800"/>
              <a:buFont typeface="Times New Roman"/>
              <a:buChar char="●"/>
            </a:pPr>
            <a:r>
              <a:rPr lang="en-GB">
                <a:solidFill>
                  <a:srgbClr val="4B4F58"/>
                </a:solidFill>
                <a:highlight>
                  <a:srgbClr val="FFFFFF"/>
                </a:highlight>
                <a:latin typeface="Times New Roman"/>
                <a:ea typeface="Times New Roman"/>
                <a:cs typeface="Times New Roman"/>
                <a:sym typeface="Times New Roman"/>
              </a:rPr>
              <a:t>The size of the data frame is limited to 8 bits</a:t>
            </a:r>
            <a:endParaRPr>
              <a:solidFill>
                <a:srgbClr val="4B4F58"/>
              </a:solidFill>
              <a:highlight>
                <a:srgbClr val="FFFFFF"/>
              </a:highlight>
              <a:latin typeface="Times New Roman"/>
              <a:ea typeface="Times New Roman"/>
              <a:cs typeface="Times New Roman"/>
              <a:sym typeface="Times New Roman"/>
            </a:endParaRPr>
          </a:p>
          <a:p>
            <a:pPr marL="1028700" lvl="0" indent="-342900" algn="l" rtl="0">
              <a:spcBef>
                <a:spcPts val="0"/>
              </a:spcBef>
              <a:spcAft>
                <a:spcPts val="0"/>
              </a:spcAft>
              <a:buClr>
                <a:srgbClr val="4B4F58"/>
              </a:buClr>
              <a:buSzPts val="1800"/>
              <a:buFont typeface="Times New Roman"/>
              <a:buChar char="●"/>
            </a:pPr>
            <a:r>
              <a:rPr lang="en-GB">
                <a:solidFill>
                  <a:srgbClr val="4B4F58"/>
                </a:solidFill>
                <a:highlight>
                  <a:srgbClr val="FFFFFF"/>
                </a:highlight>
                <a:latin typeface="Times New Roman"/>
                <a:ea typeface="Times New Roman"/>
                <a:cs typeface="Times New Roman"/>
                <a:sym typeface="Times New Roman"/>
              </a:rPr>
              <a:t>More complicated hardware needed to implement than SPI</a:t>
            </a:r>
            <a:endParaRPr>
              <a:solidFill>
                <a:srgbClr val="4B4F58"/>
              </a:solidFill>
              <a:highlight>
                <a:srgbClr val="FFFFFF"/>
              </a:highlight>
              <a:latin typeface="Times New Roman"/>
              <a:ea typeface="Times New Roman"/>
              <a:cs typeface="Times New Roman"/>
              <a:sym typeface="Times New Roman"/>
            </a:endParaRPr>
          </a:p>
          <a:p>
            <a:pPr marL="0" lvl="0" indent="0" algn="l" rtl="0">
              <a:spcBef>
                <a:spcPts val="2300"/>
              </a:spcBef>
              <a:spcAft>
                <a:spcPts val="0"/>
              </a:spcAft>
              <a:buNone/>
            </a:pPr>
            <a:endParaRPr sz="1600" b="1">
              <a:solidFill>
                <a:srgbClr val="000000"/>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None/>
            </a:pPr>
            <a:endParaRPr sz="1600">
              <a:solidFill>
                <a:srgbClr val="000000"/>
              </a:solidFill>
              <a:latin typeface="Times New Roman"/>
              <a:ea typeface="Times New Roman"/>
              <a:cs typeface="Times New Roman"/>
              <a:sym typeface="Times New Roman"/>
            </a:endParaRPr>
          </a:p>
          <a:p>
            <a:pPr marL="0" lvl="0" indent="0" algn="l" rtl="0">
              <a:lnSpc>
                <a:spcPct val="100000"/>
              </a:lnSpc>
              <a:spcBef>
                <a:spcPts val="1200"/>
              </a:spcBef>
              <a:spcAft>
                <a:spcPts val="0"/>
              </a:spcAft>
              <a:buNone/>
            </a:pPr>
            <a:endParaRPr sz="1300">
              <a:solidFill>
                <a:srgbClr val="000000"/>
              </a:solidFill>
              <a:highlight>
                <a:srgbClr val="FFFFFF"/>
              </a:highlight>
            </a:endParaRPr>
          </a:p>
          <a:p>
            <a:pPr marL="0" lvl="0" indent="0" algn="just" rtl="0">
              <a:lnSpc>
                <a:spcPct val="100000"/>
              </a:lnSpc>
              <a:spcBef>
                <a:spcPts val="1200"/>
              </a:spcBef>
              <a:spcAft>
                <a:spcPts val="0"/>
              </a:spcAft>
              <a:buNone/>
            </a:pPr>
            <a:endParaRPr sz="1600">
              <a:solidFill>
                <a:srgbClr val="000000"/>
              </a:solidFill>
              <a:latin typeface="Times New Roman"/>
              <a:ea typeface="Times New Roman"/>
              <a:cs typeface="Times New Roman"/>
              <a:sym typeface="Times New Roman"/>
            </a:endParaRPr>
          </a:p>
          <a:p>
            <a:pPr marL="0" lvl="0" indent="0" algn="just" rtl="0">
              <a:lnSpc>
                <a:spcPct val="115000"/>
              </a:lnSpc>
              <a:spcBef>
                <a:spcPts val="1200"/>
              </a:spcBef>
              <a:spcAft>
                <a:spcPts val="0"/>
              </a:spcAft>
              <a:buNone/>
            </a:pPr>
            <a:endParaRPr sz="1600">
              <a:solidFill>
                <a:srgbClr val="000000"/>
              </a:solidFill>
              <a:latin typeface="Times New Roman"/>
              <a:ea typeface="Times New Roman"/>
              <a:cs typeface="Times New Roman"/>
              <a:sym typeface="Times New Roman"/>
            </a:endParaRPr>
          </a:p>
          <a:p>
            <a:pPr marL="457200" lvl="0" indent="0" algn="just" rtl="0">
              <a:lnSpc>
                <a:spcPct val="115000"/>
              </a:lnSpc>
              <a:spcBef>
                <a:spcPts val="200"/>
              </a:spcBef>
              <a:spcAft>
                <a:spcPts val="0"/>
              </a:spcAft>
              <a:buNone/>
            </a:pPr>
            <a:endParaRPr>
              <a:solidFill>
                <a:srgbClr val="000000"/>
              </a:solidFill>
              <a:highlight>
                <a:srgbClr val="FFFFFF"/>
              </a:highlight>
              <a:latin typeface="Times New Roman"/>
              <a:ea typeface="Times New Roman"/>
              <a:cs typeface="Times New Roman"/>
              <a:sym typeface="Times New Roman"/>
            </a:endParaRPr>
          </a:p>
          <a:p>
            <a:pPr marL="0" lvl="0" indent="0" algn="just" rtl="0">
              <a:lnSpc>
                <a:spcPct val="115000"/>
              </a:lnSpc>
              <a:spcBef>
                <a:spcPts val="3000"/>
              </a:spcBef>
              <a:spcAft>
                <a:spcPts val="3000"/>
              </a:spcAft>
              <a:buNone/>
            </a:pPr>
            <a:endParaRPr>
              <a:solidFill>
                <a:srgbClr val="2021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6"/>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a:t>Thank You !</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12</Slides>
  <Notes>12</Notes>
  <HiddenSlides>0</HiddenSlide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Simple Light</vt:lpstr>
      <vt:lpstr>Tropic</vt:lpstr>
      <vt:lpstr>          Inter-Integrated         Circuit (I2C) Protocol</vt:lpstr>
      <vt:lpstr>Introduction to the I2C Protocol</vt:lpstr>
      <vt:lpstr>Introduction to the I2C Protocol</vt:lpstr>
      <vt:lpstr>Advanced I2C Features</vt:lpstr>
      <vt:lpstr>Advanced I2C Features</vt:lpstr>
      <vt:lpstr>How I2C Work</vt:lpstr>
      <vt:lpstr>Data Frame Overview of I²C Protocol </vt:lpstr>
      <vt:lpstr>Data Frame Overview of I²C Protocol </vt:lpstr>
      <vt:lpstr>Steps of I2C Data Transmission  </vt:lpstr>
      <vt:lpstr>Data Frame Overview of I²C Protocol </vt:lpstr>
      <vt:lpstr>Data Frame Overview of I²C Protocol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cp:revision>
  <dcterms:modified xsi:type="dcterms:W3CDTF">2026-01-06T11:07:49Z</dcterms:modified>
</cp:coreProperties>
</file>