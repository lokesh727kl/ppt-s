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0" r:id="rId4"/>
    <p:sldMasterId id="2147483671"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Lst>
  <p:sldSz cy="5143500" cx="9144000"/>
  <p:notesSz cx="6858000" cy="9144000"/>
  <p:embeddedFontLst>
    <p:embeddedFont>
      <p:font typeface="PT Sans Narrow"/>
      <p:regular r:id="rId29"/>
      <p:bold r:id="rId30"/>
    </p:embeddedFont>
    <p:embeddedFont>
      <p:font typeface="Open Sans"/>
      <p:regular r:id="rId31"/>
      <p:bold r:id="rId32"/>
      <p:italic r:id="rId33"/>
      <p:boldItalic r:id="rId3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2.xml"/><Relationship Id="rId6" Type="http://schemas.openxmlformats.org/officeDocument/2006/relationships/notesMaster" Target="notesMasters/notesMaster1.xml"/><Relationship Id="rId29" Type="http://schemas.openxmlformats.org/officeDocument/2006/relationships/font" Target="fonts/PTSansNarrow-regular.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OpenSans-regular.fntdata"/><Relationship Id="rId30" Type="http://schemas.openxmlformats.org/officeDocument/2006/relationships/font" Target="fonts/PTSansNarrow-bold.fntdata"/><Relationship Id="rId11" Type="http://schemas.openxmlformats.org/officeDocument/2006/relationships/slide" Target="slides/slide5.xml"/><Relationship Id="rId33" Type="http://schemas.openxmlformats.org/officeDocument/2006/relationships/font" Target="fonts/OpenSans-italic.fntdata"/><Relationship Id="rId10" Type="http://schemas.openxmlformats.org/officeDocument/2006/relationships/slide" Target="slides/slide4.xml"/><Relationship Id="rId32" Type="http://schemas.openxmlformats.org/officeDocument/2006/relationships/font" Target="fonts/OpenSans-bold.fntdata"/><Relationship Id="rId13" Type="http://schemas.openxmlformats.org/officeDocument/2006/relationships/slide" Target="slides/slide7.xml"/><Relationship Id="rId12" Type="http://schemas.openxmlformats.org/officeDocument/2006/relationships/slide" Target="slides/slide6.xml"/><Relationship Id="rId34" Type="http://schemas.openxmlformats.org/officeDocument/2006/relationships/font" Target="fonts/OpenSans-boldItalic.fntdata"/><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3aa05b82bc9_0_1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 name="Google Shape;109;g3aa05b82bc9_0_1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3aa05b82bc9_0_2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 name="Google Shape;115;g3aa05b82bc9_0_2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3aa44e8087f_0_1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 name="Google Shape;121;g3aa44e8087f_0_1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3aa44e8087f_0_1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g3aa44e8087f_0_1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3aa44e8087f_0_1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1" name="Google Shape;131;g3aa44e8087f_0_1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3aa44e8087f_0_1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7" name="Google Shape;137;g3aa44e8087f_0_1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3aa44e8087f_0_1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3" name="Google Shape;143;g3aa44e8087f_0_1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3aa44e8087f_0_1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9" name="Google Shape;149;g3aa44e8087f_0_1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g3aa44e8087f_0_1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5" name="Google Shape;155;g3aa44e8087f_0_1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3aa05b82bc9_0_2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 name="Google Shape;162;g3aa05b82bc9_0_2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3aa05b82bc9_0_2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9" name="Google Shape;169;g3aa05b82bc9_0_2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3aa44e8087f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5" name="Google Shape;175;g3aa44e8087f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3aa05b82bc9_0_2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1" name="Google Shape;181;g3aa05b82bc9_0_2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g3aa44e8087f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8" name="Google Shape;188;g3aa44e8087f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3aa44e8087f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6" name="Google Shape;196;g3aa44e8087f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3aa05b82bc9_0_2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1" name="Google Shape;201;g3aa05b82bc9_0_2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g3aa44e8087f_0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7" name="Google Shape;207;g3aa44e8087f_0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g3aa44e8087f_0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4" name="Google Shape;214;g3aa44e8087f_0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g3aa44e8087f_0_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1" name="Google Shape;221;g3aa44e8087f_0_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g3aa44e8087f_0_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7" name="Google Shape;227;g3aa44e8087f_0_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g3aa44e8087f_0_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3" name="Google Shape;233;g3aa44e8087f_0_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g3aa05b82bc9_0_1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9" name="Google Shape;239;g3aa05b82bc9_0_1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54" name="Shape 54"/>
        <p:cNvGrpSpPr/>
        <p:nvPr/>
      </p:nvGrpSpPr>
      <p:grpSpPr>
        <a:xfrm>
          <a:off x="0" y="0"/>
          <a:ext cx="0" cy="0"/>
          <a:chOff x="0" y="0"/>
          <a:chExt cx="0" cy="0"/>
        </a:xfrm>
      </p:grpSpPr>
      <p:cxnSp>
        <p:nvCxnSpPr>
          <p:cNvPr id="55" name="Google Shape;55;p14"/>
          <p:cNvCxnSpPr/>
          <p:nvPr/>
        </p:nvCxnSpPr>
        <p:spPr>
          <a:xfrm>
            <a:off x="7007735" y="3176888"/>
            <a:ext cx="562200" cy="0"/>
          </a:xfrm>
          <a:prstGeom prst="straightConnector1">
            <a:avLst/>
          </a:prstGeom>
          <a:noFill/>
          <a:ln cap="flat" cmpd="sng" w="76200">
            <a:solidFill>
              <a:schemeClr val="lt2"/>
            </a:solidFill>
            <a:prstDash val="solid"/>
            <a:round/>
            <a:headEnd len="sm" w="sm" type="none"/>
            <a:tailEnd len="sm" w="sm" type="none"/>
          </a:ln>
        </p:spPr>
      </p:cxnSp>
      <p:cxnSp>
        <p:nvCxnSpPr>
          <p:cNvPr id="56" name="Google Shape;56;p14"/>
          <p:cNvCxnSpPr/>
          <p:nvPr/>
        </p:nvCxnSpPr>
        <p:spPr>
          <a:xfrm>
            <a:off x="1575035" y="3158252"/>
            <a:ext cx="562200" cy="0"/>
          </a:xfrm>
          <a:prstGeom prst="straightConnector1">
            <a:avLst/>
          </a:prstGeom>
          <a:noFill/>
          <a:ln cap="flat" cmpd="sng" w="76200">
            <a:solidFill>
              <a:schemeClr val="lt2"/>
            </a:solidFill>
            <a:prstDash val="solid"/>
            <a:round/>
            <a:headEnd len="sm" w="sm" type="none"/>
            <a:tailEnd len="sm" w="sm" type="none"/>
          </a:ln>
        </p:spPr>
      </p:cxnSp>
      <p:grpSp>
        <p:nvGrpSpPr>
          <p:cNvPr id="57" name="Google Shape;57;p14"/>
          <p:cNvGrpSpPr/>
          <p:nvPr/>
        </p:nvGrpSpPr>
        <p:grpSpPr>
          <a:xfrm>
            <a:off x="1004144" y="1022025"/>
            <a:ext cx="7136668" cy="152400"/>
            <a:chOff x="1346429" y="1011300"/>
            <a:chExt cx="6452100" cy="152400"/>
          </a:xfrm>
        </p:grpSpPr>
        <p:cxnSp>
          <p:nvCxnSpPr>
            <p:cNvPr id="58" name="Google Shape;58;p14"/>
            <p:cNvCxnSpPr/>
            <p:nvPr/>
          </p:nvCxnSpPr>
          <p:spPr>
            <a:xfrm rot="10800000">
              <a:off x="1346429" y="1011300"/>
              <a:ext cx="6452100" cy="0"/>
            </a:xfrm>
            <a:prstGeom prst="straightConnector1">
              <a:avLst/>
            </a:prstGeom>
            <a:noFill/>
            <a:ln cap="flat" cmpd="sng" w="76200">
              <a:solidFill>
                <a:schemeClr val="accent3"/>
              </a:solidFill>
              <a:prstDash val="solid"/>
              <a:round/>
              <a:headEnd len="sm" w="sm" type="none"/>
              <a:tailEnd len="sm" w="sm" type="none"/>
            </a:ln>
          </p:spPr>
        </p:cxnSp>
        <p:cxnSp>
          <p:nvCxnSpPr>
            <p:cNvPr id="59" name="Google Shape;59;p14"/>
            <p:cNvCxnSpPr/>
            <p:nvPr/>
          </p:nvCxnSpPr>
          <p:spPr>
            <a:xfrm rot="10800000">
              <a:off x="1346429" y="1163700"/>
              <a:ext cx="6452100" cy="0"/>
            </a:xfrm>
            <a:prstGeom prst="straightConnector1">
              <a:avLst/>
            </a:prstGeom>
            <a:noFill/>
            <a:ln cap="flat" cmpd="sng" w="9525">
              <a:solidFill>
                <a:schemeClr val="accent3"/>
              </a:solidFill>
              <a:prstDash val="solid"/>
              <a:round/>
              <a:headEnd len="sm" w="sm" type="none"/>
              <a:tailEnd len="sm" w="sm" type="none"/>
            </a:ln>
          </p:spPr>
        </p:cxnSp>
      </p:grpSp>
      <p:grpSp>
        <p:nvGrpSpPr>
          <p:cNvPr id="60" name="Google Shape;60;p14"/>
          <p:cNvGrpSpPr/>
          <p:nvPr/>
        </p:nvGrpSpPr>
        <p:grpSpPr>
          <a:xfrm>
            <a:off x="1004151" y="3969100"/>
            <a:ext cx="7136668" cy="152400"/>
            <a:chOff x="1346435" y="3969088"/>
            <a:chExt cx="6452100" cy="152400"/>
          </a:xfrm>
        </p:grpSpPr>
        <p:cxnSp>
          <p:nvCxnSpPr>
            <p:cNvPr id="61" name="Google Shape;61;p14"/>
            <p:cNvCxnSpPr/>
            <p:nvPr/>
          </p:nvCxnSpPr>
          <p:spPr>
            <a:xfrm>
              <a:off x="1346435" y="4121488"/>
              <a:ext cx="6452100" cy="0"/>
            </a:xfrm>
            <a:prstGeom prst="straightConnector1">
              <a:avLst/>
            </a:prstGeom>
            <a:noFill/>
            <a:ln cap="flat" cmpd="sng" w="76200">
              <a:solidFill>
                <a:schemeClr val="accent3"/>
              </a:solidFill>
              <a:prstDash val="solid"/>
              <a:round/>
              <a:headEnd len="sm" w="sm" type="none"/>
              <a:tailEnd len="sm" w="sm" type="none"/>
            </a:ln>
          </p:spPr>
        </p:cxnSp>
        <p:cxnSp>
          <p:nvCxnSpPr>
            <p:cNvPr id="62" name="Google Shape;62;p14"/>
            <p:cNvCxnSpPr/>
            <p:nvPr/>
          </p:nvCxnSpPr>
          <p:spPr>
            <a:xfrm>
              <a:off x="1346435" y="3969088"/>
              <a:ext cx="6452100" cy="0"/>
            </a:xfrm>
            <a:prstGeom prst="straightConnector1">
              <a:avLst/>
            </a:prstGeom>
            <a:noFill/>
            <a:ln cap="flat" cmpd="sng" w="9525">
              <a:solidFill>
                <a:schemeClr val="accent3"/>
              </a:solidFill>
              <a:prstDash val="solid"/>
              <a:round/>
              <a:headEnd len="sm" w="sm" type="none"/>
              <a:tailEnd len="sm" w="sm" type="none"/>
            </a:ln>
          </p:spPr>
        </p:cxnSp>
      </p:grpSp>
      <p:sp>
        <p:nvSpPr>
          <p:cNvPr id="63" name="Google Shape;63;p14"/>
          <p:cNvSpPr txBox="1"/>
          <p:nvPr>
            <p:ph type="ctrTitle"/>
          </p:nvPr>
        </p:nvSpPr>
        <p:spPr>
          <a:xfrm>
            <a:off x="1004150" y="1751764"/>
            <a:ext cx="7136700" cy="1022400"/>
          </a:xfrm>
          <a:prstGeom prst="rect">
            <a:avLst/>
          </a:prstGeom>
        </p:spPr>
        <p:txBody>
          <a:bodyPr anchorCtr="0" anchor="b" bIns="91425" lIns="91425" spcFirstLastPara="1" rIns="91425" wrap="square" tIns="91425">
            <a:normAutofit/>
          </a:bodyPr>
          <a:lstStyle>
            <a:lvl1pPr lvl="0" algn="ctr">
              <a:spcBef>
                <a:spcPts val="0"/>
              </a:spcBef>
              <a:spcAft>
                <a:spcPts val="0"/>
              </a:spcAft>
              <a:buSzPts val="5400"/>
              <a:buNone/>
              <a:defRPr sz="5400"/>
            </a:lvl1pPr>
            <a:lvl2pPr lvl="1" algn="ctr">
              <a:spcBef>
                <a:spcPts val="0"/>
              </a:spcBef>
              <a:spcAft>
                <a:spcPts val="0"/>
              </a:spcAft>
              <a:buSzPts val="5400"/>
              <a:buNone/>
              <a:defRPr sz="5400"/>
            </a:lvl2pPr>
            <a:lvl3pPr lvl="2" algn="ctr">
              <a:spcBef>
                <a:spcPts val="0"/>
              </a:spcBef>
              <a:spcAft>
                <a:spcPts val="0"/>
              </a:spcAft>
              <a:buSzPts val="5400"/>
              <a:buNone/>
              <a:defRPr sz="5400"/>
            </a:lvl3pPr>
            <a:lvl4pPr lvl="3" algn="ctr">
              <a:spcBef>
                <a:spcPts val="0"/>
              </a:spcBef>
              <a:spcAft>
                <a:spcPts val="0"/>
              </a:spcAft>
              <a:buSzPts val="5400"/>
              <a:buNone/>
              <a:defRPr sz="5400"/>
            </a:lvl4pPr>
            <a:lvl5pPr lvl="4" algn="ctr">
              <a:spcBef>
                <a:spcPts val="0"/>
              </a:spcBef>
              <a:spcAft>
                <a:spcPts val="0"/>
              </a:spcAft>
              <a:buSzPts val="5400"/>
              <a:buNone/>
              <a:defRPr sz="5400"/>
            </a:lvl5pPr>
            <a:lvl6pPr lvl="5" algn="ctr">
              <a:spcBef>
                <a:spcPts val="0"/>
              </a:spcBef>
              <a:spcAft>
                <a:spcPts val="0"/>
              </a:spcAft>
              <a:buSzPts val="5400"/>
              <a:buNone/>
              <a:defRPr sz="5400"/>
            </a:lvl6pPr>
            <a:lvl7pPr lvl="6" algn="ctr">
              <a:spcBef>
                <a:spcPts val="0"/>
              </a:spcBef>
              <a:spcAft>
                <a:spcPts val="0"/>
              </a:spcAft>
              <a:buSzPts val="5400"/>
              <a:buNone/>
              <a:defRPr sz="5400"/>
            </a:lvl7pPr>
            <a:lvl8pPr lvl="7" algn="ctr">
              <a:spcBef>
                <a:spcPts val="0"/>
              </a:spcBef>
              <a:spcAft>
                <a:spcPts val="0"/>
              </a:spcAft>
              <a:buSzPts val="5400"/>
              <a:buNone/>
              <a:defRPr sz="5400"/>
            </a:lvl8pPr>
            <a:lvl9pPr lvl="8" algn="ctr">
              <a:spcBef>
                <a:spcPts val="0"/>
              </a:spcBef>
              <a:spcAft>
                <a:spcPts val="0"/>
              </a:spcAft>
              <a:buSzPts val="5400"/>
              <a:buNone/>
              <a:defRPr sz="5400"/>
            </a:lvl9pPr>
          </a:lstStyle>
          <a:p/>
        </p:txBody>
      </p:sp>
      <p:sp>
        <p:nvSpPr>
          <p:cNvPr id="64" name="Google Shape;64;p14"/>
          <p:cNvSpPr txBox="1"/>
          <p:nvPr>
            <p:ph idx="1" type="subTitle"/>
          </p:nvPr>
        </p:nvSpPr>
        <p:spPr>
          <a:xfrm>
            <a:off x="2137225" y="2850039"/>
            <a:ext cx="48705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400"/>
              <a:buNone/>
              <a:defRPr sz="2400"/>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p:txBody>
      </p:sp>
      <p:sp>
        <p:nvSpPr>
          <p:cNvPr id="65" name="Google Shape;65;p1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66" name="Shape 66"/>
        <p:cNvGrpSpPr/>
        <p:nvPr/>
      </p:nvGrpSpPr>
      <p:grpSpPr>
        <a:xfrm>
          <a:off x="0" y="0"/>
          <a:ext cx="0" cy="0"/>
          <a:chOff x="0" y="0"/>
          <a:chExt cx="0" cy="0"/>
        </a:xfrm>
      </p:grpSpPr>
      <p:sp>
        <p:nvSpPr>
          <p:cNvPr id="67" name="Google Shape;67;p15"/>
          <p:cNvSpPr/>
          <p:nvPr/>
        </p:nvSpPr>
        <p:spPr>
          <a:xfrm>
            <a:off x="-50" y="2571900"/>
            <a:ext cx="9144000" cy="25716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15"/>
          <p:cNvSpPr txBox="1"/>
          <p:nvPr>
            <p:ph type="title"/>
          </p:nvPr>
        </p:nvSpPr>
        <p:spPr>
          <a:xfrm>
            <a:off x="311700" y="814800"/>
            <a:ext cx="8571300" cy="9420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a:lvl1pPr>
            <a:lvl2pPr lvl="1" algn="ctr">
              <a:spcBef>
                <a:spcPts val="0"/>
              </a:spcBef>
              <a:spcAft>
                <a:spcPts val="0"/>
              </a:spcAft>
              <a:buSzPts val="3600"/>
              <a:buNone/>
              <a:defRPr/>
            </a:lvl2pPr>
            <a:lvl3pPr lvl="2" algn="ctr">
              <a:spcBef>
                <a:spcPts val="0"/>
              </a:spcBef>
              <a:spcAft>
                <a:spcPts val="0"/>
              </a:spcAft>
              <a:buSzPts val="3600"/>
              <a:buNone/>
              <a:defRPr/>
            </a:lvl3pPr>
            <a:lvl4pPr lvl="3" algn="ctr">
              <a:spcBef>
                <a:spcPts val="0"/>
              </a:spcBef>
              <a:spcAft>
                <a:spcPts val="0"/>
              </a:spcAft>
              <a:buSzPts val="3600"/>
              <a:buNone/>
              <a:defRPr/>
            </a:lvl4pPr>
            <a:lvl5pPr lvl="4" algn="ctr">
              <a:spcBef>
                <a:spcPts val="0"/>
              </a:spcBef>
              <a:spcAft>
                <a:spcPts val="0"/>
              </a:spcAft>
              <a:buSzPts val="3600"/>
              <a:buNone/>
              <a:defRPr/>
            </a:lvl5pPr>
            <a:lvl6pPr lvl="5" algn="ctr">
              <a:spcBef>
                <a:spcPts val="0"/>
              </a:spcBef>
              <a:spcAft>
                <a:spcPts val="0"/>
              </a:spcAft>
              <a:buSzPts val="3600"/>
              <a:buNone/>
              <a:defRPr/>
            </a:lvl6pPr>
            <a:lvl7pPr lvl="6" algn="ctr">
              <a:spcBef>
                <a:spcPts val="0"/>
              </a:spcBef>
              <a:spcAft>
                <a:spcPts val="0"/>
              </a:spcAft>
              <a:buSzPts val="3600"/>
              <a:buNone/>
              <a:defRPr/>
            </a:lvl7pPr>
            <a:lvl8pPr lvl="7" algn="ctr">
              <a:spcBef>
                <a:spcPts val="0"/>
              </a:spcBef>
              <a:spcAft>
                <a:spcPts val="0"/>
              </a:spcAft>
              <a:buSzPts val="3600"/>
              <a:buNone/>
              <a:defRPr/>
            </a:lvl8pPr>
            <a:lvl9pPr lvl="8" algn="ctr">
              <a:spcBef>
                <a:spcPts val="0"/>
              </a:spcBef>
              <a:spcAft>
                <a:spcPts val="0"/>
              </a:spcAft>
              <a:buSzPts val="3600"/>
              <a:buNone/>
              <a:defRPr/>
            </a:lvl9pPr>
          </a:lstStyle>
          <a:p/>
        </p:txBody>
      </p:sp>
      <p:sp>
        <p:nvSpPr>
          <p:cNvPr id="69" name="Google Shape;69;p1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70" name="Shape 70"/>
        <p:cNvGrpSpPr/>
        <p:nvPr/>
      </p:nvGrpSpPr>
      <p:grpSpPr>
        <a:xfrm>
          <a:off x="0" y="0"/>
          <a:ext cx="0" cy="0"/>
          <a:chOff x="0" y="0"/>
          <a:chExt cx="0" cy="0"/>
        </a:xfrm>
      </p:grpSpPr>
      <p:sp>
        <p:nvSpPr>
          <p:cNvPr id="71" name="Google Shape;71;p16"/>
          <p:cNvSpPr/>
          <p:nvPr/>
        </p:nvSpPr>
        <p:spPr>
          <a:xfrm>
            <a:off x="-75" y="5045700"/>
            <a:ext cx="9144000" cy="978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16"/>
          <p:cNvSpPr txBox="1"/>
          <p:nvPr>
            <p:ph type="title"/>
          </p:nvPr>
        </p:nvSpPr>
        <p:spPr>
          <a:xfrm>
            <a:off x="311700" y="445025"/>
            <a:ext cx="8520600" cy="707400"/>
          </a:xfrm>
          <a:prstGeom prst="rect">
            <a:avLst/>
          </a:prstGeom>
        </p:spPr>
        <p:txBody>
          <a:bodyPr anchorCtr="0" anchor="t" bIns="91425" lIns="91425" spcFirstLastPara="1" rIns="91425" wrap="square" tIns="91425">
            <a:normAutofit/>
          </a:bodyPr>
          <a:lstStyle>
            <a:lvl1pPr lvl="0">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p:txBody>
      </p:sp>
      <p:sp>
        <p:nvSpPr>
          <p:cNvPr id="73" name="Google Shape;73;p16"/>
          <p:cNvSpPr txBox="1"/>
          <p:nvPr>
            <p:ph idx="1" type="body"/>
          </p:nvPr>
        </p:nvSpPr>
        <p:spPr>
          <a:xfrm>
            <a:off x="311700" y="1266325"/>
            <a:ext cx="8520600" cy="33027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74" name="Google Shape;74;p1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75" name="Shape 75"/>
        <p:cNvGrpSpPr/>
        <p:nvPr/>
      </p:nvGrpSpPr>
      <p:grpSpPr>
        <a:xfrm>
          <a:off x="0" y="0"/>
          <a:ext cx="0" cy="0"/>
          <a:chOff x="0" y="0"/>
          <a:chExt cx="0" cy="0"/>
        </a:xfrm>
      </p:grpSpPr>
      <p:sp>
        <p:nvSpPr>
          <p:cNvPr id="76" name="Google Shape;76;p17"/>
          <p:cNvSpPr txBox="1"/>
          <p:nvPr>
            <p:ph type="title"/>
          </p:nvPr>
        </p:nvSpPr>
        <p:spPr>
          <a:xfrm>
            <a:off x="311700" y="445025"/>
            <a:ext cx="8520600" cy="707400"/>
          </a:xfrm>
          <a:prstGeom prst="rect">
            <a:avLst/>
          </a:prstGeom>
        </p:spPr>
        <p:txBody>
          <a:bodyPr anchorCtr="0" anchor="t" bIns="91425" lIns="91425" spcFirstLastPara="1" rIns="91425" wrap="square" tIns="91425">
            <a:normAutofit/>
          </a:bodyPr>
          <a:lstStyle>
            <a:lvl1pPr lvl="0">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p:txBody>
      </p:sp>
      <p:sp>
        <p:nvSpPr>
          <p:cNvPr id="77" name="Google Shape;77;p17"/>
          <p:cNvSpPr txBox="1"/>
          <p:nvPr>
            <p:ph idx="1" type="body"/>
          </p:nvPr>
        </p:nvSpPr>
        <p:spPr>
          <a:xfrm>
            <a:off x="311700" y="1266175"/>
            <a:ext cx="3999900" cy="33027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78" name="Google Shape;78;p17"/>
          <p:cNvSpPr txBox="1"/>
          <p:nvPr>
            <p:ph idx="2" type="body"/>
          </p:nvPr>
        </p:nvSpPr>
        <p:spPr>
          <a:xfrm>
            <a:off x="4832400" y="1266175"/>
            <a:ext cx="3999900" cy="33027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79" name="Google Shape;79;p1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80" name="Shape 80"/>
        <p:cNvGrpSpPr/>
        <p:nvPr/>
      </p:nvGrpSpPr>
      <p:grpSpPr>
        <a:xfrm>
          <a:off x="0" y="0"/>
          <a:ext cx="0" cy="0"/>
          <a:chOff x="0" y="0"/>
          <a:chExt cx="0" cy="0"/>
        </a:xfrm>
      </p:grpSpPr>
      <p:sp>
        <p:nvSpPr>
          <p:cNvPr id="81" name="Google Shape;81;p18"/>
          <p:cNvSpPr txBox="1"/>
          <p:nvPr>
            <p:ph type="title"/>
          </p:nvPr>
        </p:nvSpPr>
        <p:spPr>
          <a:xfrm>
            <a:off x="311700" y="445025"/>
            <a:ext cx="8520600" cy="707400"/>
          </a:xfrm>
          <a:prstGeom prst="rect">
            <a:avLst/>
          </a:prstGeom>
        </p:spPr>
        <p:txBody>
          <a:bodyPr anchorCtr="0" anchor="t" bIns="91425" lIns="91425" spcFirstLastPara="1" rIns="91425" wrap="square" tIns="91425">
            <a:normAutofit/>
          </a:bodyPr>
          <a:lstStyle>
            <a:lvl1pPr lvl="0">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p:txBody>
      </p:sp>
      <p:sp>
        <p:nvSpPr>
          <p:cNvPr id="82" name="Google Shape;82;p1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83" name="Shape 83"/>
        <p:cNvGrpSpPr/>
        <p:nvPr/>
      </p:nvGrpSpPr>
      <p:grpSpPr>
        <a:xfrm>
          <a:off x="0" y="0"/>
          <a:ext cx="0" cy="0"/>
          <a:chOff x="0" y="0"/>
          <a:chExt cx="0" cy="0"/>
        </a:xfrm>
      </p:grpSpPr>
      <p:sp>
        <p:nvSpPr>
          <p:cNvPr id="84" name="Google Shape;84;p19"/>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85" name="Google Shape;85;p19"/>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86" name="Google Shape;86;p1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6"/>
        </a:solidFill>
      </p:bgPr>
    </p:bg>
    <p:spTree>
      <p:nvGrpSpPr>
        <p:cNvPr id="87" name="Shape 87"/>
        <p:cNvGrpSpPr/>
        <p:nvPr/>
      </p:nvGrpSpPr>
      <p:grpSpPr>
        <a:xfrm>
          <a:off x="0" y="0"/>
          <a:ext cx="0" cy="0"/>
          <a:chOff x="0" y="0"/>
          <a:chExt cx="0" cy="0"/>
        </a:xfrm>
      </p:grpSpPr>
      <p:sp>
        <p:nvSpPr>
          <p:cNvPr id="88" name="Google Shape;88;p20"/>
          <p:cNvSpPr txBox="1"/>
          <p:nvPr>
            <p:ph type="title"/>
          </p:nvPr>
        </p:nvSpPr>
        <p:spPr>
          <a:xfrm>
            <a:off x="490250" y="526350"/>
            <a:ext cx="5613600" cy="40908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dk2"/>
              </a:buClr>
              <a:buSzPts val="5400"/>
              <a:buNone/>
              <a:defRPr b="0" sz="5400">
                <a:solidFill>
                  <a:schemeClr val="dk2"/>
                </a:solidFill>
              </a:defRPr>
            </a:lvl1pPr>
            <a:lvl2pPr lvl="1">
              <a:spcBef>
                <a:spcPts val="0"/>
              </a:spcBef>
              <a:spcAft>
                <a:spcPts val="0"/>
              </a:spcAft>
              <a:buClr>
                <a:schemeClr val="dk2"/>
              </a:buClr>
              <a:buSzPts val="5400"/>
              <a:buNone/>
              <a:defRPr b="0" sz="5400">
                <a:solidFill>
                  <a:schemeClr val="dk2"/>
                </a:solidFill>
              </a:defRPr>
            </a:lvl2pPr>
            <a:lvl3pPr lvl="2">
              <a:spcBef>
                <a:spcPts val="0"/>
              </a:spcBef>
              <a:spcAft>
                <a:spcPts val="0"/>
              </a:spcAft>
              <a:buClr>
                <a:schemeClr val="dk2"/>
              </a:buClr>
              <a:buSzPts val="5400"/>
              <a:buNone/>
              <a:defRPr b="0" sz="5400">
                <a:solidFill>
                  <a:schemeClr val="dk2"/>
                </a:solidFill>
              </a:defRPr>
            </a:lvl3pPr>
            <a:lvl4pPr lvl="3">
              <a:spcBef>
                <a:spcPts val="0"/>
              </a:spcBef>
              <a:spcAft>
                <a:spcPts val="0"/>
              </a:spcAft>
              <a:buClr>
                <a:schemeClr val="dk2"/>
              </a:buClr>
              <a:buSzPts val="5400"/>
              <a:buNone/>
              <a:defRPr b="0" sz="5400">
                <a:solidFill>
                  <a:schemeClr val="dk2"/>
                </a:solidFill>
              </a:defRPr>
            </a:lvl4pPr>
            <a:lvl5pPr lvl="4">
              <a:spcBef>
                <a:spcPts val="0"/>
              </a:spcBef>
              <a:spcAft>
                <a:spcPts val="0"/>
              </a:spcAft>
              <a:buClr>
                <a:schemeClr val="dk2"/>
              </a:buClr>
              <a:buSzPts val="5400"/>
              <a:buNone/>
              <a:defRPr b="0" sz="5400">
                <a:solidFill>
                  <a:schemeClr val="dk2"/>
                </a:solidFill>
              </a:defRPr>
            </a:lvl5pPr>
            <a:lvl6pPr lvl="5">
              <a:spcBef>
                <a:spcPts val="0"/>
              </a:spcBef>
              <a:spcAft>
                <a:spcPts val="0"/>
              </a:spcAft>
              <a:buClr>
                <a:schemeClr val="dk2"/>
              </a:buClr>
              <a:buSzPts val="5400"/>
              <a:buNone/>
              <a:defRPr b="0" sz="5400">
                <a:solidFill>
                  <a:schemeClr val="dk2"/>
                </a:solidFill>
              </a:defRPr>
            </a:lvl6pPr>
            <a:lvl7pPr lvl="6">
              <a:spcBef>
                <a:spcPts val="0"/>
              </a:spcBef>
              <a:spcAft>
                <a:spcPts val="0"/>
              </a:spcAft>
              <a:buClr>
                <a:schemeClr val="dk2"/>
              </a:buClr>
              <a:buSzPts val="5400"/>
              <a:buNone/>
              <a:defRPr b="0" sz="5400">
                <a:solidFill>
                  <a:schemeClr val="dk2"/>
                </a:solidFill>
              </a:defRPr>
            </a:lvl7pPr>
            <a:lvl8pPr lvl="7">
              <a:spcBef>
                <a:spcPts val="0"/>
              </a:spcBef>
              <a:spcAft>
                <a:spcPts val="0"/>
              </a:spcAft>
              <a:buClr>
                <a:schemeClr val="dk2"/>
              </a:buClr>
              <a:buSzPts val="5400"/>
              <a:buNone/>
              <a:defRPr b="0" sz="5400">
                <a:solidFill>
                  <a:schemeClr val="dk2"/>
                </a:solidFill>
              </a:defRPr>
            </a:lvl8pPr>
            <a:lvl9pPr lvl="8">
              <a:spcBef>
                <a:spcPts val="0"/>
              </a:spcBef>
              <a:spcAft>
                <a:spcPts val="0"/>
              </a:spcAft>
              <a:buClr>
                <a:schemeClr val="dk2"/>
              </a:buClr>
              <a:buSzPts val="5400"/>
              <a:buNone/>
              <a:defRPr b="0" sz="5400">
                <a:solidFill>
                  <a:schemeClr val="dk2"/>
                </a:solidFill>
              </a:defRPr>
            </a:lvl9pPr>
          </a:lstStyle>
          <a:p/>
        </p:txBody>
      </p:sp>
      <p:sp>
        <p:nvSpPr>
          <p:cNvPr id="89" name="Google Shape;89;p2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90" name="Shape 90"/>
        <p:cNvGrpSpPr/>
        <p:nvPr/>
      </p:nvGrpSpPr>
      <p:grpSpPr>
        <a:xfrm>
          <a:off x="0" y="0"/>
          <a:ext cx="0" cy="0"/>
          <a:chOff x="0" y="0"/>
          <a:chExt cx="0" cy="0"/>
        </a:xfrm>
      </p:grpSpPr>
      <p:sp>
        <p:nvSpPr>
          <p:cNvPr id="91" name="Google Shape;91;p21"/>
          <p:cNvSpPr/>
          <p:nvPr/>
        </p:nvSpPr>
        <p:spPr>
          <a:xfrm>
            <a:off x="4572000" y="0"/>
            <a:ext cx="4572000" cy="51435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92" name="Google Shape;92;p21"/>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93" name="Google Shape;93;p21"/>
          <p:cNvSpPr txBox="1"/>
          <p:nvPr>
            <p:ph type="title"/>
          </p:nvPr>
        </p:nvSpPr>
        <p:spPr>
          <a:xfrm>
            <a:off x="265500" y="1039675"/>
            <a:ext cx="4045200" cy="16758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94" name="Google Shape;94;p21"/>
          <p:cNvSpPr txBox="1"/>
          <p:nvPr>
            <p:ph idx="1" type="subTitle"/>
          </p:nvPr>
        </p:nvSpPr>
        <p:spPr>
          <a:xfrm>
            <a:off x="265500" y="27268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95" name="Google Shape;95;p21"/>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96" name="Google Shape;96;p2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97" name="Shape 97"/>
        <p:cNvGrpSpPr/>
        <p:nvPr/>
      </p:nvGrpSpPr>
      <p:grpSpPr>
        <a:xfrm>
          <a:off x="0" y="0"/>
          <a:ext cx="0" cy="0"/>
          <a:chOff x="0" y="0"/>
          <a:chExt cx="0" cy="0"/>
        </a:xfrm>
      </p:grpSpPr>
      <p:sp>
        <p:nvSpPr>
          <p:cNvPr id="98" name="Google Shape;98;p22"/>
          <p:cNvSpPr txBox="1"/>
          <p:nvPr>
            <p:ph idx="1" type="body"/>
          </p:nvPr>
        </p:nvSpPr>
        <p:spPr>
          <a:xfrm>
            <a:off x="311700" y="4230725"/>
            <a:ext cx="5998800" cy="598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2400"/>
              <a:buFont typeface="PT Sans Narrow"/>
              <a:buNone/>
              <a:defRPr sz="2400">
                <a:latin typeface="PT Sans Narrow"/>
                <a:ea typeface="PT Sans Narrow"/>
                <a:cs typeface="PT Sans Narrow"/>
                <a:sym typeface="PT Sans Narrow"/>
              </a:defRPr>
            </a:lvl1pPr>
          </a:lstStyle>
          <a:p/>
        </p:txBody>
      </p:sp>
      <p:sp>
        <p:nvSpPr>
          <p:cNvPr id="99" name="Google Shape;99;p2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00" name="Shape 100"/>
        <p:cNvGrpSpPr/>
        <p:nvPr/>
      </p:nvGrpSpPr>
      <p:grpSpPr>
        <a:xfrm>
          <a:off x="0" y="0"/>
          <a:ext cx="0" cy="0"/>
          <a:chOff x="0" y="0"/>
          <a:chExt cx="0" cy="0"/>
        </a:xfrm>
      </p:grpSpPr>
      <p:sp>
        <p:nvSpPr>
          <p:cNvPr id="101" name="Google Shape;101;p23"/>
          <p:cNvSpPr/>
          <p:nvPr/>
        </p:nvSpPr>
        <p:spPr>
          <a:xfrm>
            <a:off x="-75"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23"/>
          <p:cNvSpPr txBox="1"/>
          <p:nvPr>
            <p:ph hasCustomPrompt="1" type="title"/>
          </p:nvPr>
        </p:nvSpPr>
        <p:spPr>
          <a:xfrm>
            <a:off x="311700" y="1304850"/>
            <a:ext cx="8520600" cy="15384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accent3"/>
              </a:buClr>
              <a:buSzPts val="13000"/>
              <a:buNone/>
              <a:defRPr sz="13000">
                <a:solidFill>
                  <a:schemeClr val="accent3"/>
                </a:solidFill>
              </a:defRPr>
            </a:lvl1pPr>
            <a:lvl2pPr lvl="1" algn="ctr">
              <a:spcBef>
                <a:spcPts val="0"/>
              </a:spcBef>
              <a:spcAft>
                <a:spcPts val="0"/>
              </a:spcAft>
              <a:buClr>
                <a:schemeClr val="accent3"/>
              </a:buClr>
              <a:buSzPts val="13000"/>
              <a:buNone/>
              <a:defRPr sz="13000">
                <a:solidFill>
                  <a:schemeClr val="accent3"/>
                </a:solidFill>
              </a:defRPr>
            </a:lvl2pPr>
            <a:lvl3pPr lvl="2" algn="ctr">
              <a:spcBef>
                <a:spcPts val="0"/>
              </a:spcBef>
              <a:spcAft>
                <a:spcPts val="0"/>
              </a:spcAft>
              <a:buClr>
                <a:schemeClr val="accent3"/>
              </a:buClr>
              <a:buSzPts val="13000"/>
              <a:buNone/>
              <a:defRPr sz="13000">
                <a:solidFill>
                  <a:schemeClr val="accent3"/>
                </a:solidFill>
              </a:defRPr>
            </a:lvl3pPr>
            <a:lvl4pPr lvl="3" algn="ctr">
              <a:spcBef>
                <a:spcPts val="0"/>
              </a:spcBef>
              <a:spcAft>
                <a:spcPts val="0"/>
              </a:spcAft>
              <a:buClr>
                <a:schemeClr val="accent3"/>
              </a:buClr>
              <a:buSzPts val="13000"/>
              <a:buNone/>
              <a:defRPr sz="13000">
                <a:solidFill>
                  <a:schemeClr val="accent3"/>
                </a:solidFill>
              </a:defRPr>
            </a:lvl4pPr>
            <a:lvl5pPr lvl="4" algn="ctr">
              <a:spcBef>
                <a:spcPts val="0"/>
              </a:spcBef>
              <a:spcAft>
                <a:spcPts val="0"/>
              </a:spcAft>
              <a:buClr>
                <a:schemeClr val="accent3"/>
              </a:buClr>
              <a:buSzPts val="13000"/>
              <a:buNone/>
              <a:defRPr sz="13000">
                <a:solidFill>
                  <a:schemeClr val="accent3"/>
                </a:solidFill>
              </a:defRPr>
            </a:lvl5pPr>
            <a:lvl6pPr lvl="5" algn="ctr">
              <a:spcBef>
                <a:spcPts val="0"/>
              </a:spcBef>
              <a:spcAft>
                <a:spcPts val="0"/>
              </a:spcAft>
              <a:buClr>
                <a:schemeClr val="accent3"/>
              </a:buClr>
              <a:buSzPts val="13000"/>
              <a:buNone/>
              <a:defRPr sz="13000">
                <a:solidFill>
                  <a:schemeClr val="accent3"/>
                </a:solidFill>
              </a:defRPr>
            </a:lvl6pPr>
            <a:lvl7pPr lvl="6" algn="ctr">
              <a:spcBef>
                <a:spcPts val="0"/>
              </a:spcBef>
              <a:spcAft>
                <a:spcPts val="0"/>
              </a:spcAft>
              <a:buClr>
                <a:schemeClr val="accent3"/>
              </a:buClr>
              <a:buSzPts val="13000"/>
              <a:buNone/>
              <a:defRPr sz="13000">
                <a:solidFill>
                  <a:schemeClr val="accent3"/>
                </a:solidFill>
              </a:defRPr>
            </a:lvl7pPr>
            <a:lvl8pPr lvl="7" algn="ctr">
              <a:spcBef>
                <a:spcPts val="0"/>
              </a:spcBef>
              <a:spcAft>
                <a:spcPts val="0"/>
              </a:spcAft>
              <a:buClr>
                <a:schemeClr val="accent3"/>
              </a:buClr>
              <a:buSzPts val="13000"/>
              <a:buNone/>
              <a:defRPr sz="13000">
                <a:solidFill>
                  <a:schemeClr val="accent3"/>
                </a:solidFill>
              </a:defRPr>
            </a:lvl8pPr>
            <a:lvl9pPr lvl="8" algn="ctr">
              <a:spcBef>
                <a:spcPts val="0"/>
              </a:spcBef>
              <a:spcAft>
                <a:spcPts val="0"/>
              </a:spcAft>
              <a:buClr>
                <a:schemeClr val="accent3"/>
              </a:buClr>
              <a:buSzPts val="13000"/>
              <a:buNone/>
              <a:defRPr sz="13000">
                <a:solidFill>
                  <a:schemeClr val="accent3"/>
                </a:solidFill>
              </a:defRPr>
            </a:lvl9pPr>
          </a:lstStyle>
          <a:p>
            <a:r>
              <a:t>xx%</a:t>
            </a:r>
          </a:p>
        </p:txBody>
      </p:sp>
      <p:sp>
        <p:nvSpPr>
          <p:cNvPr id="103" name="Google Shape;103;p23"/>
          <p:cNvSpPr txBox="1"/>
          <p:nvPr>
            <p:ph idx="1" type="body"/>
          </p:nvPr>
        </p:nvSpPr>
        <p:spPr>
          <a:xfrm>
            <a:off x="311700" y="2995650"/>
            <a:ext cx="8520600" cy="10716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104" name="Google Shape;104;p2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05" name="Shape 105"/>
        <p:cNvGrpSpPr/>
        <p:nvPr/>
      </p:nvGrpSpPr>
      <p:grpSpPr>
        <a:xfrm>
          <a:off x="0" y="0"/>
          <a:ext cx="0" cy="0"/>
          <a:chOff x="0" y="0"/>
          <a:chExt cx="0" cy="0"/>
        </a:xfrm>
      </p:grpSpPr>
      <p:sp>
        <p:nvSpPr>
          <p:cNvPr id="106" name="Google Shape;106;p2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3.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tropic">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1pPr>
            <a:lvl2pPr lvl="1">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2pPr>
            <a:lvl3pPr lvl="2">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3pPr>
            <a:lvl4pPr lvl="3">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4pPr>
            <a:lvl5pPr lvl="4">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5pPr>
            <a:lvl6pPr lvl="5">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6pPr>
            <a:lvl7pPr lvl="6">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7pPr>
            <a:lvl8pPr lvl="7">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8pPr>
            <a:lvl9pPr lvl="8">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9pPr>
          </a:lstStyle>
          <a:p/>
        </p:txBody>
      </p:sp>
      <p:sp>
        <p:nvSpPr>
          <p:cNvPr id="52" name="Google Shape;52;p13"/>
          <p:cNvSpPr txBox="1"/>
          <p:nvPr>
            <p:ph idx="1" type="body"/>
          </p:nvPr>
        </p:nvSpPr>
        <p:spPr>
          <a:xfrm>
            <a:off x="311700" y="1266325"/>
            <a:ext cx="8520600" cy="33027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Font typeface="Open Sans"/>
              <a:buChar char="●"/>
              <a:defRPr sz="1800">
                <a:solidFill>
                  <a:schemeClr val="dk2"/>
                </a:solidFill>
                <a:latin typeface="Open Sans"/>
                <a:ea typeface="Open Sans"/>
                <a:cs typeface="Open Sans"/>
                <a:sym typeface="Open Sans"/>
              </a:defRPr>
            </a:lvl1pPr>
            <a:lvl2pPr indent="-317500" lvl="1" marL="9144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2pPr>
            <a:lvl3pPr indent="-317500" lvl="2" marL="13716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3pPr>
            <a:lvl4pPr indent="-317500" lvl="3" marL="18288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4pPr>
            <a:lvl5pPr indent="-317500" lvl="4" marL="22860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5pPr>
            <a:lvl6pPr indent="-317500" lvl="5" marL="27432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6pPr>
            <a:lvl7pPr indent="-317500" lvl="6" marL="32004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7pPr>
            <a:lvl8pPr indent="-317500" lvl="7" marL="36576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8pPr>
            <a:lvl9pPr indent="-317500" lvl="8" marL="41148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9pPr>
          </a:lstStyle>
          <a:p/>
        </p:txBody>
      </p:sp>
      <p:sp>
        <p:nvSpPr>
          <p:cNvPr id="53" name="Google Shape;53;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latin typeface="Open Sans"/>
                <a:ea typeface="Open Sans"/>
                <a:cs typeface="Open Sans"/>
                <a:sym typeface="Open Sans"/>
              </a:defRPr>
            </a:lvl1pPr>
            <a:lvl2pPr lvl="1" algn="r">
              <a:buNone/>
              <a:defRPr sz="1000">
                <a:solidFill>
                  <a:schemeClr val="dk2"/>
                </a:solidFill>
                <a:latin typeface="Open Sans"/>
                <a:ea typeface="Open Sans"/>
                <a:cs typeface="Open Sans"/>
                <a:sym typeface="Open Sans"/>
              </a:defRPr>
            </a:lvl2pPr>
            <a:lvl3pPr lvl="2" algn="r">
              <a:buNone/>
              <a:defRPr sz="1000">
                <a:solidFill>
                  <a:schemeClr val="dk2"/>
                </a:solidFill>
                <a:latin typeface="Open Sans"/>
                <a:ea typeface="Open Sans"/>
                <a:cs typeface="Open Sans"/>
                <a:sym typeface="Open Sans"/>
              </a:defRPr>
            </a:lvl3pPr>
            <a:lvl4pPr lvl="3" algn="r">
              <a:buNone/>
              <a:defRPr sz="1000">
                <a:solidFill>
                  <a:schemeClr val="dk2"/>
                </a:solidFill>
                <a:latin typeface="Open Sans"/>
                <a:ea typeface="Open Sans"/>
                <a:cs typeface="Open Sans"/>
                <a:sym typeface="Open Sans"/>
              </a:defRPr>
            </a:lvl4pPr>
            <a:lvl5pPr lvl="4" algn="r">
              <a:buNone/>
              <a:defRPr sz="1000">
                <a:solidFill>
                  <a:schemeClr val="dk2"/>
                </a:solidFill>
                <a:latin typeface="Open Sans"/>
                <a:ea typeface="Open Sans"/>
                <a:cs typeface="Open Sans"/>
                <a:sym typeface="Open Sans"/>
              </a:defRPr>
            </a:lvl5pPr>
            <a:lvl6pPr lvl="5" algn="r">
              <a:buNone/>
              <a:defRPr sz="1000">
                <a:solidFill>
                  <a:schemeClr val="dk2"/>
                </a:solidFill>
                <a:latin typeface="Open Sans"/>
                <a:ea typeface="Open Sans"/>
                <a:cs typeface="Open Sans"/>
                <a:sym typeface="Open Sans"/>
              </a:defRPr>
            </a:lvl6pPr>
            <a:lvl7pPr lvl="6" algn="r">
              <a:buNone/>
              <a:defRPr sz="1000">
                <a:solidFill>
                  <a:schemeClr val="dk2"/>
                </a:solidFill>
                <a:latin typeface="Open Sans"/>
                <a:ea typeface="Open Sans"/>
                <a:cs typeface="Open Sans"/>
                <a:sym typeface="Open Sans"/>
              </a:defRPr>
            </a:lvl7pPr>
            <a:lvl8pPr lvl="7" algn="r">
              <a:buNone/>
              <a:defRPr sz="1000">
                <a:solidFill>
                  <a:schemeClr val="dk2"/>
                </a:solidFill>
                <a:latin typeface="Open Sans"/>
                <a:ea typeface="Open Sans"/>
                <a:cs typeface="Open Sans"/>
                <a:sym typeface="Open Sans"/>
              </a:defRPr>
            </a:lvl8pPr>
            <a:lvl9pPr lvl="8" algn="r">
              <a:buNone/>
              <a:defRPr sz="1000">
                <a:solidFill>
                  <a:schemeClr val="dk2"/>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xml"/><Relationship Id="rId3" Type="http://schemas.openxmlformats.org/officeDocument/2006/relationships/image" Target="../media/image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xml"/><Relationship Id="rId3" Type="http://schemas.openxmlformats.org/officeDocument/2006/relationships/image" Target="../media/image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xml"/><Relationship Id="rId3"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8.xml"/><Relationship Id="rId3"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9.xml"/><Relationship Id="rId3" Type="http://schemas.openxmlformats.org/officeDocument/2006/relationships/image" Target="../media/image1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0.xml"/><Relationship Id="rId3" Type="http://schemas.openxmlformats.org/officeDocument/2006/relationships/image" Target="../media/image3.png"/><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1.xml"/><Relationship Id="rId3"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3.xml"/><Relationship Id="rId3" Type="http://schemas.openxmlformats.org/officeDocument/2006/relationships/image" Target="../media/image1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4.xml"/><Relationship Id="rId3" Type="http://schemas.openxmlformats.org/officeDocument/2006/relationships/image" Target="../media/image5.png"/><Relationship Id="rId4" Type="http://schemas.openxmlformats.org/officeDocument/2006/relationships/image" Target="../media/image1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7.xml"/><Relationship Id="rId3" Type="http://schemas.openxmlformats.org/officeDocument/2006/relationships/image" Target="../media/image1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8.xml"/><Relationship Id="rId3" Type="http://schemas.openxmlformats.org/officeDocument/2006/relationships/image" Target="../media/image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25"/>
          <p:cNvSpPr txBox="1"/>
          <p:nvPr>
            <p:ph type="ctrTitle"/>
          </p:nvPr>
        </p:nvSpPr>
        <p:spPr>
          <a:xfrm>
            <a:off x="1004150" y="1751764"/>
            <a:ext cx="7136700" cy="10224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GB"/>
              <a:t>Cache</a:t>
            </a:r>
            <a:endParaRPr/>
          </a:p>
        </p:txBody>
      </p:sp>
      <p:sp>
        <p:nvSpPr>
          <p:cNvPr id="112" name="Google Shape;112;p25"/>
          <p:cNvSpPr txBox="1"/>
          <p:nvPr>
            <p:ph idx="1" type="subTitle"/>
          </p:nvPr>
        </p:nvSpPr>
        <p:spPr>
          <a:xfrm>
            <a:off x="2513950" y="2774175"/>
            <a:ext cx="4297800" cy="792600"/>
          </a:xfrm>
          <a:prstGeom prst="rect">
            <a:avLst/>
          </a:prstGeom>
        </p:spPr>
        <p:txBody>
          <a:bodyPr anchorCtr="0" anchor="t" bIns="91425" lIns="91425" spcFirstLastPara="1" rIns="91425" wrap="square" tIns="91425">
            <a:normAutofit fontScale="55000"/>
          </a:bodyPr>
          <a:lstStyle/>
          <a:p>
            <a:pPr indent="0" lvl="0" marL="2286000" rtl="0" algn="l">
              <a:spcBef>
                <a:spcPts val="0"/>
              </a:spcBef>
              <a:spcAft>
                <a:spcPts val="0"/>
              </a:spcAft>
              <a:buNone/>
            </a:pPr>
            <a:r>
              <a:rPr b="1" lang="en-GB" sz="3600">
                <a:solidFill>
                  <a:schemeClr val="accent1"/>
                </a:solidFill>
                <a:latin typeface="PT Sans Narrow"/>
                <a:ea typeface="PT Sans Narrow"/>
                <a:cs typeface="PT Sans Narrow"/>
                <a:sym typeface="PT Sans Narrow"/>
              </a:rPr>
              <a:t>    K.LOKESH</a:t>
            </a:r>
            <a:endParaRPr b="1" sz="3600">
              <a:solidFill>
                <a:schemeClr val="accent1"/>
              </a:solidFill>
              <a:latin typeface="PT Sans Narrow"/>
              <a:ea typeface="PT Sans Narrow"/>
              <a:cs typeface="PT Sans Narrow"/>
              <a:sym typeface="PT Sans Narrow"/>
            </a:endParaRPr>
          </a:p>
          <a:p>
            <a:pPr indent="457200" lvl="0" marL="1371600" rtl="0" algn="l">
              <a:spcBef>
                <a:spcPts val="0"/>
              </a:spcBef>
              <a:spcAft>
                <a:spcPts val="0"/>
              </a:spcAft>
              <a:buNone/>
            </a:pPr>
            <a:r>
              <a:rPr b="1" lang="en-GB" sz="2257">
                <a:solidFill>
                  <a:schemeClr val="accent1"/>
                </a:solidFill>
                <a:latin typeface="PT Sans Narrow"/>
                <a:ea typeface="PT Sans Narrow"/>
                <a:cs typeface="PT Sans Narrow"/>
                <a:sym typeface="PT Sans Narrow"/>
              </a:rPr>
              <a:t>Chipweave Technologies Private Limited</a:t>
            </a:r>
            <a:endParaRPr b="1" sz="2257">
              <a:solidFill>
                <a:schemeClr val="accent1"/>
              </a:solidFill>
              <a:latin typeface="PT Sans Narrow"/>
              <a:ea typeface="PT Sans Narrow"/>
              <a:cs typeface="PT Sans Narrow"/>
              <a:sym typeface="PT Sans Narrow"/>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26"/>
          <p:cNvSpPr txBox="1"/>
          <p:nvPr>
            <p:ph idx="1" type="body"/>
          </p:nvPr>
        </p:nvSpPr>
        <p:spPr>
          <a:xfrm>
            <a:off x="311700" y="522800"/>
            <a:ext cx="8729700" cy="4467000"/>
          </a:xfrm>
          <a:prstGeom prst="rect">
            <a:avLst/>
          </a:prstGeom>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374650" lvl="0" marL="457200" rtl="0" algn="just">
              <a:lnSpc>
                <a:spcPct val="150000"/>
              </a:lnSpc>
              <a:spcBef>
                <a:spcPts val="0"/>
              </a:spcBef>
              <a:spcAft>
                <a:spcPts val="0"/>
              </a:spcAft>
              <a:buClr>
                <a:srgbClr val="000000"/>
              </a:buClr>
              <a:buSzPts val="2300"/>
              <a:buFont typeface="Times New Roman"/>
              <a:buChar char="●"/>
            </a:pPr>
            <a:r>
              <a:rPr b="1" lang="en-GB" sz="2500">
                <a:solidFill>
                  <a:srgbClr val="000000"/>
                </a:solidFill>
                <a:highlight>
                  <a:srgbClr val="FFFFFF"/>
                </a:highlight>
                <a:latin typeface="Times New Roman"/>
                <a:ea typeface="Times New Roman"/>
                <a:cs typeface="Times New Roman"/>
                <a:sym typeface="Times New Roman"/>
              </a:rPr>
              <a:t>W</a:t>
            </a:r>
            <a:r>
              <a:rPr b="1" lang="en-GB" sz="2500">
                <a:solidFill>
                  <a:srgbClr val="000000"/>
                </a:solidFill>
                <a:highlight>
                  <a:srgbClr val="FFFFFF"/>
                </a:highlight>
                <a:latin typeface="Times New Roman"/>
                <a:ea typeface="Times New Roman"/>
                <a:cs typeface="Times New Roman"/>
                <a:sym typeface="Times New Roman"/>
              </a:rPr>
              <a:t>hat is cache memory ?</a:t>
            </a:r>
            <a:endParaRPr sz="2300">
              <a:solidFill>
                <a:srgbClr val="000000"/>
              </a:solidFill>
              <a:highlight>
                <a:srgbClr val="FFFFFF"/>
              </a:highlight>
              <a:latin typeface="Times New Roman"/>
              <a:ea typeface="Times New Roman"/>
              <a:cs typeface="Times New Roman"/>
              <a:sym typeface="Times New Roman"/>
            </a:endParaRPr>
          </a:p>
          <a:p>
            <a:pPr indent="-342900" lvl="1" marL="914400" rtl="0" algn="just">
              <a:lnSpc>
                <a:spcPct val="150000"/>
              </a:lnSpc>
              <a:spcBef>
                <a:spcPts val="0"/>
              </a:spcBef>
              <a:spcAft>
                <a:spcPts val="0"/>
              </a:spcAft>
              <a:buClr>
                <a:srgbClr val="000000"/>
              </a:buClr>
              <a:buSzPts val="1800"/>
              <a:buFont typeface="Times New Roman"/>
              <a:buChar char="○"/>
            </a:pPr>
            <a:r>
              <a:rPr lang="en-GB" sz="1800">
                <a:solidFill>
                  <a:srgbClr val="000000"/>
                </a:solidFill>
                <a:latin typeface="Times New Roman"/>
                <a:ea typeface="Times New Roman"/>
                <a:cs typeface="Times New Roman"/>
                <a:sym typeface="Times New Roman"/>
              </a:rPr>
              <a:t>Cache memory is a fast temporary memory that helps the CPU access data quickly by storing the most frequently used information.</a:t>
            </a:r>
            <a:endParaRPr sz="1800">
              <a:solidFill>
                <a:srgbClr val="000000"/>
              </a:solidFill>
              <a:latin typeface="Times New Roman"/>
              <a:ea typeface="Times New Roman"/>
              <a:cs typeface="Times New Roman"/>
              <a:sym typeface="Times New Roman"/>
            </a:endParaRPr>
          </a:p>
        </p:txBody>
      </p:sp>
      <p:pic>
        <p:nvPicPr>
          <p:cNvPr id="118" name="Google Shape;118;p26"/>
          <p:cNvPicPr preferRelativeResize="0"/>
          <p:nvPr/>
        </p:nvPicPr>
        <p:blipFill>
          <a:blip r:embed="rId3">
            <a:alphaModFix/>
          </a:blip>
          <a:stretch>
            <a:fillRect/>
          </a:stretch>
        </p:blipFill>
        <p:spPr>
          <a:xfrm>
            <a:off x="4169925" y="2107113"/>
            <a:ext cx="4781550" cy="244792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27"/>
          <p:cNvSpPr txBox="1"/>
          <p:nvPr>
            <p:ph idx="1" type="body"/>
          </p:nvPr>
        </p:nvSpPr>
        <p:spPr>
          <a:xfrm>
            <a:off x="311700" y="184400"/>
            <a:ext cx="8729700" cy="4805400"/>
          </a:xfrm>
          <a:prstGeom prst="rect">
            <a:avLst/>
          </a:prstGeom>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342900" lvl="0" marL="457200" rtl="0" algn="just">
              <a:spcBef>
                <a:spcPts val="0"/>
              </a:spcBef>
              <a:spcAft>
                <a:spcPts val="0"/>
              </a:spcAft>
              <a:buSzPts val="1800"/>
              <a:buChar char="●"/>
            </a:pPr>
            <a:r>
              <a:rPr lang="en-GB">
                <a:solidFill>
                  <a:srgbClr val="273239"/>
                </a:solidFill>
                <a:highlight>
                  <a:srgbClr val="FFFFFF"/>
                </a:highlight>
                <a:latin typeface="Times New Roman"/>
                <a:ea typeface="Times New Roman"/>
                <a:cs typeface="Times New Roman"/>
                <a:sym typeface="Times New Roman"/>
              </a:rPr>
              <a:t>The </a:t>
            </a:r>
            <a:r>
              <a:rPr b="1" lang="en-GB">
                <a:solidFill>
                  <a:srgbClr val="273239"/>
                </a:solidFill>
                <a:highlight>
                  <a:srgbClr val="FFFFFF"/>
                </a:highlight>
                <a:latin typeface="Times New Roman"/>
                <a:ea typeface="Times New Roman"/>
                <a:cs typeface="Times New Roman"/>
                <a:sym typeface="Times New Roman"/>
              </a:rPr>
              <a:t>Main Memory</a:t>
            </a:r>
            <a:r>
              <a:rPr lang="en-GB">
                <a:solidFill>
                  <a:srgbClr val="273239"/>
                </a:solidFill>
                <a:highlight>
                  <a:srgbClr val="FFFFFF"/>
                </a:highlight>
                <a:latin typeface="Times New Roman"/>
                <a:ea typeface="Times New Roman"/>
                <a:cs typeface="Times New Roman"/>
                <a:sym typeface="Times New Roman"/>
              </a:rPr>
              <a:t> consists of memory blocks and these blocks are made up of fixed number of words. A typical address in main memory is split into two parts:</a:t>
            </a:r>
            <a:endParaRPr>
              <a:solidFill>
                <a:srgbClr val="000000"/>
              </a:solidFill>
              <a:latin typeface="Times New Roman"/>
              <a:ea typeface="Times New Roman"/>
              <a:cs typeface="Times New Roman"/>
              <a:sym typeface="Times New Roman"/>
            </a:endParaRPr>
          </a:p>
          <a:p>
            <a:pPr indent="-330200" lvl="1" marL="914400" rtl="0" algn="just">
              <a:lnSpc>
                <a:spcPct val="150000"/>
              </a:lnSpc>
              <a:spcBef>
                <a:spcPts val="0"/>
              </a:spcBef>
              <a:spcAft>
                <a:spcPts val="0"/>
              </a:spcAft>
              <a:buClr>
                <a:srgbClr val="273239"/>
              </a:buClr>
              <a:buSzPts val="1600"/>
              <a:buFont typeface="Nunito"/>
              <a:buChar char="○"/>
            </a:pPr>
            <a:r>
              <a:rPr b="1" lang="en-GB" sz="1600">
                <a:solidFill>
                  <a:srgbClr val="273239"/>
                </a:solidFill>
                <a:highlight>
                  <a:srgbClr val="FFFFFF"/>
                </a:highlight>
                <a:latin typeface="Times New Roman"/>
                <a:ea typeface="Times New Roman"/>
                <a:cs typeface="Times New Roman"/>
                <a:sym typeface="Times New Roman"/>
              </a:rPr>
              <a:t>Index Field: </a:t>
            </a:r>
            <a:r>
              <a:rPr lang="en-GB" sz="1600">
                <a:solidFill>
                  <a:srgbClr val="273239"/>
                </a:solidFill>
                <a:highlight>
                  <a:srgbClr val="FFFFFF"/>
                </a:highlight>
                <a:latin typeface="Times New Roman"/>
                <a:ea typeface="Times New Roman"/>
                <a:cs typeface="Times New Roman"/>
                <a:sym typeface="Times New Roman"/>
              </a:rPr>
              <a:t>It represent the block number. Index Field bits tells us the location of block where a word can be.</a:t>
            </a:r>
            <a:endParaRPr sz="1600">
              <a:solidFill>
                <a:srgbClr val="273239"/>
              </a:solidFill>
              <a:highlight>
                <a:srgbClr val="FFFFFF"/>
              </a:highlight>
              <a:latin typeface="Times New Roman"/>
              <a:ea typeface="Times New Roman"/>
              <a:cs typeface="Times New Roman"/>
              <a:sym typeface="Times New Roman"/>
            </a:endParaRPr>
          </a:p>
          <a:p>
            <a:pPr indent="-330200" lvl="1" marL="914400" rtl="0" algn="just">
              <a:lnSpc>
                <a:spcPct val="150000"/>
              </a:lnSpc>
              <a:spcBef>
                <a:spcPts val="0"/>
              </a:spcBef>
              <a:spcAft>
                <a:spcPts val="0"/>
              </a:spcAft>
              <a:buClr>
                <a:srgbClr val="273239"/>
              </a:buClr>
              <a:buSzPts val="1600"/>
              <a:buFont typeface="Nunito"/>
              <a:buChar char="○"/>
            </a:pPr>
            <a:r>
              <a:rPr b="1" lang="en-GB" sz="1600">
                <a:solidFill>
                  <a:srgbClr val="273239"/>
                </a:solidFill>
                <a:highlight>
                  <a:srgbClr val="FFFFFF"/>
                </a:highlight>
                <a:latin typeface="Times New Roman"/>
                <a:ea typeface="Times New Roman"/>
                <a:cs typeface="Times New Roman"/>
                <a:sym typeface="Times New Roman"/>
              </a:rPr>
              <a:t>Block Offset: </a:t>
            </a:r>
            <a:r>
              <a:rPr lang="en-GB" sz="1600">
                <a:solidFill>
                  <a:srgbClr val="273239"/>
                </a:solidFill>
                <a:highlight>
                  <a:srgbClr val="FFFFFF"/>
                </a:highlight>
                <a:latin typeface="Times New Roman"/>
                <a:ea typeface="Times New Roman"/>
                <a:cs typeface="Times New Roman"/>
                <a:sym typeface="Times New Roman"/>
              </a:rPr>
              <a:t>It represent words in a memory block. These bits determines the location of word in a memory block.</a:t>
            </a:r>
            <a:endParaRPr>
              <a:solidFill>
                <a:srgbClr val="273239"/>
              </a:solidFill>
              <a:highlight>
                <a:srgbClr val="FFFFFF"/>
              </a:highlight>
              <a:latin typeface="Times New Roman"/>
              <a:ea typeface="Times New Roman"/>
              <a:cs typeface="Times New Roman"/>
              <a:sym typeface="Times New Roman"/>
            </a:endParaRPr>
          </a:p>
          <a:p>
            <a:pPr indent="-342900" lvl="0" marL="457200" rtl="0" algn="l">
              <a:spcBef>
                <a:spcPts val="0"/>
              </a:spcBef>
              <a:spcAft>
                <a:spcPts val="0"/>
              </a:spcAft>
              <a:buClr>
                <a:srgbClr val="273239"/>
              </a:buClr>
              <a:buSzPts val="1800"/>
              <a:buFont typeface="Times New Roman"/>
              <a:buChar char="●"/>
            </a:pPr>
            <a:r>
              <a:rPr lang="en-GB">
                <a:solidFill>
                  <a:srgbClr val="273239"/>
                </a:solidFill>
                <a:highlight>
                  <a:srgbClr val="FFFFFF"/>
                </a:highlight>
                <a:latin typeface="Times New Roman"/>
                <a:ea typeface="Times New Roman"/>
                <a:cs typeface="Times New Roman"/>
                <a:sym typeface="Times New Roman"/>
              </a:rPr>
              <a:t>The </a:t>
            </a:r>
            <a:r>
              <a:rPr b="1" lang="en-GB">
                <a:solidFill>
                  <a:srgbClr val="273239"/>
                </a:solidFill>
                <a:highlight>
                  <a:srgbClr val="FFFFFF"/>
                </a:highlight>
                <a:latin typeface="Times New Roman"/>
                <a:ea typeface="Times New Roman"/>
                <a:cs typeface="Times New Roman"/>
                <a:sym typeface="Times New Roman"/>
              </a:rPr>
              <a:t>Cache Memory </a:t>
            </a:r>
            <a:r>
              <a:rPr lang="en-GB">
                <a:solidFill>
                  <a:srgbClr val="273239"/>
                </a:solidFill>
                <a:highlight>
                  <a:srgbClr val="FFFFFF"/>
                </a:highlight>
                <a:latin typeface="Times New Roman"/>
                <a:ea typeface="Times New Roman"/>
                <a:cs typeface="Times New Roman"/>
                <a:sym typeface="Times New Roman"/>
              </a:rPr>
              <a:t>consists of cache lines. These cache lines has same size as memory blocks. The address in cache memory consists of:</a:t>
            </a:r>
            <a:endParaRPr>
              <a:solidFill>
                <a:srgbClr val="273239"/>
              </a:solidFill>
              <a:highlight>
                <a:srgbClr val="FFFFFF"/>
              </a:highlight>
              <a:latin typeface="Times New Roman"/>
              <a:ea typeface="Times New Roman"/>
              <a:cs typeface="Times New Roman"/>
              <a:sym typeface="Times New Roman"/>
            </a:endParaRPr>
          </a:p>
          <a:p>
            <a:pPr indent="-330200" lvl="1" marL="914400" rtl="0" algn="l">
              <a:lnSpc>
                <a:spcPct val="150000"/>
              </a:lnSpc>
              <a:spcBef>
                <a:spcPts val="0"/>
              </a:spcBef>
              <a:spcAft>
                <a:spcPts val="0"/>
              </a:spcAft>
              <a:buClr>
                <a:srgbClr val="273239"/>
              </a:buClr>
              <a:buSzPts val="1600"/>
              <a:buFont typeface="Times New Roman"/>
              <a:buChar char="○"/>
            </a:pPr>
            <a:r>
              <a:rPr b="1" lang="en-GB" sz="1600">
                <a:solidFill>
                  <a:srgbClr val="273239"/>
                </a:solidFill>
                <a:highlight>
                  <a:srgbClr val="FFFFFF"/>
                </a:highlight>
                <a:latin typeface="Times New Roman"/>
                <a:ea typeface="Times New Roman"/>
                <a:cs typeface="Times New Roman"/>
                <a:sym typeface="Times New Roman"/>
              </a:rPr>
              <a:t>Block Offset: </a:t>
            </a:r>
            <a:r>
              <a:rPr lang="en-GB" sz="1600">
                <a:solidFill>
                  <a:srgbClr val="273239"/>
                </a:solidFill>
                <a:highlight>
                  <a:srgbClr val="FFFFFF"/>
                </a:highlight>
                <a:latin typeface="Times New Roman"/>
                <a:ea typeface="Times New Roman"/>
                <a:cs typeface="Times New Roman"/>
                <a:sym typeface="Times New Roman"/>
              </a:rPr>
              <a:t>This is the same block offset we use in Main Memory.</a:t>
            </a:r>
            <a:endParaRPr sz="1600">
              <a:solidFill>
                <a:srgbClr val="273239"/>
              </a:solidFill>
              <a:highlight>
                <a:srgbClr val="FFFFFF"/>
              </a:highlight>
              <a:latin typeface="Times New Roman"/>
              <a:ea typeface="Times New Roman"/>
              <a:cs typeface="Times New Roman"/>
              <a:sym typeface="Times New Roman"/>
            </a:endParaRPr>
          </a:p>
          <a:p>
            <a:pPr indent="-330200" lvl="1" marL="914400" rtl="0" algn="l">
              <a:lnSpc>
                <a:spcPct val="150000"/>
              </a:lnSpc>
              <a:spcBef>
                <a:spcPts val="0"/>
              </a:spcBef>
              <a:spcAft>
                <a:spcPts val="0"/>
              </a:spcAft>
              <a:buClr>
                <a:srgbClr val="273239"/>
              </a:buClr>
              <a:buSzPts val="1600"/>
              <a:buFont typeface="Times New Roman"/>
              <a:buChar char="○"/>
            </a:pPr>
            <a:r>
              <a:rPr b="1" lang="en-GB" sz="1600">
                <a:solidFill>
                  <a:srgbClr val="273239"/>
                </a:solidFill>
                <a:highlight>
                  <a:srgbClr val="FFFFFF"/>
                </a:highlight>
                <a:latin typeface="Times New Roman"/>
                <a:ea typeface="Times New Roman"/>
                <a:cs typeface="Times New Roman"/>
                <a:sym typeface="Times New Roman"/>
              </a:rPr>
              <a:t>Index: </a:t>
            </a:r>
            <a:r>
              <a:rPr lang="en-GB" sz="1600">
                <a:solidFill>
                  <a:srgbClr val="273239"/>
                </a:solidFill>
                <a:highlight>
                  <a:srgbClr val="FFFFFF"/>
                </a:highlight>
                <a:latin typeface="Times New Roman"/>
                <a:ea typeface="Times New Roman"/>
                <a:cs typeface="Times New Roman"/>
                <a:sym typeface="Times New Roman"/>
              </a:rPr>
              <a:t>It represent cache line number. This part of the memory address determines which cache line (or slot) the data will be placed in.</a:t>
            </a:r>
            <a:endParaRPr sz="1600">
              <a:solidFill>
                <a:srgbClr val="273239"/>
              </a:solidFill>
              <a:highlight>
                <a:srgbClr val="FFFFFF"/>
              </a:highlight>
              <a:latin typeface="Times New Roman"/>
              <a:ea typeface="Times New Roman"/>
              <a:cs typeface="Times New Roman"/>
              <a:sym typeface="Times New Roman"/>
            </a:endParaRPr>
          </a:p>
          <a:p>
            <a:pPr indent="-330200" lvl="1" marL="914400" rtl="0" algn="l">
              <a:lnSpc>
                <a:spcPct val="150000"/>
              </a:lnSpc>
              <a:spcBef>
                <a:spcPts val="0"/>
              </a:spcBef>
              <a:spcAft>
                <a:spcPts val="0"/>
              </a:spcAft>
              <a:buClr>
                <a:srgbClr val="273239"/>
              </a:buClr>
              <a:buSzPts val="1600"/>
              <a:buFont typeface="Times New Roman"/>
              <a:buChar char="○"/>
            </a:pPr>
            <a:r>
              <a:rPr b="1" lang="en-GB" sz="1600">
                <a:solidFill>
                  <a:srgbClr val="273239"/>
                </a:solidFill>
                <a:highlight>
                  <a:srgbClr val="FFFFFF"/>
                </a:highlight>
                <a:latin typeface="Times New Roman"/>
                <a:ea typeface="Times New Roman"/>
                <a:cs typeface="Times New Roman"/>
                <a:sym typeface="Times New Roman"/>
              </a:rPr>
              <a:t>Tag: </a:t>
            </a:r>
            <a:r>
              <a:rPr lang="en-GB" sz="1600">
                <a:solidFill>
                  <a:srgbClr val="273239"/>
                </a:solidFill>
                <a:highlight>
                  <a:srgbClr val="FFFFFF"/>
                </a:highlight>
                <a:latin typeface="Times New Roman"/>
                <a:ea typeface="Times New Roman"/>
                <a:cs typeface="Times New Roman"/>
                <a:sym typeface="Times New Roman"/>
              </a:rPr>
              <a:t>The Tag is the remaining part of the address that uniquely identifies which block is currently occupying the cache line.</a:t>
            </a:r>
            <a:endParaRPr sz="1600">
              <a:solidFill>
                <a:srgbClr val="273239"/>
              </a:solidFill>
              <a:highlight>
                <a:srgbClr val="FFFFFF"/>
              </a:highlight>
              <a:latin typeface="Times New Roman"/>
              <a:ea typeface="Times New Roman"/>
              <a:cs typeface="Times New Roman"/>
              <a:sym typeface="Times New Roman"/>
            </a:endParaRPr>
          </a:p>
          <a:p>
            <a:pPr indent="0" lvl="0" marL="914400" rtl="0" algn="l">
              <a:lnSpc>
                <a:spcPct val="150000"/>
              </a:lnSpc>
              <a:spcBef>
                <a:spcPts val="800"/>
              </a:spcBef>
              <a:spcAft>
                <a:spcPts val="1800"/>
              </a:spcAft>
              <a:buNone/>
            </a:pPr>
            <a:r>
              <a:t/>
            </a:r>
            <a:endParaRPr sz="1800">
              <a:solidFill>
                <a:srgbClr val="273239"/>
              </a:solidFill>
              <a:highlight>
                <a:srgbClr val="FFFFFF"/>
              </a:highlight>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28"/>
          <p:cNvSpPr txBox="1"/>
          <p:nvPr>
            <p:ph idx="1" type="body"/>
          </p:nvPr>
        </p:nvSpPr>
        <p:spPr>
          <a:xfrm>
            <a:off x="311700" y="618300"/>
            <a:ext cx="8729700" cy="4371600"/>
          </a:xfrm>
          <a:prstGeom prst="rect">
            <a:avLst/>
          </a:prstGeom>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381000" lvl="0" marL="457200" rtl="0" algn="l">
              <a:spcBef>
                <a:spcPts val="0"/>
              </a:spcBef>
              <a:spcAft>
                <a:spcPts val="0"/>
              </a:spcAft>
              <a:buClr>
                <a:srgbClr val="273239"/>
              </a:buClr>
              <a:buSzPts val="2400"/>
              <a:buFont typeface="Times New Roman"/>
              <a:buChar char="●"/>
            </a:pPr>
            <a:r>
              <a:rPr b="1" lang="en-GB" sz="2400">
                <a:solidFill>
                  <a:srgbClr val="273239"/>
                </a:solidFill>
                <a:highlight>
                  <a:srgbClr val="FFFFFF"/>
                </a:highlight>
                <a:latin typeface="Times New Roman"/>
                <a:ea typeface="Times New Roman"/>
                <a:cs typeface="Times New Roman"/>
                <a:sym typeface="Times New Roman"/>
              </a:rPr>
              <a:t>cache line</a:t>
            </a:r>
            <a:endParaRPr b="1" sz="2400">
              <a:solidFill>
                <a:srgbClr val="273239"/>
              </a:solidFill>
              <a:highlight>
                <a:srgbClr val="FFFFFF"/>
              </a:highlight>
              <a:latin typeface="Times New Roman"/>
              <a:ea typeface="Times New Roman"/>
              <a:cs typeface="Times New Roman"/>
              <a:sym typeface="Times New Roman"/>
            </a:endParaRPr>
          </a:p>
          <a:p>
            <a:pPr indent="-342900" lvl="1" marL="914400" rtl="0" algn="l">
              <a:lnSpc>
                <a:spcPct val="150000"/>
              </a:lnSpc>
              <a:spcBef>
                <a:spcPts val="0"/>
              </a:spcBef>
              <a:spcAft>
                <a:spcPts val="0"/>
              </a:spcAft>
              <a:buClr>
                <a:srgbClr val="273239"/>
              </a:buClr>
              <a:buSzPts val="1800"/>
              <a:buFont typeface="Times New Roman"/>
              <a:buChar char="○"/>
            </a:pPr>
            <a:r>
              <a:rPr lang="en-GB" sz="1800">
                <a:solidFill>
                  <a:srgbClr val="000000"/>
                </a:solidFill>
                <a:latin typeface="Times New Roman"/>
                <a:ea typeface="Times New Roman"/>
                <a:cs typeface="Times New Roman"/>
                <a:sym typeface="Times New Roman"/>
              </a:rPr>
              <a:t>The </a:t>
            </a:r>
            <a:r>
              <a:rPr b="1" lang="en-GB" sz="1800">
                <a:solidFill>
                  <a:srgbClr val="000000"/>
                </a:solidFill>
                <a:latin typeface="Times New Roman"/>
                <a:ea typeface="Times New Roman"/>
                <a:cs typeface="Times New Roman"/>
                <a:sym typeface="Times New Roman"/>
              </a:rPr>
              <a:t>smallest unit of data</a:t>
            </a:r>
            <a:r>
              <a:rPr lang="en-GB" sz="1800">
                <a:solidFill>
                  <a:srgbClr val="000000"/>
                </a:solidFill>
                <a:latin typeface="Times New Roman"/>
                <a:ea typeface="Times New Roman"/>
                <a:cs typeface="Times New Roman"/>
                <a:sym typeface="Times New Roman"/>
              </a:rPr>
              <a:t> transferred between </a:t>
            </a:r>
            <a:r>
              <a:rPr b="1" lang="en-GB" sz="1800">
                <a:solidFill>
                  <a:srgbClr val="000000"/>
                </a:solidFill>
                <a:latin typeface="Times New Roman"/>
                <a:ea typeface="Times New Roman"/>
                <a:cs typeface="Times New Roman"/>
                <a:sym typeface="Times New Roman"/>
              </a:rPr>
              <a:t>main memory ↔ cache memory.</a:t>
            </a:r>
            <a:endParaRPr b="1" sz="1800">
              <a:solidFill>
                <a:srgbClr val="000000"/>
              </a:solidFill>
              <a:latin typeface="Times New Roman"/>
              <a:ea typeface="Times New Roman"/>
              <a:cs typeface="Times New Roman"/>
              <a:sym typeface="Times New Roman"/>
            </a:endParaRPr>
          </a:p>
          <a:p>
            <a:pPr indent="-342900" lvl="1" marL="914400" rtl="0" algn="l">
              <a:lnSpc>
                <a:spcPct val="100000"/>
              </a:lnSpc>
              <a:spcBef>
                <a:spcPts val="0"/>
              </a:spcBef>
              <a:spcAft>
                <a:spcPts val="0"/>
              </a:spcAft>
              <a:buClr>
                <a:srgbClr val="273239"/>
              </a:buClr>
              <a:buSzPts val="1800"/>
              <a:buFont typeface="Times New Roman"/>
              <a:buChar char="○"/>
            </a:pPr>
            <a:r>
              <a:rPr lang="en-GB" sz="1800">
                <a:solidFill>
                  <a:srgbClr val="000000"/>
                </a:solidFill>
                <a:latin typeface="Times New Roman"/>
                <a:ea typeface="Times New Roman"/>
                <a:cs typeface="Times New Roman"/>
                <a:sym typeface="Times New Roman"/>
              </a:rPr>
              <a:t>Usually </a:t>
            </a:r>
            <a:r>
              <a:rPr b="1" lang="en-GB" sz="1800">
                <a:solidFill>
                  <a:srgbClr val="000000"/>
                </a:solidFill>
                <a:latin typeface="Times New Roman"/>
                <a:ea typeface="Times New Roman"/>
                <a:cs typeface="Times New Roman"/>
                <a:sym typeface="Times New Roman"/>
              </a:rPr>
              <a:t>32B, 64B, or 128B</a:t>
            </a:r>
            <a:r>
              <a:rPr lang="en-GB" sz="1800">
                <a:solidFill>
                  <a:srgbClr val="000000"/>
                </a:solidFill>
                <a:latin typeface="Times New Roman"/>
                <a:ea typeface="Times New Roman"/>
                <a:cs typeface="Times New Roman"/>
                <a:sym typeface="Times New Roman"/>
              </a:rPr>
              <a:t>, containing a </a:t>
            </a:r>
            <a:r>
              <a:rPr b="1" lang="en-GB" sz="1800">
                <a:solidFill>
                  <a:srgbClr val="000000"/>
                </a:solidFill>
                <a:latin typeface="Times New Roman"/>
                <a:ea typeface="Times New Roman"/>
                <a:cs typeface="Times New Roman"/>
                <a:sym typeface="Times New Roman"/>
              </a:rPr>
              <a:t>contiguous block of memory addresses.</a:t>
            </a:r>
            <a:endParaRPr b="1" sz="1800">
              <a:solidFill>
                <a:srgbClr val="273239"/>
              </a:solidFill>
              <a:highlight>
                <a:srgbClr val="FFFFFF"/>
              </a:highlight>
              <a:latin typeface="Times New Roman"/>
              <a:ea typeface="Times New Roman"/>
              <a:cs typeface="Times New Roman"/>
              <a:sym typeface="Times New Roman"/>
            </a:endParaRPr>
          </a:p>
          <a:p>
            <a:pPr indent="-381000" lvl="0" marL="457200" rtl="0" algn="l">
              <a:spcBef>
                <a:spcPts val="0"/>
              </a:spcBef>
              <a:spcAft>
                <a:spcPts val="0"/>
              </a:spcAft>
              <a:buClr>
                <a:srgbClr val="273239"/>
              </a:buClr>
              <a:buSzPts val="2400"/>
              <a:buFont typeface="Times New Roman"/>
              <a:buChar char="●"/>
            </a:pPr>
            <a:r>
              <a:rPr b="1" lang="en-GB" sz="2400">
                <a:solidFill>
                  <a:srgbClr val="273239"/>
                </a:solidFill>
                <a:highlight>
                  <a:srgbClr val="FFFFFF"/>
                </a:highlight>
                <a:latin typeface="Times New Roman"/>
                <a:ea typeface="Times New Roman"/>
                <a:cs typeface="Times New Roman"/>
                <a:sym typeface="Times New Roman"/>
              </a:rPr>
              <a:t>cache Tag</a:t>
            </a:r>
            <a:endParaRPr b="1" sz="2400">
              <a:solidFill>
                <a:srgbClr val="273239"/>
              </a:solidFill>
              <a:highlight>
                <a:srgbClr val="FFFFFF"/>
              </a:highlight>
              <a:latin typeface="Times New Roman"/>
              <a:ea typeface="Times New Roman"/>
              <a:cs typeface="Times New Roman"/>
              <a:sym typeface="Times New Roman"/>
            </a:endParaRPr>
          </a:p>
          <a:p>
            <a:pPr indent="-342900" lvl="1" marL="914400" rtl="0" algn="l">
              <a:lnSpc>
                <a:spcPct val="150000"/>
              </a:lnSpc>
              <a:spcBef>
                <a:spcPts val="0"/>
              </a:spcBef>
              <a:spcAft>
                <a:spcPts val="0"/>
              </a:spcAft>
              <a:buClr>
                <a:srgbClr val="273239"/>
              </a:buClr>
              <a:buSzPts val="1800"/>
              <a:buFont typeface="Times New Roman"/>
              <a:buChar char="○"/>
            </a:pPr>
            <a:r>
              <a:rPr lang="en-GB" sz="1800">
                <a:solidFill>
                  <a:srgbClr val="000000"/>
                </a:solidFill>
                <a:latin typeface="Times New Roman"/>
                <a:ea typeface="Times New Roman"/>
                <a:cs typeface="Times New Roman"/>
                <a:sym typeface="Times New Roman"/>
              </a:rPr>
              <a:t>The </a:t>
            </a:r>
            <a:r>
              <a:rPr b="1" lang="en-GB" sz="1800">
                <a:solidFill>
                  <a:srgbClr val="000000"/>
                </a:solidFill>
                <a:latin typeface="Times New Roman"/>
                <a:ea typeface="Times New Roman"/>
                <a:cs typeface="Times New Roman"/>
                <a:sym typeface="Times New Roman"/>
              </a:rPr>
              <a:t>upper portion of the main memory address</a:t>
            </a:r>
            <a:r>
              <a:rPr lang="en-GB" sz="1800">
                <a:solidFill>
                  <a:srgbClr val="000000"/>
                </a:solidFill>
                <a:latin typeface="Times New Roman"/>
                <a:ea typeface="Times New Roman"/>
                <a:cs typeface="Times New Roman"/>
                <a:sym typeface="Times New Roman"/>
              </a:rPr>
              <a:t> stored in a cache line</a:t>
            </a:r>
            <a:endParaRPr sz="1800">
              <a:solidFill>
                <a:srgbClr val="000000"/>
              </a:solidFill>
              <a:latin typeface="Times New Roman"/>
              <a:ea typeface="Times New Roman"/>
              <a:cs typeface="Times New Roman"/>
              <a:sym typeface="Times New Roman"/>
            </a:endParaRPr>
          </a:p>
          <a:p>
            <a:pPr indent="-342900" lvl="1" marL="914400" rtl="0" algn="l">
              <a:lnSpc>
                <a:spcPct val="150000"/>
              </a:lnSpc>
              <a:spcBef>
                <a:spcPts val="0"/>
              </a:spcBef>
              <a:spcAft>
                <a:spcPts val="0"/>
              </a:spcAft>
              <a:buClr>
                <a:srgbClr val="273239"/>
              </a:buClr>
              <a:buSzPts val="1800"/>
              <a:buFont typeface="Times New Roman"/>
              <a:buChar char="○"/>
            </a:pPr>
            <a:r>
              <a:rPr lang="en-GB" sz="1800">
                <a:solidFill>
                  <a:srgbClr val="000000"/>
                </a:solidFill>
                <a:latin typeface="Times New Roman"/>
                <a:ea typeface="Times New Roman"/>
                <a:cs typeface="Times New Roman"/>
                <a:sym typeface="Times New Roman"/>
              </a:rPr>
              <a:t> Acts as a </a:t>
            </a:r>
            <a:r>
              <a:rPr b="1" lang="en-GB" sz="1800">
                <a:solidFill>
                  <a:srgbClr val="000000"/>
                </a:solidFill>
                <a:latin typeface="Times New Roman"/>
                <a:ea typeface="Times New Roman"/>
                <a:cs typeface="Times New Roman"/>
                <a:sym typeface="Times New Roman"/>
              </a:rPr>
              <a:t>unique identifier</a:t>
            </a:r>
            <a:r>
              <a:rPr lang="en-GB" sz="1800">
                <a:solidFill>
                  <a:srgbClr val="000000"/>
                </a:solidFill>
                <a:latin typeface="Times New Roman"/>
                <a:ea typeface="Times New Roman"/>
                <a:cs typeface="Times New Roman"/>
                <a:sym typeface="Times New Roman"/>
              </a:rPr>
              <a:t> for the memory block held in that cache line.</a:t>
            </a:r>
            <a:endParaRPr sz="1800">
              <a:solidFill>
                <a:srgbClr val="000000"/>
              </a:solidFill>
              <a:latin typeface="Times New Roman"/>
              <a:ea typeface="Times New Roman"/>
              <a:cs typeface="Times New Roman"/>
              <a:sym typeface="Times New Roman"/>
            </a:endParaRPr>
          </a:p>
          <a:p>
            <a:pPr indent="-342900" lvl="1" marL="914400" rtl="0" algn="l">
              <a:lnSpc>
                <a:spcPct val="150000"/>
              </a:lnSpc>
              <a:spcBef>
                <a:spcPts val="0"/>
              </a:spcBef>
              <a:spcAft>
                <a:spcPts val="0"/>
              </a:spcAft>
              <a:buClr>
                <a:srgbClr val="273239"/>
              </a:buClr>
              <a:buSzPts val="1800"/>
              <a:buFont typeface="Times New Roman"/>
              <a:buChar char="○"/>
            </a:pPr>
            <a:r>
              <a:rPr lang="en-GB" sz="1800">
                <a:solidFill>
                  <a:srgbClr val="000000"/>
                </a:solidFill>
                <a:latin typeface="Times New Roman"/>
                <a:ea typeface="Times New Roman"/>
                <a:cs typeface="Times New Roman"/>
                <a:sym typeface="Times New Roman"/>
              </a:rPr>
              <a:t>Stores the </a:t>
            </a:r>
            <a:r>
              <a:rPr b="1" lang="en-GB" sz="1800">
                <a:solidFill>
                  <a:srgbClr val="000000"/>
                </a:solidFill>
                <a:latin typeface="Times New Roman"/>
                <a:ea typeface="Times New Roman"/>
                <a:cs typeface="Times New Roman"/>
                <a:sym typeface="Times New Roman"/>
              </a:rPr>
              <a:t>mapping information</a:t>
            </a:r>
            <a:r>
              <a:rPr lang="en-GB" sz="1800">
                <a:solidFill>
                  <a:srgbClr val="000000"/>
                </a:solidFill>
                <a:latin typeface="Times New Roman"/>
                <a:ea typeface="Times New Roman"/>
                <a:cs typeface="Times New Roman"/>
                <a:sym typeface="Times New Roman"/>
              </a:rPr>
              <a:t> between main memory block ↔ cache line</a:t>
            </a:r>
            <a:r>
              <a:rPr b="1" lang="en-GB" sz="1800">
                <a:solidFill>
                  <a:srgbClr val="273239"/>
                </a:solidFill>
                <a:highlight>
                  <a:srgbClr val="FFFFFF"/>
                </a:highlight>
                <a:latin typeface="Times New Roman"/>
                <a:ea typeface="Times New Roman"/>
                <a:cs typeface="Times New Roman"/>
                <a:sym typeface="Times New Roman"/>
              </a:rPr>
              <a:t> </a:t>
            </a:r>
            <a:endParaRPr b="1" sz="1800">
              <a:solidFill>
                <a:srgbClr val="273239"/>
              </a:solidFill>
              <a:highlight>
                <a:srgbClr val="FFFFFF"/>
              </a:highlight>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29"/>
          <p:cNvSpPr txBox="1"/>
          <p:nvPr>
            <p:ph idx="1" type="body"/>
          </p:nvPr>
        </p:nvSpPr>
        <p:spPr>
          <a:xfrm>
            <a:off x="311700" y="522800"/>
            <a:ext cx="8729700" cy="4467000"/>
          </a:xfrm>
          <a:prstGeom prst="rect">
            <a:avLst/>
          </a:prstGeom>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342900" lvl="0" marL="457200" rtl="0" algn="just">
              <a:lnSpc>
                <a:spcPct val="115000"/>
              </a:lnSpc>
              <a:spcBef>
                <a:spcPts val="0"/>
              </a:spcBef>
              <a:spcAft>
                <a:spcPts val="0"/>
              </a:spcAft>
              <a:buClr>
                <a:srgbClr val="273239"/>
              </a:buClr>
              <a:buSzPts val="1800"/>
              <a:buFont typeface="Times New Roman"/>
              <a:buChar char="●"/>
            </a:pPr>
            <a:r>
              <a:rPr lang="en-GB">
                <a:solidFill>
                  <a:srgbClr val="273239"/>
                </a:solidFill>
                <a:highlight>
                  <a:srgbClr val="FFFFFF"/>
                </a:highlight>
                <a:latin typeface="Times New Roman"/>
                <a:ea typeface="Times New Roman"/>
                <a:cs typeface="Times New Roman"/>
                <a:sym typeface="Times New Roman"/>
              </a:rPr>
              <a:t>Cache mapping refers to the method used to store data from main memory into the cache. It determines how data from memory is mapped to specific locations in the cache.</a:t>
            </a:r>
            <a:endParaRPr>
              <a:solidFill>
                <a:srgbClr val="273239"/>
              </a:solidFill>
              <a:highlight>
                <a:srgbClr val="FFFFFF"/>
              </a:highlight>
              <a:latin typeface="Times New Roman"/>
              <a:ea typeface="Times New Roman"/>
              <a:cs typeface="Times New Roman"/>
              <a:sym typeface="Times New Roman"/>
            </a:endParaRPr>
          </a:p>
          <a:p>
            <a:pPr indent="-342900" lvl="0" marL="457200" rtl="0" algn="just">
              <a:lnSpc>
                <a:spcPct val="115000"/>
              </a:lnSpc>
              <a:spcBef>
                <a:spcPts val="0"/>
              </a:spcBef>
              <a:spcAft>
                <a:spcPts val="0"/>
              </a:spcAft>
              <a:buClr>
                <a:srgbClr val="273239"/>
              </a:buClr>
              <a:buSzPts val="1800"/>
              <a:buFont typeface="Times New Roman"/>
              <a:buChar char="●"/>
            </a:pPr>
            <a:r>
              <a:rPr lang="en-GB">
                <a:solidFill>
                  <a:srgbClr val="273239"/>
                </a:solidFill>
                <a:highlight>
                  <a:srgbClr val="FFFFFF"/>
                </a:highlight>
                <a:latin typeface="Times New Roman"/>
                <a:ea typeface="Times New Roman"/>
                <a:cs typeface="Times New Roman"/>
                <a:sym typeface="Times New Roman"/>
              </a:rPr>
              <a:t>There are three different types of mapping used for the purpose of cache memory which is as follows:</a:t>
            </a:r>
            <a:endParaRPr>
              <a:solidFill>
                <a:srgbClr val="273239"/>
              </a:solidFill>
              <a:highlight>
                <a:srgbClr val="FFFFFF"/>
              </a:highlight>
              <a:latin typeface="Times New Roman"/>
              <a:ea typeface="Times New Roman"/>
              <a:cs typeface="Times New Roman"/>
              <a:sym typeface="Times New Roman"/>
            </a:endParaRPr>
          </a:p>
          <a:p>
            <a:pPr indent="-342900" lvl="1" marL="1371600" rtl="0" algn="just">
              <a:lnSpc>
                <a:spcPct val="150000"/>
              </a:lnSpc>
              <a:spcBef>
                <a:spcPts val="0"/>
              </a:spcBef>
              <a:spcAft>
                <a:spcPts val="0"/>
              </a:spcAft>
              <a:buClr>
                <a:srgbClr val="273239"/>
              </a:buClr>
              <a:buSzPts val="1800"/>
              <a:buFont typeface="Times New Roman"/>
              <a:buChar char="○"/>
            </a:pPr>
            <a:r>
              <a:rPr lang="en-GB" sz="1800">
                <a:solidFill>
                  <a:srgbClr val="273239"/>
                </a:solidFill>
                <a:highlight>
                  <a:srgbClr val="FFFFFF"/>
                </a:highlight>
                <a:latin typeface="Times New Roman"/>
                <a:ea typeface="Times New Roman"/>
                <a:cs typeface="Times New Roman"/>
                <a:sym typeface="Times New Roman"/>
              </a:rPr>
              <a:t>Direct Mapping</a:t>
            </a:r>
            <a:endParaRPr sz="1800">
              <a:solidFill>
                <a:srgbClr val="273239"/>
              </a:solidFill>
              <a:highlight>
                <a:srgbClr val="FFFFFF"/>
              </a:highlight>
              <a:latin typeface="Times New Roman"/>
              <a:ea typeface="Times New Roman"/>
              <a:cs typeface="Times New Roman"/>
              <a:sym typeface="Times New Roman"/>
            </a:endParaRPr>
          </a:p>
          <a:p>
            <a:pPr indent="-342900" lvl="1" marL="1371600" rtl="0" algn="just">
              <a:lnSpc>
                <a:spcPct val="150000"/>
              </a:lnSpc>
              <a:spcBef>
                <a:spcPts val="0"/>
              </a:spcBef>
              <a:spcAft>
                <a:spcPts val="0"/>
              </a:spcAft>
              <a:buClr>
                <a:srgbClr val="273239"/>
              </a:buClr>
              <a:buSzPts val="1800"/>
              <a:buFont typeface="Times New Roman"/>
              <a:buChar char="○"/>
            </a:pPr>
            <a:r>
              <a:rPr lang="en-GB" sz="1800">
                <a:solidFill>
                  <a:srgbClr val="273239"/>
                </a:solidFill>
                <a:highlight>
                  <a:srgbClr val="FFFFFF"/>
                </a:highlight>
                <a:latin typeface="Times New Roman"/>
                <a:ea typeface="Times New Roman"/>
                <a:cs typeface="Times New Roman"/>
                <a:sym typeface="Times New Roman"/>
              </a:rPr>
              <a:t>Fully Associative Mapping</a:t>
            </a:r>
            <a:endParaRPr sz="1800">
              <a:solidFill>
                <a:srgbClr val="273239"/>
              </a:solidFill>
              <a:highlight>
                <a:srgbClr val="FFFFFF"/>
              </a:highlight>
              <a:latin typeface="Times New Roman"/>
              <a:ea typeface="Times New Roman"/>
              <a:cs typeface="Times New Roman"/>
              <a:sym typeface="Times New Roman"/>
            </a:endParaRPr>
          </a:p>
          <a:p>
            <a:pPr indent="-342900" lvl="1" marL="1371600" rtl="0" algn="just">
              <a:lnSpc>
                <a:spcPct val="150000"/>
              </a:lnSpc>
              <a:spcBef>
                <a:spcPts val="0"/>
              </a:spcBef>
              <a:spcAft>
                <a:spcPts val="0"/>
              </a:spcAft>
              <a:buClr>
                <a:srgbClr val="273239"/>
              </a:buClr>
              <a:buSzPts val="1800"/>
              <a:buFont typeface="Times New Roman"/>
              <a:buChar char="○"/>
            </a:pPr>
            <a:r>
              <a:rPr lang="en-GB" sz="1800">
                <a:solidFill>
                  <a:srgbClr val="273239"/>
                </a:solidFill>
                <a:highlight>
                  <a:srgbClr val="FFFFFF"/>
                </a:highlight>
                <a:latin typeface="Times New Roman"/>
                <a:ea typeface="Times New Roman"/>
                <a:cs typeface="Times New Roman"/>
                <a:sym typeface="Times New Roman"/>
              </a:rPr>
              <a:t>Set-Associative Mapping</a:t>
            </a:r>
            <a:endParaRPr sz="1800">
              <a:solidFill>
                <a:srgbClr val="273239"/>
              </a:solidFill>
              <a:highlight>
                <a:srgbClr val="FFFFFF"/>
              </a:highlight>
              <a:latin typeface="Times New Roman"/>
              <a:ea typeface="Times New Roman"/>
              <a:cs typeface="Times New Roman"/>
              <a:sym typeface="Times New Roman"/>
            </a:endParaRPr>
          </a:p>
          <a:p>
            <a:pPr indent="0" lvl="0" marL="914400" rtl="0" algn="just">
              <a:lnSpc>
                <a:spcPct val="150000"/>
              </a:lnSpc>
              <a:spcBef>
                <a:spcPts val="3000"/>
              </a:spcBef>
              <a:spcAft>
                <a:spcPts val="3000"/>
              </a:spcAft>
              <a:buNone/>
            </a:pPr>
            <a:r>
              <a:t/>
            </a:r>
            <a:endParaRPr sz="1800">
              <a:solidFill>
                <a:srgbClr val="000000"/>
              </a:solidFill>
              <a:latin typeface="Times New Roman"/>
              <a:ea typeface="Times New Roman"/>
              <a:cs typeface="Times New Roman"/>
              <a:sym typeface="Times New Roman"/>
            </a:endParaRPr>
          </a:p>
        </p:txBody>
      </p:sp>
      <p:pic>
        <p:nvPicPr>
          <p:cNvPr id="134" name="Google Shape;134;p29"/>
          <p:cNvPicPr preferRelativeResize="0"/>
          <p:nvPr/>
        </p:nvPicPr>
        <p:blipFill>
          <a:blip r:embed="rId3">
            <a:alphaModFix/>
          </a:blip>
          <a:stretch>
            <a:fillRect/>
          </a:stretch>
        </p:blipFill>
        <p:spPr>
          <a:xfrm>
            <a:off x="4745988" y="1975475"/>
            <a:ext cx="3990975" cy="21145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30"/>
          <p:cNvSpPr txBox="1"/>
          <p:nvPr>
            <p:ph idx="1" type="body"/>
          </p:nvPr>
        </p:nvSpPr>
        <p:spPr>
          <a:xfrm>
            <a:off x="311700" y="522800"/>
            <a:ext cx="8729700" cy="4467000"/>
          </a:xfrm>
          <a:prstGeom prst="rect">
            <a:avLst/>
          </a:prstGeom>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368300" lvl="0" marL="457200" rtl="0" algn="just">
              <a:lnSpc>
                <a:spcPct val="115000"/>
              </a:lnSpc>
              <a:spcBef>
                <a:spcPts val="0"/>
              </a:spcBef>
              <a:spcAft>
                <a:spcPts val="0"/>
              </a:spcAft>
              <a:buClr>
                <a:srgbClr val="273239"/>
              </a:buClr>
              <a:buSzPts val="2200"/>
              <a:buFont typeface="Times New Roman"/>
              <a:buChar char="●"/>
            </a:pPr>
            <a:r>
              <a:rPr b="1" lang="en-GB" sz="2200">
                <a:solidFill>
                  <a:srgbClr val="273239"/>
                </a:solidFill>
                <a:highlight>
                  <a:srgbClr val="FFFFFF"/>
                </a:highlight>
                <a:latin typeface="Times New Roman"/>
                <a:ea typeface="Times New Roman"/>
                <a:cs typeface="Times New Roman"/>
                <a:sym typeface="Times New Roman"/>
              </a:rPr>
              <a:t>Direct Mapping</a:t>
            </a:r>
            <a:endParaRPr b="1" sz="2200">
              <a:solidFill>
                <a:srgbClr val="273239"/>
              </a:solidFill>
              <a:highlight>
                <a:srgbClr val="FFFFFF"/>
              </a:highlight>
              <a:latin typeface="Times New Roman"/>
              <a:ea typeface="Times New Roman"/>
              <a:cs typeface="Times New Roman"/>
              <a:sym typeface="Times New Roman"/>
            </a:endParaRPr>
          </a:p>
          <a:p>
            <a:pPr indent="-342900" lvl="1" marL="1371600" rtl="0" algn="just">
              <a:lnSpc>
                <a:spcPct val="100000"/>
              </a:lnSpc>
              <a:spcBef>
                <a:spcPts val="0"/>
              </a:spcBef>
              <a:spcAft>
                <a:spcPts val="0"/>
              </a:spcAft>
              <a:buClr>
                <a:srgbClr val="273239"/>
              </a:buClr>
              <a:buSzPts val="1800"/>
              <a:buFont typeface="Times New Roman"/>
              <a:buChar char="○"/>
            </a:pPr>
            <a:r>
              <a:rPr lang="en-GB" sz="1800">
                <a:solidFill>
                  <a:srgbClr val="273239"/>
                </a:solidFill>
                <a:highlight>
                  <a:srgbClr val="FFFFFF"/>
                </a:highlight>
                <a:latin typeface="Times New Roman"/>
                <a:ea typeface="Times New Roman"/>
                <a:cs typeface="Times New Roman"/>
                <a:sym typeface="Times New Roman"/>
              </a:rPr>
              <a:t>Direct mapping is a simple and commonly used cache mapping technique where each block of main memory is mapped to exactly one location in the cache called cache line.</a:t>
            </a:r>
            <a:endParaRPr sz="1800">
              <a:solidFill>
                <a:srgbClr val="273239"/>
              </a:solidFill>
              <a:highlight>
                <a:srgbClr val="FFFFFF"/>
              </a:highlight>
              <a:latin typeface="Times New Roman"/>
              <a:ea typeface="Times New Roman"/>
              <a:cs typeface="Times New Roman"/>
              <a:sym typeface="Times New Roman"/>
            </a:endParaRPr>
          </a:p>
          <a:p>
            <a:pPr indent="-342900" lvl="1" marL="1371600" rtl="0" algn="just">
              <a:lnSpc>
                <a:spcPct val="100000"/>
              </a:lnSpc>
              <a:spcBef>
                <a:spcPts val="0"/>
              </a:spcBef>
              <a:spcAft>
                <a:spcPts val="0"/>
              </a:spcAft>
              <a:buClr>
                <a:srgbClr val="273239"/>
              </a:buClr>
              <a:buSzPts val="1800"/>
              <a:buFont typeface="Times New Roman"/>
              <a:buChar char="○"/>
            </a:pPr>
            <a:r>
              <a:rPr lang="en-GB" sz="1800">
                <a:solidFill>
                  <a:srgbClr val="273239"/>
                </a:solidFill>
                <a:highlight>
                  <a:srgbClr val="FFFFFF"/>
                </a:highlight>
                <a:latin typeface="Times New Roman"/>
                <a:ea typeface="Times New Roman"/>
                <a:cs typeface="Times New Roman"/>
                <a:sym typeface="Times New Roman"/>
              </a:rPr>
              <a:t>If two memory blocks map to the same cache line, one will overwrite the other, leading to potential cache misses.</a:t>
            </a:r>
            <a:endParaRPr sz="1800">
              <a:solidFill>
                <a:srgbClr val="273239"/>
              </a:solidFill>
              <a:highlight>
                <a:srgbClr val="FFFFFF"/>
              </a:highlight>
              <a:latin typeface="Times New Roman"/>
              <a:ea typeface="Times New Roman"/>
              <a:cs typeface="Times New Roman"/>
              <a:sym typeface="Times New Roman"/>
            </a:endParaRPr>
          </a:p>
          <a:p>
            <a:pPr indent="-342900" lvl="1" marL="1371600" rtl="0" algn="just">
              <a:lnSpc>
                <a:spcPct val="100000"/>
              </a:lnSpc>
              <a:spcBef>
                <a:spcPts val="0"/>
              </a:spcBef>
              <a:spcAft>
                <a:spcPts val="0"/>
              </a:spcAft>
              <a:buClr>
                <a:srgbClr val="273239"/>
              </a:buClr>
              <a:buSzPts val="1800"/>
              <a:buFont typeface="Times New Roman"/>
              <a:buChar char="○"/>
            </a:pPr>
            <a:r>
              <a:rPr lang="en-GB" sz="1800">
                <a:solidFill>
                  <a:srgbClr val="273239"/>
                </a:solidFill>
                <a:highlight>
                  <a:srgbClr val="FFFFFF"/>
                </a:highlight>
                <a:latin typeface="Times New Roman"/>
                <a:ea typeface="Times New Roman"/>
                <a:cs typeface="Times New Roman"/>
                <a:sym typeface="Times New Roman"/>
              </a:rPr>
              <a:t>Direct mapping performance is directly proportional to the Hit ratio.</a:t>
            </a:r>
            <a:endParaRPr sz="1800">
              <a:solidFill>
                <a:srgbClr val="273239"/>
              </a:solidFill>
              <a:highlight>
                <a:srgbClr val="FFFFFF"/>
              </a:highlight>
              <a:latin typeface="Times New Roman"/>
              <a:ea typeface="Times New Roman"/>
              <a:cs typeface="Times New Roman"/>
              <a:sym typeface="Times New Roman"/>
            </a:endParaRPr>
          </a:p>
        </p:txBody>
      </p:sp>
      <p:pic>
        <p:nvPicPr>
          <p:cNvPr id="140" name="Google Shape;140;p30"/>
          <p:cNvPicPr preferRelativeResize="0"/>
          <p:nvPr/>
        </p:nvPicPr>
        <p:blipFill>
          <a:blip r:embed="rId3">
            <a:alphaModFix/>
          </a:blip>
          <a:stretch>
            <a:fillRect/>
          </a:stretch>
        </p:blipFill>
        <p:spPr>
          <a:xfrm>
            <a:off x="1737400" y="2814925"/>
            <a:ext cx="5977849" cy="21062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31"/>
          <p:cNvSpPr txBox="1"/>
          <p:nvPr>
            <p:ph idx="1" type="body"/>
          </p:nvPr>
        </p:nvSpPr>
        <p:spPr>
          <a:xfrm>
            <a:off x="311700" y="522800"/>
            <a:ext cx="8729700" cy="4467000"/>
          </a:xfrm>
          <a:prstGeom prst="rect">
            <a:avLst/>
          </a:prstGeom>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368300" lvl="0" marL="457200" rtl="0" algn="just">
              <a:lnSpc>
                <a:spcPct val="115000"/>
              </a:lnSpc>
              <a:spcBef>
                <a:spcPts val="0"/>
              </a:spcBef>
              <a:spcAft>
                <a:spcPts val="0"/>
              </a:spcAft>
              <a:buClr>
                <a:srgbClr val="273239"/>
              </a:buClr>
              <a:buSzPts val="2200"/>
              <a:buFont typeface="Times New Roman"/>
              <a:buChar char="●"/>
            </a:pPr>
            <a:r>
              <a:rPr b="1" lang="en-GB" sz="2200">
                <a:solidFill>
                  <a:srgbClr val="273239"/>
                </a:solidFill>
                <a:highlight>
                  <a:srgbClr val="FFFFFF"/>
                </a:highlight>
                <a:latin typeface="Times New Roman"/>
                <a:ea typeface="Times New Roman"/>
                <a:cs typeface="Times New Roman"/>
                <a:sym typeface="Times New Roman"/>
              </a:rPr>
              <a:t>Fully Associative</a:t>
            </a:r>
            <a:r>
              <a:rPr b="1" lang="en-GB" sz="2200">
                <a:solidFill>
                  <a:srgbClr val="273239"/>
                </a:solidFill>
                <a:highlight>
                  <a:srgbClr val="FFFFFF"/>
                </a:highlight>
                <a:latin typeface="Times New Roman"/>
                <a:ea typeface="Times New Roman"/>
                <a:cs typeface="Times New Roman"/>
                <a:sym typeface="Times New Roman"/>
              </a:rPr>
              <a:t> Mapping</a:t>
            </a:r>
            <a:endParaRPr b="1" sz="2200">
              <a:solidFill>
                <a:srgbClr val="273239"/>
              </a:solidFill>
              <a:highlight>
                <a:srgbClr val="FFFFFF"/>
              </a:highlight>
              <a:latin typeface="Times New Roman"/>
              <a:ea typeface="Times New Roman"/>
              <a:cs typeface="Times New Roman"/>
              <a:sym typeface="Times New Roman"/>
            </a:endParaRPr>
          </a:p>
          <a:p>
            <a:pPr indent="-342900" lvl="1" marL="1371600" rtl="0" algn="just">
              <a:lnSpc>
                <a:spcPct val="115000"/>
              </a:lnSpc>
              <a:spcBef>
                <a:spcPts val="0"/>
              </a:spcBef>
              <a:spcAft>
                <a:spcPts val="0"/>
              </a:spcAft>
              <a:buClr>
                <a:srgbClr val="273239"/>
              </a:buClr>
              <a:buSzPts val="1800"/>
              <a:buFont typeface="Times New Roman"/>
              <a:buChar char="○"/>
            </a:pPr>
            <a:r>
              <a:rPr lang="en-GB" sz="1800">
                <a:solidFill>
                  <a:srgbClr val="273239"/>
                </a:solidFill>
                <a:highlight>
                  <a:srgbClr val="FFFFFF"/>
                </a:highlight>
                <a:latin typeface="Times New Roman"/>
                <a:ea typeface="Times New Roman"/>
                <a:cs typeface="Times New Roman"/>
                <a:sym typeface="Times New Roman"/>
              </a:rPr>
              <a:t>Fully associative mapping is a type of cache mapping where any block of main memory can be stored in any cache </a:t>
            </a:r>
            <a:r>
              <a:rPr lang="en-GB" sz="1800">
                <a:solidFill>
                  <a:srgbClr val="273239"/>
                </a:solidFill>
                <a:highlight>
                  <a:srgbClr val="FFFFFF"/>
                </a:highlight>
                <a:latin typeface="Times New Roman"/>
                <a:ea typeface="Times New Roman"/>
                <a:cs typeface="Times New Roman"/>
                <a:sym typeface="Times New Roman"/>
              </a:rPr>
              <a:t>line.</a:t>
            </a:r>
            <a:endParaRPr sz="1800">
              <a:solidFill>
                <a:srgbClr val="273239"/>
              </a:solidFill>
              <a:highlight>
                <a:srgbClr val="FFFFFF"/>
              </a:highlight>
              <a:latin typeface="Times New Roman"/>
              <a:ea typeface="Times New Roman"/>
              <a:cs typeface="Times New Roman"/>
              <a:sym typeface="Times New Roman"/>
            </a:endParaRPr>
          </a:p>
          <a:p>
            <a:pPr indent="-342900" lvl="1" marL="1371600" rtl="0" algn="just">
              <a:lnSpc>
                <a:spcPct val="115000"/>
              </a:lnSpc>
              <a:spcBef>
                <a:spcPts val="0"/>
              </a:spcBef>
              <a:spcAft>
                <a:spcPts val="0"/>
              </a:spcAft>
              <a:buClr>
                <a:srgbClr val="273239"/>
              </a:buClr>
              <a:buSzPts val="1800"/>
              <a:buFont typeface="Times New Roman"/>
              <a:buChar char="○"/>
            </a:pPr>
            <a:r>
              <a:rPr lang="en-GB" sz="1800">
                <a:solidFill>
                  <a:srgbClr val="273239"/>
                </a:solidFill>
                <a:highlight>
                  <a:srgbClr val="FFFFFF"/>
                </a:highlight>
                <a:latin typeface="Times New Roman"/>
                <a:ea typeface="Times New Roman"/>
                <a:cs typeface="Times New Roman"/>
                <a:sym typeface="Times New Roman"/>
              </a:rPr>
              <a:t>This improves the hit ratio but requires a more complex system for searching and managing cache lines.</a:t>
            </a:r>
            <a:endParaRPr sz="1800">
              <a:solidFill>
                <a:srgbClr val="273239"/>
              </a:solidFill>
              <a:highlight>
                <a:srgbClr val="FFFFFF"/>
              </a:highlight>
              <a:latin typeface="Times New Roman"/>
              <a:ea typeface="Times New Roman"/>
              <a:cs typeface="Times New Roman"/>
              <a:sym typeface="Times New Roman"/>
            </a:endParaRPr>
          </a:p>
          <a:p>
            <a:pPr indent="-342900" lvl="1" marL="1371600" rtl="0" algn="just">
              <a:lnSpc>
                <a:spcPct val="115000"/>
              </a:lnSpc>
              <a:spcBef>
                <a:spcPts val="0"/>
              </a:spcBef>
              <a:spcAft>
                <a:spcPts val="0"/>
              </a:spcAft>
              <a:buClr>
                <a:srgbClr val="273239"/>
              </a:buClr>
              <a:buSzPts val="1800"/>
              <a:buFont typeface="Times New Roman"/>
              <a:buChar char="○"/>
            </a:pPr>
            <a:r>
              <a:rPr lang="en-GB" sz="1800">
                <a:solidFill>
                  <a:srgbClr val="273239"/>
                </a:solidFill>
                <a:highlight>
                  <a:srgbClr val="FFFFFF"/>
                </a:highlight>
                <a:latin typeface="Times New Roman"/>
                <a:ea typeface="Times New Roman"/>
                <a:cs typeface="Times New Roman"/>
                <a:sym typeface="Times New Roman"/>
              </a:rPr>
              <a:t>In fully associative mapping, the cache does not have an index field. It only have a tag which is same as Index Field in memory address.</a:t>
            </a:r>
            <a:endParaRPr sz="1800">
              <a:solidFill>
                <a:srgbClr val="273239"/>
              </a:solidFill>
              <a:highlight>
                <a:srgbClr val="FFFFFF"/>
              </a:highlight>
              <a:latin typeface="Times New Roman"/>
              <a:ea typeface="Times New Roman"/>
              <a:cs typeface="Times New Roman"/>
              <a:sym typeface="Times New Roman"/>
            </a:endParaRPr>
          </a:p>
          <a:p>
            <a:pPr indent="-342900" lvl="1" marL="1371600" rtl="0" algn="just">
              <a:lnSpc>
                <a:spcPct val="115000"/>
              </a:lnSpc>
              <a:spcBef>
                <a:spcPts val="0"/>
              </a:spcBef>
              <a:spcAft>
                <a:spcPts val="0"/>
              </a:spcAft>
              <a:buClr>
                <a:srgbClr val="273239"/>
              </a:buClr>
              <a:buSzPts val="1800"/>
              <a:buFont typeface="Times New Roman"/>
              <a:buChar char="○"/>
            </a:pPr>
            <a:r>
              <a:rPr lang="en-GB" sz="1800">
                <a:solidFill>
                  <a:srgbClr val="273239"/>
                </a:solidFill>
                <a:highlight>
                  <a:srgbClr val="FFFFFF"/>
                </a:highlight>
                <a:latin typeface="Times New Roman"/>
                <a:ea typeface="Times New Roman"/>
                <a:cs typeface="Times New Roman"/>
                <a:sym typeface="Times New Roman"/>
              </a:rPr>
              <a:t>To determine whether a block is present in the cache, the tag is compared with the tags stored in all cache lines.</a:t>
            </a:r>
            <a:endParaRPr sz="1800">
              <a:solidFill>
                <a:srgbClr val="273239"/>
              </a:solidFill>
              <a:highlight>
                <a:srgbClr val="FFFFFF"/>
              </a:highlight>
              <a:latin typeface="Times New Roman"/>
              <a:ea typeface="Times New Roman"/>
              <a:cs typeface="Times New Roman"/>
              <a:sym typeface="Times New Roman"/>
            </a:endParaRPr>
          </a:p>
        </p:txBody>
      </p:sp>
      <p:pic>
        <p:nvPicPr>
          <p:cNvPr id="146" name="Google Shape;146;p31"/>
          <p:cNvPicPr preferRelativeResize="0"/>
          <p:nvPr/>
        </p:nvPicPr>
        <p:blipFill>
          <a:blip r:embed="rId3">
            <a:alphaModFix/>
          </a:blip>
          <a:stretch>
            <a:fillRect/>
          </a:stretch>
        </p:blipFill>
        <p:spPr>
          <a:xfrm>
            <a:off x="1298538" y="3919725"/>
            <a:ext cx="7267575" cy="9715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32"/>
          <p:cNvSpPr txBox="1"/>
          <p:nvPr>
            <p:ph idx="1" type="body"/>
          </p:nvPr>
        </p:nvSpPr>
        <p:spPr>
          <a:xfrm>
            <a:off x="311700" y="522800"/>
            <a:ext cx="8729700" cy="4467000"/>
          </a:xfrm>
          <a:prstGeom prst="rect">
            <a:avLst/>
          </a:prstGeom>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368300" lvl="0" marL="457200" rtl="0" algn="just">
              <a:lnSpc>
                <a:spcPct val="115000"/>
              </a:lnSpc>
              <a:spcBef>
                <a:spcPts val="0"/>
              </a:spcBef>
              <a:spcAft>
                <a:spcPts val="0"/>
              </a:spcAft>
              <a:buClr>
                <a:srgbClr val="273239"/>
              </a:buClr>
              <a:buSzPts val="2200"/>
              <a:buFont typeface="Times New Roman"/>
              <a:buChar char="●"/>
            </a:pPr>
            <a:r>
              <a:rPr b="1" lang="en-GB" sz="2200">
                <a:solidFill>
                  <a:srgbClr val="273239"/>
                </a:solidFill>
                <a:highlight>
                  <a:srgbClr val="FFFFFF"/>
                </a:highlight>
                <a:latin typeface="Times New Roman"/>
                <a:ea typeface="Times New Roman"/>
                <a:cs typeface="Times New Roman"/>
                <a:sym typeface="Times New Roman"/>
              </a:rPr>
              <a:t>Set - </a:t>
            </a:r>
            <a:r>
              <a:rPr b="1" lang="en-GB" sz="2200">
                <a:solidFill>
                  <a:srgbClr val="273239"/>
                </a:solidFill>
                <a:highlight>
                  <a:srgbClr val="FFFFFF"/>
                </a:highlight>
                <a:latin typeface="Times New Roman"/>
                <a:ea typeface="Times New Roman"/>
                <a:cs typeface="Times New Roman"/>
                <a:sym typeface="Times New Roman"/>
              </a:rPr>
              <a:t>Associative </a:t>
            </a:r>
            <a:r>
              <a:rPr b="1" lang="en-GB" sz="2200">
                <a:solidFill>
                  <a:srgbClr val="273239"/>
                </a:solidFill>
                <a:highlight>
                  <a:srgbClr val="FFFFFF"/>
                </a:highlight>
                <a:latin typeface="Times New Roman"/>
                <a:ea typeface="Times New Roman"/>
                <a:cs typeface="Times New Roman"/>
                <a:sym typeface="Times New Roman"/>
              </a:rPr>
              <a:t>Mapping</a:t>
            </a:r>
            <a:endParaRPr b="1" sz="2200">
              <a:solidFill>
                <a:srgbClr val="273239"/>
              </a:solidFill>
              <a:highlight>
                <a:srgbClr val="FFFFFF"/>
              </a:highlight>
              <a:latin typeface="Times New Roman"/>
              <a:ea typeface="Times New Roman"/>
              <a:cs typeface="Times New Roman"/>
              <a:sym typeface="Times New Roman"/>
            </a:endParaRPr>
          </a:p>
          <a:p>
            <a:pPr indent="-342900" lvl="1" marL="1371600" rtl="0" algn="just">
              <a:lnSpc>
                <a:spcPct val="115000"/>
              </a:lnSpc>
              <a:spcBef>
                <a:spcPts val="0"/>
              </a:spcBef>
              <a:spcAft>
                <a:spcPts val="0"/>
              </a:spcAft>
              <a:buClr>
                <a:srgbClr val="273239"/>
              </a:buClr>
              <a:buSzPts val="1800"/>
              <a:buFont typeface="Times New Roman"/>
              <a:buChar char="○"/>
            </a:pPr>
            <a:r>
              <a:rPr lang="en-GB" sz="1800">
                <a:solidFill>
                  <a:srgbClr val="273239"/>
                </a:solidFill>
                <a:highlight>
                  <a:srgbClr val="FFFFFF"/>
                </a:highlight>
                <a:latin typeface="Times New Roman"/>
                <a:ea typeface="Times New Roman"/>
                <a:cs typeface="Times New Roman"/>
                <a:sym typeface="Times New Roman"/>
              </a:rPr>
              <a:t>Set-associative mapping is a compromise between direct-mapped and fully-associative mapping in cache systems</a:t>
            </a:r>
            <a:r>
              <a:rPr lang="en-GB" sz="1800">
                <a:solidFill>
                  <a:srgbClr val="273239"/>
                </a:solidFill>
                <a:highlight>
                  <a:srgbClr val="FFFFFF"/>
                </a:highlight>
                <a:latin typeface="Times New Roman"/>
                <a:ea typeface="Times New Roman"/>
                <a:cs typeface="Times New Roman"/>
                <a:sym typeface="Times New Roman"/>
              </a:rPr>
              <a:t>.</a:t>
            </a:r>
            <a:endParaRPr sz="1800">
              <a:solidFill>
                <a:srgbClr val="273239"/>
              </a:solidFill>
              <a:highlight>
                <a:srgbClr val="FFFFFF"/>
              </a:highlight>
              <a:latin typeface="Times New Roman"/>
              <a:ea typeface="Times New Roman"/>
              <a:cs typeface="Times New Roman"/>
              <a:sym typeface="Times New Roman"/>
            </a:endParaRPr>
          </a:p>
          <a:p>
            <a:pPr indent="-342900" lvl="1" marL="1371600" rtl="0" algn="just">
              <a:lnSpc>
                <a:spcPct val="115000"/>
              </a:lnSpc>
              <a:spcBef>
                <a:spcPts val="0"/>
              </a:spcBef>
              <a:spcAft>
                <a:spcPts val="0"/>
              </a:spcAft>
              <a:buClr>
                <a:srgbClr val="273239"/>
              </a:buClr>
              <a:buSzPts val="1800"/>
              <a:buFont typeface="Times New Roman"/>
              <a:buChar char="○"/>
            </a:pPr>
            <a:r>
              <a:rPr lang="en-GB" sz="1800">
                <a:solidFill>
                  <a:srgbClr val="273239"/>
                </a:solidFill>
                <a:highlight>
                  <a:srgbClr val="FFFFFF"/>
                </a:highlight>
                <a:latin typeface="Times New Roman"/>
                <a:ea typeface="Times New Roman"/>
                <a:cs typeface="Times New Roman"/>
                <a:sym typeface="Times New Roman"/>
              </a:rPr>
              <a:t>It combines the flexibility </a:t>
            </a:r>
            <a:r>
              <a:rPr lang="en-GB" sz="1800">
                <a:solidFill>
                  <a:srgbClr val="273239"/>
                </a:solidFill>
                <a:highlight>
                  <a:srgbClr val="FFFFFF"/>
                </a:highlight>
                <a:latin typeface="Times New Roman"/>
                <a:ea typeface="Times New Roman"/>
                <a:cs typeface="Times New Roman"/>
                <a:sym typeface="Times New Roman"/>
              </a:rPr>
              <a:t>of fully associative mapping with the efficiency of direct mapping. In this schem</a:t>
            </a:r>
            <a:r>
              <a:rPr lang="en-GB" sz="1800">
                <a:solidFill>
                  <a:srgbClr val="273239"/>
                </a:solidFill>
                <a:highlight>
                  <a:srgbClr val="FFFFFF"/>
                </a:highlight>
                <a:latin typeface="Times New Roman"/>
                <a:ea typeface="Times New Roman"/>
                <a:cs typeface="Times New Roman"/>
                <a:sym typeface="Times New Roman"/>
              </a:rPr>
              <a:t>e, multiple cache lines (typically 2, 4, or more) are grouped into sets</a:t>
            </a:r>
            <a:r>
              <a:rPr lang="en-GB" sz="1800">
                <a:solidFill>
                  <a:srgbClr val="273239"/>
                </a:solidFill>
                <a:highlight>
                  <a:srgbClr val="FFFFFF"/>
                </a:highlight>
                <a:latin typeface="Times New Roman"/>
                <a:ea typeface="Times New Roman"/>
                <a:cs typeface="Times New Roman"/>
                <a:sym typeface="Times New Roman"/>
              </a:rPr>
              <a:t>.</a:t>
            </a:r>
            <a:endParaRPr sz="1800">
              <a:solidFill>
                <a:srgbClr val="273239"/>
              </a:solidFill>
              <a:highlight>
                <a:srgbClr val="FFFFFF"/>
              </a:highlight>
              <a:latin typeface="Times New Roman"/>
              <a:ea typeface="Times New Roman"/>
              <a:cs typeface="Times New Roman"/>
              <a:sym typeface="Times New Roman"/>
            </a:endParaRPr>
          </a:p>
        </p:txBody>
      </p:sp>
      <p:pic>
        <p:nvPicPr>
          <p:cNvPr id="152" name="Google Shape;152;p32"/>
          <p:cNvPicPr preferRelativeResize="0"/>
          <p:nvPr/>
        </p:nvPicPr>
        <p:blipFill>
          <a:blip r:embed="rId3">
            <a:alphaModFix/>
          </a:blip>
          <a:stretch>
            <a:fillRect/>
          </a:stretch>
        </p:blipFill>
        <p:spPr>
          <a:xfrm>
            <a:off x="1531138" y="3116000"/>
            <a:ext cx="7058025" cy="9906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33"/>
          <p:cNvSpPr txBox="1"/>
          <p:nvPr>
            <p:ph type="title"/>
          </p:nvPr>
        </p:nvSpPr>
        <p:spPr>
          <a:xfrm>
            <a:off x="243000" y="0"/>
            <a:ext cx="8589300" cy="4383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Data writing policies</a:t>
            </a:r>
            <a:endParaRPr/>
          </a:p>
          <a:p>
            <a:pPr indent="0" lvl="0" marL="0" rtl="0" algn="l">
              <a:spcBef>
                <a:spcPts val="0"/>
              </a:spcBef>
              <a:spcAft>
                <a:spcPts val="0"/>
              </a:spcAft>
              <a:buNone/>
            </a:pPr>
            <a:r>
              <a:t/>
            </a:r>
            <a:endParaRPr/>
          </a:p>
        </p:txBody>
      </p:sp>
      <p:sp>
        <p:nvSpPr>
          <p:cNvPr id="158" name="Google Shape;158;p33"/>
          <p:cNvSpPr txBox="1"/>
          <p:nvPr>
            <p:ph idx="1" type="body"/>
          </p:nvPr>
        </p:nvSpPr>
        <p:spPr>
          <a:xfrm>
            <a:off x="311700" y="522800"/>
            <a:ext cx="8729700" cy="4467000"/>
          </a:xfrm>
          <a:prstGeom prst="rect">
            <a:avLst/>
          </a:prstGeom>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342900" lvl="0" marL="457200" rtl="0" algn="just">
              <a:lnSpc>
                <a:spcPct val="115000"/>
              </a:lnSpc>
              <a:spcBef>
                <a:spcPts val="0"/>
              </a:spcBef>
              <a:spcAft>
                <a:spcPts val="0"/>
              </a:spcAft>
              <a:buClr>
                <a:srgbClr val="000000"/>
              </a:buClr>
              <a:buSzPts val="1800"/>
              <a:buFont typeface="Times New Roman"/>
              <a:buChar char="●"/>
            </a:pPr>
            <a:r>
              <a:rPr lang="en-GB">
                <a:solidFill>
                  <a:srgbClr val="000000"/>
                </a:solidFill>
                <a:highlight>
                  <a:schemeClr val="lt1"/>
                </a:highlight>
                <a:latin typeface="Times New Roman"/>
                <a:ea typeface="Times New Roman"/>
                <a:cs typeface="Times New Roman"/>
                <a:sym typeface="Times New Roman"/>
              </a:rPr>
              <a:t>Data can be written to memory using a variety of techniques, but the two main ones involving cache memory are the following: </a:t>
            </a:r>
            <a:endParaRPr b="1" sz="2400">
              <a:solidFill>
                <a:srgbClr val="000000"/>
              </a:solidFill>
              <a:highlight>
                <a:schemeClr val="lt1"/>
              </a:highlight>
              <a:latin typeface="Times New Roman"/>
              <a:ea typeface="Times New Roman"/>
              <a:cs typeface="Times New Roman"/>
              <a:sym typeface="Times New Roman"/>
            </a:endParaRPr>
          </a:p>
          <a:p>
            <a:pPr indent="-317500" lvl="1" marL="914400" rtl="0" algn="just">
              <a:lnSpc>
                <a:spcPct val="115000"/>
              </a:lnSpc>
              <a:spcBef>
                <a:spcPts val="0"/>
              </a:spcBef>
              <a:spcAft>
                <a:spcPts val="0"/>
              </a:spcAft>
              <a:buClr>
                <a:srgbClr val="000000"/>
              </a:buClr>
              <a:buSzPts val="1400"/>
              <a:buFont typeface="Times New Roman"/>
              <a:buChar char="○"/>
            </a:pPr>
            <a:r>
              <a:rPr b="1" lang="en-GB" sz="2400">
                <a:solidFill>
                  <a:srgbClr val="000000"/>
                </a:solidFill>
                <a:highlight>
                  <a:schemeClr val="lt1"/>
                </a:highlight>
                <a:latin typeface="Times New Roman"/>
                <a:ea typeface="Times New Roman"/>
                <a:cs typeface="Times New Roman"/>
                <a:sym typeface="Times New Roman"/>
              </a:rPr>
              <a:t>Write-through: </a:t>
            </a:r>
            <a:endParaRPr b="1" sz="2400">
              <a:solidFill>
                <a:srgbClr val="000000"/>
              </a:solidFill>
              <a:highlight>
                <a:schemeClr val="lt1"/>
              </a:highlight>
              <a:latin typeface="Times New Roman"/>
              <a:ea typeface="Times New Roman"/>
              <a:cs typeface="Times New Roman"/>
              <a:sym typeface="Times New Roman"/>
            </a:endParaRPr>
          </a:p>
          <a:p>
            <a:pPr indent="-342900" lvl="2" marL="1371600" rtl="0" algn="just">
              <a:lnSpc>
                <a:spcPct val="115000"/>
              </a:lnSpc>
              <a:spcBef>
                <a:spcPts val="0"/>
              </a:spcBef>
              <a:spcAft>
                <a:spcPts val="0"/>
              </a:spcAft>
              <a:buClr>
                <a:srgbClr val="000000"/>
              </a:buClr>
              <a:buSzPts val="1800"/>
              <a:buFont typeface="Times New Roman"/>
              <a:buChar char="■"/>
            </a:pPr>
            <a:r>
              <a:rPr lang="en-GB" sz="1800">
                <a:solidFill>
                  <a:srgbClr val="000000"/>
                </a:solidFill>
                <a:highlight>
                  <a:schemeClr val="lt1"/>
                </a:highlight>
                <a:latin typeface="Times New Roman"/>
                <a:ea typeface="Times New Roman"/>
                <a:cs typeface="Times New Roman"/>
                <a:sym typeface="Times New Roman"/>
              </a:rPr>
              <a:t>In the write-through policy, Data is written to both the cache and main memory simultaneously.</a:t>
            </a:r>
            <a:r>
              <a:rPr lang="en-GB" sz="1800">
                <a:solidFill>
                  <a:srgbClr val="273239"/>
                </a:solidFill>
                <a:highlight>
                  <a:srgbClr val="FFFFFF"/>
                </a:highlight>
                <a:latin typeface="Times New Roman"/>
                <a:ea typeface="Times New Roman"/>
                <a:cs typeface="Times New Roman"/>
                <a:sym typeface="Times New Roman"/>
              </a:rPr>
              <a:t> </a:t>
            </a:r>
            <a:endParaRPr sz="1800">
              <a:solidFill>
                <a:srgbClr val="273239"/>
              </a:solidFill>
              <a:highlight>
                <a:srgbClr val="FFFFFF"/>
              </a:highlight>
              <a:latin typeface="Times New Roman"/>
              <a:ea typeface="Times New Roman"/>
              <a:cs typeface="Times New Roman"/>
              <a:sym typeface="Times New Roman"/>
            </a:endParaRPr>
          </a:p>
          <a:p>
            <a:pPr indent="-342900" lvl="2" marL="1371600" rtl="0" algn="l">
              <a:lnSpc>
                <a:spcPct val="115000"/>
              </a:lnSpc>
              <a:spcBef>
                <a:spcPts val="0"/>
              </a:spcBef>
              <a:spcAft>
                <a:spcPts val="0"/>
              </a:spcAft>
              <a:buClr>
                <a:srgbClr val="000000"/>
              </a:buClr>
              <a:buSzPts val="1800"/>
              <a:buFont typeface="Times New Roman"/>
              <a:buChar char="■"/>
            </a:pPr>
            <a:r>
              <a:rPr lang="en-GB" sz="1800">
                <a:solidFill>
                  <a:srgbClr val="000000"/>
                </a:solidFill>
                <a:highlight>
                  <a:schemeClr val="lt1"/>
                </a:highlight>
                <a:latin typeface="Times New Roman"/>
                <a:ea typeface="Times New Roman"/>
                <a:cs typeface="Times New Roman"/>
                <a:sym typeface="Times New Roman"/>
              </a:rPr>
              <a:t>This ensures data consistency between the cache and main memory at the cost of higher write latency.</a:t>
            </a:r>
            <a:endParaRPr sz="1800">
              <a:solidFill>
                <a:srgbClr val="000000"/>
              </a:solidFill>
              <a:highlight>
                <a:schemeClr val="lt1"/>
              </a:highlight>
              <a:latin typeface="Times New Roman"/>
              <a:ea typeface="Times New Roman"/>
              <a:cs typeface="Times New Roman"/>
              <a:sym typeface="Times New Roman"/>
            </a:endParaRPr>
          </a:p>
          <a:p>
            <a:pPr indent="-342900" lvl="2" marL="1371600" rtl="0" algn="l">
              <a:lnSpc>
                <a:spcPct val="158000"/>
              </a:lnSpc>
              <a:spcBef>
                <a:spcPts val="0"/>
              </a:spcBef>
              <a:spcAft>
                <a:spcPts val="0"/>
              </a:spcAft>
              <a:buClr>
                <a:srgbClr val="273239"/>
              </a:buClr>
              <a:buSzPts val="1800"/>
              <a:buFont typeface="Times New Roman"/>
              <a:buChar char="■"/>
            </a:pPr>
            <a:r>
              <a:rPr lang="en-GB" sz="1800">
                <a:solidFill>
                  <a:srgbClr val="273239"/>
                </a:solidFill>
                <a:highlight>
                  <a:srgbClr val="FFFFFF"/>
                </a:highlight>
                <a:latin typeface="Times New Roman"/>
                <a:ea typeface="Times New Roman"/>
                <a:cs typeface="Times New Roman"/>
                <a:sym typeface="Times New Roman"/>
              </a:rPr>
              <a:t>Slower write operations due to simultaneous writes.</a:t>
            </a:r>
            <a:endParaRPr sz="1800">
              <a:solidFill>
                <a:srgbClr val="000000"/>
              </a:solidFill>
              <a:highlight>
                <a:schemeClr val="lt1"/>
              </a:highlight>
              <a:latin typeface="Times New Roman"/>
              <a:ea typeface="Times New Roman"/>
              <a:cs typeface="Times New Roman"/>
              <a:sym typeface="Times New Roman"/>
            </a:endParaRPr>
          </a:p>
          <a:p>
            <a:pPr indent="0" lvl="0" marL="0" rtl="0" algn="just">
              <a:lnSpc>
                <a:spcPct val="100000"/>
              </a:lnSpc>
              <a:spcBef>
                <a:spcPts val="1800"/>
              </a:spcBef>
              <a:spcAft>
                <a:spcPts val="3000"/>
              </a:spcAft>
              <a:buNone/>
            </a:pPr>
            <a:r>
              <a:t/>
            </a:r>
            <a:endParaRPr sz="1800">
              <a:solidFill>
                <a:srgbClr val="000000"/>
              </a:solidFill>
              <a:latin typeface="Times New Roman"/>
              <a:ea typeface="Times New Roman"/>
              <a:cs typeface="Times New Roman"/>
              <a:sym typeface="Times New Roman"/>
            </a:endParaRPr>
          </a:p>
        </p:txBody>
      </p:sp>
      <p:pic>
        <p:nvPicPr>
          <p:cNvPr id="159" name="Google Shape;159;p33"/>
          <p:cNvPicPr preferRelativeResize="0"/>
          <p:nvPr/>
        </p:nvPicPr>
        <p:blipFill>
          <a:blip r:embed="rId3">
            <a:alphaModFix/>
          </a:blip>
          <a:stretch>
            <a:fillRect/>
          </a:stretch>
        </p:blipFill>
        <p:spPr>
          <a:xfrm>
            <a:off x="2098975" y="3339200"/>
            <a:ext cx="6733325" cy="160905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34"/>
          <p:cNvSpPr txBox="1"/>
          <p:nvPr>
            <p:ph idx="1" type="body"/>
          </p:nvPr>
        </p:nvSpPr>
        <p:spPr>
          <a:xfrm>
            <a:off x="311700" y="522800"/>
            <a:ext cx="8729700" cy="4467000"/>
          </a:xfrm>
          <a:prstGeom prst="rect">
            <a:avLst/>
          </a:prstGeom>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381000" lvl="0" marL="457200" rtl="0" algn="just">
              <a:lnSpc>
                <a:spcPct val="150000"/>
              </a:lnSpc>
              <a:spcBef>
                <a:spcPts val="0"/>
              </a:spcBef>
              <a:spcAft>
                <a:spcPts val="0"/>
              </a:spcAft>
              <a:buClr>
                <a:srgbClr val="000000"/>
              </a:buClr>
              <a:buSzPts val="2400"/>
              <a:buFont typeface="Times New Roman"/>
              <a:buChar char="●"/>
            </a:pPr>
            <a:r>
              <a:rPr b="1" lang="en-GB" sz="2400">
                <a:solidFill>
                  <a:srgbClr val="000000"/>
                </a:solidFill>
                <a:highlight>
                  <a:schemeClr val="lt1"/>
                </a:highlight>
                <a:latin typeface="Times New Roman"/>
                <a:ea typeface="Times New Roman"/>
                <a:cs typeface="Times New Roman"/>
                <a:sym typeface="Times New Roman"/>
              </a:rPr>
              <a:t>Cache Hit</a:t>
            </a:r>
            <a:endParaRPr sz="1800">
              <a:solidFill>
                <a:srgbClr val="000000"/>
              </a:solidFill>
              <a:highlight>
                <a:srgbClr val="FFFFFF"/>
              </a:highlight>
              <a:latin typeface="Times New Roman"/>
              <a:ea typeface="Times New Roman"/>
              <a:cs typeface="Times New Roman"/>
              <a:sym typeface="Times New Roman"/>
            </a:endParaRPr>
          </a:p>
          <a:p>
            <a:pPr indent="-342900" lvl="1" marL="914400" rtl="0" algn="just">
              <a:lnSpc>
                <a:spcPct val="150000"/>
              </a:lnSpc>
              <a:spcBef>
                <a:spcPts val="0"/>
              </a:spcBef>
              <a:spcAft>
                <a:spcPts val="0"/>
              </a:spcAft>
              <a:buClr>
                <a:srgbClr val="000000"/>
              </a:buClr>
              <a:buSzPts val="1800"/>
              <a:buFont typeface="Times New Roman"/>
              <a:buChar char="○"/>
            </a:pPr>
            <a:r>
              <a:rPr lang="en-GB" sz="1800">
                <a:solidFill>
                  <a:srgbClr val="273239"/>
                </a:solidFill>
                <a:highlight>
                  <a:srgbClr val="FFFFFF"/>
                </a:highlight>
                <a:latin typeface="Times New Roman"/>
                <a:ea typeface="Times New Roman"/>
                <a:cs typeface="Times New Roman"/>
                <a:sym typeface="Times New Roman"/>
              </a:rPr>
              <a:t>When the CPU finds the required data in the cache memory, allowing for quick access. On searching in the cache if data is found, a cache hit has occurred.</a:t>
            </a:r>
            <a:endParaRPr sz="1800">
              <a:solidFill>
                <a:srgbClr val="273239"/>
              </a:solidFill>
              <a:highlight>
                <a:srgbClr val="FFFFFF"/>
              </a:highlight>
              <a:latin typeface="Times New Roman"/>
              <a:ea typeface="Times New Roman"/>
              <a:cs typeface="Times New Roman"/>
              <a:sym typeface="Times New Roman"/>
            </a:endParaRPr>
          </a:p>
          <a:p>
            <a:pPr indent="-342900" lvl="1" marL="914400" rtl="0" algn="just">
              <a:lnSpc>
                <a:spcPct val="150000"/>
              </a:lnSpc>
              <a:spcBef>
                <a:spcPts val="0"/>
              </a:spcBef>
              <a:spcAft>
                <a:spcPts val="0"/>
              </a:spcAft>
              <a:buClr>
                <a:srgbClr val="000000"/>
              </a:buClr>
              <a:buSzPts val="1800"/>
              <a:buFont typeface="Times New Roman"/>
              <a:buChar char="○"/>
            </a:pPr>
            <a:r>
              <a:rPr lang="en-GB" sz="1800">
                <a:solidFill>
                  <a:srgbClr val="000000"/>
                </a:solidFill>
                <a:highlight>
                  <a:schemeClr val="lt1"/>
                </a:highlight>
                <a:latin typeface="Times New Roman"/>
                <a:ea typeface="Times New Roman"/>
                <a:cs typeface="Times New Roman"/>
                <a:sym typeface="Times New Roman"/>
              </a:rPr>
              <a:t>Results in fast data access with no delay.</a:t>
            </a:r>
            <a:endParaRPr sz="1800">
              <a:solidFill>
                <a:srgbClr val="273239"/>
              </a:solidFill>
              <a:highlight>
                <a:srgbClr val="FFFFFF"/>
              </a:highlight>
              <a:latin typeface="Times New Roman"/>
              <a:ea typeface="Times New Roman"/>
              <a:cs typeface="Times New Roman"/>
              <a:sym typeface="Times New Roman"/>
            </a:endParaRPr>
          </a:p>
        </p:txBody>
      </p:sp>
      <p:pic>
        <p:nvPicPr>
          <p:cNvPr id="165" name="Google Shape;165;p34" title="Screenshot 2025-11-27 074036.png"/>
          <p:cNvPicPr preferRelativeResize="0"/>
          <p:nvPr/>
        </p:nvPicPr>
        <p:blipFill>
          <a:blip r:embed="rId3">
            <a:alphaModFix/>
          </a:blip>
          <a:stretch>
            <a:fillRect/>
          </a:stretch>
        </p:blipFill>
        <p:spPr>
          <a:xfrm>
            <a:off x="3436825" y="2571750"/>
            <a:ext cx="5468925" cy="2143125"/>
          </a:xfrm>
          <a:prstGeom prst="rect">
            <a:avLst/>
          </a:prstGeom>
          <a:noFill/>
          <a:ln>
            <a:noFill/>
          </a:ln>
        </p:spPr>
      </p:pic>
      <p:pic>
        <p:nvPicPr>
          <p:cNvPr id="166" name="Google Shape;166;p34" title="Screenshot 2025-11-27 074041.png"/>
          <p:cNvPicPr preferRelativeResize="0"/>
          <p:nvPr/>
        </p:nvPicPr>
        <p:blipFill>
          <a:blip r:embed="rId4">
            <a:alphaModFix/>
          </a:blip>
          <a:stretch>
            <a:fillRect/>
          </a:stretch>
        </p:blipFill>
        <p:spPr>
          <a:xfrm>
            <a:off x="5598875" y="2126113"/>
            <a:ext cx="1562100" cy="63817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35"/>
          <p:cNvSpPr txBox="1"/>
          <p:nvPr>
            <p:ph idx="1" type="body"/>
          </p:nvPr>
        </p:nvSpPr>
        <p:spPr>
          <a:xfrm>
            <a:off x="311700" y="522800"/>
            <a:ext cx="8729700" cy="4467000"/>
          </a:xfrm>
          <a:prstGeom prst="rect">
            <a:avLst/>
          </a:prstGeom>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381000" lvl="0" marL="457200" rtl="0" algn="just">
              <a:lnSpc>
                <a:spcPct val="150000"/>
              </a:lnSpc>
              <a:spcBef>
                <a:spcPts val="0"/>
              </a:spcBef>
              <a:spcAft>
                <a:spcPts val="0"/>
              </a:spcAft>
              <a:buClr>
                <a:srgbClr val="000000"/>
              </a:buClr>
              <a:buSzPts val="2400"/>
              <a:buFont typeface="Times New Roman"/>
              <a:buChar char="●"/>
            </a:pPr>
            <a:r>
              <a:rPr b="1" lang="en-GB" sz="2400">
                <a:solidFill>
                  <a:srgbClr val="000000"/>
                </a:solidFill>
                <a:highlight>
                  <a:schemeClr val="lt1"/>
                </a:highlight>
                <a:latin typeface="Times New Roman"/>
                <a:ea typeface="Times New Roman"/>
                <a:cs typeface="Times New Roman"/>
                <a:sym typeface="Times New Roman"/>
              </a:rPr>
              <a:t>Cache Miss</a:t>
            </a:r>
            <a:endParaRPr sz="2400">
              <a:solidFill>
                <a:srgbClr val="000000"/>
              </a:solidFill>
              <a:highlight>
                <a:srgbClr val="FFFFFF"/>
              </a:highlight>
              <a:latin typeface="Times New Roman"/>
              <a:ea typeface="Times New Roman"/>
              <a:cs typeface="Times New Roman"/>
              <a:sym typeface="Times New Roman"/>
            </a:endParaRPr>
          </a:p>
          <a:p>
            <a:pPr indent="-342900" lvl="1" marL="914400" rtl="0" algn="just">
              <a:lnSpc>
                <a:spcPct val="150000"/>
              </a:lnSpc>
              <a:spcBef>
                <a:spcPts val="0"/>
              </a:spcBef>
              <a:spcAft>
                <a:spcPts val="0"/>
              </a:spcAft>
              <a:buClr>
                <a:srgbClr val="000000"/>
              </a:buClr>
              <a:buSzPts val="1800"/>
              <a:buFont typeface="Times New Roman"/>
              <a:buChar char="○"/>
            </a:pPr>
            <a:r>
              <a:rPr lang="en-GB" sz="1800">
                <a:solidFill>
                  <a:srgbClr val="273239"/>
                </a:solidFill>
                <a:highlight>
                  <a:srgbClr val="FFFFFF"/>
                </a:highlight>
                <a:latin typeface="Times New Roman"/>
                <a:ea typeface="Times New Roman"/>
                <a:cs typeface="Times New Roman"/>
                <a:sym typeface="Times New Roman"/>
              </a:rPr>
              <a:t>When the required data is not found in the cache, forcing the CPU to retrieve it from the slower main memory. On searching in the cache if data is not found, a cache miss has occurred.</a:t>
            </a:r>
            <a:endParaRPr sz="1800">
              <a:solidFill>
                <a:srgbClr val="273239"/>
              </a:solidFill>
              <a:highlight>
                <a:srgbClr val="FFFFFF"/>
              </a:highlight>
              <a:latin typeface="Times New Roman"/>
              <a:ea typeface="Times New Roman"/>
              <a:cs typeface="Times New Roman"/>
              <a:sym typeface="Times New Roman"/>
            </a:endParaRPr>
          </a:p>
          <a:p>
            <a:pPr indent="-342900" lvl="1" marL="914400" rtl="0" algn="just">
              <a:lnSpc>
                <a:spcPct val="150000"/>
              </a:lnSpc>
              <a:spcBef>
                <a:spcPts val="0"/>
              </a:spcBef>
              <a:spcAft>
                <a:spcPts val="0"/>
              </a:spcAft>
              <a:buClr>
                <a:srgbClr val="273239"/>
              </a:buClr>
              <a:buSzPts val="1800"/>
              <a:buFont typeface="Times New Roman"/>
              <a:buChar char="○"/>
            </a:pPr>
            <a:r>
              <a:rPr lang="en-GB" sz="1800">
                <a:solidFill>
                  <a:srgbClr val="000000"/>
                </a:solidFill>
                <a:highlight>
                  <a:schemeClr val="lt1"/>
                </a:highlight>
                <a:latin typeface="Times New Roman"/>
                <a:ea typeface="Times New Roman"/>
                <a:cs typeface="Times New Roman"/>
                <a:sym typeface="Times New Roman"/>
              </a:rPr>
              <a:t>Results in </a:t>
            </a:r>
            <a:r>
              <a:rPr lang="en-GB" sz="1800">
                <a:solidFill>
                  <a:srgbClr val="273239"/>
                </a:solidFill>
                <a:highlight>
                  <a:srgbClr val="FFFFFF"/>
                </a:highlight>
                <a:latin typeface="Times New Roman"/>
                <a:ea typeface="Times New Roman"/>
                <a:cs typeface="Times New Roman"/>
                <a:sym typeface="Times New Roman"/>
              </a:rPr>
              <a:t>slower access.</a:t>
            </a:r>
            <a:endParaRPr sz="1800">
              <a:solidFill>
                <a:srgbClr val="273239"/>
              </a:solidFill>
              <a:highlight>
                <a:srgbClr val="FFFFFF"/>
              </a:highlight>
              <a:latin typeface="Times New Roman"/>
              <a:ea typeface="Times New Roman"/>
              <a:cs typeface="Times New Roman"/>
              <a:sym typeface="Times New Roman"/>
            </a:endParaRPr>
          </a:p>
        </p:txBody>
      </p:sp>
      <p:pic>
        <p:nvPicPr>
          <p:cNvPr id="172" name="Google Shape;172;p35"/>
          <p:cNvPicPr preferRelativeResize="0"/>
          <p:nvPr/>
        </p:nvPicPr>
        <p:blipFill>
          <a:blip r:embed="rId3">
            <a:alphaModFix/>
          </a:blip>
          <a:stretch>
            <a:fillRect/>
          </a:stretch>
        </p:blipFill>
        <p:spPr>
          <a:xfrm>
            <a:off x="682325" y="2814900"/>
            <a:ext cx="8084576" cy="186755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36"/>
          <p:cNvSpPr txBox="1"/>
          <p:nvPr>
            <p:ph type="title"/>
          </p:nvPr>
        </p:nvSpPr>
        <p:spPr>
          <a:xfrm>
            <a:off x="243000" y="0"/>
            <a:ext cx="8589300" cy="4383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178" name="Google Shape;178;p36"/>
          <p:cNvSpPr txBox="1"/>
          <p:nvPr>
            <p:ph idx="1" type="body"/>
          </p:nvPr>
        </p:nvSpPr>
        <p:spPr>
          <a:xfrm>
            <a:off x="311700" y="522800"/>
            <a:ext cx="8729700" cy="4467000"/>
          </a:xfrm>
          <a:prstGeom prst="rect">
            <a:avLst/>
          </a:prstGeom>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400050" lvl="0" marL="457200" rtl="0" algn="l">
              <a:lnSpc>
                <a:spcPct val="150000"/>
              </a:lnSpc>
              <a:spcBef>
                <a:spcPts val="0"/>
              </a:spcBef>
              <a:spcAft>
                <a:spcPts val="0"/>
              </a:spcAft>
              <a:buClr>
                <a:srgbClr val="000000"/>
              </a:buClr>
              <a:buSzPts val="2700"/>
              <a:buFont typeface="Times New Roman"/>
              <a:buChar char="●"/>
            </a:pPr>
            <a:r>
              <a:rPr b="1" lang="en-GB" sz="2700">
                <a:solidFill>
                  <a:srgbClr val="273239"/>
                </a:solidFill>
                <a:latin typeface="Times New Roman"/>
                <a:ea typeface="Times New Roman"/>
                <a:cs typeface="Times New Roman"/>
                <a:sym typeface="Times New Roman"/>
              </a:rPr>
              <a:t>Hit Ratio</a:t>
            </a:r>
            <a:endParaRPr sz="2700">
              <a:solidFill>
                <a:srgbClr val="000000"/>
              </a:solidFill>
              <a:highlight>
                <a:srgbClr val="FFFFFF"/>
              </a:highlight>
              <a:latin typeface="Times New Roman"/>
              <a:ea typeface="Times New Roman"/>
              <a:cs typeface="Times New Roman"/>
              <a:sym typeface="Times New Roman"/>
            </a:endParaRPr>
          </a:p>
          <a:p>
            <a:pPr indent="-342900" lvl="1" marL="914400" rtl="0" algn="l">
              <a:lnSpc>
                <a:spcPct val="150000"/>
              </a:lnSpc>
              <a:spcBef>
                <a:spcPts val="0"/>
              </a:spcBef>
              <a:spcAft>
                <a:spcPts val="0"/>
              </a:spcAft>
              <a:buClr>
                <a:srgbClr val="273239"/>
              </a:buClr>
              <a:buSzPts val="1800"/>
              <a:buFont typeface="Nunito"/>
              <a:buChar char="○"/>
            </a:pPr>
            <a:r>
              <a:rPr lang="en-GB" sz="1800">
                <a:solidFill>
                  <a:srgbClr val="273239"/>
                </a:solidFill>
                <a:latin typeface="Times New Roman"/>
                <a:ea typeface="Times New Roman"/>
                <a:cs typeface="Times New Roman"/>
                <a:sym typeface="Times New Roman"/>
              </a:rPr>
              <a:t>Performance of cache is measured by the number of cache hits to the number of searches. This parameter of measuring performance is known as the </a:t>
            </a:r>
            <a:r>
              <a:rPr b="1" lang="en-GB" sz="1800">
                <a:solidFill>
                  <a:srgbClr val="273239"/>
                </a:solidFill>
                <a:latin typeface="Times New Roman"/>
                <a:ea typeface="Times New Roman"/>
                <a:cs typeface="Times New Roman"/>
                <a:sym typeface="Times New Roman"/>
              </a:rPr>
              <a:t>Hit Ratio.</a:t>
            </a:r>
            <a:endParaRPr b="1" sz="1800">
              <a:solidFill>
                <a:srgbClr val="273239"/>
              </a:solidFill>
              <a:latin typeface="Times New Roman"/>
              <a:ea typeface="Times New Roman"/>
              <a:cs typeface="Times New Roman"/>
              <a:sym typeface="Times New Roman"/>
            </a:endParaRPr>
          </a:p>
          <a:p>
            <a:pPr indent="-342900" lvl="1" marL="914400" rtl="0" algn="l">
              <a:lnSpc>
                <a:spcPct val="158000"/>
              </a:lnSpc>
              <a:spcBef>
                <a:spcPts val="0"/>
              </a:spcBef>
              <a:spcAft>
                <a:spcPts val="0"/>
              </a:spcAft>
              <a:buClr>
                <a:srgbClr val="273239"/>
              </a:buClr>
              <a:buSzPts val="1800"/>
              <a:buFont typeface="Times New Roman"/>
              <a:buChar char="○"/>
            </a:pPr>
            <a:r>
              <a:rPr lang="en-GB" sz="1800">
                <a:solidFill>
                  <a:srgbClr val="273239"/>
                </a:solidFill>
                <a:latin typeface="Times New Roman"/>
                <a:ea typeface="Times New Roman"/>
                <a:cs typeface="Times New Roman"/>
                <a:sym typeface="Times New Roman"/>
              </a:rPr>
              <a:t>Hit ratio = (Number of cache hits)/(Number of searches).</a:t>
            </a:r>
            <a:endParaRPr sz="1800">
              <a:solidFill>
                <a:srgbClr val="273239"/>
              </a:solidFill>
              <a:highlight>
                <a:srgbClr val="FFFFFF"/>
              </a:highlight>
              <a:latin typeface="Times New Roman"/>
              <a:ea typeface="Times New Roman"/>
              <a:cs typeface="Times New Roman"/>
              <a:sym typeface="Times New Roman"/>
            </a:endParaRPr>
          </a:p>
          <a:p>
            <a:pPr indent="-342900" lvl="1" marL="914400" rtl="0" algn="just">
              <a:lnSpc>
                <a:spcPct val="150000"/>
              </a:lnSpc>
              <a:spcBef>
                <a:spcPts val="0"/>
              </a:spcBef>
              <a:spcAft>
                <a:spcPts val="0"/>
              </a:spcAft>
              <a:buClr>
                <a:srgbClr val="273239"/>
              </a:buClr>
              <a:buSzPts val="1800"/>
              <a:buFont typeface="Times New Roman"/>
              <a:buChar char="○"/>
            </a:pPr>
            <a:r>
              <a:rPr lang="en-GB" sz="1800">
                <a:solidFill>
                  <a:srgbClr val="000000"/>
                </a:solidFill>
                <a:highlight>
                  <a:schemeClr val="lt1"/>
                </a:highlight>
                <a:latin typeface="Times New Roman"/>
                <a:ea typeface="Times New Roman"/>
                <a:cs typeface="Times New Roman"/>
                <a:sym typeface="Times New Roman"/>
              </a:rPr>
              <a:t>Higher hit ratio = better cache performance.</a:t>
            </a:r>
            <a:endParaRPr sz="1800">
              <a:solidFill>
                <a:srgbClr val="000000"/>
              </a:solidFill>
              <a:highlight>
                <a:schemeClr val="lt1"/>
              </a:highlight>
              <a:latin typeface="Times New Roman"/>
              <a:ea typeface="Times New Roman"/>
              <a:cs typeface="Times New Roman"/>
              <a:sym typeface="Times New Roman"/>
            </a:endParaRPr>
          </a:p>
          <a:p>
            <a:pPr indent="-342900" lvl="1" marL="914400" rtl="0" algn="just">
              <a:lnSpc>
                <a:spcPct val="150000"/>
              </a:lnSpc>
              <a:spcBef>
                <a:spcPts val="0"/>
              </a:spcBef>
              <a:spcAft>
                <a:spcPts val="0"/>
              </a:spcAft>
              <a:buClr>
                <a:srgbClr val="000000"/>
              </a:buClr>
              <a:buSzPts val="1800"/>
              <a:buFont typeface="Times New Roman"/>
              <a:buChar char="○"/>
            </a:pPr>
            <a:r>
              <a:rPr lang="en-GB" sz="1800">
                <a:solidFill>
                  <a:srgbClr val="000000"/>
                </a:solidFill>
                <a:highlight>
                  <a:schemeClr val="lt1"/>
                </a:highlight>
                <a:latin typeface="Times New Roman"/>
                <a:ea typeface="Times New Roman"/>
                <a:cs typeface="Times New Roman"/>
                <a:sym typeface="Times New Roman"/>
              </a:rPr>
              <a:t>Hit ratio improves with good locality, larger cache size, and efficient replacement policies.</a:t>
            </a:r>
            <a:endParaRPr sz="1800">
              <a:solidFill>
                <a:srgbClr val="000000"/>
              </a:solidFill>
              <a:highlight>
                <a:schemeClr val="lt1"/>
              </a:highlight>
              <a:latin typeface="Times New Roman"/>
              <a:ea typeface="Times New Roman"/>
              <a:cs typeface="Times New Roman"/>
              <a:sym typeface="Times New Roman"/>
            </a:endParaRPr>
          </a:p>
          <a:p>
            <a:pPr indent="-342900" lvl="1" marL="914400" rtl="0" algn="just">
              <a:lnSpc>
                <a:spcPct val="150000"/>
              </a:lnSpc>
              <a:spcBef>
                <a:spcPts val="0"/>
              </a:spcBef>
              <a:spcAft>
                <a:spcPts val="0"/>
              </a:spcAft>
              <a:buClr>
                <a:srgbClr val="000000"/>
              </a:buClr>
              <a:buSzPts val="1800"/>
              <a:buFont typeface="Times New Roman"/>
              <a:buChar char="○"/>
            </a:pPr>
            <a:r>
              <a:rPr lang="en-GB" sz="1800">
                <a:solidFill>
                  <a:srgbClr val="000000"/>
                </a:solidFill>
                <a:highlight>
                  <a:schemeClr val="lt1"/>
                </a:highlight>
                <a:latin typeface="Times New Roman"/>
                <a:ea typeface="Times New Roman"/>
                <a:cs typeface="Times New Roman"/>
                <a:sym typeface="Times New Roman"/>
              </a:rPr>
              <a:t>Hit Ratio measures how often the CPU successfully finds data in the cache.</a:t>
            </a:r>
            <a:endParaRPr sz="1800">
              <a:solidFill>
                <a:srgbClr val="000000"/>
              </a:solidFill>
              <a:highlight>
                <a:schemeClr val="lt1"/>
              </a:highlight>
              <a:latin typeface="Times New Roman"/>
              <a:ea typeface="Times New Roman"/>
              <a:cs typeface="Times New Roman"/>
              <a:sym typeface="Times New Roman"/>
            </a:endParaRPr>
          </a:p>
          <a:p>
            <a:pPr indent="-342900" lvl="1" marL="914400" rtl="0" algn="just">
              <a:lnSpc>
                <a:spcPct val="100000"/>
              </a:lnSpc>
              <a:spcBef>
                <a:spcPts val="0"/>
              </a:spcBef>
              <a:spcAft>
                <a:spcPts val="0"/>
              </a:spcAft>
              <a:buClr>
                <a:srgbClr val="000000"/>
              </a:buClr>
              <a:buSzPts val="1800"/>
              <a:buFont typeface="Times New Roman"/>
              <a:buChar char="○"/>
            </a:pPr>
            <a:r>
              <a:rPr lang="en-GB" sz="1800">
                <a:solidFill>
                  <a:srgbClr val="000000"/>
                </a:solidFill>
                <a:highlight>
                  <a:schemeClr val="lt1"/>
                </a:highlight>
                <a:latin typeface="Times New Roman"/>
                <a:ea typeface="Times New Roman"/>
                <a:cs typeface="Times New Roman"/>
                <a:sym typeface="Times New Roman"/>
              </a:rPr>
              <a:t>Designers use hit ratio to analyze cache performance and optimize hardware for better speed.</a:t>
            </a:r>
            <a:endParaRPr sz="1800">
              <a:solidFill>
                <a:srgbClr val="000000"/>
              </a:solidFill>
              <a:highlight>
                <a:schemeClr val="lt1"/>
              </a:highlight>
              <a:latin typeface="Times New Roman"/>
              <a:ea typeface="Times New Roman"/>
              <a:cs typeface="Times New Roman"/>
              <a:sym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37"/>
          <p:cNvSpPr txBox="1"/>
          <p:nvPr>
            <p:ph type="title"/>
          </p:nvPr>
        </p:nvSpPr>
        <p:spPr>
          <a:xfrm>
            <a:off x="243000" y="0"/>
            <a:ext cx="8589300" cy="4383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Data writing policies</a:t>
            </a:r>
            <a:endParaRPr/>
          </a:p>
          <a:p>
            <a:pPr indent="0" lvl="0" marL="0" rtl="0" algn="l">
              <a:spcBef>
                <a:spcPts val="0"/>
              </a:spcBef>
              <a:spcAft>
                <a:spcPts val="0"/>
              </a:spcAft>
              <a:buNone/>
            </a:pPr>
            <a:r>
              <a:t/>
            </a:r>
            <a:endParaRPr/>
          </a:p>
        </p:txBody>
      </p:sp>
      <p:sp>
        <p:nvSpPr>
          <p:cNvPr id="184" name="Google Shape;184;p37"/>
          <p:cNvSpPr txBox="1"/>
          <p:nvPr>
            <p:ph idx="1" type="body"/>
          </p:nvPr>
        </p:nvSpPr>
        <p:spPr>
          <a:xfrm>
            <a:off x="311700" y="522800"/>
            <a:ext cx="8729700" cy="4467000"/>
          </a:xfrm>
          <a:prstGeom prst="rect">
            <a:avLst/>
          </a:prstGeom>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342900" lvl="0" marL="457200" rtl="0" algn="just">
              <a:lnSpc>
                <a:spcPct val="115000"/>
              </a:lnSpc>
              <a:spcBef>
                <a:spcPts val="0"/>
              </a:spcBef>
              <a:spcAft>
                <a:spcPts val="0"/>
              </a:spcAft>
              <a:buClr>
                <a:srgbClr val="000000"/>
              </a:buClr>
              <a:buSzPts val="1800"/>
              <a:buFont typeface="Times New Roman"/>
              <a:buChar char="●"/>
            </a:pPr>
            <a:r>
              <a:rPr lang="en-GB">
                <a:solidFill>
                  <a:srgbClr val="000000"/>
                </a:solidFill>
                <a:highlight>
                  <a:schemeClr val="lt1"/>
                </a:highlight>
                <a:latin typeface="Times New Roman"/>
                <a:ea typeface="Times New Roman"/>
                <a:cs typeface="Times New Roman"/>
                <a:sym typeface="Times New Roman"/>
              </a:rPr>
              <a:t>Data can be written to memory using a variety of techniques, but the two main ones involving cache memory are the following: </a:t>
            </a:r>
            <a:endParaRPr b="1" sz="2400">
              <a:solidFill>
                <a:srgbClr val="000000"/>
              </a:solidFill>
              <a:highlight>
                <a:schemeClr val="lt1"/>
              </a:highlight>
              <a:latin typeface="Times New Roman"/>
              <a:ea typeface="Times New Roman"/>
              <a:cs typeface="Times New Roman"/>
              <a:sym typeface="Times New Roman"/>
            </a:endParaRPr>
          </a:p>
          <a:p>
            <a:pPr indent="-317500" lvl="1" marL="914400" rtl="0" algn="just">
              <a:lnSpc>
                <a:spcPct val="115000"/>
              </a:lnSpc>
              <a:spcBef>
                <a:spcPts val="0"/>
              </a:spcBef>
              <a:spcAft>
                <a:spcPts val="0"/>
              </a:spcAft>
              <a:buClr>
                <a:srgbClr val="000000"/>
              </a:buClr>
              <a:buSzPts val="1400"/>
              <a:buFont typeface="Times New Roman"/>
              <a:buChar char="○"/>
            </a:pPr>
            <a:r>
              <a:rPr b="1" lang="en-GB" sz="2400">
                <a:solidFill>
                  <a:srgbClr val="000000"/>
                </a:solidFill>
                <a:highlight>
                  <a:schemeClr val="lt1"/>
                </a:highlight>
                <a:latin typeface="Times New Roman"/>
                <a:ea typeface="Times New Roman"/>
                <a:cs typeface="Times New Roman"/>
                <a:sym typeface="Times New Roman"/>
              </a:rPr>
              <a:t>Write-through: </a:t>
            </a:r>
            <a:endParaRPr b="1" sz="2400">
              <a:solidFill>
                <a:srgbClr val="000000"/>
              </a:solidFill>
              <a:highlight>
                <a:schemeClr val="lt1"/>
              </a:highlight>
              <a:latin typeface="Times New Roman"/>
              <a:ea typeface="Times New Roman"/>
              <a:cs typeface="Times New Roman"/>
              <a:sym typeface="Times New Roman"/>
            </a:endParaRPr>
          </a:p>
          <a:p>
            <a:pPr indent="-342900" lvl="2" marL="1371600" rtl="0" algn="just">
              <a:lnSpc>
                <a:spcPct val="115000"/>
              </a:lnSpc>
              <a:spcBef>
                <a:spcPts val="0"/>
              </a:spcBef>
              <a:spcAft>
                <a:spcPts val="0"/>
              </a:spcAft>
              <a:buClr>
                <a:srgbClr val="000000"/>
              </a:buClr>
              <a:buSzPts val="1800"/>
              <a:buFont typeface="Times New Roman"/>
              <a:buChar char="■"/>
            </a:pPr>
            <a:r>
              <a:rPr lang="en-GB" sz="1800">
                <a:solidFill>
                  <a:srgbClr val="000000"/>
                </a:solidFill>
                <a:highlight>
                  <a:schemeClr val="lt1"/>
                </a:highlight>
                <a:latin typeface="Times New Roman"/>
                <a:ea typeface="Times New Roman"/>
                <a:cs typeface="Times New Roman"/>
                <a:sym typeface="Times New Roman"/>
              </a:rPr>
              <a:t>In the write-through policy, Data is written to both the cache and main memory simultaneously.</a:t>
            </a:r>
            <a:r>
              <a:rPr lang="en-GB" sz="1800">
                <a:solidFill>
                  <a:srgbClr val="273239"/>
                </a:solidFill>
                <a:highlight>
                  <a:srgbClr val="FFFFFF"/>
                </a:highlight>
                <a:latin typeface="Times New Roman"/>
                <a:ea typeface="Times New Roman"/>
                <a:cs typeface="Times New Roman"/>
                <a:sym typeface="Times New Roman"/>
              </a:rPr>
              <a:t> </a:t>
            </a:r>
            <a:endParaRPr sz="1800">
              <a:solidFill>
                <a:srgbClr val="273239"/>
              </a:solidFill>
              <a:highlight>
                <a:srgbClr val="FFFFFF"/>
              </a:highlight>
              <a:latin typeface="Times New Roman"/>
              <a:ea typeface="Times New Roman"/>
              <a:cs typeface="Times New Roman"/>
              <a:sym typeface="Times New Roman"/>
            </a:endParaRPr>
          </a:p>
          <a:p>
            <a:pPr indent="-342900" lvl="2" marL="1371600" rtl="0" algn="l">
              <a:lnSpc>
                <a:spcPct val="115000"/>
              </a:lnSpc>
              <a:spcBef>
                <a:spcPts val="0"/>
              </a:spcBef>
              <a:spcAft>
                <a:spcPts val="0"/>
              </a:spcAft>
              <a:buClr>
                <a:srgbClr val="000000"/>
              </a:buClr>
              <a:buSzPts val="1800"/>
              <a:buFont typeface="Times New Roman"/>
              <a:buChar char="■"/>
            </a:pPr>
            <a:r>
              <a:rPr lang="en-GB" sz="1800">
                <a:solidFill>
                  <a:srgbClr val="000000"/>
                </a:solidFill>
                <a:highlight>
                  <a:schemeClr val="lt1"/>
                </a:highlight>
                <a:latin typeface="Times New Roman"/>
                <a:ea typeface="Times New Roman"/>
                <a:cs typeface="Times New Roman"/>
                <a:sym typeface="Times New Roman"/>
              </a:rPr>
              <a:t>This ensures data consistency between the cache and main memory at the cost of higher write latency.</a:t>
            </a:r>
            <a:endParaRPr sz="1800">
              <a:solidFill>
                <a:srgbClr val="000000"/>
              </a:solidFill>
              <a:highlight>
                <a:schemeClr val="lt1"/>
              </a:highlight>
              <a:latin typeface="Times New Roman"/>
              <a:ea typeface="Times New Roman"/>
              <a:cs typeface="Times New Roman"/>
              <a:sym typeface="Times New Roman"/>
            </a:endParaRPr>
          </a:p>
          <a:p>
            <a:pPr indent="-342900" lvl="2" marL="1371600" rtl="0" algn="l">
              <a:lnSpc>
                <a:spcPct val="158000"/>
              </a:lnSpc>
              <a:spcBef>
                <a:spcPts val="0"/>
              </a:spcBef>
              <a:spcAft>
                <a:spcPts val="0"/>
              </a:spcAft>
              <a:buClr>
                <a:srgbClr val="273239"/>
              </a:buClr>
              <a:buSzPts val="1800"/>
              <a:buFont typeface="Times New Roman"/>
              <a:buChar char="■"/>
            </a:pPr>
            <a:r>
              <a:rPr lang="en-GB" sz="1800">
                <a:solidFill>
                  <a:srgbClr val="273239"/>
                </a:solidFill>
                <a:highlight>
                  <a:srgbClr val="FFFFFF"/>
                </a:highlight>
                <a:latin typeface="Times New Roman"/>
                <a:ea typeface="Times New Roman"/>
                <a:cs typeface="Times New Roman"/>
                <a:sym typeface="Times New Roman"/>
              </a:rPr>
              <a:t>Slower write operations due to simultaneous writes.</a:t>
            </a:r>
            <a:endParaRPr sz="1800">
              <a:solidFill>
                <a:srgbClr val="000000"/>
              </a:solidFill>
              <a:highlight>
                <a:schemeClr val="lt1"/>
              </a:highlight>
              <a:latin typeface="Times New Roman"/>
              <a:ea typeface="Times New Roman"/>
              <a:cs typeface="Times New Roman"/>
              <a:sym typeface="Times New Roman"/>
            </a:endParaRPr>
          </a:p>
          <a:p>
            <a:pPr indent="0" lvl="0" marL="0" rtl="0" algn="just">
              <a:lnSpc>
                <a:spcPct val="100000"/>
              </a:lnSpc>
              <a:spcBef>
                <a:spcPts val="1800"/>
              </a:spcBef>
              <a:spcAft>
                <a:spcPts val="3000"/>
              </a:spcAft>
              <a:buNone/>
            </a:pPr>
            <a:r>
              <a:t/>
            </a:r>
            <a:endParaRPr sz="1800">
              <a:solidFill>
                <a:srgbClr val="000000"/>
              </a:solidFill>
              <a:latin typeface="Times New Roman"/>
              <a:ea typeface="Times New Roman"/>
              <a:cs typeface="Times New Roman"/>
              <a:sym typeface="Times New Roman"/>
            </a:endParaRPr>
          </a:p>
        </p:txBody>
      </p:sp>
      <p:pic>
        <p:nvPicPr>
          <p:cNvPr id="185" name="Google Shape;185;p37"/>
          <p:cNvPicPr preferRelativeResize="0"/>
          <p:nvPr/>
        </p:nvPicPr>
        <p:blipFill>
          <a:blip r:embed="rId3">
            <a:alphaModFix/>
          </a:blip>
          <a:stretch>
            <a:fillRect/>
          </a:stretch>
        </p:blipFill>
        <p:spPr>
          <a:xfrm>
            <a:off x="2098975" y="3339200"/>
            <a:ext cx="6733325" cy="160905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38"/>
          <p:cNvSpPr txBox="1"/>
          <p:nvPr>
            <p:ph type="title"/>
          </p:nvPr>
        </p:nvSpPr>
        <p:spPr>
          <a:xfrm>
            <a:off x="243000" y="0"/>
            <a:ext cx="8589300" cy="4383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Data writing policies</a:t>
            </a:r>
            <a:endParaRPr/>
          </a:p>
          <a:p>
            <a:pPr indent="0" lvl="0" marL="0" rtl="0" algn="l">
              <a:spcBef>
                <a:spcPts val="0"/>
              </a:spcBef>
              <a:spcAft>
                <a:spcPts val="0"/>
              </a:spcAft>
              <a:buNone/>
            </a:pPr>
            <a:r>
              <a:t/>
            </a:r>
            <a:endParaRPr/>
          </a:p>
        </p:txBody>
      </p:sp>
      <p:sp>
        <p:nvSpPr>
          <p:cNvPr id="191" name="Google Shape;191;p38"/>
          <p:cNvSpPr txBox="1"/>
          <p:nvPr>
            <p:ph idx="1" type="body"/>
          </p:nvPr>
        </p:nvSpPr>
        <p:spPr>
          <a:xfrm>
            <a:off x="311700" y="522800"/>
            <a:ext cx="8729700" cy="4467000"/>
          </a:xfrm>
          <a:prstGeom prst="rect">
            <a:avLst/>
          </a:prstGeom>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342900" lvl="0" marL="457200" rtl="0" algn="just">
              <a:lnSpc>
                <a:spcPct val="100000"/>
              </a:lnSpc>
              <a:spcBef>
                <a:spcPts val="0"/>
              </a:spcBef>
              <a:spcAft>
                <a:spcPts val="0"/>
              </a:spcAft>
              <a:buClr>
                <a:srgbClr val="000000"/>
              </a:buClr>
              <a:buSzPts val="1800"/>
              <a:buFont typeface="Times New Roman"/>
              <a:buChar char="●"/>
            </a:pPr>
            <a:r>
              <a:rPr b="1" lang="en-GB" sz="2400">
                <a:solidFill>
                  <a:srgbClr val="000000"/>
                </a:solidFill>
                <a:highlight>
                  <a:schemeClr val="lt1"/>
                </a:highlight>
                <a:latin typeface="Times New Roman"/>
                <a:ea typeface="Times New Roman"/>
                <a:cs typeface="Times New Roman"/>
                <a:sym typeface="Times New Roman"/>
              </a:rPr>
              <a:t>Write-back: </a:t>
            </a:r>
            <a:endParaRPr>
              <a:solidFill>
                <a:srgbClr val="000000"/>
              </a:solidFill>
              <a:highlight>
                <a:schemeClr val="lt1"/>
              </a:highlight>
              <a:latin typeface="Times New Roman"/>
              <a:ea typeface="Times New Roman"/>
              <a:cs typeface="Times New Roman"/>
              <a:sym typeface="Times New Roman"/>
            </a:endParaRPr>
          </a:p>
          <a:p>
            <a:pPr indent="-317500" lvl="1" marL="914400" rtl="0" algn="just">
              <a:lnSpc>
                <a:spcPct val="100000"/>
              </a:lnSpc>
              <a:spcBef>
                <a:spcPts val="0"/>
              </a:spcBef>
              <a:spcAft>
                <a:spcPts val="0"/>
              </a:spcAft>
              <a:buClr>
                <a:srgbClr val="000000"/>
              </a:buClr>
              <a:buSzPts val="1400"/>
              <a:buFont typeface="Times New Roman"/>
              <a:buChar char="○"/>
            </a:pPr>
            <a:r>
              <a:rPr lang="en-GB" sz="1800">
                <a:solidFill>
                  <a:srgbClr val="273239"/>
                </a:solidFill>
                <a:highlight>
                  <a:srgbClr val="FFFFFF"/>
                </a:highlight>
                <a:latin typeface="Times New Roman"/>
                <a:ea typeface="Times New Roman"/>
                <a:cs typeface="Times New Roman"/>
                <a:sym typeface="Times New Roman"/>
              </a:rPr>
              <a:t>The write-back policy, also known as write-behind, allows data to be written only to the cache initially.</a:t>
            </a:r>
            <a:endParaRPr sz="1800">
              <a:solidFill>
                <a:srgbClr val="273239"/>
              </a:solidFill>
              <a:highlight>
                <a:srgbClr val="FFFFFF"/>
              </a:highlight>
              <a:latin typeface="Times New Roman"/>
              <a:ea typeface="Times New Roman"/>
              <a:cs typeface="Times New Roman"/>
              <a:sym typeface="Times New Roman"/>
            </a:endParaRPr>
          </a:p>
          <a:p>
            <a:pPr indent="-317500" lvl="1" marL="914400" rtl="0" algn="just">
              <a:lnSpc>
                <a:spcPct val="100000"/>
              </a:lnSpc>
              <a:spcBef>
                <a:spcPts val="0"/>
              </a:spcBef>
              <a:spcAft>
                <a:spcPts val="0"/>
              </a:spcAft>
              <a:buClr>
                <a:srgbClr val="000000"/>
              </a:buClr>
              <a:buSzPts val="1400"/>
              <a:buFont typeface="Times New Roman"/>
              <a:buChar char="○"/>
            </a:pPr>
            <a:r>
              <a:rPr lang="en-GB" sz="1800">
                <a:solidFill>
                  <a:srgbClr val="273239"/>
                </a:solidFill>
                <a:highlight>
                  <a:srgbClr val="FFFFFF"/>
                </a:highlight>
                <a:latin typeface="Times New Roman"/>
                <a:ea typeface="Times New Roman"/>
                <a:cs typeface="Times New Roman"/>
                <a:sym typeface="Times New Roman"/>
              </a:rPr>
              <a:t>The modified data is written to the main memory at a later time, either when the cache block is evicted or at specific intervals.</a:t>
            </a:r>
            <a:endParaRPr sz="1800">
              <a:solidFill>
                <a:srgbClr val="000000"/>
              </a:solidFill>
              <a:highlight>
                <a:schemeClr val="lt1"/>
              </a:highlight>
              <a:latin typeface="Times New Roman"/>
              <a:ea typeface="Times New Roman"/>
              <a:cs typeface="Times New Roman"/>
              <a:sym typeface="Times New Roman"/>
            </a:endParaRPr>
          </a:p>
        </p:txBody>
      </p:sp>
      <p:pic>
        <p:nvPicPr>
          <p:cNvPr id="192" name="Google Shape;192;p38"/>
          <p:cNvPicPr preferRelativeResize="0"/>
          <p:nvPr/>
        </p:nvPicPr>
        <p:blipFill>
          <a:blip r:embed="rId3">
            <a:alphaModFix/>
          </a:blip>
          <a:stretch>
            <a:fillRect/>
          </a:stretch>
        </p:blipFill>
        <p:spPr>
          <a:xfrm>
            <a:off x="1047175" y="2571750"/>
            <a:ext cx="7632601" cy="2268025"/>
          </a:xfrm>
          <a:prstGeom prst="rect">
            <a:avLst/>
          </a:prstGeom>
          <a:noFill/>
          <a:ln>
            <a:noFill/>
          </a:ln>
        </p:spPr>
      </p:pic>
      <p:pic>
        <p:nvPicPr>
          <p:cNvPr id="193" name="Google Shape;193;p38" title="Screenshot 2025-11-27 081823.png"/>
          <p:cNvPicPr preferRelativeResize="0"/>
          <p:nvPr/>
        </p:nvPicPr>
        <p:blipFill>
          <a:blip r:embed="rId4">
            <a:alphaModFix/>
          </a:blip>
          <a:stretch>
            <a:fillRect/>
          </a:stretch>
        </p:blipFill>
        <p:spPr>
          <a:xfrm>
            <a:off x="1122700" y="2571750"/>
            <a:ext cx="4848725" cy="5289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39"/>
          <p:cNvSpPr txBox="1"/>
          <p:nvPr>
            <p:ph idx="1" type="body"/>
          </p:nvPr>
        </p:nvSpPr>
        <p:spPr>
          <a:xfrm>
            <a:off x="311700" y="522800"/>
            <a:ext cx="8729700" cy="4467000"/>
          </a:xfrm>
          <a:prstGeom prst="rect">
            <a:avLst/>
          </a:prstGeom>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381000" lvl="0" marL="457200" rtl="0" algn="just">
              <a:spcBef>
                <a:spcPts val="0"/>
              </a:spcBef>
              <a:spcAft>
                <a:spcPts val="0"/>
              </a:spcAft>
              <a:buClr>
                <a:srgbClr val="000000"/>
              </a:buClr>
              <a:buSzPts val="2400"/>
              <a:buFont typeface="Times New Roman"/>
              <a:buChar char="●"/>
            </a:pPr>
            <a:r>
              <a:rPr b="1" lang="en-GB" sz="2400">
                <a:solidFill>
                  <a:srgbClr val="273239"/>
                </a:solidFill>
                <a:highlight>
                  <a:srgbClr val="F9F9F9"/>
                </a:highlight>
                <a:latin typeface="Times New Roman"/>
                <a:ea typeface="Times New Roman"/>
                <a:cs typeface="Times New Roman"/>
                <a:sym typeface="Times New Roman"/>
              </a:rPr>
              <a:t>Write-Allocate (Fetch-on-Write)</a:t>
            </a:r>
            <a:r>
              <a:rPr b="1" lang="en-GB" sz="2400">
                <a:solidFill>
                  <a:srgbClr val="000000"/>
                </a:solidFill>
                <a:highlight>
                  <a:schemeClr val="lt1"/>
                </a:highlight>
                <a:latin typeface="Times New Roman"/>
                <a:ea typeface="Times New Roman"/>
                <a:cs typeface="Times New Roman"/>
                <a:sym typeface="Times New Roman"/>
              </a:rPr>
              <a:t>: </a:t>
            </a:r>
            <a:endParaRPr sz="2400">
              <a:solidFill>
                <a:srgbClr val="000000"/>
              </a:solidFill>
              <a:highlight>
                <a:schemeClr val="lt1"/>
              </a:highlight>
              <a:latin typeface="Times New Roman"/>
              <a:ea typeface="Times New Roman"/>
              <a:cs typeface="Times New Roman"/>
              <a:sym typeface="Times New Roman"/>
            </a:endParaRPr>
          </a:p>
          <a:p>
            <a:pPr indent="-342900" lvl="1" marL="914400" rtl="0" algn="just">
              <a:lnSpc>
                <a:spcPct val="150000"/>
              </a:lnSpc>
              <a:spcBef>
                <a:spcPts val="0"/>
              </a:spcBef>
              <a:spcAft>
                <a:spcPts val="0"/>
              </a:spcAft>
              <a:buClr>
                <a:srgbClr val="000000"/>
              </a:buClr>
              <a:buSzPts val="1800"/>
              <a:buFont typeface="Times New Roman"/>
              <a:buChar char="○"/>
            </a:pPr>
            <a:r>
              <a:rPr lang="en-GB" sz="1800">
                <a:solidFill>
                  <a:srgbClr val="273239"/>
                </a:solidFill>
                <a:highlight>
                  <a:srgbClr val="FFFFFF"/>
                </a:highlight>
                <a:latin typeface="Times New Roman"/>
                <a:ea typeface="Times New Roman"/>
                <a:cs typeface="Times New Roman"/>
                <a:sym typeface="Times New Roman"/>
              </a:rPr>
              <a:t>On a write miss, the block is loaded into the cache, then the write is performed.</a:t>
            </a:r>
            <a:endParaRPr b="1" sz="2400">
              <a:solidFill>
                <a:srgbClr val="273239"/>
              </a:solidFill>
              <a:highlight>
                <a:srgbClr val="F9F9F9"/>
              </a:highlight>
              <a:latin typeface="Times New Roman"/>
              <a:ea typeface="Times New Roman"/>
              <a:cs typeface="Times New Roman"/>
              <a:sym typeface="Times New Roman"/>
            </a:endParaRPr>
          </a:p>
          <a:p>
            <a:pPr indent="-381000" lvl="0" marL="457200" rtl="0" algn="just">
              <a:lnSpc>
                <a:spcPct val="115000"/>
              </a:lnSpc>
              <a:spcBef>
                <a:spcPts val="0"/>
              </a:spcBef>
              <a:spcAft>
                <a:spcPts val="0"/>
              </a:spcAft>
              <a:buClr>
                <a:srgbClr val="000000"/>
              </a:buClr>
              <a:buSzPts val="2400"/>
              <a:buFont typeface="Times New Roman"/>
              <a:buChar char="●"/>
            </a:pPr>
            <a:r>
              <a:rPr b="1" lang="en-GB" sz="2400">
                <a:solidFill>
                  <a:srgbClr val="273239"/>
                </a:solidFill>
                <a:highlight>
                  <a:srgbClr val="F9F9F9"/>
                </a:highlight>
                <a:latin typeface="Times New Roman"/>
                <a:ea typeface="Times New Roman"/>
                <a:cs typeface="Times New Roman"/>
                <a:sym typeface="Times New Roman"/>
              </a:rPr>
              <a:t>No-Write-Allocate (Write-No-Allocate)</a:t>
            </a:r>
            <a:endParaRPr b="1" sz="2400">
              <a:solidFill>
                <a:srgbClr val="273239"/>
              </a:solidFill>
              <a:highlight>
                <a:srgbClr val="F9F9F9"/>
              </a:highlight>
              <a:latin typeface="Times New Roman"/>
              <a:ea typeface="Times New Roman"/>
              <a:cs typeface="Times New Roman"/>
              <a:sym typeface="Times New Roman"/>
            </a:endParaRPr>
          </a:p>
          <a:p>
            <a:pPr indent="-342900" lvl="1" marL="914400" rtl="0" algn="just">
              <a:lnSpc>
                <a:spcPct val="150000"/>
              </a:lnSpc>
              <a:spcBef>
                <a:spcPts val="0"/>
              </a:spcBef>
              <a:spcAft>
                <a:spcPts val="0"/>
              </a:spcAft>
              <a:buClr>
                <a:srgbClr val="273239"/>
              </a:buClr>
              <a:buSzPts val="1800"/>
              <a:buFont typeface="Times New Roman"/>
              <a:buChar char="○"/>
            </a:pPr>
            <a:r>
              <a:rPr lang="en-GB" sz="1800">
                <a:solidFill>
                  <a:srgbClr val="273239"/>
                </a:solidFill>
                <a:highlight>
                  <a:srgbClr val="FFFFFF"/>
                </a:highlight>
                <a:latin typeface="Times New Roman"/>
                <a:ea typeface="Times New Roman"/>
                <a:cs typeface="Times New Roman"/>
                <a:sym typeface="Times New Roman"/>
              </a:rPr>
              <a:t>On a write miss, data is written directly to memory, bypassing the cache.</a:t>
            </a:r>
            <a:endParaRPr sz="1800">
              <a:solidFill>
                <a:srgbClr val="273239"/>
              </a:solidFill>
              <a:highlight>
                <a:srgbClr val="FFFFFF"/>
              </a:highlight>
              <a:latin typeface="Times New Roman"/>
              <a:ea typeface="Times New Roman"/>
              <a:cs typeface="Times New Roman"/>
              <a:sym typeface="Times New Roman"/>
            </a:endParaRPr>
          </a:p>
          <a:p>
            <a:pPr indent="-342900" lvl="1" marL="914400" rtl="0" algn="just">
              <a:lnSpc>
                <a:spcPct val="150000"/>
              </a:lnSpc>
              <a:spcBef>
                <a:spcPts val="0"/>
              </a:spcBef>
              <a:spcAft>
                <a:spcPts val="0"/>
              </a:spcAft>
              <a:buClr>
                <a:srgbClr val="273239"/>
              </a:buClr>
              <a:buSzPts val="1800"/>
              <a:buFont typeface="Times New Roman"/>
              <a:buChar char="○"/>
            </a:pPr>
            <a:r>
              <a:rPr lang="en-GB" sz="1800">
                <a:solidFill>
                  <a:srgbClr val="273239"/>
                </a:solidFill>
                <a:highlight>
                  <a:srgbClr val="FFFFFF"/>
                </a:highlight>
                <a:latin typeface="Times New Roman"/>
                <a:ea typeface="Times New Roman"/>
                <a:cs typeface="Times New Roman"/>
                <a:sym typeface="Times New Roman"/>
              </a:rPr>
              <a:t>It avoids filling the cache with data that may not be used again, helping maintain </a:t>
            </a:r>
            <a:r>
              <a:rPr b="1" lang="en-GB" sz="1800">
                <a:solidFill>
                  <a:srgbClr val="273239"/>
                </a:solidFill>
                <a:highlight>
                  <a:srgbClr val="FFFFFF"/>
                </a:highlight>
                <a:latin typeface="Times New Roman"/>
                <a:ea typeface="Times New Roman"/>
                <a:cs typeface="Times New Roman"/>
                <a:sym typeface="Times New Roman"/>
              </a:rPr>
              <a:t>better cache efficiency.</a:t>
            </a:r>
            <a:endParaRPr b="1" sz="1800">
              <a:solidFill>
                <a:srgbClr val="273239"/>
              </a:solidFill>
              <a:highlight>
                <a:srgbClr val="FFFFFF"/>
              </a:highlight>
              <a:latin typeface="Times New Roman"/>
              <a:ea typeface="Times New Roman"/>
              <a:cs typeface="Times New Roman"/>
              <a:sym typeface="Times New Roman"/>
            </a:endParaRPr>
          </a:p>
          <a:p>
            <a:pPr indent="-342900" lvl="1" marL="914400" rtl="0" algn="just">
              <a:lnSpc>
                <a:spcPct val="115000"/>
              </a:lnSpc>
              <a:spcBef>
                <a:spcPts val="0"/>
              </a:spcBef>
              <a:spcAft>
                <a:spcPts val="0"/>
              </a:spcAft>
              <a:buClr>
                <a:srgbClr val="273239"/>
              </a:buClr>
              <a:buSzPts val="1800"/>
              <a:buFont typeface="Times New Roman"/>
              <a:buChar char="○"/>
            </a:pPr>
            <a:r>
              <a:rPr lang="en-GB" sz="1800">
                <a:solidFill>
                  <a:srgbClr val="273239"/>
                </a:solidFill>
                <a:highlight>
                  <a:srgbClr val="FFFFFF"/>
                </a:highlight>
                <a:latin typeface="Times New Roman"/>
                <a:ea typeface="Times New Roman"/>
                <a:cs typeface="Times New Roman"/>
                <a:sym typeface="Times New Roman"/>
              </a:rPr>
              <a:t>No-write allocation reduces </a:t>
            </a:r>
            <a:r>
              <a:rPr b="1" lang="en-GB" sz="1800">
                <a:solidFill>
                  <a:srgbClr val="273239"/>
                </a:solidFill>
                <a:highlight>
                  <a:srgbClr val="FFFFFF"/>
                </a:highlight>
                <a:latin typeface="Times New Roman"/>
                <a:ea typeface="Times New Roman"/>
                <a:cs typeface="Times New Roman"/>
                <a:sym typeface="Times New Roman"/>
              </a:rPr>
              <a:t>cache pollution,</a:t>
            </a:r>
            <a:r>
              <a:rPr lang="en-GB" sz="1800">
                <a:solidFill>
                  <a:srgbClr val="273239"/>
                </a:solidFill>
                <a:highlight>
                  <a:srgbClr val="FFFFFF"/>
                </a:highlight>
                <a:latin typeface="Times New Roman"/>
                <a:ea typeface="Times New Roman"/>
                <a:cs typeface="Times New Roman"/>
                <a:sym typeface="Times New Roman"/>
              </a:rPr>
              <a:t> but may increase memory traffic during frequent write misses</a:t>
            </a:r>
            <a:endParaRPr sz="1800">
              <a:solidFill>
                <a:srgbClr val="273239"/>
              </a:solidFill>
              <a:highlight>
                <a:srgbClr val="FFFFFF"/>
              </a:highlight>
              <a:latin typeface="Times New Roman"/>
              <a:ea typeface="Times New Roman"/>
              <a:cs typeface="Times New Roman"/>
              <a:sym typeface="Times New Roman"/>
            </a:endParaRPr>
          </a:p>
          <a:p>
            <a:pPr indent="0" lvl="0" marL="0" rtl="0" algn="just">
              <a:lnSpc>
                <a:spcPct val="115000"/>
              </a:lnSpc>
              <a:spcBef>
                <a:spcPts val="3000"/>
              </a:spcBef>
              <a:spcAft>
                <a:spcPts val="3000"/>
              </a:spcAft>
              <a:buNone/>
            </a:pPr>
            <a:r>
              <a:t/>
            </a:r>
            <a:endParaRPr sz="1800">
              <a:solidFill>
                <a:srgbClr val="273239"/>
              </a:solidFill>
              <a:highlight>
                <a:srgbClr val="FFFFFF"/>
              </a:highlight>
              <a:latin typeface="Times New Roman"/>
              <a:ea typeface="Times New Roman"/>
              <a:cs typeface="Times New Roman"/>
              <a:sym typeface="Times New Roman"/>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40"/>
          <p:cNvSpPr txBox="1"/>
          <p:nvPr>
            <p:ph type="title"/>
          </p:nvPr>
        </p:nvSpPr>
        <p:spPr>
          <a:xfrm>
            <a:off x="243000" y="0"/>
            <a:ext cx="8589300" cy="4383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Locality</a:t>
            </a:r>
            <a:endParaRPr/>
          </a:p>
          <a:p>
            <a:pPr indent="0" lvl="0" marL="0" rtl="0" algn="l">
              <a:spcBef>
                <a:spcPts val="0"/>
              </a:spcBef>
              <a:spcAft>
                <a:spcPts val="0"/>
              </a:spcAft>
              <a:buNone/>
            </a:pPr>
            <a:r>
              <a:t/>
            </a:r>
            <a:endParaRPr/>
          </a:p>
        </p:txBody>
      </p:sp>
      <p:sp>
        <p:nvSpPr>
          <p:cNvPr id="204" name="Google Shape;204;p40"/>
          <p:cNvSpPr txBox="1"/>
          <p:nvPr>
            <p:ph idx="1" type="body"/>
          </p:nvPr>
        </p:nvSpPr>
        <p:spPr>
          <a:xfrm>
            <a:off x="311700" y="522800"/>
            <a:ext cx="8729700" cy="4467000"/>
          </a:xfrm>
          <a:prstGeom prst="rect">
            <a:avLst/>
          </a:prstGeom>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342900" lvl="0" marL="457200" rtl="0" algn="just">
              <a:lnSpc>
                <a:spcPct val="150000"/>
              </a:lnSpc>
              <a:spcBef>
                <a:spcPts val="0"/>
              </a:spcBef>
              <a:spcAft>
                <a:spcPts val="0"/>
              </a:spcAft>
              <a:buClr>
                <a:srgbClr val="000000"/>
              </a:buClr>
              <a:buSzPts val="1800"/>
              <a:buFont typeface="Times New Roman"/>
              <a:buChar char="●"/>
            </a:pPr>
            <a:r>
              <a:rPr lang="en-GB">
                <a:solidFill>
                  <a:srgbClr val="000000"/>
                </a:solidFill>
                <a:highlight>
                  <a:schemeClr val="lt1"/>
                </a:highlight>
                <a:latin typeface="Times New Roman"/>
                <a:ea typeface="Times New Roman"/>
                <a:cs typeface="Times New Roman"/>
                <a:sym typeface="Times New Roman"/>
              </a:rPr>
              <a:t>The ability of cache memory to improve a computer's performance relies on the concept of locality of </a:t>
            </a:r>
            <a:r>
              <a:rPr lang="en-GB">
                <a:solidFill>
                  <a:srgbClr val="000000"/>
                </a:solidFill>
                <a:highlight>
                  <a:schemeClr val="lt1"/>
                </a:highlight>
                <a:latin typeface="Times New Roman"/>
                <a:ea typeface="Times New Roman"/>
                <a:cs typeface="Times New Roman"/>
                <a:sym typeface="Times New Roman"/>
              </a:rPr>
              <a:t>reference.</a:t>
            </a:r>
            <a:r>
              <a:rPr b="1" lang="en-GB">
                <a:solidFill>
                  <a:srgbClr val="000000"/>
                </a:solidFill>
                <a:highlight>
                  <a:schemeClr val="lt1"/>
                </a:highlight>
                <a:latin typeface="Times New Roman"/>
                <a:ea typeface="Times New Roman"/>
                <a:cs typeface="Times New Roman"/>
                <a:sym typeface="Times New Roman"/>
              </a:rPr>
              <a:t> </a:t>
            </a:r>
            <a:endParaRPr>
              <a:solidFill>
                <a:srgbClr val="000000"/>
              </a:solidFill>
              <a:highlight>
                <a:schemeClr val="lt1"/>
              </a:highlight>
              <a:latin typeface="Times New Roman"/>
              <a:ea typeface="Times New Roman"/>
              <a:cs typeface="Times New Roman"/>
              <a:sym typeface="Times New Roman"/>
            </a:endParaRPr>
          </a:p>
          <a:p>
            <a:pPr indent="-342900" lvl="0" marL="457200" rtl="0" algn="just">
              <a:lnSpc>
                <a:spcPct val="150000"/>
              </a:lnSpc>
              <a:spcBef>
                <a:spcPts val="0"/>
              </a:spcBef>
              <a:spcAft>
                <a:spcPts val="0"/>
              </a:spcAft>
              <a:buClr>
                <a:srgbClr val="000000"/>
              </a:buClr>
              <a:buSzPts val="1800"/>
              <a:buFont typeface="Times New Roman"/>
              <a:buChar char="●"/>
            </a:pPr>
            <a:r>
              <a:rPr lang="en-GB">
                <a:solidFill>
                  <a:srgbClr val="000000"/>
                </a:solidFill>
                <a:highlight>
                  <a:schemeClr val="lt1"/>
                </a:highlight>
                <a:latin typeface="Times New Roman"/>
                <a:ea typeface="Times New Roman"/>
                <a:cs typeface="Times New Roman"/>
                <a:sym typeface="Times New Roman"/>
              </a:rPr>
              <a:t>Locality describes various situations that make a system more predictable.</a:t>
            </a:r>
            <a:endParaRPr>
              <a:solidFill>
                <a:srgbClr val="000000"/>
              </a:solidFill>
              <a:highlight>
                <a:schemeClr val="lt1"/>
              </a:highlight>
              <a:latin typeface="Times New Roman"/>
              <a:ea typeface="Times New Roman"/>
              <a:cs typeface="Times New Roman"/>
              <a:sym typeface="Times New Roman"/>
            </a:endParaRPr>
          </a:p>
          <a:p>
            <a:pPr indent="-355600" lvl="0" marL="457200" rtl="0" algn="just">
              <a:lnSpc>
                <a:spcPct val="150000"/>
              </a:lnSpc>
              <a:spcBef>
                <a:spcPts val="0"/>
              </a:spcBef>
              <a:spcAft>
                <a:spcPts val="0"/>
              </a:spcAft>
              <a:buClr>
                <a:srgbClr val="000000"/>
              </a:buClr>
              <a:buSzPts val="2000"/>
              <a:buFont typeface="Times New Roman"/>
              <a:buChar char="●"/>
            </a:pPr>
            <a:r>
              <a:rPr lang="en-GB" sz="2000">
                <a:solidFill>
                  <a:srgbClr val="000000"/>
                </a:solidFill>
                <a:highlight>
                  <a:schemeClr val="lt1"/>
                </a:highlight>
                <a:latin typeface="Times New Roman"/>
                <a:ea typeface="Times New Roman"/>
                <a:cs typeface="Times New Roman"/>
                <a:sym typeface="Times New Roman"/>
              </a:rPr>
              <a:t>There are several types of locality. Two key ones for cache are: </a:t>
            </a:r>
            <a:endParaRPr sz="2000">
              <a:solidFill>
                <a:srgbClr val="000000"/>
              </a:solidFill>
              <a:highlight>
                <a:schemeClr val="lt1"/>
              </a:highlight>
              <a:latin typeface="Times New Roman"/>
              <a:ea typeface="Times New Roman"/>
              <a:cs typeface="Times New Roman"/>
              <a:sym typeface="Times New Roman"/>
            </a:endParaRPr>
          </a:p>
          <a:p>
            <a:pPr indent="-342900" lvl="2" marL="1371600" rtl="0" algn="just">
              <a:lnSpc>
                <a:spcPct val="150000"/>
              </a:lnSpc>
              <a:spcBef>
                <a:spcPts val="0"/>
              </a:spcBef>
              <a:spcAft>
                <a:spcPts val="0"/>
              </a:spcAft>
              <a:buClr>
                <a:srgbClr val="000000"/>
              </a:buClr>
              <a:buSzPts val="1800"/>
              <a:buFont typeface="Times New Roman"/>
              <a:buChar char="■"/>
            </a:pPr>
            <a:r>
              <a:rPr lang="en-GB" sz="2000">
                <a:solidFill>
                  <a:srgbClr val="000000"/>
                </a:solidFill>
                <a:highlight>
                  <a:schemeClr val="lt1"/>
                </a:highlight>
                <a:latin typeface="Times New Roman"/>
                <a:ea typeface="Times New Roman"/>
                <a:cs typeface="Times New Roman"/>
                <a:sym typeface="Times New Roman"/>
              </a:rPr>
              <a:t>Temporal locality:</a:t>
            </a:r>
            <a:r>
              <a:rPr lang="en-GB" sz="1800">
                <a:solidFill>
                  <a:srgbClr val="000000"/>
                </a:solidFill>
                <a:highlight>
                  <a:schemeClr val="lt1"/>
                </a:highlight>
                <a:latin typeface="Times New Roman"/>
                <a:ea typeface="Times New Roman"/>
                <a:cs typeface="Times New Roman"/>
                <a:sym typeface="Times New Roman"/>
              </a:rPr>
              <a:t> This is when the same resources are accessed repeatedly in a short amount of time.</a:t>
            </a:r>
            <a:endParaRPr sz="1800">
              <a:solidFill>
                <a:srgbClr val="000000"/>
              </a:solidFill>
              <a:highlight>
                <a:schemeClr val="lt1"/>
              </a:highlight>
              <a:latin typeface="Times New Roman"/>
              <a:ea typeface="Times New Roman"/>
              <a:cs typeface="Times New Roman"/>
              <a:sym typeface="Times New Roman"/>
            </a:endParaRPr>
          </a:p>
          <a:p>
            <a:pPr indent="-342900" lvl="2" marL="1371600" rtl="0" algn="just">
              <a:lnSpc>
                <a:spcPct val="150000"/>
              </a:lnSpc>
              <a:spcBef>
                <a:spcPts val="0"/>
              </a:spcBef>
              <a:spcAft>
                <a:spcPts val="0"/>
              </a:spcAft>
              <a:buClr>
                <a:srgbClr val="000000"/>
              </a:buClr>
              <a:buSzPts val="1800"/>
              <a:buFont typeface="Times New Roman"/>
              <a:buChar char="■"/>
            </a:pPr>
            <a:r>
              <a:rPr lang="en-GB" sz="2000">
                <a:solidFill>
                  <a:srgbClr val="000000"/>
                </a:solidFill>
                <a:highlight>
                  <a:schemeClr val="lt1"/>
                </a:highlight>
                <a:latin typeface="Times New Roman"/>
                <a:ea typeface="Times New Roman"/>
                <a:cs typeface="Times New Roman"/>
                <a:sym typeface="Times New Roman"/>
              </a:rPr>
              <a:t>Spatial locality</a:t>
            </a:r>
            <a:r>
              <a:rPr lang="en-GB" sz="1800">
                <a:solidFill>
                  <a:srgbClr val="000000"/>
                </a:solidFill>
                <a:highlight>
                  <a:schemeClr val="lt1"/>
                </a:highlight>
                <a:latin typeface="Times New Roman"/>
                <a:ea typeface="Times New Roman"/>
                <a:cs typeface="Times New Roman"/>
                <a:sym typeface="Times New Roman"/>
              </a:rPr>
              <a:t>: This refers to accessing various data or resources that are near each other.</a:t>
            </a:r>
            <a:endParaRPr sz="1800">
              <a:solidFill>
                <a:srgbClr val="000000"/>
              </a:solidFill>
              <a:highlight>
                <a:schemeClr val="lt1"/>
              </a:highlight>
              <a:latin typeface="Times New Roman"/>
              <a:ea typeface="Times New Roman"/>
              <a:cs typeface="Times New Roman"/>
              <a:sym typeface="Times New Roman"/>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41"/>
          <p:cNvSpPr txBox="1"/>
          <p:nvPr>
            <p:ph type="title"/>
          </p:nvPr>
        </p:nvSpPr>
        <p:spPr>
          <a:xfrm>
            <a:off x="243000" y="0"/>
            <a:ext cx="8589300" cy="4383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Locality</a:t>
            </a:r>
            <a:endParaRPr/>
          </a:p>
          <a:p>
            <a:pPr indent="0" lvl="0" marL="0" rtl="0" algn="l">
              <a:spcBef>
                <a:spcPts val="0"/>
              </a:spcBef>
              <a:spcAft>
                <a:spcPts val="0"/>
              </a:spcAft>
              <a:buNone/>
            </a:pPr>
            <a:r>
              <a:t/>
            </a:r>
            <a:endParaRPr/>
          </a:p>
        </p:txBody>
      </p:sp>
      <p:sp>
        <p:nvSpPr>
          <p:cNvPr id="210" name="Google Shape;210;p41"/>
          <p:cNvSpPr txBox="1"/>
          <p:nvPr>
            <p:ph idx="1" type="body"/>
          </p:nvPr>
        </p:nvSpPr>
        <p:spPr>
          <a:xfrm>
            <a:off x="311700" y="522800"/>
            <a:ext cx="8729700" cy="4467000"/>
          </a:xfrm>
          <a:prstGeom prst="rect">
            <a:avLst/>
          </a:prstGeom>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381000" lvl="0" marL="457200" rtl="0" algn="l">
              <a:spcBef>
                <a:spcPts val="1800"/>
              </a:spcBef>
              <a:spcAft>
                <a:spcPts val="0"/>
              </a:spcAft>
              <a:buClr>
                <a:srgbClr val="000000"/>
              </a:buClr>
              <a:buSzPts val="2400"/>
              <a:buFont typeface="Times New Roman"/>
              <a:buChar char="●"/>
            </a:pPr>
            <a:r>
              <a:rPr b="1" lang="en-GB" sz="2400">
                <a:solidFill>
                  <a:srgbClr val="273239"/>
                </a:solidFill>
                <a:highlight>
                  <a:srgbClr val="FFFFFF"/>
                </a:highlight>
                <a:latin typeface="Times New Roman"/>
                <a:ea typeface="Times New Roman"/>
                <a:cs typeface="Times New Roman"/>
                <a:sym typeface="Times New Roman"/>
              </a:rPr>
              <a:t>Temporal Locality (Locality in Time)</a:t>
            </a:r>
            <a:endParaRPr sz="2400">
              <a:solidFill>
                <a:srgbClr val="000000"/>
              </a:solidFill>
              <a:highlight>
                <a:schemeClr val="lt1"/>
              </a:highlight>
              <a:latin typeface="Times New Roman"/>
              <a:ea typeface="Times New Roman"/>
              <a:cs typeface="Times New Roman"/>
              <a:sym typeface="Times New Roman"/>
            </a:endParaRPr>
          </a:p>
          <a:p>
            <a:pPr indent="-342900" lvl="1" marL="914400" rtl="0" algn="just">
              <a:spcBef>
                <a:spcPts val="0"/>
              </a:spcBef>
              <a:spcAft>
                <a:spcPts val="0"/>
              </a:spcAft>
              <a:buClr>
                <a:srgbClr val="000000"/>
              </a:buClr>
              <a:buSzPts val="1800"/>
              <a:buFont typeface="Times New Roman"/>
              <a:buChar char="○"/>
            </a:pPr>
            <a:r>
              <a:rPr lang="en-GB" sz="1800">
                <a:solidFill>
                  <a:srgbClr val="273239"/>
                </a:solidFill>
                <a:highlight>
                  <a:srgbClr val="FFFFFF"/>
                </a:highlight>
                <a:latin typeface="Times New Roman"/>
                <a:ea typeface="Times New Roman"/>
                <a:cs typeface="Times New Roman"/>
                <a:sym typeface="Times New Roman"/>
              </a:rPr>
              <a:t>Temporal locality states that if a particular memory location (data or instruction) is accessed at one time, it is likely to be accessed again in the near future.</a:t>
            </a:r>
            <a:endParaRPr sz="1800">
              <a:solidFill>
                <a:srgbClr val="273239"/>
              </a:solidFill>
              <a:highlight>
                <a:srgbClr val="FFFFFF"/>
              </a:highlight>
              <a:latin typeface="Times New Roman"/>
              <a:ea typeface="Times New Roman"/>
              <a:cs typeface="Times New Roman"/>
              <a:sym typeface="Times New Roman"/>
            </a:endParaRPr>
          </a:p>
          <a:p>
            <a:pPr indent="-342900" lvl="2" marL="1371600" rtl="0" algn="just">
              <a:spcBef>
                <a:spcPts val="0"/>
              </a:spcBef>
              <a:spcAft>
                <a:spcPts val="0"/>
              </a:spcAft>
              <a:buClr>
                <a:srgbClr val="000000"/>
              </a:buClr>
              <a:buSzPts val="1800"/>
              <a:buFont typeface="Times New Roman"/>
              <a:buChar char="■"/>
            </a:pPr>
            <a:r>
              <a:rPr lang="en-GB" sz="1800">
                <a:solidFill>
                  <a:srgbClr val="273239"/>
                </a:solidFill>
                <a:highlight>
                  <a:srgbClr val="FFFFFF"/>
                </a:highlight>
                <a:latin typeface="Times New Roman"/>
                <a:ea typeface="Times New Roman"/>
                <a:cs typeface="Times New Roman"/>
                <a:sym typeface="Times New Roman"/>
              </a:rPr>
              <a:t>Programs often contain loops, counters, and frequently used variables.</a:t>
            </a:r>
            <a:endParaRPr sz="1800">
              <a:solidFill>
                <a:srgbClr val="273239"/>
              </a:solidFill>
              <a:highlight>
                <a:srgbClr val="FFFFFF"/>
              </a:highlight>
              <a:latin typeface="Times New Roman"/>
              <a:ea typeface="Times New Roman"/>
              <a:cs typeface="Times New Roman"/>
              <a:sym typeface="Times New Roman"/>
            </a:endParaRPr>
          </a:p>
          <a:p>
            <a:pPr indent="-342900" lvl="2" marL="1371600" rtl="0" algn="just">
              <a:spcBef>
                <a:spcPts val="0"/>
              </a:spcBef>
              <a:spcAft>
                <a:spcPts val="0"/>
              </a:spcAft>
              <a:buClr>
                <a:srgbClr val="000000"/>
              </a:buClr>
              <a:buSzPts val="1800"/>
              <a:buFont typeface="Times New Roman"/>
              <a:buChar char="■"/>
            </a:pPr>
            <a:r>
              <a:rPr lang="en-GB" sz="1800">
                <a:solidFill>
                  <a:srgbClr val="273239"/>
                </a:solidFill>
                <a:highlight>
                  <a:srgbClr val="FFFFFF"/>
                </a:highlight>
                <a:latin typeface="Times New Roman"/>
                <a:ea typeface="Times New Roman"/>
                <a:cs typeface="Times New Roman"/>
                <a:sym typeface="Times New Roman"/>
              </a:rPr>
              <a:t>Since these are used repeatedly within short intervals, storing them in cache memory ensures faster access.</a:t>
            </a:r>
            <a:endParaRPr>
              <a:solidFill>
                <a:srgbClr val="000000"/>
              </a:solidFill>
              <a:highlight>
                <a:schemeClr val="lt1"/>
              </a:highlight>
              <a:latin typeface="Times New Roman"/>
              <a:ea typeface="Times New Roman"/>
              <a:cs typeface="Times New Roman"/>
              <a:sym typeface="Times New Roman"/>
            </a:endParaRPr>
          </a:p>
        </p:txBody>
      </p:sp>
      <p:pic>
        <p:nvPicPr>
          <p:cNvPr id="211" name="Google Shape;211;p41"/>
          <p:cNvPicPr preferRelativeResize="0"/>
          <p:nvPr/>
        </p:nvPicPr>
        <p:blipFill>
          <a:blip r:embed="rId3">
            <a:alphaModFix/>
          </a:blip>
          <a:stretch>
            <a:fillRect/>
          </a:stretch>
        </p:blipFill>
        <p:spPr>
          <a:xfrm>
            <a:off x="3581475" y="2571750"/>
            <a:ext cx="5301450" cy="232082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42"/>
          <p:cNvSpPr txBox="1"/>
          <p:nvPr>
            <p:ph type="title"/>
          </p:nvPr>
        </p:nvSpPr>
        <p:spPr>
          <a:xfrm>
            <a:off x="243000" y="0"/>
            <a:ext cx="8589300" cy="4383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Locality</a:t>
            </a:r>
            <a:endParaRPr/>
          </a:p>
          <a:p>
            <a:pPr indent="0" lvl="0" marL="0" rtl="0" algn="l">
              <a:spcBef>
                <a:spcPts val="0"/>
              </a:spcBef>
              <a:spcAft>
                <a:spcPts val="0"/>
              </a:spcAft>
              <a:buNone/>
            </a:pPr>
            <a:r>
              <a:t/>
            </a:r>
            <a:endParaRPr/>
          </a:p>
        </p:txBody>
      </p:sp>
      <p:sp>
        <p:nvSpPr>
          <p:cNvPr id="217" name="Google Shape;217;p42"/>
          <p:cNvSpPr txBox="1"/>
          <p:nvPr>
            <p:ph idx="1" type="body"/>
          </p:nvPr>
        </p:nvSpPr>
        <p:spPr>
          <a:xfrm>
            <a:off x="311700" y="522800"/>
            <a:ext cx="8729700" cy="4467000"/>
          </a:xfrm>
          <a:prstGeom prst="rect">
            <a:avLst/>
          </a:prstGeom>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381000" lvl="0" marL="457200" rtl="0" algn="l">
              <a:spcBef>
                <a:spcPts val="1800"/>
              </a:spcBef>
              <a:spcAft>
                <a:spcPts val="0"/>
              </a:spcAft>
              <a:buClr>
                <a:srgbClr val="000000"/>
              </a:buClr>
              <a:buSzPts val="2400"/>
              <a:buFont typeface="Times New Roman"/>
              <a:buChar char="●"/>
            </a:pPr>
            <a:r>
              <a:rPr b="1" lang="en-GB" sz="2400">
                <a:solidFill>
                  <a:srgbClr val="273239"/>
                </a:solidFill>
                <a:highlight>
                  <a:srgbClr val="FFFFFF"/>
                </a:highlight>
                <a:latin typeface="Times New Roman"/>
                <a:ea typeface="Times New Roman"/>
                <a:cs typeface="Times New Roman"/>
                <a:sym typeface="Times New Roman"/>
              </a:rPr>
              <a:t>Spatial</a:t>
            </a:r>
            <a:r>
              <a:rPr b="1" lang="en-GB" sz="2400">
                <a:solidFill>
                  <a:srgbClr val="273239"/>
                </a:solidFill>
                <a:highlight>
                  <a:srgbClr val="FFFFFF"/>
                </a:highlight>
                <a:latin typeface="Times New Roman"/>
                <a:ea typeface="Times New Roman"/>
                <a:cs typeface="Times New Roman"/>
                <a:sym typeface="Times New Roman"/>
              </a:rPr>
              <a:t> Locality (Locality in Space)</a:t>
            </a:r>
            <a:endParaRPr sz="2400">
              <a:solidFill>
                <a:srgbClr val="000000"/>
              </a:solidFill>
              <a:highlight>
                <a:schemeClr val="lt1"/>
              </a:highlight>
              <a:latin typeface="Times New Roman"/>
              <a:ea typeface="Times New Roman"/>
              <a:cs typeface="Times New Roman"/>
              <a:sym typeface="Times New Roman"/>
            </a:endParaRPr>
          </a:p>
          <a:p>
            <a:pPr indent="-342900" lvl="1" marL="914400" rtl="0" algn="just">
              <a:spcBef>
                <a:spcPts val="0"/>
              </a:spcBef>
              <a:spcAft>
                <a:spcPts val="0"/>
              </a:spcAft>
              <a:buClr>
                <a:srgbClr val="000000"/>
              </a:buClr>
              <a:buSzPts val="1800"/>
              <a:buFont typeface="Times New Roman"/>
              <a:buChar char="○"/>
            </a:pPr>
            <a:r>
              <a:rPr lang="en-GB" sz="1800">
                <a:solidFill>
                  <a:srgbClr val="273239"/>
                </a:solidFill>
                <a:highlight>
                  <a:srgbClr val="FFFFFF"/>
                </a:highlight>
                <a:latin typeface="Times New Roman"/>
                <a:ea typeface="Times New Roman"/>
                <a:cs typeface="Times New Roman"/>
                <a:sym typeface="Times New Roman"/>
              </a:rPr>
              <a:t>Spatial locality states that if a particular memory location is accessed, the nearby memory locations are also likely to be accessed soon. Instructions and data are stored in contiguous memory locations.</a:t>
            </a:r>
            <a:endParaRPr sz="1800">
              <a:solidFill>
                <a:srgbClr val="273239"/>
              </a:solidFill>
              <a:highlight>
                <a:srgbClr val="FFFFFF"/>
              </a:highlight>
              <a:latin typeface="Times New Roman"/>
              <a:ea typeface="Times New Roman"/>
              <a:cs typeface="Times New Roman"/>
              <a:sym typeface="Times New Roman"/>
            </a:endParaRPr>
          </a:p>
          <a:p>
            <a:pPr indent="-342900" lvl="2" marL="1371600" rtl="0" algn="just">
              <a:spcBef>
                <a:spcPts val="0"/>
              </a:spcBef>
              <a:spcAft>
                <a:spcPts val="0"/>
              </a:spcAft>
              <a:buClr>
                <a:srgbClr val="000000"/>
              </a:buClr>
              <a:buSzPts val="1800"/>
              <a:buFont typeface="Times New Roman"/>
              <a:buChar char="■"/>
            </a:pPr>
            <a:r>
              <a:rPr lang="en-GB" sz="1800">
                <a:solidFill>
                  <a:srgbClr val="273239"/>
                </a:solidFill>
                <a:highlight>
                  <a:srgbClr val="FFFFFF"/>
                </a:highlight>
                <a:latin typeface="Times New Roman"/>
                <a:ea typeface="Times New Roman"/>
                <a:cs typeface="Times New Roman"/>
                <a:sym typeface="Times New Roman"/>
              </a:rPr>
              <a:t>When a program accesses one location, the next few instructions or data items are often located adjacent to it.</a:t>
            </a:r>
            <a:endParaRPr sz="1800">
              <a:solidFill>
                <a:srgbClr val="273239"/>
              </a:solidFill>
              <a:highlight>
                <a:srgbClr val="FFFFFF"/>
              </a:highlight>
              <a:latin typeface="Times New Roman"/>
              <a:ea typeface="Times New Roman"/>
              <a:cs typeface="Times New Roman"/>
              <a:sym typeface="Times New Roman"/>
            </a:endParaRPr>
          </a:p>
          <a:p>
            <a:pPr indent="-342900" lvl="2" marL="1371600" rtl="0" algn="just">
              <a:spcBef>
                <a:spcPts val="0"/>
              </a:spcBef>
              <a:spcAft>
                <a:spcPts val="0"/>
              </a:spcAft>
              <a:buClr>
                <a:srgbClr val="000000"/>
              </a:buClr>
              <a:buSzPts val="1800"/>
              <a:buFont typeface="Times New Roman"/>
              <a:buChar char="■"/>
            </a:pPr>
            <a:r>
              <a:rPr lang="en-GB" sz="1800">
                <a:solidFill>
                  <a:srgbClr val="273239"/>
                </a:solidFill>
                <a:highlight>
                  <a:srgbClr val="FFFFFF"/>
                </a:highlight>
                <a:latin typeface="Times New Roman"/>
                <a:ea typeface="Times New Roman"/>
                <a:cs typeface="Times New Roman"/>
                <a:sym typeface="Times New Roman"/>
              </a:rPr>
              <a:t>Hence, caching nearby blocks of memory improves performance.</a:t>
            </a:r>
            <a:endParaRPr sz="1800">
              <a:solidFill>
                <a:srgbClr val="000000"/>
              </a:solidFill>
              <a:highlight>
                <a:schemeClr val="lt1"/>
              </a:highlight>
              <a:latin typeface="Times New Roman"/>
              <a:ea typeface="Times New Roman"/>
              <a:cs typeface="Times New Roman"/>
              <a:sym typeface="Times New Roman"/>
            </a:endParaRPr>
          </a:p>
        </p:txBody>
      </p:sp>
      <p:pic>
        <p:nvPicPr>
          <p:cNvPr id="218" name="Google Shape;218;p42"/>
          <p:cNvPicPr preferRelativeResize="0"/>
          <p:nvPr/>
        </p:nvPicPr>
        <p:blipFill>
          <a:blip r:embed="rId3">
            <a:alphaModFix/>
          </a:blip>
          <a:stretch>
            <a:fillRect/>
          </a:stretch>
        </p:blipFill>
        <p:spPr>
          <a:xfrm>
            <a:off x="4087675" y="2869150"/>
            <a:ext cx="4816951" cy="206102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43"/>
          <p:cNvSpPr txBox="1"/>
          <p:nvPr>
            <p:ph type="title"/>
          </p:nvPr>
        </p:nvSpPr>
        <p:spPr>
          <a:xfrm>
            <a:off x="243000" y="0"/>
            <a:ext cx="8589300" cy="4383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224" name="Google Shape;224;p43"/>
          <p:cNvSpPr txBox="1"/>
          <p:nvPr>
            <p:ph idx="1" type="body"/>
          </p:nvPr>
        </p:nvSpPr>
        <p:spPr>
          <a:xfrm>
            <a:off x="311700" y="522800"/>
            <a:ext cx="8729700" cy="3819900"/>
          </a:xfrm>
          <a:prstGeom prst="rect">
            <a:avLst/>
          </a:prstGeom>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400050" lvl="0" marL="457200" rtl="0" algn="l">
              <a:lnSpc>
                <a:spcPct val="115000"/>
              </a:lnSpc>
              <a:spcBef>
                <a:spcPts val="0"/>
              </a:spcBef>
              <a:spcAft>
                <a:spcPts val="0"/>
              </a:spcAft>
              <a:buClr>
                <a:srgbClr val="000000"/>
              </a:buClr>
              <a:buSzPts val="2700"/>
              <a:buFont typeface="Times New Roman"/>
              <a:buChar char="●"/>
            </a:pPr>
            <a:r>
              <a:rPr b="1" lang="en-GB" sz="2700">
                <a:solidFill>
                  <a:srgbClr val="273239"/>
                </a:solidFill>
                <a:latin typeface="Times New Roman"/>
                <a:ea typeface="Times New Roman"/>
                <a:cs typeface="Times New Roman"/>
                <a:sym typeface="Times New Roman"/>
              </a:rPr>
              <a:t>Valid Bit</a:t>
            </a:r>
            <a:endParaRPr sz="2700">
              <a:solidFill>
                <a:srgbClr val="000000"/>
              </a:solidFill>
              <a:highlight>
                <a:srgbClr val="FFFFFF"/>
              </a:highlight>
              <a:latin typeface="Times New Roman"/>
              <a:ea typeface="Times New Roman"/>
              <a:cs typeface="Times New Roman"/>
              <a:sym typeface="Times New Roman"/>
            </a:endParaRPr>
          </a:p>
          <a:p>
            <a:pPr indent="-342900" lvl="1" marL="914400" rtl="0" algn="just">
              <a:lnSpc>
                <a:spcPct val="150000"/>
              </a:lnSpc>
              <a:spcBef>
                <a:spcPts val="0"/>
              </a:spcBef>
              <a:spcAft>
                <a:spcPts val="0"/>
              </a:spcAft>
              <a:buClr>
                <a:srgbClr val="000000"/>
              </a:buClr>
              <a:buSzPts val="1800"/>
              <a:buFont typeface="Times New Roman"/>
              <a:buChar char="○"/>
            </a:pPr>
            <a:r>
              <a:rPr lang="en-GB" sz="1800">
                <a:solidFill>
                  <a:srgbClr val="273239"/>
                </a:solidFill>
                <a:latin typeface="Times New Roman"/>
                <a:ea typeface="Times New Roman"/>
                <a:cs typeface="Times New Roman"/>
                <a:sym typeface="Times New Roman"/>
              </a:rPr>
              <a:t>The </a:t>
            </a:r>
            <a:r>
              <a:rPr b="1" lang="en-GB" sz="1800">
                <a:solidFill>
                  <a:srgbClr val="273239"/>
                </a:solidFill>
                <a:latin typeface="Times New Roman"/>
                <a:ea typeface="Times New Roman"/>
                <a:cs typeface="Times New Roman"/>
                <a:sym typeface="Times New Roman"/>
              </a:rPr>
              <a:t>valid bit </a:t>
            </a:r>
            <a:r>
              <a:rPr lang="en-GB" sz="1800">
                <a:solidFill>
                  <a:srgbClr val="273239"/>
                </a:solidFill>
                <a:latin typeface="Times New Roman"/>
                <a:ea typeface="Times New Roman"/>
                <a:cs typeface="Times New Roman"/>
                <a:sym typeface="Times New Roman"/>
              </a:rPr>
              <a:t>indicates whether the data stored in a cache line is </a:t>
            </a:r>
            <a:r>
              <a:rPr b="1" lang="en-GB" sz="1800">
                <a:solidFill>
                  <a:srgbClr val="273239"/>
                </a:solidFill>
                <a:latin typeface="Times New Roman"/>
                <a:ea typeface="Times New Roman"/>
                <a:cs typeface="Times New Roman"/>
                <a:sym typeface="Times New Roman"/>
              </a:rPr>
              <a:t>usable or not</a:t>
            </a:r>
            <a:endParaRPr b="1" sz="1800">
              <a:solidFill>
                <a:srgbClr val="273239"/>
              </a:solidFill>
              <a:latin typeface="Times New Roman"/>
              <a:ea typeface="Times New Roman"/>
              <a:cs typeface="Times New Roman"/>
              <a:sym typeface="Times New Roman"/>
            </a:endParaRPr>
          </a:p>
          <a:p>
            <a:pPr indent="-342900" lvl="1" marL="914400" rtl="0" algn="just">
              <a:lnSpc>
                <a:spcPct val="150000"/>
              </a:lnSpc>
              <a:spcBef>
                <a:spcPts val="0"/>
              </a:spcBef>
              <a:spcAft>
                <a:spcPts val="0"/>
              </a:spcAft>
              <a:buClr>
                <a:srgbClr val="000000"/>
              </a:buClr>
              <a:buSzPts val="1800"/>
              <a:buFont typeface="Times New Roman"/>
              <a:buChar char="○"/>
            </a:pPr>
            <a:r>
              <a:rPr lang="en-GB" sz="1800">
                <a:solidFill>
                  <a:srgbClr val="273239"/>
                </a:solidFill>
                <a:latin typeface="Times New Roman"/>
                <a:ea typeface="Times New Roman"/>
                <a:cs typeface="Times New Roman"/>
                <a:sym typeface="Times New Roman"/>
              </a:rPr>
              <a:t>If the valid bit = </a:t>
            </a:r>
            <a:r>
              <a:rPr b="1" lang="en-GB" sz="1800">
                <a:solidFill>
                  <a:srgbClr val="273239"/>
                </a:solidFill>
                <a:latin typeface="Times New Roman"/>
                <a:ea typeface="Times New Roman"/>
                <a:cs typeface="Times New Roman"/>
                <a:sym typeface="Times New Roman"/>
              </a:rPr>
              <a:t>1</a:t>
            </a:r>
            <a:r>
              <a:rPr lang="en-GB" sz="1800">
                <a:solidFill>
                  <a:srgbClr val="273239"/>
                </a:solidFill>
                <a:latin typeface="Times New Roman"/>
                <a:ea typeface="Times New Roman"/>
                <a:cs typeface="Times New Roman"/>
                <a:sym typeface="Times New Roman"/>
              </a:rPr>
              <a:t>, the cache line contains </a:t>
            </a:r>
            <a:r>
              <a:rPr b="1" lang="en-GB" sz="1800">
                <a:solidFill>
                  <a:srgbClr val="273239"/>
                </a:solidFill>
                <a:latin typeface="Times New Roman"/>
                <a:ea typeface="Times New Roman"/>
                <a:cs typeface="Times New Roman"/>
                <a:sym typeface="Times New Roman"/>
              </a:rPr>
              <a:t>correct, updated data.</a:t>
            </a:r>
            <a:endParaRPr b="1" sz="1800">
              <a:solidFill>
                <a:srgbClr val="273239"/>
              </a:solidFill>
              <a:latin typeface="Times New Roman"/>
              <a:ea typeface="Times New Roman"/>
              <a:cs typeface="Times New Roman"/>
              <a:sym typeface="Times New Roman"/>
            </a:endParaRPr>
          </a:p>
          <a:p>
            <a:pPr indent="-342900" lvl="1" marL="914400" rtl="0" algn="just">
              <a:lnSpc>
                <a:spcPct val="150000"/>
              </a:lnSpc>
              <a:spcBef>
                <a:spcPts val="0"/>
              </a:spcBef>
              <a:spcAft>
                <a:spcPts val="0"/>
              </a:spcAft>
              <a:buClr>
                <a:srgbClr val="000000"/>
              </a:buClr>
              <a:buSzPts val="1800"/>
              <a:buFont typeface="Times New Roman"/>
              <a:buChar char="○"/>
            </a:pPr>
            <a:r>
              <a:rPr lang="en-GB" sz="1800">
                <a:solidFill>
                  <a:srgbClr val="273239"/>
                </a:solidFill>
                <a:latin typeface="Times New Roman"/>
                <a:ea typeface="Times New Roman"/>
                <a:cs typeface="Times New Roman"/>
                <a:sym typeface="Times New Roman"/>
              </a:rPr>
              <a:t>If </a:t>
            </a:r>
            <a:r>
              <a:rPr lang="en-GB" sz="1800">
                <a:solidFill>
                  <a:srgbClr val="273239"/>
                </a:solidFill>
                <a:latin typeface="Times New Roman"/>
                <a:ea typeface="Times New Roman"/>
                <a:cs typeface="Times New Roman"/>
                <a:sym typeface="Times New Roman"/>
              </a:rPr>
              <a:t>the valid bit</a:t>
            </a:r>
            <a:r>
              <a:rPr lang="en-GB" sz="1800">
                <a:solidFill>
                  <a:srgbClr val="273239"/>
                </a:solidFill>
                <a:latin typeface="Times New Roman"/>
                <a:ea typeface="Times New Roman"/>
                <a:cs typeface="Times New Roman"/>
                <a:sym typeface="Times New Roman"/>
              </a:rPr>
              <a:t> = </a:t>
            </a:r>
            <a:r>
              <a:rPr b="1" lang="en-GB" sz="1800">
                <a:solidFill>
                  <a:srgbClr val="273239"/>
                </a:solidFill>
                <a:latin typeface="Times New Roman"/>
                <a:ea typeface="Times New Roman"/>
                <a:cs typeface="Times New Roman"/>
                <a:sym typeface="Times New Roman"/>
              </a:rPr>
              <a:t>0</a:t>
            </a:r>
            <a:r>
              <a:rPr lang="en-GB" sz="1800">
                <a:solidFill>
                  <a:srgbClr val="273239"/>
                </a:solidFill>
                <a:latin typeface="Times New Roman"/>
                <a:ea typeface="Times New Roman"/>
                <a:cs typeface="Times New Roman"/>
                <a:sym typeface="Times New Roman"/>
              </a:rPr>
              <a:t>, the data is </a:t>
            </a:r>
            <a:r>
              <a:rPr b="1" lang="en-GB" sz="1800">
                <a:solidFill>
                  <a:srgbClr val="273239"/>
                </a:solidFill>
                <a:latin typeface="Times New Roman"/>
                <a:ea typeface="Times New Roman"/>
                <a:cs typeface="Times New Roman"/>
                <a:sym typeface="Times New Roman"/>
              </a:rPr>
              <a:t>invalid or empty</a:t>
            </a:r>
            <a:endParaRPr b="1" sz="1800">
              <a:solidFill>
                <a:srgbClr val="273239"/>
              </a:solidFill>
              <a:latin typeface="Times New Roman"/>
              <a:ea typeface="Times New Roman"/>
              <a:cs typeface="Times New Roman"/>
              <a:sym typeface="Times New Roman"/>
            </a:endParaRPr>
          </a:p>
          <a:p>
            <a:pPr indent="-342900" lvl="1" marL="914400" rtl="0" algn="just">
              <a:lnSpc>
                <a:spcPct val="115000"/>
              </a:lnSpc>
              <a:spcBef>
                <a:spcPts val="0"/>
              </a:spcBef>
              <a:spcAft>
                <a:spcPts val="0"/>
              </a:spcAft>
              <a:buClr>
                <a:srgbClr val="000000"/>
              </a:buClr>
              <a:buSzPts val="1800"/>
              <a:buFont typeface="Times New Roman"/>
              <a:buChar char="○"/>
            </a:pPr>
            <a:r>
              <a:rPr lang="en-GB" sz="1800">
                <a:solidFill>
                  <a:srgbClr val="273239"/>
                </a:solidFill>
                <a:latin typeface="Times New Roman"/>
                <a:ea typeface="Times New Roman"/>
                <a:cs typeface="Times New Roman"/>
                <a:sym typeface="Times New Roman"/>
              </a:rPr>
              <a:t>At system startup or after cache flush, all valid bits are usually set to 0 because cache contains no useful data.</a:t>
            </a:r>
            <a:endParaRPr sz="1800">
              <a:solidFill>
                <a:srgbClr val="273239"/>
              </a:solidFill>
              <a:latin typeface="Times New Roman"/>
              <a:ea typeface="Times New Roman"/>
              <a:cs typeface="Times New Roman"/>
              <a:sym typeface="Times New Roman"/>
            </a:endParaRPr>
          </a:p>
          <a:p>
            <a:pPr indent="-342900" lvl="1" marL="914400" rtl="0" algn="just">
              <a:lnSpc>
                <a:spcPct val="115000"/>
              </a:lnSpc>
              <a:spcBef>
                <a:spcPts val="0"/>
              </a:spcBef>
              <a:spcAft>
                <a:spcPts val="0"/>
              </a:spcAft>
              <a:buClr>
                <a:srgbClr val="000000"/>
              </a:buClr>
              <a:buSzPts val="1800"/>
              <a:buFont typeface="Times New Roman"/>
              <a:buChar char="○"/>
            </a:pPr>
            <a:r>
              <a:rPr lang="en-GB" sz="1800">
                <a:solidFill>
                  <a:srgbClr val="273239"/>
                </a:solidFill>
                <a:latin typeface="Times New Roman"/>
                <a:ea typeface="Times New Roman"/>
                <a:cs typeface="Times New Roman"/>
                <a:sym typeface="Times New Roman"/>
              </a:rPr>
              <a:t>During memory access, the CPU checks the valid bit first to decide whether the cache line can be used or a cache miss must occur. </a:t>
            </a:r>
            <a:endParaRPr sz="1800">
              <a:solidFill>
                <a:srgbClr val="000000"/>
              </a:solidFill>
              <a:highlight>
                <a:schemeClr val="lt1"/>
              </a:highlight>
              <a:latin typeface="Times New Roman"/>
              <a:ea typeface="Times New Roman"/>
              <a:cs typeface="Times New Roman"/>
              <a:sym typeface="Times New Roman"/>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44"/>
          <p:cNvSpPr txBox="1"/>
          <p:nvPr>
            <p:ph type="title"/>
          </p:nvPr>
        </p:nvSpPr>
        <p:spPr>
          <a:xfrm>
            <a:off x="243000" y="0"/>
            <a:ext cx="8589300" cy="4383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230" name="Google Shape;230;p44"/>
          <p:cNvSpPr txBox="1"/>
          <p:nvPr>
            <p:ph idx="1" type="body"/>
          </p:nvPr>
        </p:nvSpPr>
        <p:spPr>
          <a:xfrm>
            <a:off x="311700" y="522800"/>
            <a:ext cx="8729700" cy="3738600"/>
          </a:xfrm>
          <a:prstGeom prst="rect">
            <a:avLst/>
          </a:prstGeom>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400050" lvl="0" marL="457200" rtl="0" algn="l">
              <a:lnSpc>
                <a:spcPct val="115000"/>
              </a:lnSpc>
              <a:spcBef>
                <a:spcPts val="0"/>
              </a:spcBef>
              <a:spcAft>
                <a:spcPts val="0"/>
              </a:spcAft>
              <a:buClr>
                <a:srgbClr val="000000"/>
              </a:buClr>
              <a:buSzPts val="2700"/>
              <a:buFont typeface="Times New Roman"/>
              <a:buChar char="●"/>
            </a:pPr>
            <a:r>
              <a:rPr b="1" lang="en-GB" sz="2700">
                <a:solidFill>
                  <a:srgbClr val="273239"/>
                </a:solidFill>
                <a:latin typeface="Times New Roman"/>
                <a:ea typeface="Times New Roman"/>
                <a:cs typeface="Times New Roman"/>
                <a:sym typeface="Times New Roman"/>
              </a:rPr>
              <a:t>Dirty</a:t>
            </a:r>
            <a:r>
              <a:rPr b="1" lang="en-GB" sz="2700">
                <a:solidFill>
                  <a:srgbClr val="273239"/>
                </a:solidFill>
                <a:latin typeface="Times New Roman"/>
                <a:ea typeface="Times New Roman"/>
                <a:cs typeface="Times New Roman"/>
                <a:sym typeface="Times New Roman"/>
              </a:rPr>
              <a:t> Bit</a:t>
            </a:r>
            <a:endParaRPr sz="2700">
              <a:solidFill>
                <a:srgbClr val="000000"/>
              </a:solidFill>
              <a:highlight>
                <a:srgbClr val="FFFFFF"/>
              </a:highlight>
              <a:latin typeface="Times New Roman"/>
              <a:ea typeface="Times New Roman"/>
              <a:cs typeface="Times New Roman"/>
              <a:sym typeface="Times New Roman"/>
            </a:endParaRPr>
          </a:p>
          <a:p>
            <a:pPr indent="-342900" lvl="1" marL="914400" rtl="0" algn="just">
              <a:lnSpc>
                <a:spcPct val="115000"/>
              </a:lnSpc>
              <a:spcBef>
                <a:spcPts val="0"/>
              </a:spcBef>
              <a:spcAft>
                <a:spcPts val="0"/>
              </a:spcAft>
              <a:buClr>
                <a:srgbClr val="000000"/>
              </a:buClr>
              <a:buSzPts val="1800"/>
              <a:buFont typeface="Times New Roman"/>
              <a:buChar char="○"/>
            </a:pPr>
            <a:r>
              <a:rPr lang="en-GB" sz="1800">
                <a:solidFill>
                  <a:srgbClr val="273239"/>
                </a:solidFill>
                <a:latin typeface="Times New Roman"/>
                <a:ea typeface="Times New Roman"/>
                <a:cs typeface="Times New Roman"/>
                <a:sym typeface="Times New Roman"/>
              </a:rPr>
              <a:t>The dirty bit indicates whether the data in a cache line has been </a:t>
            </a:r>
            <a:r>
              <a:rPr b="1" lang="en-GB" sz="1800">
                <a:solidFill>
                  <a:srgbClr val="273239"/>
                </a:solidFill>
                <a:latin typeface="Times New Roman"/>
                <a:ea typeface="Times New Roman"/>
                <a:cs typeface="Times New Roman"/>
                <a:sym typeface="Times New Roman"/>
              </a:rPr>
              <a:t>modified </a:t>
            </a:r>
            <a:r>
              <a:rPr lang="en-GB" sz="1800">
                <a:solidFill>
                  <a:srgbClr val="273239"/>
                </a:solidFill>
                <a:latin typeface="Times New Roman"/>
                <a:ea typeface="Times New Roman"/>
                <a:cs typeface="Times New Roman"/>
                <a:sym typeface="Times New Roman"/>
              </a:rPr>
              <a:t>compared to main memory.</a:t>
            </a:r>
            <a:endParaRPr sz="1800">
              <a:solidFill>
                <a:srgbClr val="273239"/>
              </a:solidFill>
              <a:latin typeface="Times New Roman"/>
              <a:ea typeface="Times New Roman"/>
              <a:cs typeface="Times New Roman"/>
              <a:sym typeface="Times New Roman"/>
            </a:endParaRPr>
          </a:p>
          <a:p>
            <a:pPr indent="-342900" lvl="1" marL="914400" rtl="0" algn="just">
              <a:lnSpc>
                <a:spcPct val="115000"/>
              </a:lnSpc>
              <a:spcBef>
                <a:spcPts val="0"/>
              </a:spcBef>
              <a:spcAft>
                <a:spcPts val="0"/>
              </a:spcAft>
              <a:buClr>
                <a:srgbClr val="000000"/>
              </a:buClr>
              <a:buSzPts val="1800"/>
              <a:buFont typeface="Times New Roman"/>
              <a:buChar char="○"/>
            </a:pPr>
            <a:r>
              <a:rPr lang="en-GB" sz="1800">
                <a:solidFill>
                  <a:srgbClr val="273239"/>
                </a:solidFill>
                <a:latin typeface="Times New Roman"/>
                <a:ea typeface="Times New Roman"/>
                <a:cs typeface="Times New Roman"/>
                <a:sym typeface="Times New Roman"/>
              </a:rPr>
              <a:t>If dirty bit = </a:t>
            </a:r>
            <a:r>
              <a:rPr b="1" lang="en-GB" sz="1800">
                <a:solidFill>
                  <a:srgbClr val="273239"/>
                </a:solidFill>
                <a:latin typeface="Times New Roman"/>
                <a:ea typeface="Times New Roman"/>
                <a:cs typeface="Times New Roman"/>
                <a:sym typeface="Times New Roman"/>
              </a:rPr>
              <a:t>1</a:t>
            </a:r>
            <a:r>
              <a:rPr lang="en-GB" sz="1800">
                <a:solidFill>
                  <a:srgbClr val="273239"/>
                </a:solidFill>
                <a:latin typeface="Times New Roman"/>
                <a:ea typeface="Times New Roman"/>
                <a:cs typeface="Times New Roman"/>
                <a:sym typeface="Times New Roman"/>
              </a:rPr>
              <a:t>, the cache contains </a:t>
            </a:r>
            <a:r>
              <a:rPr b="1" lang="en-GB" sz="1800">
                <a:solidFill>
                  <a:srgbClr val="273239"/>
                </a:solidFill>
                <a:latin typeface="Times New Roman"/>
                <a:ea typeface="Times New Roman"/>
                <a:cs typeface="Times New Roman"/>
                <a:sym typeface="Times New Roman"/>
              </a:rPr>
              <a:t>updated/modified</a:t>
            </a:r>
            <a:r>
              <a:rPr lang="en-GB" sz="1800">
                <a:solidFill>
                  <a:srgbClr val="273239"/>
                </a:solidFill>
                <a:latin typeface="Times New Roman"/>
                <a:ea typeface="Times New Roman"/>
                <a:cs typeface="Times New Roman"/>
                <a:sym typeface="Times New Roman"/>
              </a:rPr>
              <a:t> data that must be written back to memory before eviction.</a:t>
            </a:r>
            <a:endParaRPr sz="1800">
              <a:solidFill>
                <a:srgbClr val="273239"/>
              </a:solidFill>
              <a:latin typeface="Times New Roman"/>
              <a:ea typeface="Times New Roman"/>
              <a:cs typeface="Times New Roman"/>
              <a:sym typeface="Times New Roman"/>
            </a:endParaRPr>
          </a:p>
          <a:p>
            <a:pPr indent="-342900" lvl="1" marL="914400" rtl="0" algn="just">
              <a:lnSpc>
                <a:spcPct val="115000"/>
              </a:lnSpc>
              <a:spcBef>
                <a:spcPts val="0"/>
              </a:spcBef>
              <a:spcAft>
                <a:spcPts val="0"/>
              </a:spcAft>
              <a:buClr>
                <a:srgbClr val="000000"/>
              </a:buClr>
              <a:buSzPts val="1800"/>
              <a:buFont typeface="Times New Roman"/>
              <a:buChar char="○"/>
            </a:pPr>
            <a:r>
              <a:rPr lang="en-GB" sz="1800">
                <a:solidFill>
                  <a:srgbClr val="273239"/>
                </a:solidFill>
                <a:latin typeface="Times New Roman"/>
                <a:ea typeface="Times New Roman"/>
                <a:cs typeface="Times New Roman"/>
                <a:sym typeface="Times New Roman"/>
              </a:rPr>
              <a:t>If dirty bit = </a:t>
            </a:r>
            <a:r>
              <a:rPr b="1" lang="en-GB" sz="1800">
                <a:solidFill>
                  <a:srgbClr val="273239"/>
                </a:solidFill>
                <a:latin typeface="Times New Roman"/>
                <a:ea typeface="Times New Roman"/>
                <a:cs typeface="Times New Roman"/>
                <a:sym typeface="Times New Roman"/>
              </a:rPr>
              <a:t>0,</a:t>
            </a:r>
            <a:r>
              <a:rPr lang="en-GB" sz="1800">
                <a:solidFill>
                  <a:srgbClr val="273239"/>
                </a:solidFill>
                <a:latin typeface="Times New Roman"/>
                <a:ea typeface="Times New Roman"/>
                <a:cs typeface="Times New Roman"/>
                <a:sym typeface="Times New Roman"/>
              </a:rPr>
              <a:t> the data in the cache is </a:t>
            </a:r>
            <a:r>
              <a:rPr b="1" lang="en-GB" sz="1800">
                <a:solidFill>
                  <a:srgbClr val="273239"/>
                </a:solidFill>
                <a:latin typeface="Times New Roman"/>
                <a:ea typeface="Times New Roman"/>
                <a:cs typeface="Times New Roman"/>
                <a:sym typeface="Times New Roman"/>
              </a:rPr>
              <a:t>clean</a:t>
            </a:r>
            <a:r>
              <a:rPr lang="en-GB" sz="1800">
                <a:solidFill>
                  <a:srgbClr val="273239"/>
                </a:solidFill>
                <a:latin typeface="Times New Roman"/>
                <a:ea typeface="Times New Roman"/>
                <a:cs typeface="Times New Roman"/>
                <a:sym typeface="Times New Roman"/>
              </a:rPr>
              <a:t> and matches main memory, so no write-back is needed.</a:t>
            </a:r>
            <a:endParaRPr sz="1800">
              <a:solidFill>
                <a:srgbClr val="273239"/>
              </a:solidFill>
              <a:latin typeface="Times New Roman"/>
              <a:ea typeface="Times New Roman"/>
              <a:cs typeface="Times New Roman"/>
              <a:sym typeface="Times New Roman"/>
            </a:endParaRPr>
          </a:p>
          <a:p>
            <a:pPr indent="-342900" lvl="1" marL="914400" rtl="0" algn="just">
              <a:lnSpc>
                <a:spcPct val="115000"/>
              </a:lnSpc>
              <a:spcBef>
                <a:spcPts val="0"/>
              </a:spcBef>
              <a:spcAft>
                <a:spcPts val="0"/>
              </a:spcAft>
              <a:buClr>
                <a:srgbClr val="000000"/>
              </a:buClr>
              <a:buSzPts val="1800"/>
              <a:buFont typeface="Times New Roman"/>
              <a:buChar char="○"/>
            </a:pPr>
            <a:r>
              <a:rPr lang="en-GB" sz="1800">
                <a:solidFill>
                  <a:srgbClr val="273239"/>
                </a:solidFill>
                <a:latin typeface="Times New Roman"/>
                <a:ea typeface="Times New Roman"/>
                <a:cs typeface="Times New Roman"/>
                <a:sym typeface="Times New Roman"/>
              </a:rPr>
              <a:t>Dirty bit is mainly used in </a:t>
            </a:r>
            <a:r>
              <a:rPr b="1" lang="en-GB" sz="1800">
                <a:solidFill>
                  <a:srgbClr val="273239"/>
                </a:solidFill>
                <a:latin typeface="Times New Roman"/>
                <a:ea typeface="Times New Roman"/>
                <a:cs typeface="Times New Roman"/>
                <a:sym typeface="Times New Roman"/>
              </a:rPr>
              <a:t>write-back caching</a:t>
            </a:r>
            <a:r>
              <a:rPr lang="en-GB" sz="1800">
                <a:solidFill>
                  <a:srgbClr val="273239"/>
                </a:solidFill>
                <a:latin typeface="Times New Roman"/>
                <a:ea typeface="Times New Roman"/>
                <a:cs typeface="Times New Roman"/>
                <a:sym typeface="Times New Roman"/>
              </a:rPr>
              <a:t> to reduce unnecessary writes to main memory</a:t>
            </a:r>
            <a:endParaRPr sz="1800">
              <a:solidFill>
                <a:srgbClr val="000000"/>
              </a:solidFill>
              <a:highlight>
                <a:schemeClr val="lt1"/>
              </a:highlight>
              <a:latin typeface="Times New Roman"/>
              <a:ea typeface="Times New Roman"/>
              <a:cs typeface="Times New Roman"/>
              <a:sym typeface="Times New Roman"/>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45"/>
          <p:cNvSpPr txBox="1"/>
          <p:nvPr>
            <p:ph type="title"/>
          </p:nvPr>
        </p:nvSpPr>
        <p:spPr>
          <a:xfrm>
            <a:off x="243000" y="0"/>
            <a:ext cx="8589300" cy="4383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ROM</a:t>
            </a:r>
            <a:endParaRPr/>
          </a:p>
          <a:p>
            <a:pPr indent="0" lvl="0" marL="0" rtl="0" algn="l">
              <a:spcBef>
                <a:spcPts val="0"/>
              </a:spcBef>
              <a:spcAft>
                <a:spcPts val="0"/>
              </a:spcAft>
              <a:buNone/>
            </a:pPr>
            <a:r>
              <a:t/>
            </a:r>
            <a:endParaRPr/>
          </a:p>
        </p:txBody>
      </p:sp>
      <p:sp>
        <p:nvSpPr>
          <p:cNvPr id="236" name="Google Shape;236;p45"/>
          <p:cNvSpPr txBox="1"/>
          <p:nvPr>
            <p:ph idx="1" type="body"/>
          </p:nvPr>
        </p:nvSpPr>
        <p:spPr>
          <a:xfrm>
            <a:off x="311700" y="522800"/>
            <a:ext cx="8729700" cy="4467000"/>
          </a:xfrm>
          <a:prstGeom prst="rect">
            <a:avLst/>
          </a:prstGeom>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342900" lvl="0" marL="457200" rtl="0" algn="just">
              <a:lnSpc>
                <a:spcPct val="150000"/>
              </a:lnSpc>
              <a:spcBef>
                <a:spcPts val="0"/>
              </a:spcBef>
              <a:spcAft>
                <a:spcPts val="0"/>
              </a:spcAft>
              <a:buClr>
                <a:srgbClr val="000000"/>
              </a:buClr>
              <a:buSzPts val="1800"/>
              <a:buFont typeface="Times New Roman"/>
              <a:buChar char="●"/>
            </a:pPr>
            <a:r>
              <a:rPr lang="en-GB">
                <a:solidFill>
                  <a:srgbClr val="000000"/>
                </a:solidFill>
                <a:highlight>
                  <a:schemeClr val="lt1"/>
                </a:highlight>
                <a:latin typeface="Times New Roman"/>
                <a:ea typeface="Times New Roman"/>
                <a:cs typeface="Times New Roman"/>
                <a:sym typeface="Times New Roman"/>
              </a:rPr>
              <a:t> ROM is a non-volatile memory, meaning it permanently stores data even when power is turned off.</a:t>
            </a:r>
            <a:endParaRPr>
              <a:solidFill>
                <a:srgbClr val="000000"/>
              </a:solidFill>
              <a:highlight>
                <a:schemeClr val="lt1"/>
              </a:highlight>
              <a:latin typeface="Times New Roman"/>
              <a:ea typeface="Times New Roman"/>
              <a:cs typeface="Times New Roman"/>
              <a:sym typeface="Times New Roman"/>
            </a:endParaRPr>
          </a:p>
          <a:p>
            <a:pPr indent="-342900" lvl="0" marL="457200" rtl="0" algn="just">
              <a:lnSpc>
                <a:spcPct val="150000"/>
              </a:lnSpc>
              <a:spcBef>
                <a:spcPts val="0"/>
              </a:spcBef>
              <a:spcAft>
                <a:spcPts val="0"/>
              </a:spcAft>
              <a:buClr>
                <a:srgbClr val="000000"/>
              </a:buClr>
              <a:buSzPts val="1800"/>
              <a:buFont typeface="Times New Roman"/>
              <a:buChar char="●"/>
            </a:pPr>
            <a:r>
              <a:rPr lang="en-GB">
                <a:solidFill>
                  <a:srgbClr val="000000"/>
                </a:solidFill>
                <a:highlight>
                  <a:schemeClr val="lt1"/>
                </a:highlight>
                <a:latin typeface="Times New Roman"/>
                <a:ea typeface="Times New Roman"/>
                <a:cs typeface="Times New Roman"/>
                <a:sym typeface="Times New Roman"/>
              </a:rPr>
              <a:t>It contains pre-programmed instructions, usually written during manufacturing and cannot be easily modified.</a:t>
            </a:r>
            <a:endParaRPr>
              <a:solidFill>
                <a:srgbClr val="000000"/>
              </a:solidFill>
              <a:highlight>
                <a:schemeClr val="lt1"/>
              </a:highlight>
              <a:latin typeface="Times New Roman"/>
              <a:ea typeface="Times New Roman"/>
              <a:cs typeface="Times New Roman"/>
              <a:sym typeface="Times New Roman"/>
            </a:endParaRPr>
          </a:p>
          <a:p>
            <a:pPr indent="-342900" lvl="0" marL="457200" rtl="0" algn="just">
              <a:lnSpc>
                <a:spcPct val="150000"/>
              </a:lnSpc>
              <a:spcBef>
                <a:spcPts val="0"/>
              </a:spcBef>
              <a:spcAft>
                <a:spcPts val="0"/>
              </a:spcAft>
              <a:buClr>
                <a:srgbClr val="000000"/>
              </a:buClr>
              <a:buSzPts val="1800"/>
              <a:buFont typeface="Times New Roman"/>
              <a:buChar char="●"/>
            </a:pPr>
            <a:r>
              <a:rPr lang="en-GB">
                <a:solidFill>
                  <a:srgbClr val="000000"/>
                </a:solidFill>
                <a:highlight>
                  <a:schemeClr val="lt1"/>
                </a:highlight>
                <a:latin typeface="Times New Roman"/>
                <a:ea typeface="Times New Roman"/>
                <a:cs typeface="Times New Roman"/>
                <a:sym typeface="Times New Roman"/>
              </a:rPr>
              <a:t>Used to store firmware, bootloaders, and essential system code that the computer needs during startup.</a:t>
            </a:r>
            <a:endParaRPr>
              <a:solidFill>
                <a:srgbClr val="000000"/>
              </a:solidFill>
              <a:highlight>
                <a:schemeClr val="lt1"/>
              </a:highlight>
              <a:latin typeface="Times New Roman"/>
              <a:ea typeface="Times New Roman"/>
              <a:cs typeface="Times New Roman"/>
              <a:sym typeface="Times New Roman"/>
            </a:endParaRPr>
          </a:p>
          <a:p>
            <a:pPr indent="-342900" lvl="0" marL="457200" rtl="0" algn="just">
              <a:lnSpc>
                <a:spcPct val="150000"/>
              </a:lnSpc>
              <a:spcBef>
                <a:spcPts val="0"/>
              </a:spcBef>
              <a:spcAft>
                <a:spcPts val="0"/>
              </a:spcAft>
              <a:buClr>
                <a:srgbClr val="000000"/>
              </a:buClr>
              <a:buSzPts val="1800"/>
              <a:buFont typeface="Times New Roman"/>
              <a:buChar char="●"/>
            </a:pPr>
            <a:r>
              <a:rPr lang="en-GB">
                <a:solidFill>
                  <a:srgbClr val="000000"/>
                </a:solidFill>
                <a:highlight>
                  <a:schemeClr val="lt1"/>
                </a:highlight>
                <a:latin typeface="Times New Roman"/>
                <a:ea typeface="Times New Roman"/>
                <a:cs typeface="Times New Roman"/>
                <a:sym typeface="Times New Roman"/>
              </a:rPr>
              <a:t>ROM is more reliable than RAM because the stored data does not change or get erased accidentally.</a:t>
            </a:r>
            <a:endParaRPr>
              <a:solidFill>
                <a:srgbClr val="000000"/>
              </a:solidFill>
              <a:highlight>
                <a:schemeClr val="lt1"/>
              </a:highlight>
              <a:latin typeface="Times New Roman"/>
              <a:ea typeface="Times New Roman"/>
              <a:cs typeface="Times New Roman"/>
              <a:sym typeface="Times New Roman"/>
            </a:endParaRPr>
          </a:p>
          <a:p>
            <a:pPr indent="-342900" lvl="0" marL="457200" rtl="0" algn="just">
              <a:lnSpc>
                <a:spcPct val="150000"/>
              </a:lnSpc>
              <a:spcBef>
                <a:spcPts val="0"/>
              </a:spcBef>
              <a:spcAft>
                <a:spcPts val="0"/>
              </a:spcAft>
              <a:buClr>
                <a:srgbClr val="000000"/>
              </a:buClr>
              <a:buSzPts val="1800"/>
              <a:buFont typeface="Times New Roman"/>
              <a:buChar char="●"/>
            </a:pPr>
            <a:r>
              <a:rPr lang="en-GB">
                <a:solidFill>
                  <a:srgbClr val="000000"/>
                </a:solidFill>
                <a:highlight>
                  <a:schemeClr val="lt1"/>
                </a:highlight>
                <a:latin typeface="Times New Roman"/>
                <a:ea typeface="Times New Roman"/>
                <a:cs typeface="Times New Roman"/>
                <a:sym typeface="Times New Roman"/>
              </a:rPr>
              <a:t>Types of ROM include PROM, EPROM, and EEPROM, FLash each offering different levels of re programmability.</a:t>
            </a:r>
            <a:endParaRPr sz="1800">
              <a:solidFill>
                <a:srgbClr val="000000"/>
              </a:solidFill>
              <a:highlight>
                <a:schemeClr val="lt1"/>
              </a:highlight>
              <a:latin typeface="Times New Roman"/>
              <a:ea typeface="Times New Roman"/>
              <a:cs typeface="Times New Roman"/>
              <a:sym typeface="Times New Roman"/>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p46"/>
          <p:cNvSpPr txBox="1"/>
          <p:nvPr>
            <p:ph type="ctrTitle"/>
          </p:nvPr>
        </p:nvSpPr>
        <p:spPr>
          <a:xfrm>
            <a:off x="1004150" y="1751764"/>
            <a:ext cx="7136700" cy="10224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GB"/>
              <a:t>Thank You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Tropic">
  <a:themeElements>
    <a:clrScheme name="Tropic">
      <a:dk1>
        <a:srgbClr val="A1E8D9"/>
      </a:dk1>
      <a:lt1>
        <a:srgbClr val="FFFFFF"/>
      </a:lt1>
      <a:dk2>
        <a:srgbClr val="695D46"/>
      </a:dk2>
      <a:lt2>
        <a:srgbClr val="B3A77D"/>
      </a:lt2>
      <a:accent1>
        <a:srgbClr val="EF6C00"/>
      </a:accent1>
      <a:accent2>
        <a:srgbClr val="CE93D8"/>
      </a:accent2>
      <a:accent3>
        <a:srgbClr val="4DB6AC"/>
      </a:accent3>
      <a:accent4>
        <a:srgbClr val="FF9800"/>
      </a:accent4>
      <a:accent5>
        <a:srgbClr val="009668"/>
      </a:accent5>
      <a:accent6>
        <a:srgbClr val="EEFF41"/>
      </a:accent6>
      <a:hlink>
        <a:srgbClr val="009668"/>
      </a:hlink>
      <a:folHlink>
        <a:srgbClr val="00966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