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y="5143500" cx="9144000"/>
  <p:notesSz cx="6858000" cy="9144000"/>
  <p:embeddedFontLst>
    <p:embeddedFont>
      <p:font typeface="PT Sans Narrow"/>
      <p:regular r:id="rId29"/>
      <p:bold r:id="rId30"/>
    </p:embeddedFont>
    <p:embeddedFont>
      <p:font typeface="Merriweather"/>
      <p:regular r:id="rId31"/>
      <p:bold r:id="rId32"/>
      <p:italic r:id="rId33"/>
      <p:boldItalic r:id="rId34"/>
    </p:embeddedFont>
    <p:embeddedFont>
      <p:font typeface="Open Sans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PTSansNarrow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Merriweather-regular.fntdata"/><Relationship Id="rId30" Type="http://schemas.openxmlformats.org/officeDocument/2006/relationships/font" Target="fonts/PTSansNarrow-bold.fntdata"/><Relationship Id="rId11" Type="http://schemas.openxmlformats.org/officeDocument/2006/relationships/slide" Target="slides/slide5.xml"/><Relationship Id="rId33" Type="http://schemas.openxmlformats.org/officeDocument/2006/relationships/font" Target="fonts/Merriweather-italic.fntdata"/><Relationship Id="rId10" Type="http://schemas.openxmlformats.org/officeDocument/2006/relationships/slide" Target="slides/slide4.xml"/><Relationship Id="rId32" Type="http://schemas.openxmlformats.org/officeDocument/2006/relationships/font" Target="fonts/Merriweather-bold.fntdata"/><Relationship Id="rId13" Type="http://schemas.openxmlformats.org/officeDocument/2006/relationships/slide" Target="slides/slide7.xml"/><Relationship Id="rId35" Type="http://schemas.openxmlformats.org/officeDocument/2006/relationships/font" Target="fonts/OpenSans-regular.fntdata"/><Relationship Id="rId12" Type="http://schemas.openxmlformats.org/officeDocument/2006/relationships/slide" Target="slides/slide6.xml"/><Relationship Id="rId34" Type="http://schemas.openxmlformats.org/officeDocument/2006/relationships/font" Target="fonts/Merriweather-boldItalic.fntdata"/><Relationship Id="rId15" Type="http://schemas.openxmlformats.org/officeDocument/2006/relationships/slide" Target="slides/slide9.xml"/><Relationship Id="rId37" Type="http://schemas.openxmlformats.org/officeDocument/2006/relationships/font" Target="fonts/OpenSans-italic.fntdata"/><Relationship Id="rId14" Type="http://schemas.openxmlformats.org/officeDocument/2006/relationships/slide" Target="slides/slide8.xml"/><Relationship Id="rId36" Type="http://schemas.openxmlformats.org/officeDocument/2006/relationships/font" Target="fonts/OpenSans-bold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38" Type="http://schemas.openxmlformats.org/officeDocument/2006/relationships/font" Target="fonts/OpenSans-bold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a6c1708efe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a6c1708efe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a6c1708efe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a6c1708efe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a6c1708efe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a6c1708efe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a6c1708efe_0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a6c1708efe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a6c1708efe_0_2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a6c1708efe_0_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a6c1708efe_0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a6c1708efe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a6c1708efe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a6c1708efe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a6c1708efe_0_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a6c1708efe_0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a6c1708efe_0_1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a6c1708efe_0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a6c1708efe_0_2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a6c1708efe_0_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b05b845fd2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b05b845fd2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b05b845fd2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b05b845fd2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b05b845fd2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b05b845fd2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b05b845fd2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b05b845fd2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b05b845fd2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b05b845fd2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b05b845fd2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b05b845fd2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b05b845fd2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b05b845fd2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b05b845fd2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b05b845fd2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b05b845fd2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b05b845fd2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b05b845fd2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3b05b845fd2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b05b845fd2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3b05b845fd2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a6c1708efe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a6c1708efe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5" name="Google Shape;55;p14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6" name="Google Shape;56;p14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57" name="Google Shape;57;p14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58" name="Google Shape;58;p14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9" name="Google Shape;59;p14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60" name="Google Shape;60;p14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61" name="Google Shape;61;p14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2" name="Google Shape;62;p14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63" name="Google Shape;63;p14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64" name="Google Shape;64;p14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5" name="Google Shape;65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69" name="Google Shape;69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4" name="Google Shape;7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" type="body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8" name="Google Shape;78;p17"/>
          <p:cNvSpPr txBox="1"/>
          <p:nvPr>
            <p:ph idx="2" type="body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9" name="Google Shape;7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8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82" name="Google Shape;8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5" name="Google Shape;8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6" name="Google Shape;8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6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0"/>
          <p:cNvSpPr txBox="1"/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9" name="Google Shape;8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1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2" name="Google Shape;92;p21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3" name="Google Shape;93;p21"/>
          <p:cNvSpPr txBox="1"/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94" name="Google Shape;94;p21"/>
          <p:cNvSpPr txBox="1"/>
          <p:nvPr>
            <p:ph idx="1" type="subTitle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95" name="Google Shape;95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6" name="Google Shape;96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2"/>
          <p:cNvSpPr txBox="1"/>
          <p:nvPr>
            <p:ph idx="1" type="body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/>
        </p:txBody>
      </p:sp>
      <p:sp>
        <p:nvSpPr>
          <p:cNvPr id="99" name="Google Shape;99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3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23"/>
          <p:cNvSpPr txBox="1"/>
          <p:nvPr>
            <p:ph hasCustomPrompt="1" type="title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3" name="Google Shape;103;p23"/>
          <p:cNvSpPr txBox="1"/>
          <p:nvPr>
            <p:ph idx="1" type="body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4" name="Google Shape;104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tropic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5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457200" lvl="0" marL="1828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Power</a:t>
            </a:r>
            <a:endParaRPr/>
          </a:p>
        </p:txBody>
      </p:sp>
      <p:sp>
        <p:nvSpPr>
          <p:cNvPr id="112" name="Google Shape;112;p25"/>
          <p:cNvSpPr txBox="1"/>
          <p:nvPr>
            <p:ph idx="1" type="subTitle"/>
          </p:nvPr>
        </p:nvSpPr>
        <p:spPr>
          <a:xfrm>
            <a:off x="2513950" y="2774175"/>
            <a:ext cx="42978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/>
          </a:bodyPr>
          <a:lstStyle/>
          <a:p>
            <a:pPr indent="0" lvl="0" marL="22860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    K.LOKESH</a:t>
            </a:r>
            <a:endParaRPr b="1" sz="3600">
              <a:solidFill>
                <a:schemeClr val="accent1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45720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57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Chipweave Technologies Private Limited</a:t>
            </a:r>
            <a:endParaRPr b="1" sz="2257">
              <a:solidFill>
                <a:schemeClr val="accent1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6"/>
          <p:cNvSpPr txBox="1"/>
          <p:nvPr>
            <p:ph type="title"/>
          </p:nvPr>
        </p:nvSpPr>
        <p:spPr>
          <a:xfrm>
            <a:off x="243000" y="0"/>
            <a:ext cx="8589300" cy="4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3000"/>
              </a:spcAft>
              <a:buSzPts val="990"/>
              <a:buNone/>
            </a:pPr>
            <a:r>
              <a:rPr lang="en-GB" sz="2820"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sz="3900"/>
          </a:p>
        </p:txBody>
      </p:sp>
      <p:sp>
        <p:nvSpPr>
          <p:cNvPr id="118" name="Google Shape;118;p26"/>
          <p:cNvSpPr txBox="1"/>
          <p:nvPr>
            <p:ph idx="1" type="body"/>
          </p:nvPr>
        </p:nvSpPr>
        <p:spPr>
          <a:xfrm>
            <a:off x="115600" y="522800"/>
            <a:ext cx="8925900" cy="44670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VLSI (Very Large-Scale Integration) packs millions/billions of transistors onto a single chip.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the present era of VLSI design for low power is one of the major concerns in complex integrated circuits.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Due to higher levels of integration density, tens of millions of gates are being implemented on a relatively small die.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leads to increase in power density and total power dissipation</a:t>
            </a:r>
            <a:r>
              <a:rPr b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 technology scales down, power consumption becomes a major challenge in IC design.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 lower technology nodes like from 65-nm designs, leakage power dominates the dynamic power.</a:t>
            </a:r>
            <a:br>
              <a:rPr b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000">
              <a:solidFill>
                <a:srgbClr val="000000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None/>
            </a:pPr>
            <a:r>
              <a:t/>
            </a:r>
            <a:endParaRPr sz="2000">
              <a:solidFill>
                <a:srgbClr val="2021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7"/>
          <p:cNvSpPr txBox="1"/>
          <p:nvPr>
            <p:ph type="title"/>
          </p:nvPr>
        </p:nvSpPr>
        <p:spPr>
          <a:xfrm>
            <a:off x="243000" y="0"/>
            <a:ext cx="8589300" cy="4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3000"/>
              </a:spcAft>
              <a:buSzPts val="990"/>
              <a:buNone/>
            </a:pPr>
            <a:r>
              <a:rPr lang="en-GB" sz="2820"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Energy versus Power</a:t>
            </a:r>
            <a:endParaRPr sz="3900"/>
          </a:p>
        </p:txBody>
      </p:sp>
      <p:sp>
        <p:nvSpPr>
          <p:cNvPr id="124" name="Google Shape;124;p27"/>
          <p:cNvSpPr txBox="1"/>
          <p:nvPr>
            <p:ph idx="1" type="body"/>
          </p:nvPr>
        </p:nvSpPr>
        <p:spPr>
          <a:xfrm>
            <a:off x="115600" y="522800"/>
            <a:ext cx="8925900" cy="44670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Energy is the capacity to do some physical activities or work,while power is defined as the rate at which the energy is transferred, or the work is completed.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unit used to measure energy is </a:t>
            </a:r>
            <a:r>
              <a:rPr b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joules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Power is measured in </a:t>
            </a:r>
            <a:r>
              <a:rPr b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watts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 = E / t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○"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 – Power 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○"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 – Energy  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○"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 – Time taken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30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just">
              <a:lnSpc>
                <a:spcPct val="150000"/>
              </a:lnSpc>
              <a:spcBef>
                <a:spcPts val="3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None/>
            </a:pPr>
            <a:r>
              <a:t/>
            </a:r>
            <a:endParaRPr sz="2000">
              <a:solidFill>
                <a:srgbClr val="2021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8"/>
          <p:cNvSpPr txBox="1"/>
          <p:nvPr>
            <p:ph type="title"/>
          </p:nvPr>
        </p:nvSpPr>
        <p:spPr>
          <a:xfrm>
            <a:off x="243000" y="0"/>
            <a:ext cx="8589300" cy="4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3000"/>
              </a:spcAft>
              <a:buSzPts val="990"/>
              <a:buNone/>
            </a:pPr>
            <a:r>
              <a:rPr lang="en-GB" sz="2820"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Energy versus Power</a:t>
            </a:r>
            <a:endParaRPr sz="3900"/>
          </a:p>
        </p:txBody>
      </p:sp>
      <p:sp>
        <p:nvSpPr>
          <p:cNvPr id="130" name="Google Shape;130;p28"/>
          <p:cNvSpPr txBox="1"/>
          <p:nvPr>
            <p:ph idx="1" type="body"/>
          </p:nvPr>
        </p:nvSpPr>
        <p:spPr>
          <a:xfrm>
            <a:off x="115600" y="753900"/>
            <a:ext cx="8925900" cy="36159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total power for a VLSI circuit consists of two components: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○"/>
            </a:pPr>
            <a:r>
              <a:rPr lang="en-GB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dynamic power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○"/>
            </a:pPr>
            <a:r>
              <a:rPr lang="en-GB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static power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b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Dynamic power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the power consumed when the device is active, that is, when signals are changing values.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b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Static power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the power consumed when the device is powered up but no signals are changing value.</a:t>
            </a:r>
            <a:b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just">
              <a:lnSpc>
                <a:spcPct val="150000"/>
              </a:lnSpc>
              <a:spcBef>
                <a:spcPts val="3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None/>
            </a:pPr>
            <a:r>
              <a:t/>
            </a:r>
            <a:endParaRPr sz="2000">
              <a:solidFill>
                <a:srgbClr val="2021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9"/>
          <p:cNvSpPr txBox="1"/>
          <p:nvPr>
            <p:ph idx="1" type="body"/>
          </p:nvPr>
        </p:nvSpPr>
        <p:spPr>
          <a:xfrm>
            <a:off x="115600" y="522800"/>
            <a:ext cx="8925900" cy="44670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just">
              <a:lnSpc>
                <a:spcPct val="150000"/>
              </a:lnSpc>
              <a:spcBef>
                <a:spcPts val="3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None/>
            </a:pPr>
            <a:r>
              <a:t/>
            </a:r>
            <a:endParaRPr sz="2000">
              <a:solidFill>
                <a:srgbClr val="2021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6" name="Google Shape;136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600" y="103050"/>
            <a:ext cx="8925900" cy="488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0"/>
          <p:cNvSpPr txBox="1"/>
          <p:nvPr>
            <p:ph type="title"/>
          </p:nvPr>
        </p:nvSpPr>
        <p:spPr>
          <a:xfrm>
            <a:off x="243000" y="0"/>
            <a:ext cx="8589300" cy="4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820"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Dynamic </a:t>
            </a:r>
            <a:r>
              <a:rPr lang="en-GB" sz="2820"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Power</a:t>
            </a:r>
            <a:endParaRPr sz="3900"/>
          </a:p>
          <a:p>
            <a:pPr indent="0" lvl="0" marL="0" rtl="0" algn="l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SzPts val="990"/>
              <a:buNone/>
            </a:pPr>
            <a:r>
              <a:t/>
            </a:r>
            <a:endParaRPr sz="2820"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2" name="Google Shape;142;p30"/>
          <p:cNvSpPr txBox="1"/>
          <p:nvPr>
            <p:ph idx="1" type="body"/>
          </p:nvPr>
        </p:nvSpPr>
        <p:spPr>
          <a:xfrm>
            <a:off x="115600" y="747200"/>
            <a:ext cx="8648700" cy="34779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Dynamic power is the power consumed when the device is active, that is, when signals are changing values.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is generally categorized into three types: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○"/>
            </a:pPr>
            <a:r>
              <a:rPr lang="en-GB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Switching power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○"/>
            </a:pPr>
            <a:r>
              <a:rPr lang="en-GB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Short-circuit power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○"/>
            </a:pPr>
            <a:r>
              <a:rPr lang="en-GB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Glitching power</a:t>
            </a:r>
            <a:b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just">
              <a:lnSpc>
                <a:spcPct val="150000"/>
              </a:lnSpc>
              <a:spcBef>
                <a:spcPts val="3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None/>
            </a:pPr>
            <a:r>
              <a:t/>
            </a:r>
            <a:endParaRPr sz="2000">
              <a:solidFill>
                <a:srgbClr val="2021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1"/>
          <p:cNvSpPr txBox="1"/>
          <p:nvPr>
            <p:ph type="title"/>
          </p:nvPr>
        </p:nvSpPr>
        <p:spPr>
          <a:xfrm>
            <a:off x="243000" y="0"/>
            <a:ext cx="8589300" cy="4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3000"/>
              </a:spcAft>
              <a:buSzPts val="990"/>
              <a:buNone/>
            </a:pPr>
            <a:r>
              <a:rPr lang="en-GB" sz="2820"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Switching </a:t>
            </a:r>
            <a:r>
              <a:rPr lang="en-GB" sz="2820"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Power</a:t>
            </a:r>
            <a:endParaRPr sz="3900"/>
          </a:p>
        </p:txBody>
      </p:sp>
      <p:sp>
        <p:nvSpPr>
          <p:cNvPr id="148" name="Google Shape;148;p31"/>
          <p:cNvSpPr txBox="1"/>
          <p:nvPr>
            <p:ph idx="1" type="body"/>
          </p:nvPr>
        </p:nvSpPr>
        <p:spPr>
          <a:xfrm>
            <a:off x="115600" y="522800"/>
            <a:ext cx="8925900" cy="44670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 first and primary source of dynamic power consumption is the switching power.</a:t>
            </a:r>
            <a:b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is the power required to charge and discharge the output capacitance on a gate.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3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None/>
            </a:pPr>
            <a:r>
              <a:t/>
            </a:r>
            <a:endParaRPr>
              <a:solidFill>
                <a:srgbClr val="2021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9" name="Google Shape;149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33425" y="1798675"/>
            <a:ext cx="3667125" cy="243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2"/>
          <p:cNvSpPr txBox="1"/>
          <p:nvPr>
            <p:ph type="title"/>
          </p:nvPr>
        </p:nvSpPr>
        <p:spPr>
          <a:xfrm>
            <a:off x="243000" y="0"/>
            <a:ext cx="8589300" cy="4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3000"/>
              </a:spcAft>
              <a:buSzPts val="990"/>
              <a:buNone/>
            </a:pPr>
            <a:r>
              <a:rPr lang="en-GB" sz="2820"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Short Circuit Power</a:t>
            </a:r>
            <a:endParaRPr sz="3900"/>
          </a:p>
        </p:txBody>
      </p:sp>
      <p:sp>
        <p:nvSpPr>
          <p:cNvPr id="155" name="Google Shape;155;p32"/>
          <p:cNvSpPr txBox="1"/>
          <p:nvPr>
            <p:ph idx="1" type="body"/>
          </p:nvPr>
        </p:nvSpPr>
        <p:spPr>
          <a:xfrm>
            <a:off x="115600" y="522800"/>
            <a:ext cx="8925900" cy="45075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Short-circuit currents occur when both PMOS and NMOS transistors on.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spcBef>
                <a:spcPts val="3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spcBef>
                <a:spcPts val="3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3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spcBef>
                <a:spcPts val="3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just">
              <a:spcBef>
                <a:spcPts val="3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Now we consider that input takes some finite time to change, similarly output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So, both transistors are ON for a finite time.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causes a direct path between VDD and GND.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3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3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3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3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None/>
            </a:pPr>
            <a:r>
              <a:t/>
            </a:r>
            <a:endParaRPr>
              <a:solidFill>
                <a:srgbClr val="2021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6" name="Google Shape;156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6400" y="1129073"/>
            <a:ext cx="7277100" cy="2619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3"/>
          <p:cNvSpPr txBox="1"/>
          <p:nvPr>
            <p:ph type="title"/>
          </p:nvPr>
        </p:nvSpPr>
        <p:spPr>
          <a:xfrm>
            <a:off x="243000" y="0"/>
            <a:ext cx="8589300" cy="4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3000"/>
              </a:spcAft>
              <a:buSzPts val="990"/>
              <a:buNone/>
            </a:pPr>
            <a:r>
              <a:rPr lang="en-GB" sz="2820"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Glitching</a:t>
            </a:r>
            <a:r>
              <a:rPr lang="en-GB" sz="2820"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Power</a:t>
            </a:r>
            <a:endParaRPr sz="3900"/>
          </a:p>
        </p:txBody>
      </p:sp>
      <p:sp>
        <p:nvSpPr>
          <p:cNvPr id="162" name="Google Shape;162;p33"/>
          <p:cNvSpPr txBox="1"/>
          <p:nvPr>
            <p:ph idx="1" type="body"/>
          </p:nvPr>
        </p:nvSpPr>
        <p:spPr>
          <a:xfrm>
            <a:off x="115600" y="753900"/>
            <a:ext cx="8925900" cy="33990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glitching power arises due to finite delay of the gates.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Glitches occur because the input signals to a particular logic block arrive at different times, causing a number of intermediate transitions to occur before the output of the logic block stabilizes.</a:t>
            </a:r>
            <a:b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These additional transitions result in power dissipation, which is categorized as the glitching power.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spcBef>
                <a:spcPts val="3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3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3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3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3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None/>
            </a:pPr>
            <a:r>
              <a:t/>
            </a:r>
            <a:endParaRPr>
              <a:solidFill>
                <a:srgbClr val="2021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4"/>
          <p:cNvSpPr txBox="1"/>
          <p:nvPr>
            <p:ph type="title"/>
          </p:nvPr>
        </p:nvSpPr>
        <p:spPr>
          <a:xfrm>
            <a:off x="243000" y="0"/>
            <a:ext cx="8589300" cy="4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3000"/>
              </a:spcAft>
              <a:buSzPts val="990"/>
              <a:buNone/>
            </a:pPr>
            <a:r>
              <a:rPr lang="en-GB" sz="2820"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Static</a:t>
            </a:r>
            <a:r>
              <a:rPr lang="en-GB" sz="2820"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Power</a:t>
            </a:r>
            <a:endParaRPr sz="3900"/>
          </a:p>
        </p:txBody>
      </p:sp>
      <p:sp>
        <p:nvSpPr>
          <p:cNvPr id="168" name="Google Shape;168;p34"/>
          <p:cNvSpPr txBox="1"/>
          <p:nvPr>
            <p:ph idx="1" type="body"/>
          </p:nvPr>
        </p:nvSpPr>
        <p:spPr>
          <a:xfrm>
            <a:off x="115600" y="522800"/>
            <a:ext cx="8925900" cy="45075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●"/>
            </a:pPr>
            <a:r>
              <a:rPr lang="en-GB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Static power dissipation takes place as long as the device is powered ON, even in the absence of signal changes.</a:t>
            </a:r>
            <a:endParaRPr sz="1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●"/>
            </a:pPr>
            <a:r>
              <a:rPr lang="en-GB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Static  power  dissipation  occurs  due  to  various  leakage  mechanisms.</a:t>
            </a:r>
            <a:endParaRPr sz="1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7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20212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●"/>
            </a:pPr>
            <a:r>
              <a:rPr b="1" lang="en-GB" sz="1600">
                <a:solidFill>
                  <a:srgbClr val="202122"/>
                </a:solidFill>
                <a:latin typeface="Arial"/>
                <a:ea typeface="Arial"/>
                <a:cs typeface="Arial"/>
                <a:sym typeface="Arial"/>
              </a:rPr>
              <a:t>I1</a:t>
            </a:r>
            <a:r>
              <a:rPr b="1" lang="en-GB" sz="16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the reverse-bias p–n junction diode leakage current.</a:t>
            </a:r>
            <a:endParaRPr sz="1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●"/>
            </a:pPr>
            <a:r>
              <a:rPr b="1" lang="en-GB" sz="1600">
                <a:solidFill>
                  <a:srgbClr val="202122"/>
                </a:solidFill>
                <a:latin typeface="Arial"/>
                <a:ea typeface="Arial"/>
                <a:cs typeface="Arial"/>
                <a:sym typeface="Arial"/>
              </a:rPr>
              <a:t>I2 </a:t>
            </a:r>
            <a:r>
              <a:rPr lang="en-GB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the r</a:t>
            </a:r>
            <a:r>
              <a:rPr lang="en-GB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everse</a:t>
            </a:r>
            <a:r>
              <a:rPr lang="en-GB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</a:t>
            </a:r>
            <a:r>
              <a:rPr lang="en-GB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biased p</a:t>
            </a:r>
            <a:r>
              <a:rPr lang="en-GB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–</a:t>
            </a:r>
            <a:r>
              <a:rPr lang="en-GB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 junction current due to the</a:t>
            </a:r>
            <a:r>
              <a:rPr lang="en-GB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tunneling  of elections from the valence bond of  the p region to the  conduction bond of the n region, known as band-to- band tunneling current.</a:t>
            </a:r>
            <a:endParaRPr sz="1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3000"/>
              </a:spcAft>
              <a:buNone/>
            </a:pPr>
            <a:r>
              <a:t/>
            </a:r>
            <a:endParaRPr sz="1400">
              <a:solidFill>
                <a:srgbClr val="2021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9" name="Google Shape;169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45300" y="1576500"/>
            <a:ext cx="3444075" cy="1831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5775" y="1422925"/>
            <a:ext cx="3272325" cy="229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5"/>
          <p:cNvSpPr txBox="1"/>
          <p:nvPr>
            <p:ph type="title"/>
          </p:nvPr>
        </p:nvSpPr>
        <p:spPr>
          <a:xfrm>
            <a:off x="243000" y="0"/>
            <a:ext cx="8589300" cy="4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3000"/>
              </a:spcAft>
              <a:buSzPts val="990"/>
              <a:buNone/>
            </a:pPr>
            <a:r>
              <a:rPr lang="en-GB" sz="2820"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Static Power</a:t>
            </a:r>
            <a:endParaRPr sz="3900"/>
          </a:p>
        </p:txBody>
      </p:sp>
      <p:sp>
        <p:nvSpPr>
          <p:cNvPr id="176" name="Google Shape;176;p35"/>
          <p:cNvSpPr txBox="1"/>
          <p:nvPr>
            <p:ph idx="1" type="body"/>
          </p:nvPr>
        </p:nvSpPr>
        <p:spPr>
          <a:xfrm>
            <a:off x="115600" y="753900"/>
            <a:ext cx="8925900" cy="31368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just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●"/>
            </a:pPr>
            <a:r>
              <a:rPr b="1" lang="en-GB" sz="1600">
                <a:solidFill>
                  <a:srgbClr val="202122"/>
                </a:solidFill>
                <a:latin typeface="Arial"/>
                <a:ea typeface="Arial"/>
                <a:cs typeface="Arial"/>
                <a:sym typeface="Arial"/>
              </a:rPr>
              <a:t>I3 </a:t>
            </a:r>
            <a:r>
              <a:rPr lang="en-GB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the Sub-threshold leakage current between source and drain  when the gate voltage is less than the threshold voltage  </a:t>
            </a:r>
            <a:r>
              <a:rPr i="1" lang="en-GB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Vt.</a:t>
            </a:r>
            <a:endParaRPr i="1" sz="1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●"/>
            </a:pPr>
            <a:r>
              <a:rPr b="1" lang="en-GB" sz="1600">
                <a:solidFill>
                  <a:srgbClr val="202122"/>
                </a:solidFill>
                <a:latin typeface="Arial"/>
                <a:ea typeface="Arial"/>
                <a:cs typeface="Arial"/>
                <a:sym typeface="Arial"/>
              </a:rPr>
              <a:t>I4 </a:t>
            </a:r>
            <a:r>
              <a:rPr lang="en-GB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the Oxide-tunneling current due to a reduction in the oxide  thickness.</a:t>
            </a:r>
            <a:endParaRPr sz="1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●"/>
            </a:pPr>
            <a:r>
              <a:rPr b="1" lang="en-GB" sz="1600">
                <a:solidFill>
                  <a:srgbClr val="202122"/>
                </a:solidFill>
                <a:latin typeface="Arial"/>
                <a:ea typeface="Arial"/>
                <a:cs typeface="Arial"/>
                <a:sym typeface="Arial"/>
              </a:rPr>
              <a:t>I5 </a:t>
            </a:r>
            <a:r>
              <a:rPr lang="en-GB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the Gate current due to a hot-carrier injection of elections.</a:t>
            </a:r>
            <a:endParaRPr sz="1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●"/>
            </a:pPr>
            <a:r>
              <a:rPr b="1" lang="en-GB" sz="1600">
                <a:solidFill>
                  <a:srgbClr val="202122"/>
                </a:solidFill>
                <a:latin typeface="Arial"/>
                <a:ea typeface="Arial"/>
                <a:cs typeface="Arial"/>
                <a:sym typeface="Arial"/>
              </a:rPr>
              <a:t>I6 </a:t>
            </a:r>
            <a:r>
              <a:rPr lang="en-GB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the Gate-induced drain-leakage (GIDL) current due to high  field effect in the drain junction.</a:t>
            </a:r>
            <a:endParaRPr sz="1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●"/>
            </a:pPr>
            <a:r>
              <a:rPr b="1" lang="en-GB" sz="1600">
                <a:solidFill>
                  <a:srgbClr val="202122"/>
                </a:solidFill>
                <a:latin typeface="Arial"/>
                <a:ea typeface="Arial"/>
                <a:cs typeface="Arial"/>
                <a:sym typeface="Arial"/>
              </a:rPr>
              <a:t>I7 </a:t>
            </a:r>
            <a:r>
              <a:rPr lang="en-GB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the Channel punch-through current due to close proximity of  the drain and the source in short-channel devices.</a:t>
            </a:r>
            <a:endParaRPr sz="1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30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30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30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30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None/>
            </a:pPr>
            <a:r>
              <a:t/>
            </a:r>
            <a:endParaRPr sz="1400">
              <a:solidFill>
                <a:srgbClr val="2021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6"/>
          <p:cNvSpPr txBox="1"/>
          <p:nvPr>
            <p:ph type="title"/>
          </p:nvPr>
        </p:nvSpPr>
        <p:spPr>
          <a:xfrm>
            <a:off x="243000" y="0"/>
            <a:ext cx="8589300" cy="4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3000"/>
              </a:spcAft>
              <a:buSzPts val="990"/>
              <a:buNone/>
            </a:pPr>
            <a:r>
              <a:rPr lang="en-GB" sz="2820"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Static Power</a:t>
            </a:r>
            <a:endParaRPr sz="3900"/>
          </a:p>
        </p:txBody>
      </p:sp>
      <p:sp>
        <p:nvSpPr>
          <p:cNvPr id="182" name="Google Shape;182;p36"/>
          <p:cNvSpPr txBox="1"/>
          <p:nvPr>
            <p:ph idx="1" type="body"/>
          </p:nvPr>
        </p:nvSpPr>
        <p:spPr>
          <a:xfrm>
            <a:off x="115600" y="708700"/>
            <a:ext cx="8925900" cy="37515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just"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b="1" lang="en-GB">
                <a:solidFill>
                  <a:srgbClr val="2021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subthreshold leakage current</a:t>
            </a:r>
            <a:r>
              <a:rPr lang="en-GB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CMOS circuits is  due to carrier diffusion between the source and the  drain regions of the transistor in weak inversion,  when the gate voltage is below </a:t>
            </a: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Vt.</a:t>
            </a:r>
            <a:endParaRPr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Various  mechanisms  which  affect  threshold leakage current are: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■"/>
            </a:pPr>
            <a:r>
              <a:rPr lang="en-GB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Drain-induced barrier lowering (DIBL)</a:t>
            </a:r>
            <a:endParaRPr sz="1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■"/>
            </a:pPr>
            <a:r>
              <a:rPr lang="en-GB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Body effect</a:t>
            </a:r>
            <a:endParaRPr sz="1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■"/>
            </a:pPr>
            <a:r>
              <a:rPr lang="en-GB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Narrow-width effect</a:t>
            </a:r>
            <a:endParaRPr sz="1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■"/>
            </a:pPr>
            <a:r>
              <a:rPr lang="en-GB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Effect of channel length and </a:t>
            </a:r>
            <a:r>
              <a:rPr i="1" lang="en-GB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baseline="-25000" i="1" lang="en-GB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 </a:t>
            </a:r>
            <a:r>
              <a:rPr i="1" lang="en-GB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roll-off</a:t>
            </a:r>
            <a:endParaRPr i="1" sz="1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■"/>
            </a:pPr>
            <a:r>
              <a:rPr lang="en-GB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Effect of temperature</a:t>
            </a:r>
            <a:endParaRPr sz="1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3000"/>
              </a:spcAft>
              <a:buNone/>
            </a:pPr>
            <a:r>
              <a:t/>
            </a:r>
            <a:endParaRPr>
              <a:solidFill>
                <a:srgbClr val="2021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7"/>
          <p:cNvSpPr txBox="1"/>
          <p:nvPr>
            <p:ph idx="1" type="body"/>
          </p:nvPr>
        </p:nvSpPr>
        <p:spPr>
          <a:xfrm>
            <a:off x="37975" y="57850"/>
            <a:ext cx="9048600" cy="49536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just">
              <a:spcBef>
                <a:spcPts val="1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3000"/>
              </a:spcAft>
              <a:buNone/>
            </a:pPr>
            <a:r>
              <a:t/>
            </a:r>
            <a:endParaRPr>
              <a:solidFill>
                <a:srgbClr val="2021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88" name="Google Shape;188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975" y="121750"/>
            <a:ext cx="8967225" cy="488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8"/>
          <p:cNvSpPr txBox="1"/>
          <p:nvPr>
            <p:ph type="title"/>
          </p:nvPr>
        </p:nvSpPr>
        <p:spPr>
          <a:xfrm>
            <a:off x="243000" y="0"/>
            <a:ext cx="8589300" cy="4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820"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Low Power Design Techniques</a:t>
            </a:r>
            <a:endParaRPr b="0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SzPts val="990"/>
              <a:buNone/>
            </a:pPr>
            <a:r>
              <a:t/>
            </a:r>
            <a:endParaRPr sz="2820"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4" name="Google Shape;194;p38"/>
          <p:cNvSpPr txBox="1"/>
          <p:nvPr>
            <p:ph idx="1" type="body"/>
          </p:nvPr>
        </p:nvSpPr>
        <p:spPr>
          <a:xfrm>
            <a:off x="115600" y="522800"/>
            <a:ext cx="8925900" cy="45075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●"/>
            </a:pPr>
            <a:r>
              <a:rPr b="1" lang="en-GB" sz="2000">
                <a:solidFill>
                  <a:srgbClr val="1A1A1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Clock Gating</a:t>
            </a:r>
            <a:endParaRPr sz="2000">
              <a:solidFill>
                <a:srgbClr val="1A1A1A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○"/>
            </a:pPr>
            <a:r>
              <a:rPr lang="en-GB" sz="1600">
                <a:solidFill>
                  <a:srgbClr val="1A1A1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Fundamentally clock gating means stopping the clock to a logic block when the operations of that block are not needed (or the inputs to the block are not changing). </a:t>
            </a:r>
            <a:endParaRPr sz="1600">
              <a:solidFill>
                <a:srgbClr val="1A1A1A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just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Times New Roman"/>
              <a:buChar char="○"/>
            </a:pPr>
            <a:r>
              <a:rPr lang="en-GB" sz="1600">
                <a:solidFill>
                  <a:srgbClr val="111C24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Turning off the clock signals to certain parts of the IC can greatly reduce power consumption, as the transistors in those areas will not be switching and consuming power.</a:t>
            </a:r>
            <a:endParaRPr sz="1600">
              <a:solidFill>
                <a:srgbClr val="111C24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just">
              <a:spcBef>
                <a:spcPts val="0"/>
              </a:spcBef>
              <a:spcAft>
                <a:spcPts val="0"/>
              </a:spcAft>
              <a:buClr>
                <a:srgbClr val="111C24"/>
              </a:buClr>
              <a:buSzPts val="1600"/>
              <a:buFont typeface="Times New Roman"/>
              <a:buChar char="○"/>
            </a:pPr>
            <a:r>
              <a:rPr lang="en-GB" sz="1600">
                <a:solidFill>
                  <a:srgbClr val="1A1A1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Thus only leakage power dissipation takes place when a circuit/block is clock gated.</a:t>
            </a:r>
            <a:endParaRPr sz="1600">
              <a:solidFill>
                <a:srgbClr val="111C24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30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30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30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30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None/>
            </a:pPr>
            <a:r>
              <a:t/>
            </a:r>
            <a:endParaRPr sz="1400">
              <a:solidFill>
                <a:srgbClr val="2021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95" name="Google Shape;195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74675" y="2480450"/>
            <a:ext cx="6454251" cy="2503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9"/>
          <p:cNvSpPr txBox="1"/>
          <p:nvPr>
            <p:ph type="title"/>
          </p:nvPr>
        </p:nvSpPr>
        <p:spPr>
          <a:xfrm>
            <a:off x="243000" y="0"/>
            <a:ext cx="8589300" cy="4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820"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Low Power Design Techniques</a:t>
            </a:r>
            <a:endParaRPr b="0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SzPts val="990"/>
              <a:buNone/>
            </a:pPr>
            <a:r>
              <a:t/>
            </a:r>
            <a:endParaRPr sz="2820"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1" name="Google Shape;201;p39"/>
          <p:cNvSpPr txBox="1"/>
          <p:nvPr>
            <p:ph idx="1" type="body"/>
          </p:nvPr>
        </p:nvSpPr>
        <p:spPr>
          <a:xfrm>
            <a:off x="115600" y="522800"/>
            <a:ext cx="8925900" cy="45075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●"/>
            </a:pPr>
            <a:r>
              <a:rPr b="1" lang="en-GB" sz="2000">
                <a:solidFill>
                  <a:srgbClr val="111C24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Multi Voltage:</a:t>
            </a:r>
            <a:endParaRPr b="1" sz="2000">
              <a:solidFill>
                <a:srgbClr val="1A1A1A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○"/>
            </a:pPr>
            <a:r>
              <a:rPr lang="en-GB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</a:t>
            </a:r>
            <a:r>
              <a:rPr b="1" lang="en-GB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multi-voltage designs</a:t>
            </a:r>
            <a:r>
              <a:rPr lang="en-GB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the chip is divided into </a:t>
            </a:r>
            <a:r>
              <a:rPr b="1" lang="en-GB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separate voltage islands(multiple voltage domains)</a:t>
            </a:r>
            <a:r>
              <a:rPr lang="en-GB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where each block operates at a different supply voltage based on performance requirements.</a:t>
            </a:r>
            <a:endParaRPr sz="1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7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7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0" rtl="0" algn="just">
              <a:spcBef>
                <a:spcPts val="7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7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1A1A1A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30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30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None/>
            </a:pPr>
            <a:r>
              <a:t/>
            </a:r>
            <a:endParaRPr sz="1400">
              <a:solidFill>
                <a:srgbClr val="2021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02" name="Google Shape;202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49825" y="1775375"/>
            <a:ext cx="4176275" cy="3046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40"/>
          <p:cNvSpPr txBox="1"/>
          <p:nvPr>
            <p:ph type="title"/>
          </p:nvPr>
        </p:nvSpPr>
        <p:spPr>
          <a:xfrm>
            <a:off x="243000" y="0"/>
            <a:ext cx="8589300" cy="4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820"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Low Power Design Techniques</a:t>
            </a:r>
            <a:endParaRPr b="0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SzPts val="990"/>
              <a:buNone/>
            </a:pPr>
            <a:r>
              <a:t/>
            </a:r>
            <a:endParaRPr sz="2820"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8" name="Google Shape;208;p40"/>
          <p:cNvSpPr txBox="1"/>
          <p:nvPr>
            <p:ph idx="1" type="body"/>
          </p:nvPr>
        </p:nvSpPr>
        <p:spPr>
          <a:xfrm>
            <a:off x="115600" y="522800"/>
            <a:ext cx="8925900" cy="39012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7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just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-GB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High-performance blocks operate at a higher supply voltage to meet speed requirements.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-GB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Low-performance or non-critical blocks operate at a lower supply voltage to reduce power consumption.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-GB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approach avoids designing the entire chip at a high voltage, which would be simpler but </a:t>
            </a:r>
            <a:r>
              <a:rPr b="1" lang="en-GB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more power-hungry</a:t>
            </a:r>
            <a:r>
              <a:rPr lang="en-GB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-GB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signals cross from one voltage island to another, </a:t>
            </a:r>
            <a:r>
              <a:rPr b="1" lang="en-GB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Level Shifter (LS) cells</a:t>
            </a:r>
            <a:r>
              <a:rPr lang="en-GB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are required to safely translate signal levels between different voltages.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7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1A1A1A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30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30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None/>
            </a:pPr>
            <a:r>
              <a:t/>
            </a:r>
            <a:endParaRPr sz="1400">
              <a:solidFill>
                <a:srgbClr val="2021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41"/>
          <p:cNvSpPr txBox="1"/>
          <p:nvPr>
            <p:ph type="title"/>
          </p:nvPr>
        </p:nvSpPr>
        <p:spPr>
          <a:xfrm>
            <a:off x="243000" y="0"/>
            <a:ext cx="8589300" cy="4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820"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Low Power Design Techniques</a:t>
            </a:r>
            <a:endParaRPr b="0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SzPts val="990"/>
              <a:buNone/>
            </a:pPr>
            <a:r>
              <a:t/>
            </a:r>
            <a:endParaRPr sz="2820"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4" name="Google Shape;214;p41"/>
          <p:cNvSpPr txBox="1"/>
          <p:nvPr>
            <p:ph idx="1" type="body"/>
          </p:nvPr>
        </p:nvSpPr>
        <p:spPr>
          <a:xfrm>
            <a:off x="115600" y="522800"/>
            <a:ext cx="8925900" cy="45075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●"/>
            </a:pPr>
            <a:r>
              <a:rPr b="1" lang="en-GB" sz="2000">
                <a:solidFill>
                  <a:srgbClr val="1A1A1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Power </a:t>
            </a:r>
            <a:r>
              <a:rPr b="1" lang="en-GB" sz="2000">
                <a:solidFill>
                  <a:srgbClr val="1A1A1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Gating</a:t>
            </a:r>
            <a:endParaRPr sz="2000">
              <a:solidFill>
                <a:srgbClr val="1A1A1A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just">
              <a:spcBef>
                <a:spcPts val="0"/>
              </a:spcBef>
              <a:spcAft>
                <a:spcPts val="0"/>
              </a:spcAft>
              <a:buClr>
                <a:srgbClr val="111C24"/>
              </a:buClr>
              <a:buSzPts val="1600"/>
              <a:buFont typeface="Times New Roman"/>
              <a:buChar char="○"/>
            </a:pPr>
            <a:r>
              <a:rPr lang="en-GB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Power gating is a low-power technique where an IC is divided into </a:t>
            </a:r>
            <a:r>
              <a:rPr b="1" lang="en-GB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power domains</a:t>
            </a:r>
            <a:r>
              <a:rPr lang="en-GB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and the supply to each domain is controlled using </a:t>
            </a:r>
            <a:r>
              <a:rPr b="1" lang="en-GB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power switches (sleep transistors)</a:t>
            </a:r>
            <a:r>
              <a:rPr lang="en-GB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rtl="0" algn="just">
              <a:spcBef>
                <a:spcPts val="0"/>
              </a:spcBef>
              <a:spcAft>
                <a:spcPts val="0"/>
              </a:spcAft>
              <a:buClr>
                <a:srgbClr val="111C24"/>
              </a:buClr>
              <a:buSzPts val="1600"/>
              <a:buFont typeface="Times New Roman"/>
              <a:buChar char="○"/>
            </a:pPr>
            <a:r>
              <a:rPr lang="en-GB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supply voltage is </a:t>
            </a:r>
            <a:r>
              <a:rPr b="1" lang="en-GB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cut off using switch-like logic controlled by the Power Management Unit (PMU)</a:t>
            </a:r>
            <a:endParaRPr sz="1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0" rtl="0" algn="just">
              <a:spcBef>
                <a:spcPts val="7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30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30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30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None/>
            </a:pPr>
            <a:r>
              <a:t/>
            </a:r>
            <a:endParaRPr sz="1400">
              <a:solidFill>
                <a:srgbClr val="2021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15" name="Google Shape;215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96075" y="1920000"/>
            <a:ext cx="4589900" cy="2983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42"/>
          <p:cNvSpPr txBox="1"/>
          <p:nvPr>
            <p:ph type="title"/>
          </p:nvPr>
        </p:nvSpPr>
        <p:spPr>
          <a:xfrm>
            <a:off x="243000" y="0"/>
            <a:ext cx="8589300" cy="4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820"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Low Power Design Techniques</a:t>
            </a:r>
            <a:endParaRPr b="0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SzPts val="990"/>
              <a:buNone/>
            </a:pPr>
            <a:r>
              <a:t/>
            </a:r>
            <a:endParaRPr sz="2820"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1" name="Google Shape;221;p42"/>
          <p:cNvSpPr txBox="1"/>
          <p:nvPr>
            <p:ph idx="1" type="body"/>
          </p:nvPr>
        </p:nvSpPr>
        <p:spPr>
          <a:xfrm>
            <a:off x="128350" y="661700"/>
            <a:ext cx="8913300" cy="32904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a block is not in use, the power switch is turned </a:t>
            </a:r>
            <a:r>
              <a:rPr b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OFF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completely cutting off the supply voltage to that block.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Since the supply voltage becomes zero, </a:t>
            </a:r>
            <a:r>
              <a:rPr b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both dynamic and static (leakage) power are eliminated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while the block is powered down.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Power gating provides the </a:t>
            </a:r>
            <a:r>
              <a:rPr b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most aggressive power savings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and the goal is to turn OFF as many blocks as possible, as often as possible, without affecting functionality.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50000"/>
              </a:lnSpc>
              <a:spcBef>
                <a:spcPts val="2600"/>
              </a:spcBef>
              <a:spcAft>
                <a:spcPts val="3000"/>
              </a:spcAft>
              <a:buNone/>
            </a:pPr>
            <a:r>
              <a:t/>
            </a:r>
            <a:endParaRPr sz="1400">
              <a:solidFill>
                <a:srgbClr val="2021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43"/>
          <p:cNvSpPr txBox="1"/>
          <p:nvPr>
            <p:ph type="title"/>
          </p:nvPr>
        </p:nvSpPr>
        <p:spPr>
          <a:xfrm>
            <a:off x="243000" y="0"/>
            <a:ext cx="8589300" cy="4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820"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Low Power Design Techniques</a:t>
            </a:r>
            <a:endParaRPr b="0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SzPts val="990"/>
              <a:buNone/>
            </a:pPr>
            <a:r>
              <a:t/>
            </a:r>
            <a:endParaRPr sz="2820"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7" name="Google Shape;227;p43"/>
          <p:cNvSpPr txBox="1"/>
          <p:nvPr>
            <p:ph idx="1" type="body"/>
          </p:nvPr>
        </p:nvSpPr>
        <p:spPr>
          <a:xfrm>
            <a:off x="115600" y="522800"/>
            <a:ext cx="8925900" cy="45075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●"/>
            </a:pPr>
            <a:r>
              <a:rPr b="1" lang="en-GB" sz="2000">
                <a:solidFill>
                  <a:srgbClr val="1A1A1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Multi Vth Design</a:t>
            </a:r>
            <a:endParaRPr sz="2000">
              <a:solidFill>
                <a:srgbClr val="1A1A1A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just">
              <a:spcBef>
                <a:spcPts val="0"/>
              </a:spcBef>
              <a:spcAft>
                <a:spcPts val="0"/>
              </a:spcAft>
              <a:buClr>
                <a:srgbClr val="111C24"/>
              </a:buClr>
              <a:buSzPts val="1600"/>
              <a:buFont typeface="Times New Roman"/>
              <a:buChar char="○"/>
            </a:pPr>
            <a:r>
              <a:rPr lang="en-GB" sz="1200">
                <a:solidFill>
                  <a:srgbClr val="1A1A1A"/>
                </a:solidFill>
                <a:highlight>
                  <a:srgbClr val="FFFFFF"/>
                </a:highlight>
                <a:latin typeface="Merriweather"/>
                <a:ea typeface="Merriweather"/>
                <a:cs typeface="Merriweather"/>
                <a:sym typeface="Merriweather"/>
              </a:rPr>
              <a:t>As the name suggests, inside the design we use standard cells of different threshold voltage (V</a:t>
            </a:r>
            <a:r>
              <a:rPr lang="en-GB" sz="900">
                <a:solidFill>
                  <a:srgbClr val="1A1A1A"/>
                </a:solidFill>
                <a:highlight>
                  <a:srgbClr val="FFFFFF"/>
                </a:highlight>
                <a:latin typeface="Merriweather"/>
                <a:ea typeface="Merriweather"/>
                <a:cs typeface="Merriweather"/>
                <a:sym typeface="Merriweather"/>
              </a:rPr>
              <a:t>th</a:t>
            </a:r>
            <a:r>
              <a:rPr lang="en-GB" sz="1200">
                <a:solidFill>
                  <a:srgbClr val="1A1A1A"/>
                </a:solidFill>
                <a:highlight>
                  <a:srgbClr val="FFFFFF"/>
                </a:highlight>
                <a:latin typeface="Merriweather"/>
                <a:ea typeface="Merriweather"/>
                <a:cs typeface="Merriweather"/>
                <a:sym typeface="Merriweather"/>
              </a:rPr>
              <a:t>). 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C24"/>
              </a:buClr>
              <a:buSzPts val="1600"/>
              <a:buFont typeface="Times New Roman"/>
              <a:buChar char="○"/>
            </a:pPr>
            <a:r>
              <a:rPr lang="en-GB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Types of Standard Cells</a:t>
            </a:r>
            <a:endParaRPr sz="1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2" marL="13716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1C24"/>
              </a:buClr>
              <a:buSzPts val="1600"/>
              <a:buFont typeface="Times New Roman"/>
              <a:buChar char="■"/>
            </a:pPr>
            <a:r>
              <a:rPr b="1" lang="en-GB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High-Vth (HVT) Cells</a:t>
            </a:r>
            <a:endParaRPr b="1" sz="1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3" marL="1828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1C24"/>
              </a:buClr>
              <a:buSzPts val="1600"/>
              <a:buFont typeface="Times New Roman"/>
              <a:buChar char="●"/>
            </a:pPr>
            <a:r>
              <a:rPr lang="en-GB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 threshold voltage</a:t>
            </a:r>
            <a:endParaRPr sz="1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3" marL="1828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1C24"/>
              </a:buClr>
              <a:buSzPts val="1600"/>
              <a:buFont typeface="Times New Roman"/>
              <a:buChar char="●"/>
            </a:pPr>
            <a:r>
              <a:rPr b="1" lang="en-GB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Low leakage power</a:t>
            </a:r>
            <a:r>
              <a:rPr lang="en-GB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but </a:t>
            </a:r>
            <a:r>
              <a:rPr b="1" lang="en-GB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slow speed</a:t>
            </a:r>
            <a:endParaRPr b="1" sz="1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3" marL="1828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1C24"/>
              </a:buClr>
              <a:buSzPts val="1600"/>
              <a:buFont typeface="Times New Roman"/>
              <a:buChar char="●"/>
            </a:pPr>
            <a:r>
              <a:rPr lang="en-GB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Used in </a:t>
            </a:r>
            <a:r>
              <a:rPr b="1" lang="en-GB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non-timing-critical paths</a:t>
            </a:r>
            <a:r>
              <a:rPr lang="en-GB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save static power</a:t>
            </a:r>
            <a:endParaRPr sz="1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2" marL="13716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1C24"/>
              </a:buClr>
              <a:buSzPts val="1600"/>
              <a:buFont typeface="Times New Roman"/>
              <a:buChar char="■"/>
            </a:pPr>
            <a:r>
              <a:rPr b="1" lang="en-GB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Low-Vth (LVT) Cells</a:t>
            </a:r>
            <a:endParaRPr b="1" sz="1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3" marL="1828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1C24"/>
              </a:buClr>
              <a:buSzPts val="1600"/>
              <a:buFont typeface="Times New Roman"/>
              <a:buChar char="●"/>
            </a:pPr>
            <a:r>
              <a:rPr lang="en-GB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Low threshold voltage</a:t>
            </a:r>
            <a:endParaRPr sz="1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3" marL="1828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1C24"/>
              </a:buClr>
              <a:buSzPts val="1600"/>
              <a:buFont typeface="Times New Roman"/>
              <a:buChar char="●"/>
            </a:pPr>
            <a:r>
              <a:rPr b="1" lang="en-GB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 speed</a:t>
            </a:r>
            <a:r>
              <a:rPr lang="en-GB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but </a:t>
            </a:r>
            <a:r>
              <a:rPr b="1" lang="en-GB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 leakage power</a:t>
            </a:r>
            <a:endParaRPr b="1" sz="1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3" marL="1828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1C24"/>
              </a:buClr>
              <a:buSzPts val="1600"/>
              <a:buFont typeface="Times New Roman"/>
              <a:buChar char="●"/>
            </a:pPr>
            <a:r>
              <a:rPr lang="en-GB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Used in </a:t>
            </a:r>
            <a:r>
              <a:rPr b="1" lang="en-GB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timing-critical paths</a:t>
            </a:r>
            <a:endParaRPr b="1" sz="1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2" marL="13716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1C24"/>
              </a:buClr>
              <a:buSzPts val="1600"/>
              <a:buFont typeface="Times New Roman"/>
              <a:buChar char="■"/>
            </a:pPr>
            <a:r>
              <a:rPr b="1" lang="en-GB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Standard-Vth (SVT) Cells</a:t>
            </a:r>
            <a:endParaRPr b="1" sz="1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3" marL="1828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1C24"/>
              </a:buClr>
              <a:buSzPts val="1600"/>
              <a:buFont typeface="Times New Roman"/>
              <a:buChar char="●"/>
            </a:pPr>
            <a:r>
              <a:rPr lang="en-GB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Medium threshold voltage</a:t>
            </a:r>
            <a:endParaRPr sz="1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3" marL="1828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1C24"/>
              </a:buClr>
              <a:buSzPts val="1600"/>
              <a:buFont typeface="Times New Roman"/>
              <a:buChar char="●"/>
            </a:pPr>
            <a:r>
              <a:rPr b="1" lang="en-GB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Balanced power and performance</a:t>
            </a:r>
            <a:endParaRPr b="1" sz="1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3" marL="1828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1C24"/>
              </a:buClr>
              <a:buSzPts val="1600"/>
              <a:buFont typeface="Times New Roman"/>
              <a:buChar char="●"/>
            </a:pPr>
            <a:r>
              <a:rPr lang="en-GB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Used when timing is close to being met</a:t>
            </a:r>
            <a:endParaRPr b="1" sz="1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0" rtl="0" algn="just">
              <a:spcBef>
                <a:spcPts val="7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spcBef>
                <a:spcPts val="7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spcBef>
                <a:spcPts val="7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30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30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30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None/>
            </a:pPr>
            <a:r>
              <a:t/>
            </a:r>
            <a:endParaRPr sz="1400">
              <a:solidFill>
                <a:srgbClr val="2021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44"/>
          <p:cNvSpPr txBox="1"/>
          <p:nvPr>
            <p:ph type="title"/>
          </p:nvPr>
        </p:nvSpPr>
        <p:spPr>
          <a:xfrm>
            <a:off x="243000" y="0"/>
            <a:ext cx="8589300" cy="4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820"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Low Power Design Techniques</a:t>
            </a:r>
            <a:endParaRPr b="0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SzPts val="990"/>
              <a:buNone/>
            </a:pPr>
            <a:r>
              <a:t/>
            </a:r>
            <a:endParaRPr sz="2820"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3" name="Google Shape;233;p44"/>
          <p:cNvSpPr txBox="1"/>
          <p:nvPr>
            <p:ph idx="1" type="body"/>
          </p:nvPr>
        </p:nvSpPr>
        <p:spPr>
          <a:xfrm>
            <a:off x="115600" y="522800"/>
            <a:ext cx="8925900" cy="45075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●"/>
            </a:pPr>
            <a:r>
              <a:rPr b="1" lang="en-GB" sz="2000">
                <a:solidFill>
                  <a:srgbClr val="1A1A1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Dynamic Voltage and Frequency Scaling (DVFS)</a:t>
            </a:r>
            <a:endParaRPr sz="2000">
              <a:solidFill>
                <a:srgbClr val="1A1A1A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○"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DVFS is a low-power technique used to </a:t>
            </a:r>
            <a:r>
              <a:rPr b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optimize power consumption based on workload variations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○"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systems like CPUs, the workload changes over time depending on the application being executed.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○"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voltage and frequency are kept constant, the processor consumes </a:t>
            </a:r>
            <a:r>
              <a:rPr b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fixed power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even when full performance is not required.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○"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DVFS dynamically </a:t>
            </a:r>
            <a:r>
              <a:rPr b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adjusts the operating voltage and frequency according to the workload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○"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IP is designed with </a:t>
            </a:r>
            <a:r>
              <a:rPr b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multiple performance modes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instead of operating at a single fixed power level.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○"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Each performance mode has: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2" marL="13716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■"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specific operating frequency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2" marL="13716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■"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corresponding required supply voltage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Based on workload and performance demand, </a:t>
            </a:r>
            <a:r>
              <a:rPr b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software selects the appropriate performance mode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Since power depends on voltage and frequency, DVFS significantly </a:t>
            </a:r>
            <a:r>
              <a:rPr b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reduces dynamic power and overall energy consumption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during low or medium workloads.</a:t>
            </a:r>
            <a:b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600">
              <a:solidFill>
                <a:srgbClr val="1A1A1A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30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30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30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None/>
            </a:pPr>
            <a:r>
              <a:t/>
            </a:r>
            <a:endParaRPr sz="1400">
              <a:solidFill>
                <a:srgbClr val="2021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45"/>
          <p:cNvSpPr txBox="1"/>
          <p:nvPr>
            <p:ph type="title"/>
          </p:nvPr>
        </p:nvSpPr>
        <p:spPr>
          <a:xfrm>
            <a:off x="243000" y="0"/>
            <a:ext cx="8589300" cy="4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820"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Low Power Design Techniques</a:t>
            </a:r>
            <a:endParaRPr b="0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SzPts val="990"/>
              <a:buNone/>
            </a:pPr>
            <a:r>
              <a:t/>
            </a:r>
            <a:endParaRPr sz="2820"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9" name="Google Shape;239;p45"/>
          <p:cNvSpPr txBox="1"/>
          <p:nvPr>
            <p:ph idx="1" type="body"/>
          </p:nvPr>
        </p:nvSpPr>
        <p:spPr>
          <a:xfrm>
            <a:off x="115600" y="522800"/>
            <a:ext cx="8925900" cy="45075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1" marL="914400" rtl="0" algn="just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○"/>
            </a:pPr>
            <a:r>
              <a:rPr lang="en-GB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DVFS </a:t>
            </a:r>
            <a:endParaRPr b="1"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2" marL="13716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■"/>
            </a:pPr>
            <a:r>
              <a:rPr lang="en-GB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Uses predefined voltage–frequency pairs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2" marL="13716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■"/>
            </a:pPr>
            <a:r>
              <a:rPr lang="en-GB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Adjusts based on workload only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○"/>
            </a:pPr>
            <a:r>
              <a:rPr b="1" lang="en-GB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AVFS (Adaptive Voltage and Frequency Scaling )</a:t>
            </a:r>
            <a:endParaRPr b="1"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2" marL="13716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■"/>
            </a:pPr>
            <a:r>
              <a:rPr b="1" lang="en-GB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Adaptive Voltage and Frequency Scaling (AVFS)</a:t>
            </a:r>
            <a:r>
              <a:rPr lang="en-GB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a </a:t>
            </a:r>
            <a:r>
              <a:rPr b="1" lang="en-GB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closed-loop power management technique</a:t>
            </a:r>
            <a:r>
              <a:rPr lang="en-GB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used in VLSI systems to reduce power consumption while maintaining performance.</a:t>
            </a:r>
            <a:endParaRPr b="1" sz="1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2" marL="13716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■"/>
            </a:pPr>
            <a:r>
              <a:rPr lang="en-GB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Uses real-time feedback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2" marL="13716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■"/>
            </a:pPr>
            <a:r>
              <a:rPr lang="en-GB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Adjusts based on </a:t>
            </a:r>
            <a:r>
              <a:rPr b="1" lang="en-GB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actual silicon behavior</a:t>
            </a:r>
            <a:r>
              <a:rPr lang="en-GB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not worst-case assumptions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3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3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3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None/>
            </a:pPr>
            <a:r>
              <a:t/>
            </a:r>
            <a:endParaRPr>
              <a:solidFill>
                <a:srgbClr val="2021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46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Thank You 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