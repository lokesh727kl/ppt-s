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PT Sans Narrow"/>
      <p:regular r:id="rId20"/>
      <p:bold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Narrow-regular.fntdata"/><Relationship Id="rId22" Type="http://schemas.openxmlformats.org/officeDocument/2006/relationships/font" Target="fonts/OpenSans-regular.fntdata"/><Relationship Id="rId21" Type="http://schemas.openxmlformats.org/officeDocument/2006/relationships/font" Target="fonts/PTSansNarrow-bold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Open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0ee60027f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0ee60027f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17ce48fbc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17ce48fbc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17ce48fbc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17ce48fbc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17ce48fbc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17ce48fbc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17ce48fbc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17ce48fbc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17ce48fbc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17ce48fbc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17ce48fbc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17ce48fbc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17ce48fbc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17ce48fbc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17ce48fbc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17ce48fbc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17ce48fbc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17ce48fbc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17ce48fbc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17ce48fbc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17ce48fbc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17ce48fbc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0ee60027f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b0ee60027f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" name="Google Shape;56;p14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7" name="Google Shape;57;p14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58" name="Google Shape;58;p14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14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0" name="Google Shape;60;p14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61" name="Google Shape;61;p14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" name="Google Shape;62;p14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3" name="Google Shape;63;p14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" name="Google Shape;92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21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5" name="Google Shape;95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3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3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/>
          <p:nvPr>
            <p:ph type="ctrTitle"/>
          </p:nvPr>
        </p:nvSpPr>
        <p:spPr>
          <a:xfrm>
            <a:off x="1004150" y="1751775"/>
            <a:ext cx="72441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</a:t>
            </a:r>
            <a:r>
              <a:rPr lang="en-GB"/>
              <a:t>Interface_vs_Interconnect</a:t>
            </a:r>
            <a:endParaRPr/>
          </a:p>
        </p:txBody>
      </p:sp>
      <p:sp>
        <p:nvSpPr>
          <p:cNvPr id="112" name="Google Shape;112;p25"/>
          <p:cNvSpPr txBox="1"/>
          <p:nvPr>
            <p:ph idx="1" type="subTitle"/>
          </p:nvPr>
        </p:nvSpPr>
        <p:spPr>
          <a:xfrm>
            <a:off x="2513950" y="2774175"/>
            <a:ext cx="4297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  K.LOKESH</a:t>
            </a:r>
            <a:endParaRPr b="1" sz="3600">
              <a:solidFill>
                <a:schemeClr val="accen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57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Chipweave Technologies Private Limited</a:t>
            </a:r>
            <a:endParaRPr b="1" sz="2257">
              <a:solidFill>
                <a:schemeClr val="accen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Objective of the Presentation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26"/>
          <p:cNvSpPr txBox="1"/>
          <p:nvPr>
            <p:ph idx="1" type="body"/>
          </p:nvPr>
        </p:nvSpPr>
        <p:spPr>
          <a:xfrm>
            <a:off x="115600" y="522800"/>
            <a:ext cx="8925900" cy="4467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 interface and interconnect in front-end VLSI</a:t>
            </a:r>
            <a:b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Clarifying the distinct roles and functionalities of interfaces and interconnects in chip design.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Highlight key differences between interface and interconnect</a:t>
            </a:r>
            <a:b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Exploring the fundamental contrasts in purpose, scope, and design considerations between these two concepts.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 usage in RTL and SoC design</a:t>
            </a:r>
            <a:b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Examining how interfaces and interconnects are implemented in Register Transfer Level (RTL) and System on Chip (SoC) designs.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clear examples at RTL and SoC levels</a:t>
            </a:r>
            <a:b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Illustrating practical applications and scenarios where interfaces and interconnects play a pivotal role in chip functionality.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 sz="20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Why This Topic is Important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27"/>
          <p:cNvSpPr txBox="1"/>
          <p:nvPr>
            <p:ph idx="1" type="body"/>
          </p:nvPr>
        </p:nvSpPr>
        <p:spPr>
          <a:xfrm>
            <a:off x="115600" y="522800"/>
            <a:ext cx="8925900" cy="4467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SoCs integrate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heterogeneous IPs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CPUs, GPUs, AI accelerators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controllers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High-speed &amp; low-speed peripherals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communication requires: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Well-defined interfaces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interconnect fabrics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System-level metrics depend on this separation: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Scalability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correctness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 sz="20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27"/>
          <p:cNvSpPr txBox="1"/>
          <p:nvPr>
            <p:ph idx="1" type="body"/>
          </p:nvPr>
        </p:nvSpPr>
        <p:spPr>
          <a:xfrm>
            <a:off x="3699100" y="3145825"/>
            <a:ext cx="5342400" cy="18078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 in a chip is built using </a:t>
            </a: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layers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Defines </a:t>
            </a:r>
            <a:r>
              <a:rPr i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rules</a:t>
            </a:r>
            <a:endParaRPr i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Interconnect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Defines </a:t>
            </a:r>
            <a:r>
              <a:rPr i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paths</a:t>
            </a:r>
            <a:endParaRPr i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layer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Implements </a:t>
            </a:r>
            <a:r>
              <a:rPr i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wires</a:t>
            </a:r>
            <a:endParaRPr i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presentation focuses on </a:t>
            </a: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 vs Interconnect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3000"/>
              </a:spcAft>
              <a:buNone/>
            </a:pPr>
            <a:r>
              <a:t/>
            </a:r>
            <a:endParaRPr sz="20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Why Communication Matters in SoC Design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8"/>
          <p:cNvSpPr txBox="1"/>
          <p:nvPr>
            <p:ph idx="1" type="body"/>
          </p:nvPr>
        </p:nvSpPr>
        <p:spPr>
          <a:xfrm>
            <a:off x="115600" y="522800"/>
            <a:ext cx="8925900" cy="4467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of Multiple IP Blocks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SoCs often comprise various intellectual property (IP) blocks, including CPUs, GPUs, DMAs, AI accelerators, memory controllers, and high-speed/low-speed peripherals. Integrating these heterogeneous IPs necessitates robust and reliable communication pathways.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 of Efficient Communication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communication between IP blocks is vital for optimal system performance, ensuring seamless data flow across the SoC.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Consequences of Poor Communication Design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Ineffective communication can lead to performance bottlenecks, increased power consumption, scalability limitations, and functional issues, ultimately impacting overall system efficiency.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Interfaces and Interconnects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Interfaces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define the communication protocols and rules.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Interconnects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 the data transfer paths between IPs.</a:t>
            </a:r>
            <a:b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are essential for effective and reliable SoC operation.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 sz="20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What Is an Interface?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29"/>
          <p:cNvSpPr txBox="1"/>
          <p:nvPr>
            <p:ph idx="1" type="body"/>
          </p:nvPr>
        </p:nvSpPr>
        <p:spPr>
          <a:xfrm>
            <a:off x="115600" y="522800"/>
            <a:ext cx="8925900" cy="4467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interface acts as a logical boundary between two hardware blocks, defining how they communicate with each other.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specifies what signals are used for communication, including: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Signal names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Signal directions (input/output)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Timing relationships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Handshake mechanisms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interface defines the rules for data transfer, ensuring that both sides follow the same protocol behavior for correct communication.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main focus of an interface is on communication rules and protocol semantics, not on how signals are physically routed on the chip.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of this abstraction, interfaces enable: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Char char="○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 reuse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Char char="○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Easier integration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Char char="○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Simplified verification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 sz="20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0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Characteristics of an Interface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30"/>
          <p:cNvSpPr txBox="1"/>
          <p:nvPr>
            <p:ph idx="1" type="body"/>
          </p:nvPr>
        </p:nvSpPr>
        <p:spPr>
          <a:xfrm>
            <a:off x="115600" y="518875"/>
            <a:ext cx="8925900" cy="44709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Protocol-based and typically point-to-point: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Interfaces are designed around specific communication protocols and usually facilitate direct communication between two endpoints.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Defined at RTL level: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Interfaces are established at the Register Transfer Level, where the design is described in terms of data flow and control signals.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sures data correctness and synchronization: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interface guarantees that data is transferred correctly and that both communicating parties are synchronized in their operations.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Reusable and standardized: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Interfaces are often designed to be reusable across different projects and standardized to ensure compatibility and ease of integration.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examples: APB, AXI, SPI, PCIe, UCIe, CXS: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Several widely used protocols serve as interfaces, each with its own specifications and use cases in VLSI design.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 sz="20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RTL Example of an Interface (APB)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31"/>
          <p:cNvSpPr txBox="1"/>
          <p:nvPr>
            <p:ph idx="1" type="body"/>
          </p:nvPr>
        </p:nvSpPr>
        <p:spPr>
          <a:xfrm>
            <a:off x="115600" y="518875"/>
            <a:ext cx="8925900" cy="44709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signals: </a:t>
            </a:r>
            <a:r>
              <a:rPr b="1"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PCLK, PRESETn, PSEL, PENABLE, PWRITE, PADDR, PWDATA</a:t>
            </a:r>
            <a:endParaRPr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signals are essential for the operation of the APB interface, defining the control and data flow from the master to the slave.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signals: </a:t>
            </a:r>
            <a:r>
              <a:rPr b="1"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PRDATA, PREADY</a:t>
            </a:r>
            <a:endParaRPr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signals provide feedback from the slave to the master, indicating the status of the data transfer and readiness.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communication between master and slave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APB interface establishes the rules and timing for communication between a master device and a slave device.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Controls data transfer timing and rules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specifies when data can be sent and received, ensuring that both parties adhere to the defined protocol.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 sz="20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Where Interfaces Are Used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32"/>
          <p:cNvSpPr txBox="1"/>
          <p:nvPr>
            <p:ph idx="1" type="body"/>
          </p:nvPr>
        </p:nvSpPr>
        <p:spPr>
          <a:xfrm>
            <a:off x="115600" y="518875"/>
            <a:ext cx="8925900" cy="44709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Char char="●"/>
            </a:pP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of interface usage: 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Char char="●"/>
            </a:pP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↔ Memory Controller (AXI)</a:t>
            </a:r>
            <a:b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AXI interface facilitates communication between the CPU and memory controller, enabling efficient data access.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Char char="●"/>
            </a:pP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APB Bridge ↔ Peripheral (APB)</a:t>
            </a:r>
            <a:b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APB interface is commonly used to connect an APB bridge to various peripherals, ensuring proper communication.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Char char="●"/>
            </a:pP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 ↔ External Device (USB, PCIe)</a:t>
            </a:r>
            <a:b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Interfaces like USB and PCIe are utilized for communication between the SoC and external devices, enhancing connectivity.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Char char="●"/>
            </a:pP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Chiplet ↔ Chiplet (UCIe)</a:t>
            </a:r>
            <a:b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UCIe interface allows for communication between chiplets, facilitating modular design and integration.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 sz="20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What Is an Interconnect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33"/>
          <p:cNvSpPr txBox="1"/>
          <p:nvPr>
            <p:ph idx="1" type="body"/>
          </p:nvPr>
        </p:nvSpPr>
        <p:spPr>
          <a:xfrm>
            <a:off x="115600" y="522800"/>
            <a:ext cx="8925900" cy="4467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interconnect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 fabric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connects multiple interfaces and IP blocks inside an SoC.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acts as the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backbone of the SoC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enabling data transfer between different masters and slaves through their interfaces.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interconnect is responsible for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routing transactions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decoding addresses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arbitrating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access when multiple masters request the same resource.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manages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contention and bandwidth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ensuring fair access and efficient utilization of shared communication resources.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interconnect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the data flow paths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across the SoC, determining how and where data moves between different components.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 sz="20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4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Characteristics of an Interconnect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34"/>
          <p:cNvSpPr txBox="1"/>
          <p:nvPr>
            <p:ph idx="1" type="body"/>
          </p:nvPr>
        </p:nvSpPr>
        <p:spPr>
          <a:xfrm>
            <a:off x="115600" y="518875"/>
            <a:ext cx="8925900" cy="44709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Connects multiple masters and slaves: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■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Interconnects facilitate communication between various master and slave devices, enabling complex interactions.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Many-to-many connectivity: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■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Unlike interfaces, interconnects support many-to-many connections, allowing multiple devices to communicate simultaneously.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Defined at SoC/system level: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■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Interconnects are designed at the SoC or system level, focusing on overall performance and scalability.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 on performance and scalability: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■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Interconnects are optimized for high performance and scalability, accommodating the growing complexity of modern SoCs.</a:t>
            </a:r>
            <a:endParaRPr sz="18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RTL/SOC Example of an Interconnect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35"/>
          <p:cNvSpPr txBox="1"/>
          <p:nvPr>
            <p:ph idx="1" type="body"/>
          </p:nvPr>
        </p:nvSpPr>
        <p:spPr>
          <a:xfrm>
            <a:off x="115600" y="518875"/>
            <a:ext cx="8925900" cy="44709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 Interconnect example with multiple masters (CPU, DMA, GPU)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AXI interconnect connects various masters, such as the CPU, DMA, and GPU, enabling efficient data transactions.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AXI slaves (DDR Controller, SRAM, MMIO blocks)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interconnect interfaces with multiple AXI slaves, including DDR controllers and memory-mapped I/O blocks, facilitating data access.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Functions: arbitration, address routing, response routin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AXI interconnect is responsible for arbitration among masters, address routing to the appropriate slave, and response routing back to the master.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 sz="20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Interconnect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36"/>
          <p:cNvSpPr txBox="1"/>
          <p:nvPr>
            <p:ph idx="1" type="body"/>
          </p:nvPr>
        </p:nvSpPr>
        <p:spPr>
          <a:xfrm>
            <a:off x="115600" y="518875"/>
            <a:ext cx="8925900" cy="44709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Bus-Based Interconnect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○"/>
            </a:pPr>
            <a:r>
              <a:rPr lang="en-GB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shared bus architecture that allows multiple devices to communicate over a single pathway, offering simplicity but limited scalability.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Crossbar Interconnect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○"/>
            </a:pPr>
            <a:r>
              <a:rPr lang="en-GB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dedicated interconnect that provides high performance by allowing simultaneous communication between multiple devices, though at a higher area cost.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Network-on-Chip (NoC)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○"/>
            </a:pPr>
            <a:r>
              <a:rPr lang="en-GB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packet-based interconnect that offers high scalability and flexibility, suitable for large SoCs with numerous components.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 sz="20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7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 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