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Roboto"/>
      <p:regular r:id="rId33"/>
      <p:bold r:id="rId34"/>
      <p:italic r:id="rId35"/>
      <p:boldItalic r:id="rId36"/>
    </p:embeddedFont>
    <p:embeddedFont>
      <p:font typeface="PT Sans Narrow"/>
      <p:regular r:id="rId37"/>
      <p:bold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4.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italic.fntdata"/><Relationship Id="rId12" Type="http://schemas.openxmlformats.org/officeDocument/2006/relationships/slide" Target="slides/slide6.xml"/><Relationship Id="rId34" Type="http://schemas.openxmlformats.org/officeDocument/2006/relationships/font" Target="fonts/Roboto-bold.fntdata"/><Relationship Id="rId15" Type="http://schemas.openxmlformats.org/officeDocument/2006/relationships/slide" Target="slides/slide9.xml"/><Relationship Id="rId37" Type="http://schemas.openxmlformats.org/officeDocument/2006/relationships/font" Target="fonts/PTSansNarrow-regular.fntdata"/><Relationship Id="rId14" Type="http://schemas.openxmlformats.org/officeDocument/2006/relationships/slide" Target="slides/slide8.xml"/><Relationship Id="rId36" Type="http://schemas.openxmlformats.org/officeDocument/2006/relationships/font" Target="fonts/Roboto-boldItalic.fntdata"/><Relationship Id="rId17" Type="http://schemas.openxmlformats.org/officeDocument/2006/relationships/slide" Target="slides/slide11.xml"/><Relationship Id="rId39" Type="http://schemas.openxmlformats.org/officeDocument/2006/relationships/font" Target="fonts/OpenSans-regular.fntdata"/><Relationship Id="rId16" Type="http://schemas.openxmlformats.org/officeDocument/2006/relationships/slide" Target="slides/slide10.xml"/><Relationship Id="rId38" Type="http://schemas.openxmlformats.org/officeDocument/2006/relationships/font" Target="fonts/PTSansNarrow-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263a0b460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263a0b460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263a0b460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263a0b460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263a0b460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263a0b460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263a0b460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263a0b460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263a0b460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263a0b460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263a0b460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263a0b460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317fd34b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317fd34b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317fd34b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317fd34b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317fd34b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317fd34b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317fd34b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317fd34b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56011d48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56011d48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56011d4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56011d4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56011d48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56011d48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56011d48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56011d48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56011d48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56011d48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56011d48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56011d48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56873249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56873249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56873249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56873249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568732492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56873249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56873249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56873249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642120a8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642120a8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a642120a8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a642120a8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642120a8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a642120a8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a642120a8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a642120a8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642120a8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642120a8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998d6eb92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998d6eb92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3" name="Google Shape;7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hyperlink" Target="https://en.wikipedia.org/wiki/Mask_data_preparation" TargetMode="External"/><Relationship Id="rId4" Type="http://schemas.openxmlformats.org/officeDocument/2006/relationships/hyperlink" Target="https://en.wikipedia.org/wiki/Integrated_circuit_layout" TargetMode="External"/><Relationship Id="rId5" Type="http://schemas.openxmlformats.org/officeDocument/2006/relationships/hyperlink" Target="https://en.wikipedia.org/wiki/Photomask" TargetMode="External"/><Relationship Id="rId6" Type="http://schemas.openxmlformats.org/officeDocument/2006/relationships/hyperlink" Target="https://en.wikipedia.org/wiki/Physical_design_%28electronics%29#cite_note-Layout_book-3" TargetMode="External"/><Relationship Id="rId7" Type="http://schemas.openxmlformats.org/officeDocument/2006/relationships/hyperlink" Target="https://en.wikipedia.org/wiki/Resolution_enhancement_technologie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5"/>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ASIC Physical Design</a:t>
            </a:r>
            <a:endParaRPr/>
          </a:p>
        </p:txBody>
      </p:sp>
      <p:sp>
        <p:nvSpPr>
          <p:cNvPr id="112" name="Google Shape;112;p25"/>
          <p:cNvSpPr txBox="1"/>
          <p:nvPr>
            <p:ph idx="1" type="subTitle"/>
          </p:nvPr>
        </p:nvSpPr>
        <p:spPr>
          <a:xfrm>
            <a:off x="2513950" y="2774175"/>
            <a:ext cx="4297800" cy="792600"/>
          </a:xfrm>
          <a:prstGeom prst="rect">
            <a:avLst/>
          </a:prstGeom>
        </p:spPr>
        <p:txBody>
          <a:bodyPr anchorCtr="0" anchor="t" bIns="91425" lIns="91425" spcFirstLastPara="1" rIns="91425" wrap="square" tIns="91425">
            <a:normAutofit fontScale="55000"/>
          </a:bodyPr>
          <a:lstStyle/>
          <a:p>
            <a:pPr indent="0" lvl="0" marL="2286000" rtl="0" algn="l">
              <a:spcBef>
                <a:spcPts val="0"/>
              </a:spcBef>
              <a:spcAft>
                <a:spcPts val="0"/>
              </a:spcAft>
              <a:buNone/>
            </a:pPr>
            <a:r>
              <a:rPr b="1" lang="en-GB" sz="3600">
                <a:solidFill>
                  <a:schemeClr val="accent1"/>
                </a:solidFill>
                <a:latin typeface="PT Sans Narrow"/>
                <a:ea typeface="PT Sans Narrow"/>
                <a:cs typeface="PT Sans Narrow"/>
                <a:sym typeface="PT Sans Narrow"/>
              </a:rPr>
              <a:t>    K.LOKESH</a:t>
            </a:r>
            <a:endParaRPr b="1" sz="3600">
              <a:solidFill>
                <a:schemeClr val="accent1"/>
              </a:solidFill>
              <a:latin typeface="PT Sans Narrow"/>
              <a:ea typeface="PT Sans Narrow"/>
              <a:cs typeface="PT Sans Narrow"/>
              <a:sym typeface="PT Sans Narrow"/>
            </a:endParaRPr>
          </a:p>
          <a:p>
            <a:pPr indent="457200" lvl="0" marL="1371600" rtl="0" algn="l">
              <a:spcBef>
                <a:spcPts val="0"/>
              </a:spcBef>
              <a:spcAft>
                <a:spcPts val="0"/>
              </a:spcAft>
              <a:buNone/>
            </a:pPr>
            <a:r>
              <a:rPr b="1" lang="en-GB" sz="2257">
                <a:solidFill>
                  <a:schemeClr val="accent1"/>
                </a:solidFill>
                <a:latin typeface="PT Sans Narrow"/>
                <a:ea typeface="PT Sans Narrow"/>
                <a:cs typeface="PT Sans Narrow"/>
                <a:sym typeface="PT Sans Narrow"/>
              </a:rPr>
              <a:t>Chipweave Technologies</a:t>
            </a:r>
            <a:r>
              <a:rPr b="1" lang="en-GB" sz="2257">
                <a:solidFill>
                  <a:schemeClr val="accent1"/>
                </a:solidFill>
                <a:latin typeface="PT Sans Narrow"/>
                <a:ea typeface="PT Sans Narrow"/>
                <a:cs typeface="PT Sans Narrow"/>
                <a:sym typeface="PT Sans Narrow"/>
              </a:rPr>
              <a:t> Private Limited</a:t>
            </a:r>
            <a:endParaRPr b="1" sz="2257">
              <a:solidFill>
                <a:schemeClr val="accent1"/>
              </a:solidFill>
              <a:latin typeface="PT Sans Narrow"/>
              <a:ea typeface="PT Sans Narrow"/>
              <a:cs typeface="PT Sans Narrow"/>
              <a:sym typeface="PT Sans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6"/>
          <p:cNvSpPr txBox="1"/>
          <p:nvPr>
            <p:ph type="title"/>
          </p:nvPr>
        </p:nvSpPr>
        <p:spPr>
          <a:xfrm>
            <a:off x="235325" y="6920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8" name="Google Shape;118;p26"/>
          <p:cNvSpPr txBox="1"/>
          <p:nvPr>
            <p:ph idx="1" type="body"/>
          </p:nvPr>
        </p:nvSpPr>
        <p:spPr>
          <a:xfrm>
            <a:off x="235200" y="69200"/>
            <a:ext cx="8589300" cy="4774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457200" lvl="0" marL="0" rtl="0" algn="just">
              <a:lnSpc>
                <a:spcPct val="100000"/>
              </a:lnSpc>
              <a:spcBef>
                <a:spcPts val="0"/>
              </a:spcBef>
              <a:spcAft>
                <a:spcPts val="0"/>
              </a:spcAft>
              <a:buNone/>
            </a:pPr>
            <a:r>
              <a:t/>
            </a:r>
            <a:endParaRPr sz="1600">
              <a:solidFill>
                <a:srgbClr val="000000"/>
              </a:solidFill>
              <a:latin typeface="Verdana"/>
              <a:ea typeface="Verdana"/>
              <a:cs typeface="Verdana"/>
              <a:sym typeface="Verdana"/>
            </a:endParaRPr>
          </a:p>
          <a:p>
            <a:pPr indent="457200" lvl="0" marL="0" rtl="0" algn="just">
              <a:lnSpc>
                <a:spcPct val="100000"/>
              </a:lnSpc>
              <a:spcBef>
                <a:spcPts val="1200"/>
              </a:spcBef>
              <a:spcAft>
                <a:spcPts val="0"/>
              </a:spcAft>
              <a:buNone/>
            </a:pPr>
            <a:r>
              <a:t/>
            </a:r>
            <a:endParaRPr sz="1600">
              <a:solidFill>
                <a:srgbClr val="000000"/>
              </a:solidFill>
              <a:latin typeface="Verdana"/>
              <a:ea typeface="Verdana"/>
              <a:cs typeface="Verdana"/>
              <a:sym typeface="Verdana"/>
            </a:endParaRPr>
          </a:p>
          <a:p>
            <a:pPr indent="0" lvl="0" marL="0" rtl="0" algn="just">
              <a:lnSpc>
                <a:spcPct val="100000"/>
              </a:lnSpc>
              <a:spcBef>
                <a:spcPts val="1200"/>
              </a:spcBef>
              <a:spcAft>
                <a:spcPts val="0"/>
              </a:spcAft>
              <a:buNone/>
            </a:pPr>
            <a:r>
              <a:t/>
            </a:r>
            <a:endParaRPr sz="2100">
              <a:solidFill>
                <a:srgbClr val="000000"/>
              </a:solidFill>
              <a:latin typeface="Verdana"/>
              <a:ea typeface="Verdana"/>
              <a:cs typeface="Verdana"/>
              <a:sym typeface="Verdana"/>
            </a:endParaRPr>
          </a:p>
          <a:p>
            <a:pPr indent="457200" lvl="0" marL="0" rtl="0" algn="just">
              <a:lnSpc>
                <a:spcPct val="100000"/>
              </a:lnSpc>
              <a:spcBef>
                <a:spcPts val="1200"/>
              </a:spcBef>
              <a:spcAft>
                <a:spcPts val="0"/>
              </a:spcAft>
              <a:buNone/>
            </a:pPr>
            <a:r>
              <a:t/>
            </a:r>
            <a:endParaRPr sz="2100">
              <a:solidFill>
                <a:srgbClr val="000000"/>
              </a:solidFill>
              <a:latin typeface="Verdana"/>
              <a:ea typeface="Verdana"/>
              <a:cs typeface="Verdana"/>
              <a:sym typeface="Verdana"/>
            </a:endParaRPr>
          </a:p>
          <a:p>
            <a:pPr indent="0" lvl="0" marL="0" rtl="0" algn="just">
              <a:spcBef>
                <a:spcPts val="1200"/>
              </a:spcBef>
              <a:spcAft>
                <a:spcPts val="1200"/>
              </a:spcAft>
              <a:buNone/>
            </a:pPr>
            <a:r>
              <a:t/>
            </a:r>
            <a:endParaRPr sz="2100">
              <a:solidFill>
                <a:srgbClr val="000000"/>
              </a:solidFill>
              <a:latin typeface="Verdana"/>
              <a:ea typeface="Verdana"/>
              <a:cs typeface="Verdana"/>
              <a:sym typeface="Verdana"/>
            </a:endParaRPr>
          </a:p>
        </p:txBody>
      </p:sp>
      <p:pic>
        <p:nvPicPr>
          <p:cNvPr id="119" name="Google Shape;119;p26" title="Untitled design.png"/>
          <p:cNvPicPr preferRelativeResize="0"/>
          <p:nvPr/>
        </p:nvPicPr>
        <p:blipFill>
          <a:blip r:embed="rId3">
            <a:alphaModFix/>
          </a:blip>
          <a:stretch>
            <a:fillRect/>
          </a:stretch>
        </p:blipFill>
        <p:spPr>
          <a:xfrm>
            <a:off x="235200" y="0"/>
            <a:ext cx="8589299" cy="49666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7"/>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Partitioning</a:t>
            </a:r>
            <a:endParaRPr/>
          </a:p>
        </p:txBody>
      </p:sp>
      <p:sp>
        <p:nvSpPr>
          <p:cNvPr id="125" name="Google Shape;125;p27"/>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202122"/>
              </a:buClr>
              <a:buSzPts val="1800"/>
              <a:buFont typeface="Times New Roman"/>
              <a:buChar char="●"/>
            </a:pPr>
            <a:r>
              <a:rPr lang="en-GB">
                <a:solidFill>
                  <a:srgbClr val="202122"/>
                </a:solidFill>
                <a:highlight>
                  <a:srgbClr val="FFFFFF"/>
                </a:highlight>
                <a:latin typeface="Times New Roman"/>
                <a:ea typeface="Times New Roman"/>
                <a:cs typeface="Times New Roman"/>
                <a:sym typeface="Times New Roman"/>
              </a:rPr>
              <a:t>Partitioning is a process of dividing the chip into small blocks.</a:t>
            </a:r>
            <a:endParaRPr>
              <a:solidFill>
                <a:srgbClr val="000000"/>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202122"/>
              </a:buClr>
              <a:buSzPts val="1800"/>
              <a:buFont typeface="Times New Roman"/>
              <a:buChar char="●"/>
            </a:pPr>
            <a:r>
              <a:rPr lang="en-GB">
                <a:solidFill>
                  <a:srgbClr val="202122"/>
                </a:solidFill>
                <a:highlight>
                  <a:srgbClr val="FFFFFF"/>
                </a:highlight>
                <a:latin typeface="Times New Roman"/>
                <a:ea typeface="Times New Roman"/>
                <a:cs typeface="Times New Roman"/>
                <a:sym typeface="Times New Roman"/>
              </a:rPr>
              <a:t>This is done mainly to separate different functional blocks and also to make placement and routing easier.</a:t>
            </a:r>
            <a:endParaRPr>
              <a:solidFill>
                <a:srgbClr val="202122"/>
              </a:solidFill>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202122"/>
              </a:buClr>
              <a:buSzPts val="1800"/>
              <a:buFont typeface="Times New Roman"/>
              <a:buChar char="●"/>
            </a:pPr>
            <a:r>
              <a:rPr lang="en-GB">
                <a:solidFill>
                  <a:srgbClr val="202122"/>
                </a:solidFill>
                <a:highlight>
                  <a:srgbClr val="FFFFFF"/>
                </a:highlight>
                <a:latin typeface="Times New Roman"/>
                <a:ea typeface="Times New Roman"/>
                <a:cs typeface="Times New Roman"/>
                <a:sym typeface="Times New Roman"/>
              </a:rPr>
              <a:t>Partitioning Can Be Done Based On</a:t>
            </a:r>
            <a:endParaRPr>
              <a:solidFill>
                <a:srgbClr val="202122"/>
              </a:solidFill>
              <a:highlight>
                <a:srgbClr val="FFFFFF"/>
              </a:highlight>
              <a:latin typeface="Times New Roman"/>
              <a:ea typeface="Times New Roman"/>
              <a:cs typeface="Times New Roman"/>
              <a:sym typeface="Times New Roman"/>
            </a:endParaRPr>
          </a:p>
          <a:p>
            <a:pPr indent="-330200" lvl="1" marL="914400" rtl="0" algn="l">
              <a:spcBef>
                <a:spcPts val="0"/>
              </a:spcBef>
              <a:spcAft>
                <a:spcPts val="0"/>
              </a:spcAft>
              <a:buClr>
                <a:srgbClr val="202122"/>
              </a:buClr>
              <a:buSzPts val="1600"/>
              <a:buFont typeface="Times New Roman"/>
              <a:buChar char="○"/>
            </a:pPr>
            <a:r>
              <a:rPr lang="en-GB" sz="1600">
                <a:solidFill>
                  <a:srgbClr val="202122"/>
                </a:solidFill>
                <a:highlight>
                  <a:srgbClr val="FFFFFF"/>
                </a:highlight>
                <a:latin typeface="Times New Roman"/>
                <a:ea typeface="Times New Roman"/>
                <a:cs typeface="Times New Roman"/>
                <a:sym typeface="Times New Roman"/>
              </a:rPr>
              <a:t>Design Hierarchy</a:t>
            </a:r>
            <a:endParaRPr sz="1600">
              <a:solidFill>
                <a:srgbClr val="202122"/>
              </a:solidFill>
              <a:highlight>
                <a:srgbClr val="FFFFFF"/>
              </a:highlight>
              <a:latin typeface="Times New Roman"/>
              <a:ea typeface="Times New Roman"/>
              <a:cs typeface="Times New Roman"/>
              <a:sym typeface="Times New Roman"/>
            </a:endParaRPr>
          </a:p>
          <a:p>
            <a:pPr indent="-330200" lvl="1" marL="914400" rtl="0" algn="l">
              <a:spcBef>
                <a:spcPts val="0"/>
              </a:spcBef>
              <a:spcAft>
                <a:spcPts val="0"/>
              </a:spcAft>
              <a:buClr>
                <a:srgbClr val="202122"/>
              </a:buClr>
              <a:buSzPts val="1600"/>
              <a:buFont typeface="Times New Roman"/>
              <a:buChar char="○"/>
            </a:pPr>
            <a:r>
              <a:rPr lang="en-GB" sz="1600">
                <a:solidFill>
                  <a:srgbClr val="202122"/>
                </a:solidFill>
                <a:highlight>
                  <a:srgbClr val="FFFFFF"/>
                </a:highlight>
                <a:latin typeface="Times New Roman"/>
                <a:ea typeface="Times New Roman"/>
                <a:cs typeface="Times New Roman"/>
                <a:sym typeface="Times New Roman"/>
              </a:rPr>
              <a:t>Timing Criticality</a:t>
            </a:r>
            <a:endParaRPr sz="1600">
              <a:solidFill>
                <a:srgbClr val="202122"/>
              </a:solidFill>
              <a:highlight>
                <a:srgbClr val="FFFFFF"/>
              </a:highlight>
              <a:latin typeface="Times New Roman"/>
              <a:ea typeface="Times New Roman"/>
              <a:cs typeface="Times New Roman"/>
              <a:sym typeface="Times New Roman"/>
            </a:endParaRPr>
          </a:p>
          <a:p>
            <a:pPr indent="-330200" lvl="1" marL="914400" rtl="0" algn="l">
              <a:spcBef>
                <a:spcPts val="0"/>
              </a:spcBef>
              <a:spcAft>
                <a:spcPts val="0"/>
              </a:spcAft>
              <a:buClr>
                <a:srgbClr val="202122"/>
              </a:buClr>
              <a:buSzPts val="1600"/>
              <a:buFont typeface="Times New Roman"/>
              <a:buChar char="○"/>
            </a:pPr>
            <a:r>
              <a:rPr lang="en-GB" sz="1600">
                <a:solidFill>
                  <a:srgbClr val="202122"/>
                </a:solidFill>
                <a:highlight>
                  <a:srgbClr val="FFFFFF"/>
                </a:highlight>
                <a:latin typeface="Times New Roman"/>
                <a:ea typeface="Times New Roman"/>
                <a:cs typeface="Times New Roman"/>
                <a:sym typeface="Times New Roman"/>
              </a:rPr>
              <a:t>Functionality</a:t>
            </a:r>
            <a:endParaRPr sz="1600">
              <a:solidFill>
                <a:srgbClr val="202122"/>
              </a:solidFill>
              <a:highlight>
                <a:srgbClr val="FFFFFF"/>
              </a:highlight>
              <a:latin typeface="Times New Roman"/>
              <a:ea typeface="Times New Roman"/>
              <a:cs typeface="Times New Roman"/>
              <a:sym typeface="Times New Roman"/>
            </a:endParaRPr>
          </a:p>
          <a:p>
            <a:pPr indent="-330200" lvl="1" marL="914400" rtl="0" algn="l">
              <a:spcBef>
                <a:spcPts val="0"/>
              </a:spcBef>
              <a:spcAft>
                <a:spcPts val="0"/>
              </a:spcAft>
              <a:buClr>
                <a:srgbClr val="202122"/>
              </a:buClr>
              <a:buSzPts val="1600"/>
              <a:buFont typeface="Times New Roman"/>
              <a:buChar char="○"/>
            </a:pPr>
            <a:r>
              <a:rPr lang="en-GB" sz="1600">
                <a:solidFill>
                  <a:srgbClr val="202122"/>
                </a:solidFill>
                <a:highlight>
                  <a:srgbClr val="FFFFFF"/>
                </a:highlight>
                <a:latin typeface="Times New Roman"/>
                <a:ea typeface="Times New Roman"/>
                <a:cs typeface="Times New Roman"/>
                <a:sym typeface="Times New Roman"/>
              </a:rPr>
              <a:t>Clock Domain</a:t>
            </a:r>
            <a:endParaRPr sz="1600">
              <a:solidFill>
                <a:srgbClr val="202122"/>
              </a:solidFill>
              <a:highlight>
                <a:srgbClr val="FFFFFF"/>
              </a:highlight>
              <a:latin typeface="Times New Roman"/>
              <a:ea typeface="Times New Roman"/>
              <a:cs typeface="Times New Roman"/>
              <a:sym typeface="Times New Roman"/>
            </a:endParaRPr>
          </a:p>
          <a:p>
            <a:pPr indent="-330200" lvl="1" marL="914400" rtl="0" algn="l">
              <a:spcBef>
                <a:spcPts val="0"/>
              </a:spcBef>
              <a:spcAft>
                <a:spcPts val="0"/>
              </a:spcAft>
              <a:buClr>
                <a:srgbClr val="202122"/>
              </a:buClr>
              <a:buSzPts val="1600"/>
              <a:buFont typeface="Times New Roman"/>
              <a:buChar char="○"/>
            </a:pPr>
            <a:r>
              <a:rPr lang="en-GB" sz="1600">
                <a:solidFill>
                  <a:srgbClr val="202122"/>
                </a:solidFill>
                <a:highlight>
                  <a:srgbClr val="FFFFFF"/>
                </a:highlight>
                <a:latin typeface="Times New Roman"/>
                <a:ea typeface="Times New Roman"/>
                <a:cs typeface="Times New Roman"/>
                <a:sym typeface="Times New Roman"/>
              </a:rPr>
              <a:t>Design Files</a:t>
            </a:r>
            <a:endParaRPr sz="1600">
              <a:solidFill>
                <a:srgbClr val="202122"/>
              </a:solidFill>
              <a:highlight>
                <a:srgbClr val="FFFFFF"/>
              </a:highlight>
              <a:latin typeface="Times New Roman"/>
              <a:ea typeface="Times New Roman"/>
              <a:cs typeface="Times New Roman"/>
              <a:sym typeface="Times New Roman"/>
            </a:endParaRPr>
          </a:p>
          <a:p>
            <a:pPr indent="-330200" lvl="1" marL="914400" rtl="0" algn="l">
              <a:lnSpc>
                <a:spcPct val="150000"/>
              </a:lnSpc>
              <a:spcBef>
                <a:spcPts val="0"/>
              </a:spcBef>
              <a:spcAft>
                <a:spcPts val="0"/>
              </a:spcAft>
              <a:buClr>
                <a:srgbClr val="202122"/>
              </a:buClr>
              <a:buSzPts val="1600"/>
              <a:buFont typeface="Times New Roman"/>
              <a:buChar char="○"/>
            </a:pPr>
            <a:r>
              <a:rPr lang="en-GB" sz="1600">
                <a:solidFill>
                  <a:srgbClr val="202122"/>
                </a:solidFill>
                <a:highlight>
                  <a:srgbClr val="FFFFFF"/>
                </a:highlight>
                <a:latin typeface="Times New Roman"/>
                <a:ea typeface="Times New Roman"/>
                <a:cs typeface="Times New Roman"/>
                <a:sym typeface="Times New Roman"/>
              </a:rPr>
              <a:t>Block Size</a:t>
            </a:r>
            <a:endParaRPr sz="1600">
              <a:solidFill>
                <a:srgbClr val="202122"/>
              </a:solidFill>
              <a:highlight>
                <a:srgbClr val="FFFFFF"/>
              </a:highlight>
              <a:latin typeface="Times New Roman"/>
              <a:ea typeface="Times New Roman"/>
              <a:cs typeface="Times New Roman"/>
              <a:sym typeface="Times New Roman"/>
            </a:endParaRPr>
          </a:p>
          <a:p>
            <a:pPr indent="-342900" lvl="0" marL="457200" rtl="0" algn="just">
              <a:lnSpc>
                <a:spcPct val="100000"/>
              </a:lnSpc>
              <a:spcBef>
                <a:spcPts val="0"/>
              </a:spcBef>
              <a:spcAft>
                <a:spcPts val="0"/>
              </a:spcAft>
              <a:buClr>
                <a:srgbClr val="202122"/>
              </a:buClr>
              <a:buSzPts val="1800"/>
              <a:buFont typeface="Times New Roman"/>
              <a:buChar char="●"/>
            </a:pPr>
            <a:r>
              <a:rPr lang="en-GB">
                <a:solidFill>
                  <a:srgbClr val="202122"/>
                </a:solidFill>
                <a:highlight>
                  <a:srgbClr val="FFFFFF"/>
                </a:highlight>
                <a:latin typeface="Times New Roman"/>
                <a:ea typeface="Times New Roman"/>
                <a:cs typeface="Times New Roman"/>
                <a:sym typeface="Times New Roman"/>
              </a:rPr>
              <a:t>The goal of partitioning is to split the circuit such that the number of connections between partitions is minimized, providing a </a:t>
            </a:r>
            <a:r>
              <a:rPr lang="en-GB">
                <a:solidFill>
                  <a:srgbClr val="000000"/>
                </a:solidFill>
                <a:latin typeface="Times New Roman"/>
                <a:ea typeface="Times New Roman"/>
                <a:cs typeface="Times New Roman"/>
                <a:sym typeface="Times New Roman"/>
              </a:rPr>
              <a:t>better layout and easier implementation.</a:t>
            </a:r>
            <a:endParaRPr>
              <a:solidFill>
                <a:srgbClr val="202122"/>
              </a:solidFill>
              <a:highlight>
                <a:srgbClr val="FFFFFF"/>
              </a:highlight>
              <a:latin typeface="Times New Roman"/>
              <a:ea typeface="Times New Roman"/>
              <a:cs typeface="Times New Roman"/>
              <a:sym typeface="Times New Roman"/>
            </a:endParaRPr>
          </a:p>
        </p:txBody>
      </p:sp>
      <p:pic>
        <p:nvPicPr>
          <p:cNvPr id="126" name="Google Shape;126;p27" title="Screenshot from 2025-11-11 23-25-04.png"/>
          <p:cNvPicPr preferRelativeResize="0"/>
          <p:nvPr/>
        </p:nvPicPr>
        <p:blipFill>
          <a:blip r:embed="rId3">
            <a:alphaModFix/>
          </a:blip>
          <a:stretch>
            <a:fillRect/>
          </a:stretch>
        </p:blipFill>
        <p:spPr>
          <a:xfrm>
            <a:off x="4797525" y="1273375"/>
            <a:ext cx="3252174" cy="2378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8"/>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Floorplann</a:t>
            </a:r>
            <a:r>
              <a:rPr lang="en-GB"/>
              <a:t>ing</a:t>
            </a:r>
            <a:endParaRPr/>
          </a:p>
        </p:txBody>
      </p:sp>
      <p:sp>
        <p:nvSpPr>
          <p:cNvPr id="132" name="Google Shape;132;p28"/>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Floorplanning is the process of placing blocks/macros in the chip/core area.</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Objective of floorplanning are to minimize the area and delay.</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0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The netlist is the logical description of the ASIC design. Floorplan is the physical description of the ASIC design. In floorplanning we are mapping the logical description of the design to the physical description.</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Determine width and height of core and die.</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Determine I/O pin placement.</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Creating the Pad Ring for the Chip.</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Determine location of predefined cell/macros.</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00000"/>
              </a:lnSpc>
              <a:spcBef>
                <a:spcPts val="300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133" name="Google Shape;133;p28" title="Screenshot from 2025-11-12 22-36-01.png"/>
          <p:cNvPicPr preferRelativeResize="0"/>
          <p:nvPr/>
        </p:nvPicPr>
        <p:blipFill>
          <a:blip r:embed="rId3">
            <a:alphaModFix/>
          </a:blip>
          <a:stretch>
            <a:fillRect/>
          </a:stretch>
        </p:blipFill>
        <p:spPr>
          <a:xfrm>
            <a:off x="5082000" y="2006650"/>
            <a:ext cx="3959401" cy="29292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9"/>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Placement</a:t>
            </a:r>
            <a:endParaRPr/>
          </a:p>
        </p:txBody>
      </p:sp>
      <p:sp>
        <p:nvSpPr>
          <p:cNvPr id="139" name="Google Shape;139;p29"/>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202122"/>
              </a:buClr>
              <a:buSzPts val="1800"/>
              <a:buFont typeface="Times New Roman"/>
              <a:buChar char="●"/>
            </a:pPr>
            <a:r>
              <a:rPr lang="en-GB">
                <a:solidFill>
                  <a:srgbClr val="202122"/>
                </a:solidFill>
                <a:highlight>
                  <a:srgbClr val="FFFFFF"/>
                </a:highlight>
                <a:latin typeface="Times New Roman"/>
                <a:ea typeface="Times New Roman"/>
                <a:cs typeface="Times New Roman"/>
                <a:sym typeface="Times New Roman"/>
              </a:rPr>
              <a:t>Placement is the process of placing standard cells in the design.</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202122"/>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It also optimizes the design. Placement also determines the routability of your design.</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Placement will be driven by different criteria like timing driven, congestion driven, power optimization.</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Objective of placement is to optimize the area, timing, power and minimal timing DRCs and minimal cell and pin density.</a:t>
            </a:r>
            <a:endParaRPr>
              <a:solidFill>
                <a:srgbClr val="202122"/>
              </a:solidFill>
              <a:highlight>
                <a:srgbClr val="FFFFFF"/>
              </a:highlight>
              <a:latin typeface="Times New Roman"/>
              <a:ea typeface="Times New Roman"/>
              <a:cs typeface="Times New Roman"/>
              <a:sym typeface="Times New Roman"/>
            </a:endParaRPr>
          </a:p>
        </p:txBody>
      </p:sp>
      <p:pic>
        <p:nvPicPr>
          <p:cNvPr id="140" name="Google Shape;140;p29" title="Untitled design (1).png"/>
          <p:cNvPicPr preferRelativeResize="0"/>
          <p:nvPr/>
        </p:nvPicPr>
        <p:blipFill>
          <a:blip r:embed="rId3">
            <a:alphaModFix/>
          </a:blip>
          <a:stretch>
            <a:fillRect/>
          </a:stretch>
        </p:blipFill>
        <p:spPr>
          <a:xfrm>
            <a:off x="4267025" y="2229625"/>
            <a:ext cx="4282325" cy="2690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0"/>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Clock Tree Synthesis (CTS)</a:t>
            </a:r>
            <a:endParaRPr/>
          </a:p>
        </p:txBody>
      </p:sp>
      <p:sp>
        <p:nvSpPr>
          <p:cNvPr id="146" name="Google Shape;146;p30"/>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Clock Tree Synthesis (CTS) is a process which make sure that the clock signals distributed uniformly to all sequential elements in a design.</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CTS is the process of insertion of buffers or inverters along the clock paths of design in order to achieve minimum skew.</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Objective of CTS</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To meet clock tree design rule constraints </a:t>
            </a:r>
            <a:endParaRPr>
              <a:solidFill>
                <a:srgbClr val="000000"/>
              </a:solidFill>
              <a:highlight>
                <a:srgbClr val="FFFFFF"/>
              </a:highlight>
              <a:latin typeface="Times New Roman"/>
              <a:ea typeface="Times New Roman"/>
              <a:cs typeface="Times New Roman"/>
              <a:sym typeface="Times New Roman"/>
            </a:endParaRPr>
          </a:p>
          <a:p>
            <a:pPr indent="-323850" lvl="1" marL="914400" rtl="0" algn="just">
              <a:spcBef>
                <a:spcPts val="0"/>
              </a:spcBef>
              <a:spcAft>
                <a:spcPts val="0"/>
              </a:spcAft>
              <a:buClr>
                <a:srgbClr val="000000"/>
              </a:buClr>
              <a:buSzPts val="1500"/>
              <a:buFont typeface="Times New Roman"/>
              <a:buChar char="○"/>
            </a:pPr>
            <a:r>
              <a:rPr lang="en-GB" sz="1500">
                <a:solidFill>
                  <a:srgbClr val="000000"/>
                </a:solidFill>
                <a:highlight>
                  <a:srgbClr val="FFFFFF"/>
                </a:highlight>
                <a:latin typeface="Times New Roman"/>
                <a:ea typeface="Times New Roman"/>
                <a:cs typeface="Times New Roman"/>
                <a:sym typeface="Times New Roman"/>
              </a:rPr>
              <a:t>such as maximum transition. </a:t>
            </a:r>
            <a:endParaRPr sz="1500">
              <a:solidFill>
                <a:srgbClr val="000000"/>
              </a:solidFill>
              <a:highlight>
                <a:srgbClr val="FFFFFF"/>
              </a:highlight>
              <a:latin typeface="Times New Roman"/>
              <a:ea typeface="Times New Roman"/>
              <a:cs typeface="Times New Roman"/>
              <a:sym typeface="Times New Roman"/>
            </a:endParaRPr>
          </a:p>
          <a:p>
            <a:pPr indent="-323850" lvl="1" marL="914400" rtl="0" algn="just">
              <a:spcBef>
                <a:spcPts val="0"/>
              </a:spcBef>
              <a:spcAft>
                <a:spcPts val="0"/>
              </a:spcAft>
              <a:buClr>
                <a:srgbClr val="000000"/>
              </a:buClr>
              <a:buSzPts val="1500"/>
              <a:buFont typeface="Times New Roman"/>
              <a:buChar char="○"/>
            </a:pPr>
            <a:r>
              <a:rPr lang="en-GB" sz="1500">
                <a:solidFill>
                  <a:srgbClr val="000000"/>
                </a:solidFill>
                <a:highlight>
                  <a:srgbClr val="FFFFFF"/>
                </a:highlight>
                <a:latin typeface="Times New Roman"/>
                <a:ea typeface="Times New Roman"/>
                <a:cs typeface="Times New Roman"/>
                <a:sym typeface="Times New Roman"/>
              </a:rPr>
              <a:t>maximum load capacitance and maximum fanout.</a:t>
            </a:r>
            <a:endParaRPr sz="1500">
              <a:solidFill>
                <a:srgbClr val="000000"/>
              </a:solidFill>
              <a:highlight>
                <a:srgbClr val="FFFFFF"/>
              </a:highlight>
              <a:latin typeface="Times New Roman"/>
              <a:ea typeface="Times New Roman"/>
              <a:cs typeface="Times New Roman"/>
              <a:sym typeface="Times New Roman"/>
            </a:endParaRPr>
          </a:p>
          <a:p>
            <a:pPr indent="-342900" lvl="0" marL="457200" rtl="0" algn="just">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To meet clock tree targets </a:t>
            </a:r>
            <a:endParaRPr>
              <a:solidFill>
                <a:srgbClr val="000000"/>
              </a:solidFill>
              <a:highlight>
                <a:srgbClr val="FFFFFF"/>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such as minimum skew. </a:t>
            </a:r>
            <a:endParaRPr sz="1600">
              <a:solidFill>
                <a:srgbClr val="000000"/>
              </a:solidFill>
              <a:highlight>
                <a:srgbClr val="FFFFFF"/>
              </a:highlight>
              <a:latin typeface="Times New Roman"/>
              <a:ea typeface="Times New Roman"/>
              <a:cs typeface="Times New Roman"/>
              <a:sym typeface="Times New Roman"/>
            </a:endParaRPr>
          </a:p>
          <a:p>
            <a:pPr indent="-330200" lvl="1" marL="914400" rtl="0" algn="just">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minimum insertion delay.</a:t>
            </a:r>
            <a:endParaRPr sz="16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15000"/>
              </a:lnSpc>
              <a:spcBef>
                <a:spcPts val="3000"/>
              </a:spcBef>
              <a:spcAft>
                <a:spcPts val="3000"/>
              </a:spcAft>
              <a:buNone/>
            </a:pPr>
            <a:r>
              <a:t/>
            </a:r>
            <a:endParaRPr sz="2400">
              <a:solidFill>
                <a:srgbClr val="202122"/>
              </a:solidFill>
              <a:highlight>
                <a:srgbClr val="FFFFFF"/>
              </a:highlight>
              <a:latin typeface="Times New Roman"/>
              <a:ea typeface="Times New Roman"/>
              <a:cs typeface="Times New Roman"/>
              <a:sym typeface="Times New Roman"/>
            </a:endParaRPr>
          </a:p>
        </p:txBody>
      </p:sp>
      <p:pic>
        <p:nvPicPr>
          <p:cNvPr id="147" name="Google Shape;147;p30" title="Screenshot from 2025-11-13 20-51-56.png"/>
          <p:cNvPicPr preferRelativeResize="0"/>
          <p:nvPr/>
        </p:nvPicPr>
        <p:blipFill>
          <a:blip r:embed="rId3">
            <a:alphaModFix/>
          </a:blip>
          <a:stretch>
            <a:fillRect/>
          </a:stretch>
        </p:blipFill>
        <p:spPr>
          <a:xfrm>
            <a:off x="5143500" y="1722200"/>
            <a:ext cx="3897900" cy="3213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1"/>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Routing</a:t>
            </a:r>
            <a:endParaRPr/>
          </a:p>
        </p:txBody>
      </p:sp>
      <p:sp>
        <p:nvSpPr>
          <p:cNvPr id="153" name="Google Shape;153;p31"/>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It is a process determines the precise paths for interconnections.</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Routing is nothing but connecting the various blocks in the chip with one </a:t>
            </a:r>
            <a:r>
              <a:rPr lang="en-GB">
                <a:solidFill>
                  <a:srgbClr val="000000"/>
                </a:solidFill>
                <a:highlight>
                  <a:srgbClr val="FFFFFF"/>
                </a:highlight>
                <a:latin typeface="Times New Roman"/>
                <a:ea typeface="Times New Roman"/>
                <a:cs typeface="Times New Roman"/>
                <a:sym typeface="Times New Roman"/>
              </a:rPr>
              <a:t>an other</a:t>
            </a:r>
            <a:r>
              <a:rPr lang="en-GB">
                <a:solidFill>
                  <a:srgbClr val="000000"/>
                </a:solidFill>
                <a:highlight>
                  <a:srgbClr val="FFFFFF"/>
                </a:highlight>
                <a:latin typeface="Times New Roman"/>
                <a:ea typeface="Times New Roman"/>
                <a:cs typeface="Times New Roman"/>
                <a:sym typeface="Times New Roman"/>
              </a:rPr>
              <a:t>.</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0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After CTS, we have information about the exact location of  placed cells, blockages, clock tree buffers/inverters and I/O pins. This information is important for tool to complete all the connections defined in netlist.</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In routing stage, metal and vias are used to create the electrical connection in layout defined by logical connections present in netlist.</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00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Objective of routing to meet the timing constraints, no LVS errors, no DRC errors and minimize the total wire length.</a:t>
            </a:r>
            <a:endParaRPr>
              <a:solidFill>
                <a:srgbClr val="000000"/>
              </a:solidFill>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There are many stages in routing process: </a:t>
            </a:r>
            <a:endParaRPr>
              <a:solidFill>
                <a:srgbClr val="000000"/>
              </a:solidFill>
              <a:highlight>
                <a:srgbClr val="FFFFFF"/>
              </a:highlight>
              <a:latin typeface="Times New Roman"/>
              <a:ea typeface="Times New Roman"/>
              <a:cs typeface="Times New Roman"/>
              <a:sym typeface="Times New Roman"/>
            </a:endParaRPr>
          </a:p>
          <a:p>
            <a:pPr indent="-317500" lvl="1" marL="914400" rtl="0" algn="l">
              <a:lnSpc>
                <a:spcPct val="150000"/>
              </a:lnSpc>
              <a:spcBef>
                <a:spcPts val="0"/>
              </a:spcBef>
              <a:spcAft>
                <a:spcPts val="0"/>
              </a:spcAft>
              <a:buClr>
                <a:srgbClr val="000000"/>
              </a:buClr>
              <a:buSzPts val="1400"/>
              <a:buFont typeface="Times New Roman"/>
              <a:buChar char="○"/>
            </a:pPr>
            <a:r>
              <a:rPr lang="en-GB">
                <a:solidFill>
                  <a:srgbClr val="000000"/>
                </a:solidFill>
                <a:highlight>
                  <a:srgbClr val="FFFFFF"/>
                </a:highlight>
                <a:latin typeface="Times New Roman"/>
                <a:ea typeface="Times New Roman"/>
                <a:cs typeface="Times New Roman"/>
                <a:sym typeface="Times New Roman"/>
              </a:rPr>
              <a:t>a)</a:t>
            </a:r>
            <a:r>
              <a:rPr lang="en-GB">
                <a:solidFill>
                  <a:srgbClr val="000000"/>
                </a:solidFill>
                <a:highlight>
                  <a:srgbClr val="FFFFFF"/>
                </a:highlight>
                <a:latin typeface="Times New Roman"/>
                <a:ea typeface="Times New Roman"/>
                <a:cs typeface="Times New Roman"/>
                <a:sym typeface="Times New Roman"/>
              </a:rPr>
              <a:t>Global routing          </a:t>
            </a:r>
            <a:r>
              <a:rPr lang="en-GB">
                <a:solidFill>
                  <a:srgbClr val="000000"/>
                </a:solidFill>
                <a:highlight>
                  <a:srgbClr val="FFFFFF"/>
                </a:highlight>
                <a:latin typeface="Times New Roman"/>
                <a:ea typeface="Times New Roman"/>
                <a:cs typeface="Times New Roman"/>
                <a:sym typeface="Times New Roman"/>
              </a:rPr>
              <a:t>b)</a:t>
            </a:r>
            <a:r>
              <a:rPr lang="en-GB">
                <a:solidFill>
                  <a:srgbClr val="000000"/>
                </a:solidFill>
                <a:highlight>
                  <a:srgbClr val="FFFFFF"/>
                </a:highlight>
                <a:latin typeface="Times New Roman"/>
                <a:ea typeface="Times New Roman"/>
                <a:cs typeface="Times New Roman"/>
                <a:sym typeface="Times New Roman"/>
              </a:rPr>
              <a:t>Trac</a:t>
            </a:r>
            <a:r>
              <a:rPr lang="en-GB">
                <a:solidFill>
                  <a:srgbClr val="000000"/>
                </a:solidFill>
                <a:highlight>
                  <a:srgbClr val="FFFFFF"/>
                </a:highlight>
                <a:latin typeface="Times New Roman"/>
                <a:ea typeface="Times New Roman"/>
                <a:cs typeface="Times New Roman"/>
                <a:sym typeface="Times New Roman"/>
              </a:rPr>
              <a:t>k </a:t>
            </a:r>
            <a:r>
              <a:rPr lang="en-GB">
                <a:solidFill>
                  <a:srgbClr val="000000"/>
                </a:solidFill>
                <a:highlight>
                  <a:srgbClr val="FFFFFF"/>
                </a:highlight>
                <a:latin typeface="Times New Roman"/>
                <a:ea typeface="Times New Roman"/>
                <a:cs typeface="Times New Roman"/>
                <a:sym typeface="Times New Roman"/>
              </a:rPr>
              <a:t>assignment   </a:t>
            </a:r>
            <a:endParaRPr>
              <a:solidFill>
                <a:srgbClr val="000000"/>
              </a:solidFill>
              <a:highlight>
                <a:srgbClr val="FFFFFF"/>
              </a:highlight>
              <a:latin typeface="Times New Roman"/>
              <a:ea typeface="Times New Roman"/>
              <a:cs typeface="Times New Roman"/>
              <a:sym typeface="Times New Roman"/>
            </a:endParaRPr>
          </a:p>
          <a:p>
            <a:pPr indent="-317500" lvl="1" marL="914400" rtl="0" algn="l">
              <a:lnSpc>
                <a:spcPct val="150000"/>
              </a:lnSpc>
              <a:spcBef>
                <a:spcPts val="0"/>
              </a:spcBef>
              <a:spcAft>
                <a:spcPts val="0"/>
              </a:spcAft>
              <a:buClr>
                <a:srgbClr val="000000"/>
              </a:buClr>
              <a:buSzPts val="1400"/>
              <a:buFont typeface="Times New Roman"/>
              <a:buChar char="○"/>
            </a:pPr>
            <a:r>
              <a:rPr lang="en-GB">
                <a:solidFill>
                  <a:srgbClr val="000000"/>
                </a:solidFill>
                <a:highlight>
                  <a:srgbClr val="FFFFFF"/>
                </a:highlight>
                <a:latin typeface="Times New Roman"/>
                <a:ea typeface="Times New Roman"/>
                <a:cs typeface="Times New Roman"/>
                <a:sym typeface="Times New Roman"/>
              </a:rPr>
              <a:t>c)</a:t>
            </a:r>
            <a:r>
              <a:rPr lang="en-GB">
                <a:solidFill>
                  <a:srgbClr val="000000"/>
                </a:solidFill>
                <a:highlight>
                  <a:srgbClr val="FFFFFF"/>
                </a:highlight>
                <a:latin typeface="Times New Roman"/>
                <a:ea typeface="Times New Roman"/>
                <a:cs typeface="Times New Roman"/>
                <a:sym typeface="Times New Roman"/>
              </a:rPr>
              <a:t>Detailed routing       </a:t>
            </a:r>
            <a:r>
              <a:rPr lang="en-GB">
                <a:solidFill>
                  <a:srgbClr val="000000"/>
                </a:solidFill>
                <a:highlight>
                  <a:srgbClr val="FFFFFF"/>
                </a:highlight>
                <a:latin typeface="Times New Roman"/>
                <a:ea typeface="Times New Roman"/>
                <a:cs typeface="Times New Roman"/>
                <a:sym typeface="Times New Roman"/>
              </a:rPr>
              <a:t>d)</a:t>
            </a:r>
            <a:r>
              <a:rPr lang="en-GB">
                <a:solidFill>
                  <a:srgbClr val="000000"/>
                </a:solidFill>
                <a:highlight>
                  <a:srgbClr val="FFFFFF"/>
                </a:highlight>
                <a:latin typeface="Times New Roman"/>
                <a:ea typeface="Times New Roman"/>
                <a:cs typeface="Times New Roman"/>
                <a:sym typeface="Times New Roman"/>
              </a:rPr>
              <a:t> search and repair.</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2"/>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Routing</a:t>
            </a:r>
            <a:endParaRPr/>
          </a:p>
        </p:txBody>
      </p:sp>
      <p:sp>
        <p:nvSpPr>
          <p:cNvPr id="159" name="Google Shape;159;p32"/>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160" name="Google Shape;160;p32" title="Screenshot from 2025-11-13 22-20-24.png"/>
          <p:cNvPicPr preferRelativeResize="0"/>
          <p:nvPr/>
        </p:nvPicPr>
        <p:blipFill>
          <a:blip r:embed="rId3">
            <a:alphaModFix/>
          </a:blip>
          <a:stretch>
            <a:fillRect/>
          </a:stretch>
        </p:blipFill>
        <p:spPr>
          <a:xfrm>
            <a:off x="619225" y="576625"/>
            <a:ext cx="7307451" cy="4236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3"/>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Physical Verification and Signoff</a:t>
            </a:r>
            <a:endParaRPr/>
          </a:p>
        </p:txBody>
      </p:sp>
      <p:sp>
        <p:nvSpPr>
          <p:cNvPr id="166" name="Google Shape;166;p33"/>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After routing stage your layout is ready. In this stage we have to perform signoff checks for example physical verification check, timing analysis, logical equivalence checking.</a:t>
            </a:r>
            <a:endParaRPr>
              <a:solidFill>
                <a:srgbClr val="000000"/>
              </a:solidFill>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We perform physical verification checks such as Layout Vs schematic (LVS) and Design Rule check (DRC) and Electrical Rule Check(ERC) and antenna check.</a:t>
            </a:r>
            <a:endParaRPr>
              <a:solidFill>
                <a:srgbClr val="000000"/>
              </a:solidFill>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Equivalence check will compare the netlist we started out with (pre-layout/synthesis netlist) to the netlist given by the tool after PnR(post layout netlist).</a:t>
            </a:r>
            <a:endParaRPr>
              <a:solidFill>
                <a:srgbClr val="000000"/>
              </a:solidFill>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DRC verifies whether the given layout satisfies the design rules provided by the fabrication team. DRC checks are nothing but physical checks of spacing rules between metals, minimum width rules, via rules etc.</a:t>
            </a:r>
            <a:endParaRPr>
              <a:solidFill>
                <a:srgbClr val="000000"/>
              </a:solidFill>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00000"/>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LVS is a major check in the physical verification stage. Layout is compared with the schematic for verifying whether their functionally match or not. If match, then the LVS reports clean</a:t>
            </a:r>
            <a:r>
              <a:rPr lang="en-GB">
                <a:solidFill>
                  <a:srgbClr val="000000"/>
                </a:solidFill>
                <a:highlight>
                  <a:srgbClr val="FFFFFF"/>
                </a:highlight>
                <a:latin typeface="Times New Roman"/>
                <a:ea typeface="Times New Roman"/>
                <a:cs typeface="Times New Roman"/>
                <a:sym typeface="Times New Roman"/>
              </a:rPr>
              <a:t>.</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50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4"/>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Layout post processing</a:t>
            </a:r>
            <a:endParaRPr/>
          </a:p>
        </p:txBody>
      </p:sp>
      <p:sp>
        <p:nvSpPr>
          <p:cNvPr id="172" name="Google Shape;172;p34"/>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600"/>
              </a:spcBef>
              <a:spcAft>
                <a:spcPts val="0"/>
              </a:spcAft>
              <a:buNone/>
            </a:pPr>
            <a:r>
              <a:t/>
            </a:r>
            <a:endParaRPr baseline="30000">
              <a:solidFill>
                <a:srgbClr val="3366CC"/>
              </a:solidFill>
              <a:highlight>
                <a:srgbClr val="FFFFFF"/>
              </a:highlight>
              <a:latin typeface="Arial"/>
              <a:ea typeface="Arial"/>
              <a:cs typeface="Arial"/>
              <a:sym typeface="Arial"/>
            </a:endParaRPr>
          </a:p>
          <a:p>
            <a:pPr indent="457200" lvl="0" marL="0" rtl="0" algn="just">
              <a:spcBef>
                <a:spcPts val="1200"/>
              </a:spcBef>
              <a:spcAft>
                <a:spcPts val="0"/>
              </a:spcAft>
              <a:buNone/>
            </a:pPr>
            <a:r>
              <a:rPr lang="en-GB">
                <a:solidFill>
                  <a:srgbClr val="202122"/>
                </a:solidFill>
                <a:highlight>
                  <a:srgbClr val="FFFFFF"/>
                </a:highlight>
                <a:latin typeface="Times New Roman"/>
                <a:ea typeface="Times New Roman"/>
                <a:cs typeface="Times New Roman"/>
                <a:sym typeface="Times New Roman"/>
              </a:rPr>
              <a:t>Layout Post Processing, also known </a:t>
            </a:r>
            <a:r>
              <a:rPr lang="en-GB">
                <a:solidFill>
                  <a:srgbClr val="3366CC"/>
                </a:solidFill>
                <a:highlight>
                  <a:srgbClr val="FFFFFF"/>
                </a:highlight>
                <a:uFill>
                  <a:noFill/>
                </a:uFill>
                <a:latin typeface="Times New Roman"/>
                <a:ea typeface="Times New Roman"/>
                <a:cs typeface="Times New Roman"/>
                <a:sym typeface="Times New Roman"/>
                <a:hlinkClick r:id="rId3">
                  <a:extLst>
                    <a:ext uri="{A12FA001-AC4F-418D-AE19-62706E023703}">
                      <ahyp:hlinkClr val="tx"/>
                    </a:ext>
                  </a:extLst>
                </a:hlinkClick>
              </a:rPr>
              <a:t>mask data preparation</a:t>
            </a:r>
            <a:r>
              <a:rPr lang="en-GB">
                <a:solidFill>
                  <a:srgbClr val="202122"/>
                </a:solidFill>
                <a:highlight>
                  <a:srgbClr val="FFFFFF"/>
                </a:highlight>
                <a:latin typeface="Times New Roman"/>
                <a:ea typeface="Times New Roman"/>
                <a:cs typeface="Times New Roman"/>
                <a:sym typeface="Times New Roman"/>
              </a:rPr>
              <a:t>, often concludes physical design and verification. It converts the </a:t>
            </a:r>
            <a:r>
              <a:rPr lang="en-GB">
                <a:solidFill>
                  <a:srgbClr val="3366CC"/>
                </a:solidFill>
                <a:highlight>
                  <a:srgbClr val="FFFFFF"/>
                </a:highlight>
                <a:uFill>
                  <a:noFill/>
                </a:uFill>
                <a:latin typeface="Times New Roman"/>
                <a:ea typeface="Times New Roman"/>
                <a:cs typeface="Times New Roman"/>
                <a:sym typeface="Times New Roman"/>
                <a:hlinkClick r:id="rId4">
                  <a:extLst>
                    <a:ext uri="{A12FA001-AC4F-418D-AE19-62706E023703}">
                      <ahyp:hlinkClr val="tx"/>
                    </a:ext>
                  </a:extLst>
                </a:hlinkClick>
              </a:rPr>
              <a:t>physical layout</a:t>
            </a:r>
            <a:r>
              <a:rPr lang="en-GB">
                <a:solidFill>
                  <a:srgbClr val="202122"/>
                </a:solidFill>
                <a:highlight>
                  <a:srgbClr val="FFFFFF"/>
                </a:highlight>
                <a:latin typeface="Times New Roman"/>
                <a:ea typeface="Times New Roman"/>
                <a:cs typeface="Times New Roman"/>
                <a:sym typeface="Times New Roman"/>
              </a:rPr>
              <a:t> (polygons) into mask data (instructions for the </a:t>
            </a:r>
            <a:r>
              <a:rPr lang="en-GB">
                <a:solidFill>
                  <a:srgbClr val="3366CC"/>
                </a:solidFill>
                <a:highlight>
                  <a:srgbClr val="FFFFFF"/>
                </a:highlight>
                <a:uFill>
                  <a:noFill/>
                </a:uFill>
                <a:latin typeface="Times New Roman"/>
                <a:ea typeface="Times New Roman"/>
                <a:cs typeface="Times New Roman"/>
                <a:sym typeface="Times New Roman"/>
                <a:hlinkClick r:id="rId5">
                  <a:extLst>
                    <a:ext uri="{A12FA001-AC4F-418D-AE19-62706E023703}">
                      <ahyp:hlinkClr val="tx"/>
                    </a:ext>
                  </a:extLst>
                </a:hlinkClick>
              </a:rPr>
              <a:t>photomask</a:t>
            </a:r>
            <a:r>
              <a:rPr lang="en-GB">
                <a:solidFill>
                  <a:srgbClr val="202122"/>
                </a:solidFill>
                <a:highlight>
                  <a:srgbClr val="FFFFFF"/>
                </a:highlight>
                <a:latin typeface="Times New Roman"/>
                <a:ea typeface="Times New Roman"/>
                <a:cs typeface="Times New Roman"/>
                <a:sym typeface="Times New Roman"/>
              </a:rPr>
              <a:t> writer). It includes</a:t>
            </a:r>
            <a:r>
              <a:rPr baseline="30000" lang="en-GB">
                <a:solidFill>
                  <a:srgbClr val="3366CC"/>
                </a:solidFill>
                <a:highlight>
                  <a:srgbClr val="FFFFFF"/>
                </a:highlight>
                <a:uFill>
                  <a:noFill/>
                </a:uFill>
                <a:latin typeface="Times New Roman"/>
                <a:ea typeface="Times New Roman"/>
                <a:cs typeface="Times New Roman"/>
                <a:sym typeface="Times New Roman"/>
                <a:hlinkClick r:id="rId6">
                  <a:extLst>
                    <a:ext uri="{A12FA001-AC4F-418D-AE19-62706E023703}">
                      <ahyp:hlinkClr val="tx"/>
                    </a:ext>
                  </a:extLst>
                </a:hlinkClick>
              </a:rPr>
              <a:t>[3]</a:t>
            </a:r>
            <a:endParaRPr baseline="30000">
              <a:solidFill>
                <a:srgbClr val="3366CC"/>
              </a:solidFill>
              <a:highlight>
                <a:srgbClr val="FFFFFF"/>
              </a:highlight>
              <a:latin typeface="Times New Roman"/>
              <a:ea typeface="Times New Roman"/>
              <a:cs typeface="Times New Roman"/>
              <a:sym typeface="Times New Roman"/>
            </a:endParaRPr>
          </a:p>
          <a:p>
            <a:pPr indent="-342900" lvl="0" marL="685800" rtl="0" algn="l">
              <a:spcBef>
                <a:spcPts val="1200"/>
              </a:spcBef>
              <a:spcAft>
                <a:spcPts val="0"/>
              </a:spcAft>
              <a:buClr>
                <a:srgbClr val="202122"/>
              </a:buClr>
              <a:buSzPts val="1800"/>
              <a:buFont typeface="Times New Roman"/>
              <a:buChar char="●"/>
            </a:pPr>
            <a:r>
              <a:rPr lang="en-GB">
                <a:solidFill>
                  <a:srgbClr val="202122"/>
                </a:solidFill>
                <a:highlight>
                  <a:srgbClr val="FFFFFF"/>
                </a:highlight>
                <a:latin typeface="Times New Roman"/>
                <a:ea typeface="Times New Roman"/>
                <a:cs typeface="Times New Roman"/>
                <a:sym typeface="Times New Roman"/>
              </a:rPr>
              <a:t>Chip finishing, such as inserting company/chip labels and final structures (e.g., seal ring, filler structures),</a:t>
            </a:r>
            <a:endParaRPr>
              <a:solidFill>
                <a:srgbClr val="202122"/>
              </a:solidFill>
              <a:highlight>
                <a:srgbClr val="FFFFFF"/>
              </a:highlight>
              <a:latin typeface="Times New Roman"/>
              <a:ea typeface="Times New Roman"/>
              <a:cs typeface="Times New Roman"/>
              <a:sym typeface="Times New Roman"/>
            </a:endParaRPr>
          </a:p>
          <a:p>
            <a:pPr indent="-342900" lvl="0" marL="685800" rtl="0" algn="l">
              <a:spcBef>
                <a:spcPts val="0"/>
              </a:spcBef>
              <a:spcAft>
                <a:spcPts val="0"/>
              </a:spcAft>
              <a:buClr>
                <a:srgbClr val="202122"/>
              </a:buClr>
              <a:buSzPts val="1800"/>
              <a:buFont typeface="Times New Roman"/>
              <a:buChar char="●"/>
            </a:pPr>
            <a:r>
              <a:rPr lang="en-GB">
                <a:solidFill>
                  <a:srgbClr val="202122"/>
                </a:solidFill>
                <a:highlight>
                  <a:srgbClr val="FFFFFF"/>
                </a:highlight>
                <a:latin typeface="Times New Roman"/>
                <a:ea typeface="Times New Roman"/>
                <a:cs typeface="Times New Roman"/>
                <a:sym typeface="Times New Roman"/>
              </a:rPr>
              <a:t>Generating a reticle layout with test patterns and alignment marks,</a:t>
            </a:r>
            <a:endParaRPr>
              <a:solidFill>
                <a:srgbClr val="202122"/>
              </a:solidFill>
              <a:highlight>
                <a:srgbClr val="FFFFFF"/>
              </a:highlight>
              <a:latin typeface="Times New Roman"/>
              <a:ea typeface="Times New Roman"/>
              <a:cs typeface="Times New Roman"/>
              <a:sym typeface="Times New Roman"/>
            </a:endParaRPr>
          </a:p>
          <a:p>
            <a:pPr indent="-342900" lvl="0" marL="685800" rtl="0" algn="l">
              <a:spcBef>
                <a:spcPts val="0"/>
              </a:spcBef>
              <a:spcAft>
                <a:spcPts val="0"/>
              </a:spcAft>
              <a:buClr>
                <a:srgbClr val="202122"/>
              </a:buClr>
              <a:buSzPts val="1800"/>
              <a:buFont typeface="Times New Roman"/>
              <a:buChar char="●"/>
            </a:pPr>
            <a:r>
              <a:rPr lang="en-GB">
                <a:solidFill>
                  <a:srgbClr val="202122"/>
                </a:solidFill>
                <a:highlight>
                  <a:srgbClr val="FFFFFF"/>
                </a:highlight>
                <a:latin typeface="Times New Roman"/>
                <a:ea typeface="Times New Roman"/>
                <a:cs typeface="Times New Roman"/>
                <a:sym typeface="Times New Roman"/>
              </a:rPr>
              <a:t>Layout-to-mask preparation that extends layout data with graphics operations (e.g., </a:t>
            </a:r>
            <a:r>
              <a:rPr lang="en-GB">
                <a:solidFill>
                  <a:srgbClr val="3366CC"/>
                </a:solidFill>
                <a:highlight>
                  <a:srgbClr val="FFFFFF"/>
                </a:highlight>
                <a:uFill>
                  <a:noFill/>
                </a:uFill>
                <a:latin typeface="Times New Roman"/>
                <a:ea typeface="Times New Roman"/>
                <a:cs typeface="Times New Roman"/>
                <a:sym typeface="Times New Roman"/>
                <a:hlinkClick r:id="rId7">
                  <a:extLst>
                    <a:ext uri="{A12FA001-AC4F-418D-AE19-62706E023703}">
                      <ahyp:hlinkClr val="tx"/>
                    </a:ext>
                  </a:extLst>
                </a:hlinkClick>
              </a:rPr>
              <a:t>resolution enhancement technologies</a:t>
            </a:r>
            <a:r>
              <a:rPr lang="en-GB">
                <a:solidFill>
                  <a:srgbClr val="202122"/>
                </a:solidFill>
                <a:highlight>
                  <a:srgbClr val="FFFFFF"/>
                </a:highlight>
                <a:latin typeface="Times New Roman"/>
                <a:ea typeface="Times New Roman"/>
                <a:cs typeface="Times New Roman"/>
                <a:sym typeface="Times New Roman"/>
              </a:rPr>
              <a:t>, RET) and adjusts the data to mask production devices (photomask writer).</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50000"/>
              </a:lnSpc>
              <a:spcBef>
                <a:spcPts val="1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5"/>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Timing Analysis</a:t>
            </a:r>
            <a:endParaRPr/>
          </a:p>
          <a:p>
            <a:pPr indent="0" lvl="0" marL="0" rtl="0" algn="l">
              <a:spcBef>
                <a:spcPts val="0"/>
              </a:spcBef>
              <a:spcAft>
                <a:spcPts val="0"/>
              </a:spcAft>
              <a:buNone/>
            </a:pPr>
            <a:r>
              <a:t/>
            </a:r>
            <a:endParaRPr/>
          </a:p>
        </p:txBody>
      </p:sp>
      <p:sp>
        <p:nvSpPr>
          <p:cNvPr id="178" name="Google Shape;178;p35"/>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36550" lvl="0" marL="457200" rtl="0" algn="l">
              <a:lnSpc>
                <a:spcPct val="100000"/>
              </a:lnSpc>
              <a:spcBef>
                <a:spcPts val="1200"/>
              </a:spcBef>
              <a:spcAft>
                <a:spcPts val="0"/>
              </a:spcAft>
              <a:buClr>
                <a:srgbClr val="000000"/>
              </a:buClr>
              <a:buSzPts val="1700"/>
              <a:buFont typeface="Times New Roman"/>
              <a:buChar char="●"/>
            </a:pPr>
            <a:r>
              <a:rPr b="1" lang="en-GB" sz="1700">
                <a:solidFill>
                  <a:srgbClr val="000000"/>
                </a:solidFill>
                <a:latin typeface="Times New Roman"/>
                <a:ea typeface="Times New Roman"/>
                <a:cs typeface="Times New Roman"/>
                <a:sym typeface="Times New Roman"/>
              </a:rPr>
              <a:t>Timing Analysis</a:t>
            </a:r>
            <a:r>
              <a:rPr lang="en-GB" sz="1700">
                <a:solidFill>
                  <a:srgbClr val="000000"/>
                </a:solidFill>
                <a:latin typeface="Times New Roman"/>
                <a:ea typeface="Times New Roman"/>
                <a:cs typeface="Times New Roman"/>
                <a:sym typeface="Times New Roman"/>
              </a:rPr>
              <a:t> is a process used in digital VLSI design to ensure that all signals in a circuit </a:t>
            </a:r>
            <a:r>
              <a:rPr b="1" lang="en-GB" sz="1700">
                <a:solidFill>
                  <a:srgbClr val="000000"/>
                </a:solidFill>
                <a:latin typeface="Times New Roman"/>
                <a:ea typeface="Times New Roman"/>
                <a:cs typeface="Times New Roman"/>
                <a:sym typeface="Times New Roman"/>
              </a:rPr>
              <a:t>arrive at the right time</a:t>
            </a:r>
            <a:r>
              <a:rPr lang="en-GB" sz="1700">
                <a:solidFill>
                  <a:srgbClr val="000000"/>
                </a:solidFill>
                <a:latin typeface="Times New Roman"/>
                <a:ea typeface="Times New Roman"/>
                <a:cs typeface="Times New Roman"/>
                <a:sym typeface="Times New Roman"/>
              </a:rPr>
              <a:t> so the design works correctly at the required clock frequency.</a:t>
            </a:r>
            <a:endParaRPr b="1" sz="1700">
              <a:solidFill>
                <a:srgbClr val="000000"/>
              </a:solidFill>
              <a:highlight>
                <a:srgbClr val="FFFFFF"/>
              </a:highlight>
              <a:latin typeface="Times New Roman"/>
              <a:ea typeface="Times New Roman"/>
              <a:cs typeface="Times New Roman"/>
              <a:sym typeface="Times New Roman"/>
            </a:endParaRPr>
          </a:p>
          <a:p>
            <a:pPr indent="-336550" lvl="0" marL="457200" rtl="0" algn="just">
              <a:lnSpc>
                <a:spcPct val="115000"/>
              </a:lnSpc>
              <a:spcBef>
                <a:spcPts val="0"/>
              </a:spcBef>
              <a:spcAft>
                <a:spcPts val="0"/>
              </a:spcAft>
              <a:buClr>
                <a:srgbClr val="000000"/>
              </a:buClr>
              <a:buSzPts val="1700"/>
              <a:buFont typeface="Times New Roman"/>
              <a:buChar char="●"/>
            </a:pPr>
            <a:r>
              <a:rPr b="1" lang="en-GB" sz="1700">
                <a:solidFill>
                  <a:srgbClr val="000000"/>
                </a:solidFill>
                <a:highlight>
                  <a:srgbClr val="FFFFFF"/>
                </a:highlight>
                <a:latin typeface="Times New Roman"/>
                <a:ea typeface="Times New Roman"/>
                <a:cs typeface="Times New Roman"/>
                <a:sym typeface="Times New Roman"/>
              </a:rPr>
              <a:t>Timing Verification:</a:t>
            </a:r>
            <a:r>
              <a:rPr lang="en-GB" sz="1700">
                <a:solidFill>
                  <a:srgbClr val="000000"/>
                </a:solidFill>
                <a:highlight>
                  <a:srgbClr val="FFFFFF"/>
                </a:highlight>
                <a:latin typeface="Times New Roman"/>
                <a:ea typeface="Times New Roman"/>
                <a:cs typeface="Times New Roman"/>
                <a:sym typeface="Times New Roman"/>
              </a:rPr>
              <a:t> </a:t>
            </a:r>
            <a:endParaRPr sz="1700">
              <a:solidFill>
                <a:srgbClr val="000000"/>
              </a:solidFill>
              <a:highlight>
                <a:srgbClr val="FFFFFF"/>
              </a:highlight>
              <a:latin typeface="Times New Roman"/>
              <a:ea typeface="Times New Roman"/>
              <a:cs typeface="Times New Roman"/>
              <a:sym typeface="Times New Roman"/>
            </a:endParaRPr>
          </a:p>
          <a:p>
            <a:pPr indent="-336550" lvl="1" marL="914400" rtl="0" algn="just">
              <a:lnSpc>
                <a:spcPct val="115000"/>
              </a:lnSpc>
              <a:spcBef>
                <a:spcPts val="0"/>
              </a:spcBef>
              <a:spcAft>
                <a:spcPts val="0"/>
              </a:spcAft>
              <a:buClr>
                <a:srgbClr val="000000"/>
              </a:buClr>
              <a:buSzPts val="1700"/>
              <a:buFont typeface="Times New Roman"/>
              <a:buChar char="○"/>
            </a:pPr>
            <a:r>
              <a:rPr lang="en-GB" sz="1700">
                <a:solidFill>
                  <a:srgbClr val="000000"/>
                </a:solidFill>
                <a:highlight>
                  <a:srgbClr val="FFFFFF"/>
                </a:highlight>
                <a:latin typeface="Times New Roman"/>
                <a:ea typeface="Times New Roman"/>
                <a:cs typeface="Times New Roman"/>
                <a:sym typeface="Times New Roman"/>
              </a:rPr>
              <a:t>Verifies whether a design meets a given timing constraint. </a:t>
            </a:r>
            <a:endParaRPr sz="1700">
              <a:solidFill>
                <a:srgbClr val="000000"/>
              </a:solidFill>
              <a:highlight>
                <a:srgbClr val="FFFFFF"/>
              </a:highlight>
              <a:latin typeface="Times New Roman"/>
              <a:ea typeface="Times New Roman"/>
              <a:cs typeface="Times New Roman"/>
              <a:sym typeface="Times New Roman"/>
            </a:endParaRPr>
          </a:p>
          <a:p>
            <a:pPr indent="-336550" lvl="1" marL="914400" rtl="0" algn="just">
              <a:lnSpc>
                <a:spcPct val="115000"/>
              </a:lnSpc>
              <a:spcBef>
                <a:spcPts val="0"/>
              </a:spcBef>
              <a:spcAft>
                <a:spcPts val="0"/>
              </a:spcAft>
              <a:buClr>
                <a:srgbClr val="000000"/>
              </a:buClr>
              <a:buSzPts val="1700"/>
              <a:buFont typeface="Times New Roman"/>
              <a:buChar char="○"/>
            </a:pPr>
            <a:r>
              <a:rPr lang="en-GB" sz="1700">
                <a:solidFill>
                  <a:srgbClr val="000000"/>
                </a:solidFill>
                <a:highlight>
                  <a:srgbClr val="FFFFFF"/>
                </a:highlight>
                <a:latin typeface="Times New Roman"/>
                <a:ea typeface="Times New Roman"/>
                <a:cs typeface="Times New Roman"/>
                <a:sym typeface="Times New Roman"/>
              </a:rPr>
              <a:t>Verifies that the design works properly for all possible combinations — EVERY TIME.</a:t>
            </a:r>
            <a:endParaRPr sz="1700">
              <a:solidFill>
                <a:srgbClr val="000000"/>
              </a:solidFill>
              <a:highlight>
                <a:srgbClr val="FFFFFF"/>
              </a:highlight>
              <a:latin typeface="Times New Roman"/>
              <a:ea typeface="Times New Roman"/>
              <a:cs typeface="Times New Roman"/>
              <a:sym typeface="Times New Roman"/>
            </a:endParaRPr>
          </a:p>
          <a:p>
            <a:pPr indent="-336550" lvl="0" marL="457200" rtl="0" algn="just">
              <a:lnSpc>
                <a:spcPct val="115000"/>
              </a:lnSpc>
              <a:spcBef>
                <a:spcPts val="0"/>
              </a:spcBef>
              <a:spcAft>
                <a:spcPts val="0"/>
              </a:spcAft>
              <a:buClr>
                <a:srgbClr val="000000"/>
              </a:buClr>
              <a:buSzPts val="1700"/>
              <a:buFont typeface="Times New Roman"/>
              <a:buChar char="●"/>
            </a:pPr>
            <a:r>
              <a:rPr b="1" lang="en-GB" sz="1700">
                <a:solidFill>
                  <a:srgbClr val="000000"/>
                </a:solidFill>
                <a:highlight>
                  <a:srgbClr val="FFFFFF"/>
                </a:highlight>
                <a:latin typeface="Times New Roman"/>
                <a:ea typeface="Times New Roman"/>
                <a:cs typeface="Times New Roman"/>
                <a:sym typeface="Times New Roman"/>
              </a:rPr>
              <a:t>Timing Optimization:</a:t>
            </a:r>
            <a:endParaRPr b="1" sz="1700">
              <a:solidFill>
                <a:srgbClr val="000000"/>
              </a:solidFill>
              <a:highlight>
                <a:srgbClr val="FFFFFF"/>
              </a:highlight>
              <a:latin typeface="Times New Roman"/>
              <a:ea typeface="Times New Roman"/>
              <a:cs typeface="Times New Roman"/>
              <a:sym typeface="Times New Roman"/>
            </a:endParaRPr>
          </a:p>
          <a:p>
            <a:pPr indent="-336550" lvl="1" marL="914400" rtl="0" algn="just">
              <a:lnSpc>
                <a:spcPct val="115000"/>
              </a:lnSpc>
              <a:spcBef>
                <a:spcPts val="0"/>
              </a:spcBef>
              <a:spcAft>
                <a:spcPts val="0"/>
              </a:spcAft>
              <a:buClr>
                <a:srgbClr val="000000"/>
              </a:buClr>
              <a:buSzPts val="1700"/>
              <a:buFont typeface="Times New Roman"/>
              <a:buChar char="○"/>
            </a:pPr>
            <a:r>
              <a:rPr lang="en-GB" sz="1700">
                <a:solidFill>
                  <a:srgbClr val="000000"/>
                </a:solidFill>
                <a:highlight>
                  <a:srgbClr val="FFFFFF"/>
                </a:highlight>
                <a:latin typeface="Times New Roman"/>
                <a:ea typeface="Times New Roman"/>
                <a:cs typeface="Times New Roman"/>
                <a:sym typeface="Times New Roman"/>
              </a:rPr>
              <a:t>Timing Optimization Identifies the critical portion of a design for further optimization. </a:t>
            </a:r>
            <a:endParaRPr sz="1700">
              <a:solidFill>
                <a:srgbClr val="000000"/>
              </a:solidFill>
              <a:highlight>
                <a:srgbClr val="FFFFFF"/>
              </a:highlight>
              <a:latin typeface="Times New Roman"/>
              <a:ea typeface="Times New Roman"/>
              <a:cs typeface="Times New Roman"/>
              <a:sym typeface="Times New Roman"/>
            </a:endParaRPr>
          </a:p>
          <a:p>
            <a:pPr indent="-336550" lvl="2" marL="1371600" rtl="0" algn="just">
              <a:lnSpc>
                <a:spcPct val="115000"/>
              </a:lnSpc>
              <a:spcBef>
                <a:spcPts val="0"/>
              </a:spcBef>
              <a:spcAft>
                <a:spcPts val="0"/>
              </a:spcAft>
              <a:buClr>
                <a:srgbClr val="000000"/>
              </a:buClr>
              <a:buSzPts val="1700"/>
              <a:buFont typeface="Times New Roman"/>
              <a:buChar char="■"/>
            </a:pPr>
            <a:r>
              <a:rPr lang="en-GB" sz="1700">
                <a:solidFill>
                  <a:srgbClr val="000000"/>
                </a:solidFill>
                <a:highlight>
                  <a:srgbClr val="FFFFFF"/>
                </a:highlight>
                <a:latin typeface="Times New Roman"/>
                <a:ea typeface="Times New Roman"/>
                <a:cs typeface="Times New Roman"/>
                <a:sym typeface="Times New Roman"/>
              </a:rPr>
              <a:t>Critical path identification</a:t>
            </a:r>
            <a:endParaRPr b="1" sz="1700">
              <a:solidFill>
                <a:srgbClr val="000000"/>
              </a:solidFill>
              <a:highlight>
                <a:srgbClr val="FFFFFF"/>
              </a:highlight>
              <a:latin typeface="Times New Roman"/>
              <a:ea typeface="Times New Roman"/>
              <a:cs typeface="Times New Roman"/>
              <a:sym typeface="Times New Roman"/>
            </a:endParaRPr>
          </a:p>
          <a:p>
            <a:pPr indent="-336550" lvl="0" marL="457200" rtl="0" algn="just">
              <a:lnSpc>
                <a:spcPct val="100000"/>
              </a:lnSpc>
              <a:spcBef>
                <a:spcPts val="0"/>
              </a:spcBef>
              <a:spcAft>
                <a:spcPts val="0"/>
              </a:spcAft>
              <a:buClr>
                <a:srgbClr val="000000"/>
              </a:buClr>
              <a:buSzPts val="1700"/>
              <a:buFont typeface="Times New Roman"/>
              <a:buChar char="●"/>
            </a:pPr>
            <a:r>
              <a:rPr b="1" lang="en-GB" sz="1700">
                <a:solidFill>
                  <a:srgbClr val="000000"/>
                </a:solidFill>
                <a:highlight>
                  <a:schemeClr val="lt1"/>
                </a:highlight>
                <a:latin typeface="Times New Roman"/>
                <a:ea typeface="Times New Roman"/>
                <a:cs typeface="Times New Roman"/>
                <a:sym typeface="Times New Roman"/>
              </a:rPr>
              <a:t>Types of Timing Analysis</a:t>
            </a:r>
            <a:endParaRPr b="1" sz="1700">
              <a:solidFill>
                <a:srgbClr val="000000"/>
              </a:solidFill>
              <a:highlight>
                <a:schemeClr val="lt1"/>
              </a:highlight>
              <a:latin typeface="Times New Roman"/>
              <a:ea typeface="Times New Roman"/>
              <a:cs typeface="Times New Roman"/>
              <a:sym typeface="Times New Roman"/>
            </a:endParaRPr>
          </a:p>
          <a:p>
            <a:pPr indent="-336550" lvl="1" marL="914400" rtl="0" algn="just">
              <a:lnSpc>
                <a:spcPct val="115000"/>
              </a:lnSpc>
              <a:spcBef>
                <a:spcPts val="0"/>
              </a:spcBef>
              <a:spcAft>
                <a:spcPts val="0"/>
              </a:spcAft>
              <a:buClr>
                <a:srgbClr val="000000"/>
              </a:buClr>
              <a:buSzPts val="1700"/>
              <a:buFont typeface="Times New Roman"/>
              <a:buChar char="○"/>
            </a:pPr>
            <a:r>
              <a:rPr b="1" lang="en-GB" sz="1700">
                <a:solidFill>
                  <a:srgbClr val="000000"/>
                </a:solidFill>
                <a:highlight>
                  <a:schemeClr val="lt1"/>
                </a:highlight>
                <a:latin typeface="Times New Roman"/>
                <a:ea typeface="Times New Roman"/>
                <a:cs typeface="Times New Roman"/>
                <a:sym typeface="Times New Roman"/>
              </a:rPr>
              <a:t>Static Timing Analysis (STA) </a:t>
            </a:r>
            <a:endParaRPr b="1" sz="1700">
              <a:solidFill>
                <a:srgbClr val="000000"/>
              </a:solidFill>
              <a:highlight>
                <a:schemeClr val="lt1"/>
              </a:highlight>
              <a:latin typeface="Times New Roman"/>
              <a:ea typeface="Times New Roman"/>
              <a:cs typeface="Times New Roman"/>
              <a:sym typeface="Times New Roman"/>
            </a:endParaRPr>
          </a:p>
          <a:p>
            <a:pPr indent="-336550" lvl="2" marL="1371600" rtl="0" algn="just">
              <a:lnSpc>
                <a:spcPct val="115000"/>
              </a:lnSpc>
              <a:spcBef>
                <a:spcPts val="0"/>
              </a:spcBef>
              <a:spcAft>
                <a:spcPts val="0"/>
              </a:spcAft>
              <a:buClr>
                <a:srgbClr val="000000"/>
              </a:buClr>
              <a:buSzPts val="1700"/>
              <a:buFont typeface="Times New Roman"/>
              <a:buChar char="■"/>
            </a:pPr>
            <a:r>
              <a:rPr lang="en-GB" sz="1700">
                <a:solidFill>
                  <a:srgbClr val="000000"/>
                </a:solidFill>
                <a:highlight>
                  <a:schemeClr val="lt1"/>
                </a:highlight>
                <a:latin typeface="Times New Roman"/>
                <a:ea typeface="Times New Roman"/>
                <a:cs typeface="Times New Roman"/>
                <a:sym typeface="Times New Roman"/>
              </a:rPr>
              <a:t>Checks static delay requirements without applying any input vectors.</a:t>
            </a:r>
            <a:endParaRPr sz="1700">
              <a:solidFill>
                <a:srgbClr val="000000"/>
              </a:solidFill>
              <a:highlight>
                <a:schemeClr val="lt1"/>
              </a:highlight>
              <a:latin typeface="Times New Roman"/>
              <a:ea typeface="Times New Roman"/>
              <a:cs typeface="Times New Roman"/>
              <a:sym typeface="Times New Roman"/>
            </a:endParaRPr>
          </a:p>
          <a:p>
            <a:pPr indent="-336550" lvl="2" marL="1371600" rtl="0" algn="just">
              <a:lnSpc>
                <a:spcPct val="115000"/>
              </a:lnSpc>
              <a:spcBef>
                <a:spcPts val="0"/>
              </a:spcBef>
              <a:spcAft>
                <a:spcPts val="0"/>
              </a:spcAft>
              <a:buClr>
                <a:srgbClr val="000000"/>
              </a:buClr>
              <a:buSzPts val="1700"/>
              <a:buFont typeface="Times New Roman"/>
              <a:buChar char="■"/>
            </a:pPr>
            <a:r>
              <a:rPr lang="en-GB" sz="1700">
                <a:solidFill>
                  <a:srgbClr val="000000"/>
                </a:solidFill>
                <a:highlight>
                  <a:schemeClr val="lt1"/>
                </a:highlight>
                <a:latin typeface="Times New Roman"/>
                <a:ea typeface="Times New Roman"/>
                <a:cs typeface="Times New Roman"/>
                <a:sym typeface="Times New Roman"/>
              </a:rPr>
              <a:t>It does not check functionality.</a:t>
            </a:r>
            <a:endParaRPr b="1" sz="1700">
              <a:solidFill>
                <a:srgbClr val="000000"/>
              </a:solidFill>
              <a:highlight>
                <a:schemeClr val="lt1"/>
              </a:highlight>
              <a:latin typeface="Times New Roman"/>
              <a:ea typeface="Times New Roman"/>
              <a:cs typeface="Times New Roman"/>
              <a:sym typeface="Times New Roman"/>
            </a:endParaRPr>
          </a:p>
          <a:p>
            <a:pPr indent="-336550" lvl="1" marL="914400" rtl="0" algn="just">
              <a:lnSpc>
                <a:spcPct val="115000"/>
              </a:lnSpc>
              <a:spcBef>
                <a:spcPts val="0"/>
              </a:spcBef>
              <a:spcAft>
                <a:spcPts val="0"/>
              </a:spcAft>
              <a:buClr>
                <a:srgbClr val="000000"/>
              </a:buClr>
              <a:buSzPts val="1700"/>
              <a:buFont typeface="Times New Roman"/>
              <a:buChar char="○"/>
            </a:pPr>
            <a:r>
              <a:rPr b="1" lang="en-GB" sz="1700">
                <a:solidFill>
                  <a:srgbClr val="000000"/>
                </a:solidFill>
                <a:highlight>
                  <a:schemeClr val="lt1"/>
                </a:highlight>
                <a:latin typeface="Times New Roman"/>
                <a:ea typeface="Times New Roman"/>
                <a:cs typeface="Times New Roman"/>
                <a:sym typeface="Times New Roman"/>
              </a:rPr>
              <a:t>Dynamic Timing Analysis</a:t>
            </a:r>
            <a:endParaRPr b="1" sz="1700">
              <a:solidFill>
                <a:srgbClr val="000000"/>
              </a:solidFill>
              <a:highlight>
                <a:srgbClr val="FFFFFF"/>
              </a:highlight>
              <a:latin typeface="Times New Roman"/>
              <a:ea typeface="Times New Roman"/>
              <a:cs typeface="Times New Roman"/>
              <a:sym typeface="Times New Roman"/>
            </a:endParaRPr>
          </a:p>
          <a:p>
            <a:pPr indent="-336550" lvl="2" marL="1371600" rtl="0" algn="just">
              <a:lnSpc>
                <a:spcPct val="115000"/>
              </a:lnSpc>
              <a:spcBef>
                <a:spcPts val="0"/>
              </a:spcBef>
              <a:spcAft>
                <a:spcPts val="0"/>
              </a:spcAft>
              <a:buClr>
                <a:srgbClr val="000000"/>
              </a:buClr>
              <a:buSzPts val="1700"/>
              <a:buFont typeface="Times New Roman"/>
              <a:buChar char="■"/>
            </a:pPr>
            <a:r>
              <a:rPr lang="en-GB" sz="1700">
                <a:solidFill>
                  <a:srgbClr val="000000"/>
                </a:solidFill>
                <a:highlight>
                  <a:srgbClr val="FFFFFF"/>
                </a:highlight>
                <a:latin typeface="Times New Roman"/>
                <a:ea typeface="Times New Roman"/>
                <a:cs typeface="Times New Roman"/>
                <a:sym typeface="Times New Roman"/>
              </a:rPr>
              <a:t>Verifies the functionality of the design by applying input vectors and checking the correctness and timing of output vectors.</a:t>
            </a:r>
            <a:endParaRPr sz="1700">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1200"/>
              </a:spcAft>
              <a:buNone/>
            </a:pPr>
            <a:r>
              <a:t/>
            </a:r>
            <a:endParaRPr sz="1700">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6"/>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2743200" rtl="0" algn="l">
              <a:spcBef>
                <a:spcPts val="0"/>
              </a:spcBef>
              <a:spcAft>
                <a:spcPts val="0"/>
              </a:spcAft>
              <a:buNone/>
            </a:pPr>
            <a:r>
              <a:rPr lang="en-GB">
                <a:latin typeface="Times New Roman"/>
                <a:ea typeface="Times New Roman"/>
                <a:cs typeface="Times New Roman"/>
                <a:sym typeface="Times New Roman"/>
              </a:rPr>
              <a:t>Static vs Dynamic</a:t>
            </a:r>
            <a:endParaRPr>
              <a:latin typeface="Times New Roman"/>
              <a:ea typeface="Times New Roman"/>
              <a:cs typeface="Times New Roman"/>
              <a:sym typeface="Times New Roman"/>
            </a:endParaRPr>
          </a:p>
        </p:txBody>
      </p:sp>
      <p:sp>
        <p:nvSpPr>
          <p:cNvPr id="184" name="Google Shape;184;p36"/>
          <p:cNvSpPr txBox="1"/>
          <p:nvPr>
            <p:ph idx="1" type="body"/>
          </p:nvPr>
        </p:nvSpPr>
        <p:spPr>
          <a:xfrm>
            <a:off x="65075" y="600225"/>
            <a:ext cx="8976300" cy="42306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55600" lvl="0" marL="457200" rtl="0" algn="just">
              <a:lnSpc>
                <a:spcPct val="115000"/>
              </a:lnSpc>
              <a:spcBef>
                <a:spcPts val="0"/>
              </a:spcBef>
              <a:spcAft>
                <a:spcPts val="0"/>
              </a:spcAft>
              <a:buClr>
                <a:srgbClr val="111C24"/>
              </a:buClr>
              <a:buSzPts val="2000"/>
              <a:buFont typeface="Times New Roman"/>
              <a:buChar char="●"/>
            </a:pPr>
            <a:r>
              <a:rPr b="1" lang="en-GB" sz="2000">
                <a:solidFill>
                  <a:srgbClr val="000000"/>
                </a:solidFill>
                <a:highlight>
                  <a:srgbClr val="FFFFFF"/>
                </a:highlight>
                <a:latin typeface="Times New Roman"/>
                <a:ea typeface="Times New Roman"/>
                <a:cs typeface="Times New Roman"/>
                <a:sym typeface="Times New Roman"/>
              </a:rPr>
              <a:t>STA</a:t>
            </a:r>
            <a:endParaRPr b="1" sz="2000">
              <a:solidFill>
                <a:srgbClr val="000000"/>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111C24"/>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Provides exhaustive coverage – analyzes every path in the design</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111C24"/>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Vector independent – does not need test patterns or functional simulation</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111C24"/>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Conservative – uses pessimistic timing models and conditions</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111C24"/>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Fast Execution – Even for large designs, completes the analysis in relatively quick time</a:t>
            </a:r>
            <a:endParaRPr sz="1800">
              <a:solidFill>
                <a:srgbClr val="000000"/>
              </a:solidFill>
              <a:highlight>
                <a:srgbClr val="FFFFFF"/>
              </a:highlight>
              <a:latin typeface="Times New Roman"/>
              <a:ea typeface="Times New Roman"/>
              <a:cs typeface="Times New Roman"/>
              <a:sym typeface="Times New Roman"/>
            </a:endParaRPr>
          </a:p>
          <a:p>
            <a:pPr indent="-355600" lvl="0" marL="457200" rtl="0" algn="just">
              <a:spcBef>
                <a:spcPts val="0"/>
              </a:spcBef>
              <a:spcAft>
                <a:spcPts val="0"/>
              </a:spcAft>
              <a:buClr>
                <a:srgbClr val="111C24"/>
              </a:buClr>
              <a:buSzPts val="2000"/>
              <a:buFont typeface="Times New Roman"/>
              <a:buChar char="●"/>
            </a:pPr>
            <a:r>
              <a:rPr b="1" lang="en-GB" sz="2000">
                <a:solidFill>
                  <a:srgbClr val="000000"/>
                </a:solidFill>
                <a:highlight>
                  <a:srgbClr val="FFFFFF"/>
                </a:highlight>
                <a:latin typeface="Times New Roman"/>
                <a:ea typeface="Times New Roman"/>
                <a:cs typeface="Times New Roman"/>
                <a:sym typeface="Times New Roman"/>
              </a:rPr>
              <a:t>DTA</a:t>
            </a:r>
            <a:endParaRPr b="1" sz="2000">
              <a:solidFill>
                <a:srgbClr val="000000"/>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111C24"/>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Vector dependent – requires comprehensive test patterns to achieve good coverage</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111C24"/>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Realistic conditions – shows actual timing behavior</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111C24"/>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Path sensitization – Analyzes only those paths that are actually exercised by the input vectors</a:t>
            </a:r>
            <a:endParaRPr sz="1800">
              <a:solidFill>
                <a:srgbClr val="000000"/>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111C24"/>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Slower Execution – Simulation time increases significantly with design complexity</a:t>
            </a:r>
            <a:endParaRPr sz="1800">
              <a:solidFill>
                <a:srgbClr val="000000"/>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50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7"/>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Static Timing Analysis(STA)</a:t>
            </a:r>
            <a:endParaRPr/>
          </a:p>
        </p:txBody>
      </p:sp>
      <p:sp>
        <p:nvSpPr>
          <p:cNvPr id="190" name="Google Shape;190;p37"/>
          <p:cNvSpPr txBox="1"/>
          <p:nvPr>
            <p:ph idx="1" type="body"/>
          </p:nvPr>
        </p:nvSpPr>
        <p:spPr>
          <a:xfrm>
            <a:off x="311700" y="522800"/>
            <a:ext cx="43419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111C24"/>
              </a:buClr>
              <a:buSzPts val="1800"/>
              <a:buFont typeface="Times New Roman"/>
              <a:buChar char="●"/>
            </a:pPr>
            <a:r>
              <a:rPr lang="en-GB">
                <a:solidFill>
                  <a:srgbClr val="111C24"/>
                </a:solidFill>
                <a:highlight>
                  <a:srgbClr val="FFFFFF"/>
                </a:highlight>
                <a:latin typeface="Times New Roman"/>
                <a:ea typeface="Times New Roman"/>
                <a:cs typeface="Times New Roman"/>
                <a:sym typeface="Times New Roman"/>
              </a:rPr>
              <a:t>Static timing analysis (STA) is a method of validating the timing performance of a design by checking all possible paths for timing violations.</a:t>
            </a:r>
            <a:endParaRPr>
              <a:solidFill>
                <a:srgbClr val="111C24"/>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111C24"/>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STA is essential for ensuring a circuit’s performance and reliability.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111C24"/>
              </a:buClr>
              <a:buSzPts val="1800"/>
              <a:buFont typeface="Times New Roman"/>
              <a:buChar char="●"/>
            </a:pPr>
            <a:r>
              <a:rPr lang="en-GB">
                <a:solidFill>
                  <a:srgbClr val="000000"/>
                </a:solidFill>
                <a:highlight>
                  <a:srgbClr val="FFFFFF"/>
                </a:highlight>
                <a:latin typeface="Times New Roman"/>
                <a:ea typeface="Times New Roman"/>
                <a:cs typeface="Times New Roman"/>
                <a:sym typeface="Times New Roman"/>
              </a:rPr>
              <a:t>It helps detect timing violations, such as setup and hold violations, that can lead to functional errors. By analyzing timing paths, STA assists in optimizing design speed, minimizing delays, and ensuring functional correctness.</a:t>
            </a:r>
            <a:endParaRPr>
              <a:solidFill>
                <a:srgbClr val="111C24"/>
              </a:solidFill>
              <a:highlight>
                <a:srgbClr val="FFFFFF"/>
              </a:highlight>
              <a:latin typeface="Times New Roman"/>
              <a:ea typeface="Times New Roman"/>
              <a:cs typeface="Times New Roman"/>
              <a:sym typeface="Times New Roman"/>
            </a:endParaRPr>
          </a:p>
          <a:p>
            <a:pPr indent="0" lvl="0" marL="457200" rtl="0" algn="just">
              <a:lnSpc>
                <a:spcPct val="150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191" name="Google Shape;191;p37" title="Screenshot from 2025-11-18 12-44-44.png"/>
          <p:cNvPicPr preferRelativeResize="0"/>
          <p:nvPr/>
        </p:nvPicPr>
        <p:blipFill>
          <a:blip r:embed="rId3">
            <a:alphaModFix/>
          </a:blip>
          <a:stretch>
            <a:fillRect/>
          </a:stretch>
        </p:blipFill>
        <p:spPr>
          <a:xfrm>
            <a:off x="4699425" y="484417"/>
            <a:ext cx="4341975" cy="4505382"/>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8"/>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Does STA Work?</a:t>
            </a:r>
            <a:endParaRPr/>
          </a:p>
        </p:txBody>
      </p:sp>
      <p:sp>
        <p:nvSpPr>
          <p:cNvPr id="197" name="Google Shape;197;p38"/>
          <p:cNvSpPr txBox="1"/>
          <p:nvPr>
            <p:ph idx="1" type="body"/>
          </p:nvPr>
        </p:nvSpPr>
        <p:spPr>
          <a:xfrm>
            <a:off x="311700" y="814975"/>
            <a:ext cx="8729700" cy="3490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1400"/>
              </a:spcBef>
              <a:spcAft>
                <a:spcPts val="0"/>
              </a:spcAft>
              <a:buNone/>
            </a:pPr>
            <a:r>
              <a:rPr b="1" lang="en-GB" sz="2000">
                <a:solidFill>
                  <a:srgbClr val="000000"/>
                </a:solidFill>
                <a:latin typeface="Times New Roman"/>
                <a:ea typeface="Times New Roman"/>
                <a:cs typeface="Times New Roman"/>
                <a:sym typeface="Times New Roman"/>
              </a:rPr>
              <a:t>To perform STA, the following three main steps are carried out:</a:t>
            </a:r>
            <a:endParaRPr b="1" sz="2000">
              <a:solidFill>
                <a:srgbClr val="000000"/>
              </a:solidFill>
              <a:latin typeface="Times New Roman"/>
              <a:ea typeface="Times New Roman"/>
              <a:cs typeface="Times New Roman"/>
              <a:sym typeface="Times New Roman"/>
            </a:endParaRPr>
          </a:p>
          <a:p>
            <a:pPr indent="-336550" lvl="0" marL="457200" rtl="0" algn="l">
              <a:lnSpc>
                <a:spcPct val="150000"/>
              </a:lnSpc>
              <a:spcBef>
                <a:spcPts val="1200"/>
              </a:spcBef>
              <a:spcAft>
                <a:spcPts val="0"/>
              </a:spcAft>
              <a:buClr>
                <a:srgbClr val="000000"/>
              </a:buClr>
              <a:buSzPts val="1700"/>
              <a:buFont typeface="Arial"/>
              <a:buAutoNum type="arabicPeriod"/>
            </a:pPr>
            <a:r>
              <a:rPr b="1" lang="en-GB" sz="1700">
                <a:solidFill>
                  <a:srgbClr val="000000"/>
                </a:solidFill>
                <a:latin typeface="Times New Roman"/>
                <a:ea typeface="Times New Roman"/>
                <a:cs typeface="Times New Roman"/>
                <a:sym typeface="Times New Roman"/>
              </a:rPr>
              <a:t>Partition the design into timing path</a:t>
            </a:r>
            <a:r>
              <a:rPr b="1" lang="en-GB" sz="1700">
                <a:solidFill>
                  <a:srgbClr val="000000"/>
                </a:solidFill>
                <a:latin typeface="Times New Roman"/>
                <a:ea typeface="Times New Roman"/>
                <a:cs typeface="Times New Roman"/>
                <a:sym typeface="Times New Roman"/>
              </a:rPr>
              <a:t>s</a:t>
            </a:r>
            <a:br>
              <a:rPr b="1" lang="en-GB" sz="1700">
                <a:solidFill>
                  <a:srgbClr val="000000"/>
                </a:solidFill>
                <a:latin typeface="Times New Roman"/>
                <a:ea typeface="Times New Roman"/>
                <a:cs typeface="Times New Roman"/>
                <a:sym typeface="Times New Roman"/>
              </a:rPr>
            </a:br>
            <a:r>
              <a:rPr lang="en-GB" sz="1700">
                <a:solidFill>
                  <a:srgbClr val="000000"/>
                </a:solidFill>
                <a:latin typeface="Times New Roman"/>
                <a:ea typeface="Times New Roman"/>
                <a:cs typeface="Times New Roman"/>
                <a:sym typeface="Times New Roman"/>
              </a:rPr>
              <a:t> – </a:t>
            </a:r>
            <a:r>
              <a:rPr lang="en-GB" sz="1700">
                <a:solidFill>
                  <a:srgbClr val="000000"/>
                </a:solidFill>
                <a:latin typeface="Times New Roman"/>
                <a:ea typeface="Times New Roman"/>
                <a:cs typeface="Times New Roman"/>
                <a:sym typeface="Times New Roman"/>
              </a:rPr>
              <a:t>Identify all start points, end points, and intermediate logic that form each timing path.</a:t>
            </a:r>
            <a:endParaRPr sz="1700">
              <a:solidFill>
                <a:srgbClr val="000000"/>
              </a:solidFill>
              <a:latin typeface="Times New Roman"/>
              <a:ea typeface="Times New Roman"/>
              <a:cs typeface="Times New Roman"/>
              <a:sym typeface="Times New Roman"/>
            </a:endParaRPr>
          </a:p>
          <a:p>
            <a:pPr indent="-336550" lvl="0" marL="457200" rtl="0" algn="l">
              <a:lnSpc>
                <a:spcPct val="150000"/>
              </a:lnSpc>
              <a:spcBef>
                <a:spcPts val="0"/>
              </a:spcBef>
              <a:spcAft>
                <a:spcPts val="0"/>
              </a:spcAft>
              <a:buClr>
                <a:srgbClr val="000000"/>
              </a:buClr>
              <a:buSzPts val="1700"/>
              <a:buFont typeface="Arial"/>
              <a:buAutoNum type="arabicPeriod"/>
            </a:pPr>
            <a:r>
              <a:rPr b="1" lang="en-GB" sz="1700">
                <a:solidFill>
                  <a:srgbClr val="000000"/>
                </a:solidFill>
                <a:latin typeface="Times New Roman"/>
                <a:ea typeface="Times New Roman"/>
                <a:cs typeface="Times New Roman"/>
                <a:sym typeface="Times New Roman"/>
              </a:rPr>
              <a:t>Compute propagation delays for each path</a:t>
            </a:r>
            <a:br>
              <a:rPr b="1" lang="en-GB" sz="1700">
                <a:solidFill>
                  <a:srgbClr val="000000"/>
                </a:solidFill>
                <a:latin typeface="Times New Roman"/>
                <a:ea typeface="Times New Roman"/>
                <a:cs typeface="Times New Roman"/>
                <a:sym typeface="Times New Roman"/>
              </a:rPr>
            </a:br>
            <a:r>
              <a:rPr lang="en-GB" sz="1700">
                <a:solidFill>
                  <a:srgbClr val="000000"/>
                </a:solidFill>
                <a:latin typeface="Times New Roman"/>
                <a:ea typeface="Times New Roman"/>
                <a:cs typeface="Times New Roman"/>
                <a:sym typeface="Times New Roman"/>
              </a:rPr>
              <a:t> – </a:t>
            </a:r>
            <a:r>
              <a:rPr lang="en-GB" sz="1700">
                <a:solidFill>
                  <a:srgbClr val="000000"/>
                </a:solidFill>
                <a:latin typeface="Times New Roman"/>
                <a:ea typeface="Times New Roman"/>
                <a:cs typeface="Times New Roman"/>
                <a:sym typeface="Times New Roman"/>
              </a:rPr>
              <a:t>Determine how long signals take to travel through gates, nets, and sequential elements.</a:t>
            </a:r>
            <a:endParaRPr sz="1700">
              <a:solidFill>
                <a:srgbClr val="000000"/>
              </a:solidFill>
              <a:latin typeface="Times New Roman"/>
              <a:ea typeface="Times New Roman"/>
              <a:cs typeface="Times New Roman"/>
              <a:sym typeface="Times New Roman"/>
            </a:endParaRPr>
          </a:p>
          <a:p>
            <a:pPr indent="-336550" lvl="0" marL="457200" rtl="0" algn="l">
              <a:lnSpc>
                <a:spcPct val="150000"/>
              </a:lnSpc>
              <a:spcBef>
                <a:spcPts val="0"/>
              </a:spcBef>
              <a:spcAft>
                <a:spcPts val="0"/>
              </a:spcAft>
              <a:buClr>
                <a:srgbClr val="000000"/>
              </a:buClr>
              <a:buSzPts val="1700"/>
              <a:buFont typeface="Arial"/>
              <a:buAutoNum type="arabicPeriod"/>
            </a:pPr>
            <a:r>
              <a:rPr b="1" lang="en-GB" sz="1700">
                <a:solidFill>
                  <a:srgbClr val="000000"/>
                </a:solidFill>
                <a:latin typeface="Times New Roman"/>
                <a:ea typeface="Times New Roman"/>
                <a:cs typeface="Times New Roman"/>
                <a:sym typeface="Times New Roman"/>
              </a:rPr>
              <a:t>Check timing constraints for violations</a:t>
            </a:r>
            <a:br>
              <a:rPr b="1" lang="en-GB" sz="1700">
                <a:solidFill>
                  <a:srgbClr val="000000"/>
                </a:solidFill>
                <a:latin typeface="Times New Roman"/>
                <a:ea typeface="Times New Roman"/>
                <a:cs typeface="Times New Roman"/>
                <a:sym typeface="Times New Roman"/>
              </a:rPr>
            </a:br>
            <a:r>
              <a:rPr lang="en-GB" sz="1700">
                <a:solidFill>
                  <a:srgbClr val="000000"/>
                </a:solidFill>
                <a:latin typeface="Times New Roman"/>
                <a:ea typeface="Times New Roman"/>
                <a:cs typeface="Times New Roman"/>
                <a:sym typeface="Times New Roman"/>
              </a:rPr>
              <a:t> – </a:t>
            </a:r>
            <a:r>
              <a:rPr lang="en-GB" sz="1700">
                <a:solidFill>
                  <a:srgbClr val="000000"/>
                </a:solidFill>
                <a:latin typeface="Times New Roman"/>
                <a:ea typeface="Times New Roman"/>
                <a:cs typeface="Times New Roman"/>
                <a:sym typeface="Times New Roman"/>
              </a:rPr>
              <a:t>Verify setup, hold, and other timing requirements at all internal nodes and I/O interfaces.</a:t>
            </a:r>
            <a:endParaRPr sz="1700">
              <a:solidFill>
                <a:srgbClr val="000000"/>
              </a:solidFill>
              <a:latin typeface="Times New Roman"/>
              <a:ea typeface="Times New Roman"/>
              <a:cs typeface="Times New Roman"/>
              <a:sym typeface="Times New Roman"/>
            </a:endParaRPr>
          </a:p>
          <a:p>
            <a:pPr indent="0" lvl="0" marL="0" rtl="0" algn="l">
              <a:lnSpc>
                <a:spcPct val="150000"/>
              </a:lnSpc>
              <a:spcBef>
                <a:spcPts val="12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50000"/>
              </a:lnSpc>
              <a:spcBef>
                <a:spcPts val="8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9"/>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Timing Paths</a:t>
            </a:r>
            <a:endParaRPr/>
          </a:p>
        </p:txBody>
      </p:sp>
      <p:sp>
        <p:nvSpPr>
          <p:cNvPr id="203" name="Google Shape;203;p39"/>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111C24"/>
                </a:solidFill>
                <a:highlight>
                  <a:srgbClr val="FFFFFF"/>
                </a:highlight>
                <a:latin typeface="Times New Roman"/>
                <a:ea typeface="Times New Roman"/>
                <a:cs typeface="Times New Roman"/>
                <a:sym typeface="Times New Roman"/>
              </a:rPr>
              <a:t>Each timing path consists of the following elements:</a:t>
            </a:r>
            <a:endParaRPr>
              <a:solidFill>
                <a:srgbClr val="111C24"/>
              </a:solidFill>
              <a:highlight>
                <a:srgbClr val="FFFFFF"/>
              </a:highlight>
              <a:latin typeface="Times New Roman"/>
              <a:ea typeface="Times New Roman"/>
              <a:cs typeface="Times New Roman"/>
              <a:sym typeface="Times New Roman"/>
            </a:endParaRPr>
          </a:p>
          <a:p>
            <a:pPr indent="-323850" lvl="0" marL="457200" rtl="0" algn="just">
              <a:lnSpc>
                <a:spcPct val="115000"/>
              </a:lnSpc>
              <a:spcBef>
                <a:spcPts val="800"/>
              </a:spcBef>
              <a:spcAft>
                <a:spcPts val="0"/>
              </a:spcAft>
              <a:buClr>
                <a:srgbClr val="111C24"/>
              </a:buClr>
              <a:buSzPts val="1500"/>
              <a:buFont typeface="Roboto"/>
              <a:buChar char="●"/>
            </a:pPr>
            <a:r>
              <a:rPr b="1" lang="en-GB" sz="1500">
                <a:solidFill>
                  <a:srgbClr val="111C24"/>
                </a:solidFill>
                <a:highlight>
                  <a:srgbClr val="FFFFFF"/>
                </a:highlight>
                <a:latin typeface="Times New Roman"/>
                <a:ea typeface="Times New Roman"/>
                <a:cs typeface="Times New Roman"/>
                <a:sym typeface="Times New Roman"/>
              </a:rPr>
              <a:t>Startpoint:</a:t>
            </a:r>
            <a:r>
              <a:rPr lang="en-GB" sz="1500">
                <a:solidFill>
                  <a:srgbClr val="111C24"/>
                </a:solidFill>
                <a:highlight>
                  <a:srgbClr val="FFFFFF"/>
                </a:highlight>
                <a:latin typeface="Times New Roman"/>
                <a:ea typeface="Times New Roman"/>
                <a:cs typeface="Times New Roman"/>
                <a:sym typeface="Times New Roman"/>
              </a:rPr>
              <a:t> The start of a timing path where data is launched by a clock edge or where the data must be available at a specific time. Every startpoint must be either an input port or a register clock pin.</a:t>
            </a:r>
            <a:endParaRPr sz="1500">
              <a:solidFill>
                <a:srgbClr val="111C24"/>
              </a:solidFill>
              <a:highlight>
                <a:srgbClr val="FFFFFF"/>
              </a:highlight>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rgbClr val="111C24"/>
              </a:buClr>
              <a:buSzPts val="1500"/>
              <a:buFont typeface="Roboto"/>
              <a:buChar char="●"/>
            </a:pPr>
            <a:r>
              <a:rPr b="1" lang="en-GB" sz="1500">
                <a:solidFill>
                  <a:srgbClr val="111C24"/>
                </a:solidFill>
                <a:highlight>
                  <a:srgbClr val="FFFFFF"/>
                </a:highlight>
                <a:latin typeface="Times New Roman"/>
                <a:ea typeface="Times New Roman"/>
                <a:cs typeface="Times New Roman"/>
                <a:sym typeface="Times New Roman"/>
              </a:rPr>
              <a:t>Combinational logic network:</a:t>
            </a:r>
            <a:r>
              <a:rPr lang="en-GB" sz="1500">
                <a:solidFill>
                  <a:srgbClr val="111C24"/>
                </a:solidFill>
                <a:highlight>
                  <a:srgbClr val="FFFFFF"/>
                </a:highlight>
                <a:latin typeface="Times New Roman"/>
                <a:ea typeface="Times New Roman"/>
                <a:cs typeface="Times New Roman"/>
                <a:sym typeface="Times New Roman"/>
              </a:rPr>
              <a:t> Elements that have no memory or internal state. Combinational logic can contain AND, OR, XOR, and inverter elements, but cannot contain flip-flops, latches, registers, or RAM.</a:t>
            </a:r>
            <a:endParaRPr sz="1500">
              <a:solidFill>
                <a:srgbClr val="111C24"/>
              </a:solidFill>
              <a:highlight>
                <a:srgbClr val="FFFFFF"/>
              </a:highlight>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rgbClr val="111C24"/>
              </a:buClr>
              <a:buSzPts val="1500"/>
              <a:buFont typeface="Roboto"/>
              <a:buChar char="●"/>
            </a:pPr>
            <a:r>
              <a:rPr b="1" lang="en-GB" sz="1500">
                <a:solidFill>
                  <a:srgbClr val="111C24"/>
                </a:solidFill>
                <a:highlight>
                  <a:srgbClr val="FFFFFF"/>
                </a:highlight>
                <a:latin typeface="Times New Roman"/>
                <a:ea typeface="Times New Roman"/>
                <a:cs typeface="Times New Roman"/>
                <a:sym typeface="Times New Roman"/>
              </a:rPr>
              <a:t>Endpoint:</a:t>
            </a:r>
            <a:r>
              <a:rPr lang="en-GB" sz="1500">
                <a:solidFill>
                  <a:srgbClr val="111C24"/>
                </a:solidFill>
                <a:highlight>
                  <a:srgbClr val="FFFFFF"/>
                </a:highlight>
                <a:latin typeface="Times New Roman"/>
                <a:ea typeface="Times New Roman"/>
                <a:cs typeface="Times New Roman"/>
                <a:sym typeface="Times New Roman"/>
              </a:rPr>
              <a:t> The end of a timing path where data is captured by a clock edge or where the data must be available at a specific time. Every endpoint must be either a register data input pin or an output port.</a:t>
            </a:r>
            <a:endParaRPr sz="1500">
              <a:solidFill>
                <a:srgbClr val="111C24"/>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a:solidFill>
                <a:srgbClr val="111C24"/>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GB">
                <a:solidFill>
                  <a:srgbClr val="111C24"/>
                </a:solidFill>
                <a:highlight>
                  <a:srgbClr val="FFFFFF"/>
                </a:highlight>
                <a:latin typeface="Times New Roman"/>
                <a:ea typeface="Times New Roman"/>
                <a:cs typeface="Times New Roman"/>
                <a:sym typeface="Times New Roman"/>
              </a:rPr>
              <a:t>The following figure shows the timing </a:t>
            </a:r>
            <a:endParaRPr>
              <a:solidFill>
                <a:srgbClr val="111C24"/>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GB">
                <a:solidFill>
                  <a:srgbClr val="111C24"/>
                </a:solidFill>
                <a:highlight>
                  <a:srgbClr val="FFFFFF"/>
                </a:highlight>
                <a:latin typeface="Times New Roman"/>
                <a:ea typeface="Times New Roman"/>
                <a:cs typeface="Times New Roman"/>
                <a:sym typeface="Times New Roman"/>
              </a:rPr>
              <a:t>paths in a simple design example:</a:t>
            </a:r>
            <a:endParaRPr>
              <a:solidFill>
                <a:srgbClr val="111C24"/>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50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204" name="Google Shape;204;p39" title="Screenshot from 2025-11-18 13-28-41.png"/>
          <p:cNvPicPr preferRelativeResize="0"/>
          <p:nvPr/>
        </p:nvPicPr>
        <p:blipFill>
          <a:blip r:embed="rId3">
            <a:alphaModFix/>
          </a:blip>
          <a:stretch>
            <a:fillRect/>
          </a:stretch>
        </p:blipFill>
        <p:spPr>
          <a:xfrm>
            <a:off x="4028700" y="2760125"/>
            <a:ext cx="4961124" cy="21527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0"/>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Timing Paths</a:t>
            </a:r>
            <a:endParaRPr/>
          </a:p>
          <a:p>
            <a:pPr indent="0" lvl="0" marL="0" rtl="0" algn="l">
              <a:spcBef>
                <a:spcPts val="0"/>
              </a:spcBef>
              <a:spcAft>
                <a:spcPts val="0"/>
              </a:spcAft>
              <a:buNone/>
            </a:pPr>
            <a:r>
              <a:t/>
            </a:r>
            <a:endParaRPr/>
          </a:p>
        </p:txBody>
      </p:sp>
      <p:sp>
        <p:nvSpPr>
          <p:cNvPr id="210" name="Google Shape;210;p40"/>
          <p:cNvSpPr txBox="1"/>
          <p:nvPr>
            <p:ph idx="1" type="body"/>
          </p:nvPr>
        </p:nvSpPr>
        <p:spPr>
          <a:xfrm>
            <a:off x="311700" y="653500"/>
            <a:ext cx="4885500" cy="3997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111C24"/>
                </a:solidFill>
                <a:highlight>
                  <a:schemeClr val="lt1"/>
                </a:highlight>
                <a:latin typeface="Times New Roman"/>
                <a:ea typeface="Times New Roman"/>
                <a:cs typeface="Times New Roman"/>
                <a:sym typeface="Times New Roman"/>
              </a:rPr>
              <a:t>STA also considers the following types of paths for timing analysis</a:t>
            </a:r>
            <a:r>
              <a:rPr lang="en-GB" sz="2000">
                <a:solidFill>
                  <a:srgbClr val="111C24"/>
                </a:solidFill>
                <a:highlight>
                  <a:schemeClr val="lt1"/>
                </a:highlight>
                <a:latin typeface="Roboto"/>
                <a:ea typeface="Roboto"/>
                <a:cs typeface="Roboto"/>
                <a:sym typeface="Roboto"/>
              </a:rPr>
              <a:t>:</a:t>
            </a:r>
            <a:endParaRPr sz="2000">
              <a:solidFill>
                <a:srgbClr val="111C24"/>
              </a:solidFill>
              <a:highlight>
                <a:srgbClr val="FFFFFF"/>
              </a:highlight>
              <a:latin typeface="Times New Roman"/>
              <a:ea typeface="Times New Roman"/>
              <a:cs typeface="Times New Roman"/>
              <a:sym typeface="Times New Roman"/>
            </a:endParaRPr>
          </a:p>
          <a:p>
            <a:pPr indent="-330200" lvl="0" marL="457200" rtl="0" algn="l">
              <a:spcBef>
                <a:spcPts val="800"/>
              </a:spcBef>
              <a:spcAft>
                <a:spcPts val="0"/>
              </a:spcAft>
              <a:buClr>
                <a:srgbClr val="111C24"/>
              </a:buClr>
              <a:buSzPts val="1600"/>
              <a:buFont typeface="Roboto"/>
              <a:buChar char="●"/>
            </a:pPr>
            <a:r>
              <a:rPr b="1" lang="en-GB" sz="1600">
                <a:solidFill>
                  <a:srgbClr val="111C24"/>
                </a:solidFill>
                <a:highlight>
                  <a:srgbClr val="FFFFFF"/>
                </a:highlight>
                <a:latin typeface="Times New Roman"/>
                <a:ea typeface="Times New Roman"/>
                <a:cs typeface="Times New Roman"/>
                <a:sym typeface="Times New Roman"/>
              </a:rPr>
              <a:t>Clock path: </a:t>
            </a:r>
            <a:r>
              <a:rPr lang="en-GB" sz="1600">
                <a:solidFill>
                  <a:srgbClr val="111C24"/>
                </a:solidFill>
                <a:highlight>
                  <a:srgbClr val="FFFFFF"/>
                </a:highlight>
                <a:latin typeface="Times New Roman"/>
                <a:ea typeface="Times New Roman"/>
                <a:cs typeface="Times New Roman"/>
                <a:sym typeface="Times New Roman"/>
              </a:rPr>
              <a:t>A path from a clock input port or cell pin, through one or more buffers or inverters, to the clock pin of a sequential element; </a:t>
            </a:r>
            <a:endParaRPr sz="1600">
              <a:solidFill>
                <a:srgbClr val="111C24"/>
              </a:solidFill>
              <a:highlight>
                <a:srgbClr val="FFFFFF"/>
              </a:highlight>
              <a:latin typeface="Times New Roman"/>
              <a:ea typeface="Times New Roman"/>
              <a:cs typeface="Times New Roman"/>
              <a:sym typeface="Times New Roman"/>
            </a:endParaRPr>
          </a:p>
          <a:p>
            <a:pPr indent="-330200" lvl="1" marL="914400" rtl="0" algn="l">
              <a:spcBef>
                <a:spcPts val="0"/>
              </a:spcBef>
              <a:spcAft>
                <a:spcPts val="0"/>
              </a:spcAft>
              <a:buClr>
                <a:srgbClr val="111C24"/>
              </a:buClr>
              <a:buSzPts val="1600"/>
              <a:buFont typeface="Times New Roman"/>
              <a:buChar char="○"/>
            </a:pPr>
            <a:r>
              <a:rPr lang="en-GB" sz="1600">
                <a:solidFill>
                  <a:srgbClr val="111C24"/>
                </a:solidFill>
                <a:highlight>
                  <a:srgbClr val="FFFFFF"/>
                </a:highlight>
                <a:latin typeface="Times New Roman"/>
                <a:ea typeface="Times New Roman"/>
                <a:cs typeface="Times New Roman"/>
                <a:sym typeface="Times New Roman"/>
              </a:rPr>
              <a:t>for data setup and hold checks.</a:t>
            </a:r>
            <a:endParaRPr sz="1600">
              <a:solidFill>
                <a:srgbClr val="111C24"/>
              </a:solidFill>
              <a:highlight>
                <a:srgbClr val="FFFFFF"/>
              </a:highlight>
              <a:latin typeface="Times New Roman"/>
              <a:ea typeface="Times New Roman"/>
              <a:cs typeface="Times New Roman"/>
              <a:sym typeface="Times New Roman"/>
            </a:endParaRPr>
          </a:p>
          <a:p>
            <a:pPr indent="-330200" lvl="0" marL="457200" rtl="0" algn="l">
              <a:spcBef>
                <a:spcPts val="0"/>
              </a:spcBef>
              <a:spcAft>
                <a:spcPts val="0"/>
              </a:spcAft>
              <a:buClr>
                <a:srgbClr val="111C24"/>
              </a:buClr>
              <a:buSzPts val="1600"/>
              <a:buFont typeface="Roboto"/>
              <a:buChar char="●"/>
            </a:pPr>
            <a:r>
              <a:rPr b="1" lang="en-GB" sz="1600">
                <a:solidFill>
                  <a:srgbClr val="111C24"/>
                </a:solidFill>
                <a:highlight>
                  <a:srgbClr val="FFFFFF"/>
                </a:highlight>
                <a:latin typeface="Times New Roman"/>
                <a:ea typeface="Times New Roman"/>
                <a:cs typeface="Times New Roman"/>
                <a:sym typeface="Times New Roman"/>
              </a:rPr>
              <a:t>Clock-gating path:</a:t>
            </a:r>
            <a:r>
              <a:rPr lang="en-GB" sz="1600">
                <a:solidFill>
                  <a:srgbClr val="111C24"/>
                </a:solidFill>
                <a:highlight>
                  <a:srgbClr val="FFFFFF"/>
                </a:highlight>
                <a:latin typeface="Times New Roman"/>
                <a:ea typeface="Times New Roman"/>
                <a:cs typeface="Times New Roman"/>
                <a:sym typeface="Times New Roman"/>
              </a:rPr>
              <a:t> A path from an input port to a clock-gating element; </a:t>
            </a:r>
            <a:endParaRPr sz="1600">
              <a:solidFill>
                <a:srgbClr val="111C24"/>
              </a:solidFill>
              <a:highlight>
                <a:srgbClr val="FFFFFF"/>
              </a:highlight>
              <a:latin typeface="Times New Roman"/>
              <a:ea typeface="Times New Roman"/>
              <a:cs typeface="Times New Roman"/>
              <a:sym typeface="Times New Roman"/>
            </a:endParaRPr>
          </a:p>
          <a:p>
            <a:pPr indent="-330200" lvl="1" marL="914400" rtl="0" algn="l">
              <a:spcBef>
                <a:spcPts val="0"/>
              </a:spcBef>
              <a:spcAft>
                <a:spcPts val="0"/>
              </a:spcAft>
              <a:buClr>
                <a:srgbClr val="000000"/>
              </a:buClr>
              <a:buSzPts val="1600"/>
              <a:buFont typeface="Arial"/>
              <a:buChar char="○"/>
            </a:pPr>
            <a:r>
              <a:rPr lang="en-GB" sz="1600">
                <a:solidFill>
                  <a:srgbClr val="111C24"/>
                </a:solidFill>
                <a:highlight>
                  <a:srgbClr val="FFFFFF"/>
                </a:highlight>
                <a:latin typeface="Times New Roman"/>
                <a:ea typeface="Times New Roman"/>
                <a:cs typeface="Times New Roman"/>
                <a:sym typeface="Times New Roman"/>
              </a:rPr>
              <a:t>for clock-gating setup and hold checks.</a:t>
            </a:r>
            <a:endParaRPr sz="1600">
              <a:solidFill>
                <a:srgbClr val="111C24"/>
              </a:solidFill>
              <a:highlight>
                <a:srgbClr val="FFFFFF"/>
              </a:highlight>
              <a:latin typeface="Times New Roman"/>
              <a:ea typeface="Times New Roman"/>
              <a:cs typeface="Times New Roman"/>
              <a:sym typeface="Times New Roman"/>
            </a:endParaRPr>
          </a:p>
          <a:p>
            <a:pPr indent="-330200" lvl="0" marL="457200" rtl="0" algn="l">
              <a:spcBef>
                <a:spcPts val="0"/>
              </a:spcBef>
              <a:spcAft>
                <a:spcPts val="0"/>
              </a:spcAft>
              <a:buClr>
                <a:srgbClr val="111C24"/>
              </a:buClr>
              <a:buSzPts val="1600"/>
              <a:buFont typeface="Roboto"/>
              <a:buChar char="●"/>
            </a:pPr>
            <a:r>
              <a:rPr b="1" lang="en-GB" sz="1600">
                <a:solidFill>
                  <a:srgbClr val="111C24"/>
                </a:solidFill>
                <a:highlight>
                  <a:srgbClr val="FFFFFF"/>
                </a:highlight>
                <a:latin typeface="Times New Roman"/>
                <a:ea typeface="Times New Roman"/>
                <a:cs typeface="Times New Roman"/>
                <a:sym typeface="Times New Roman"/>
              </a:rPr>
              <a:t>Asynchronous path:</a:t>
            </a:r>
            <a:r>
              <a:rPr lang="en-GB" sz="1600">
                <a:solidFill>
                  <a:srgbClr val="111C24"/>
                </a:solidFill>
                <a:highlight>
                  <a:srgbClr val="FFFFFF"/>
                </a:highlight>
                <a:latin typeface="Times New Roman"/>
                <a:ea typeface="Times New Roman"/>
                <a:cs typeface="Times New Roman"/>
                <a:sym typeface="Times New Roman"/>
              </a:rPr>
              <a:t> A path from an input port to an asynchronous set or clear pin of a sequential element; </a:t>
            </a:r>
            <a:endParaRPr sz="1600">
              <a:solidFill>
                <a:srgbClr val="111C24"/>
              </a:solidFill>
              <a:highlight>
                <a:srgbClr val="FFFFFF"/>
              </a:highlight>
              <a:latin typeface="Times New Roman"/>
              <a:ea typeface="Times New Roman"/>
              <a:cs typeface="Times New Roman"/>
              <a:sym typeface="Times New Roman"/>
            </a:endParaRPr>
          </a:p>
          <a:p>
            <a:pPr indent="-330200" lvl="1" marL="914400" rtl="0" algn="l">
              <a:spcBef>
                <a:spcPts val="0"/>
              </a:spcBef>
              <a:spcAft>
                <a:spcPts val="0"/>
              </a:spcAft>
              <a:buClr>
                <a:srgbClr val="000000"/>
              </a:buClr>
              <a:buSzPts val="1600"/>
              <a:buFont typeface="Arial"/>
              <a:buChar char="○"/>
            </a:pPr>
            <a:r>
              <a:rPr lang="en-GB" sz="1600">
                <a:solidFill>
                  <a:srgbClr val="111C24"/>
                </a:solidFill>
                <a:highlight>
                  <a:srgbClr val="FFFFFF"/>
                </a:highlight>
                <a:latin typeface="Times New Roman"/>
                <a:ea typeface="Times New Roman"/>
                <a:cs typeface="Times New Roman"/>
                <a:sym typeface="Times New Roman"/>
              </a:rPr>
              <a:t>for recovery and removal checks.</a:t>
            </a:r>
            <a:endParaRPr sz="1600">
              <a:solidFill>
                <a:srgbClr val="111C24"/>
              </a:solidFill>
              <a:highlight>
                <a:srgbClr val="FFFFFF"/>
              </a:highlight>
              <a:latin typeface="Times New Roman"/>
              <a:ea typeface="Times New Roman"/>
              <a:cs typeface="Times New Roman"/>
              <a:sym typeface="Times New Roman"/>
            </a:endParaRPr>
          </a:p>
          <a:p>
            <a:pPr indent="0" lvl="0" marL="457200" rtl="0" algn="l">
              <a:spcBef>
                <a:spcPts val="0"/>
              </a:spcBef>
              <a:spcAft>
                <a:spcPts val="0"/>
              </a:spcAft>
              <a:buNone/>
            </a:pPr>
            <a:r>
              <a:t/>
            </a:r>
            <a:endParaRPr b="1" sz="1500">
              <a:solidFill>
                <a:srgbClr val="111C24"/>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a:solidFill>
                <a:srgbClr val="111C24"/>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111C24"/>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50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211" name="Google Shape;211;p40" title="Screenshot from 2025-11-18 13-34-13.png"/>
          <p:cNvPicPr preferRelativeResize="0"/>
          <p:nvPr/>
        </p:nvPicPr>
        <p:blipFill>
          <a:blip r:embed="rId3">
            <a:alphaModFix/>
          </a:blip>
          <a:stretch>
            <a:fillRect/>
          </a:stretch>
        </p:blipFill>
        <p:spPr>
          <a:xfrm>
            <a:off x="5249650" y="672075"/>
            <a:ext cx="3894350" cy="39978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1"/>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Timing Paths</a:t>
            </a:r>
            <a:endParaRPr/>
          </a:p>
          <a:p>
            <a:pPr indent="0" lvl="0" marL="0" rtl="0" algn="l">
              <a:spcBef>
                <a:spcPts val="0"/>
              </a:spcBef>
              <a:spcAft>
                <a:spcPts val="0"/>
              </a:spcAft>
              <a:buNone/>
            </a:pPr>
            <a:r>
              <a:t/>
            </a:r>
            <a:endParaRPr/>
          </a:p>
        </p:txBody>
      </p:sp>
      <p:sp>
        <p:nvSpPr>
          <p:cNvPr id="217" name="Google Shape;217;p41"/>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50000"/>
              </a:lnSpc>
              <a:spcBef>
                <a:spcPts val="0"/>
              </a:spcBef>
              <a:spcAft>
                <a:spcPts val="0"/>
              </a:spcAft>
              <a:buClr>
                <a:srgbClr val="000000"/>
              </a:buClr>
              <a:buSzPts val="1800"/>
              <a:buFont typeface="Times New Roman"/>
              <a:buChar char="●"/>
            </a:pPr>
            <a:r>
              <a:rPr b="1" lang="en-GB">
                <a:solidFill>
                  <a:srgbClr val="000000"/>
                </a:solidFill>
                <a:highlight>
                  <a:srgbClr val="FFFFFF"/>
                </a:highlight>
                <a:latin typeface="Times New Roman"/>
                <a:ea typeface="Times New Roman"/>
                <a:cs typeface="Times New Roman"/>
                <a:sym typeface="Times New Roman"/>
              </a:rPr>
              <a:t>Launch Path (Data Path):</a:t>
            </a:r>
            <a:r>
              <a:rPr lang="en-GB">
                <a:solidFill>
                  <a:srgbClr val="000000"/>
                </a:solidFill>
                <a:highlight>
                  <a:srgbClr val="FFFFFF"/>
                </a:highlight>
                <a:latin typeface="Times New Roman"/>
                <a:ea typeface="Times New Roman"/>
                <a:cs typeface="Times New Roman"/>
                <a:sym typeface="Times New Roman"/>
              </a:rPr>
              <a:t> The path where data is launched from a flip-flop or register.</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50000"/>
              </a:lnSpc>
              <a:spcBef>
                <a:spcPts val="0"/>
              </a:spcBef>
              <a:spcAft>
                <a:spcPts val="0"/>
              </a:spcAft>
              <a:buClr>
                <a:srgbClr val="000000"/>
              </a:buClr>
              <a:buSzPts val="1800"/>
              <a:buFont typeface="Times New Roman"/>
              <a:buChar char="●"/>
            </a:pPr>
            <a:r>
              <a:rPr b="1" lang="en-GB">
                <a:solidFill>
                  <a:srgbClr val="000000"/>
                </a:solidFill>
                <a:highlight>
                  <a:srgbClr val="FFFFFF"/>
                </a:highlight>
                <a:latin typeface="Times New Roman"/>
                <a:ea typeface="Times New Roman"/>
                <a:cs typeface="Times New Roman"/>
                <a:sym typeface="Times New Roman"/>
              </a:rPr>
              <a:t>Capture Path (Clock Path):</a:t>
            </a:r>
            <a:r>
              <a:rPr lang="en-GB">
                <a:solidFill>
                  <a:srgbClr val="000000"/>
                </a:solidFill>
                <a:highlight>
                  <a:srgbClr val="FFFFFF"/>
                </a:highlight>
                <a:latin typeface="Times New Roman"/>
                <a:ea typeface="Times New Roman"/>
                <a:cs typeface="Times New Roman"/>
                <a:sym typeface="Times New Roman"/>
              </a:rPr>
              <a:t> The path where data is captured by a flip-flop or register.</a:t>
            </a:r>
            <a:endParaRPr>
              <a:solidFill>
                <a:srgbClr val="000000"/>
              </a:solidFill>
              <a:highlight>
                <a:srgbClr val="FFFFFF"/>
              </a:highlight>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b="1" lang="en-GB" sz="1700">
                <a:solidFill>
                  <a:srgbClr val="000000"/>
                </a:solidFill>
                <a:latin typeface="Times New Roman"/>
                <a:ea typeface="Times New Roman"/>
                <a:cs typeface="Times New Roman"/>
                <a:sym typeface="Times New Roman"/>
              </a:rPr>
              <a:t>Longest Path</a:t>
            </a:r>
            <a:r>
              <a:rPr lang="en-GB" sz="1700">
                <a:solidFill>
                  <a:srgbClr val="000000"/>
                </a:solidFill>
                <a:latin typeface="Times New Roman"/>
                <a:ea typeface="Times New Roman"/>
                <a:cs typeface="Times New Roman"/>
                <a:sym typeface="Times New Roman"/>
              </a:rPr>
              <a:t> ( also known as Worst Path, Late Path, Max Path, Maximum Delay Path )</a:t>
            </a:r>
            <a:endParaRPr sz="1700">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b="1" lang="en-GB" sz="1700">
                <a:solidFill>
                  <a:srgbClr val="000000"/>
                </a:solidFill>
                <a:latin typeface="Times New Roman"/>
                <a:ea typeface="Times New Roman"/>
                <a:cs typeface="Times New Roman"/>
                <a:sym typeface="Times New Roman"/>
              </a:rPr>
              <a:t>Shortest Path </a:t>
            </a:r>
            <a:r>
              <a:rPr lang="en-GB" sz="1700">
                <a:solidFill>
                  <a:srgbClr val="000000"/>
                </a:solidFill>
                <a:latin typeface="Times New Roman"/>
                <a:ea typeface="Times New Roman"/>
                <a:cs typeface="Times New Roman"/>
                <a:sym typeface="Times New Roman"/>
              </a:rPr>
              <a:t>( Also Known as Best Path, Early Path, Min Path, Minimum Delay Path )</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00000"/>
              </a:lnSpc>
              <a:spcBef>
                <a:spcPts val="0"/>
              </a:spcBef>
              <a:spcAft>
                <a:spcPts val="0"/>
              </a:spcAft>
              <a:buClr>
                <a:srgbClr val="000000"/>
              </a:buClr>
              <a:buSzPts val="1800"/>
              <a:buFont typeface="Times New Roman"/>
              <a:buChar char="●"/>
            </a:pPr>
            <a:r>
              <a:rPr b="1" lang="en-GB">
                <a:solidFill>
                  <a:srgbClr val="000000"/>
                </a:solidFill>
                <a:highlight>
                  <a:srgbClr val="FFFFFF"/>
                </a:highlight>
                <a:latin typeface="Times New Roman"/>
                <a:ea typeface="Times New Roman"/>
                <a:cs typeface="Times New Roman"/>
                <a:sym typeface="Times New Roman"/>
              </a:rPr>
              <a:t>Critical Path:</a:t>
            </a:r>
            <a:r>
              <a:rPr lang="en-GB">
                <a:solidFill>
                  <a:srgbClr val="000000"/>
                </a:solidFill>
                <a:highlight>
                  <a:srgbClr val="FFFFFF"/>
                </a:highlight>
                <a:latin typeface="Times New Roman"/>
                <a:ea typeface="Times New Roman"/>
                <a:cs typeface="Times New Roman"/>
                <a:sym typeface="Times New Roman"/>
              </a:rPr>
              <a:t> The path in a circuit that takes the longest time for data to travel from one flip-flop to another.</a:t>
            </a:r>
            <a:endParaRPr>
              <a:solidFill>
                <a:srgbClr val="000000"/>
              </a:solidFill>
              <a:highlight>
                <a:srgbClr val="FFFFFF"/>
              </a:highlight>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00000"/>
              </a:buClr>
              <a:buSzPts val="1800"/>
              <a:buFont typeface="Times New Roman"/>
              <a:buChar char="●"/>
            </a:pPr>
            <a:r>
              <a:rPr b="1" lang="en-GB">
                <a:solidFill>
                  <a:srgbClr val="000000"/>
                </a:solidFill>
                <a:latin typeface="Times New Roman"/>
                <a:ea typeface="Times New Roman"/>
                <a:cs typeface="Times New Roman"/>
                <a:sym typeface="Times New Roman"/>
              </a:rPr>
              <a:t>Single-Cycle Path:</a:t>
            </a:r>
            <a:r>
              <a:rPr lang="en-GB">
                <a:solidFill>
                  <a:srgbClr val="000000"/>
                </a:solidFill>
                <a:latin typeface="Times New Roman"/>
                <a:ea typeface="Times New Roman"/>
                <a:cs typeface="Times New Roman"/>
                <a:sym typeface="Times New Roman"/>
              </a:rPr>
              <a:t> A single-cycle path is a timing path where data must travel from the launch flip-flop to the capture flip-flop within one clock cycle.</a:t>
            </a:r>
            <a:endParaRPr>
              <a:solidFill>
                <a:srgbClr val="000000"/>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A </a:t>
            </a:r>
            <a:r>
              <a:rPr b="1" lang="en-GB">
                <a:solidFill>
                  <a:srgbClr val="000000"/>
                </a:solidFill>
                <a:latin typeface="Times New Roman"/>
                <a:ea typeface="Times New Roman"/>
                <a:cs typeface="Times New Roman"/>
                <a:sym typeface="Times New Roman"/>
              </a:rPr>
              <a:t>multi-cycle path</a:t>
            </a:r>
            <a:r>
              <a:rPr lang="en-GB">
                <a:solidFill>
                  <a:srgbClr val="000000"/>
                </a:solidFill>
                <a:latin typeface="Times New Roman"/>
                <a:ea typeface="Times New Roman"/>
                <a:cs typeface="Times New Roman"/>
                <a:sym typeface="Times New Roman"/>
              </a:rPr>
              <a:t> is a timing path where data is allowed more than one clock cycle to reach the capture flip-flop.</a:t>
            </a:r>
            <a:endParaRPr>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rgbClr val="000000"/>
              </a:buClr>
              <a:buSzPts val="1800"/>
              <a:buFont typeface="Times New Roman"/>
              <a:buChar char="●"/>
            </a:pPr>
            <a:r>
              <a:rPr b="1" lang="en-GB">
                <a:solidFill>
                  <a:srgbClr val="000000"/>
                </a:solidFill>
                <a:latin typeface="Times New Roman"/>
                <a:ea typeface="Times New Roman"/>
                <a:cs typeface="Times New Roman"/>
                <a:sym typeface="Times New Roman"/>
              </a:rPr>
              <a:t>False path:</a:t>
            </a:r>
            <a:r>
              <a:rPr lang="en-GB">
                <a:solidFill>
                  <a:srgbClr val="000000"/>
                </a:solidFill>
                <a:latin typeface="Times New Roman"/>
                <a:ea typeface="Times New Roman"/>
                <a:cs typeface="Times New Roman"/>
                <a:sym typeface="Times New Roman"/>
              </a:rPr>
              <a:t> The path that physically exists in the design but will </a:t>
            </a:r>
            <a:r>
              <a:rPr b="1" lang="en-GB">
                <a:solidFill>
                  <a:srgbClr val="000000"/>
                </a:solidFill>
                <a:latin typeface="Times New Roman"/>
                <a:ea typeface="Times New Roman"/>
                <a:cs typeface="Times New Roman"/>
                <a:sym typeface="Times New Roman"/>
              </a:rPr>
              <a:t>never be functionally used</a:t>
            </a:r>
            <a:r>
              <a:rPr lang="en-GB">
                <a:solidFill>
                  <a:srgbClr val="000000"/>
                </a:solidFill>
                <a:latin typeface="Times New Roman"/>
                <a:ea typeface="Times New Roman"/>
                <a:cs typeface="Times New Roman"/>
                <a:sym typeface="Times New Roman"/>
              </a:rPr>
              <a:t>, so its timing does </a:t>
            </a:r>
            <a:r>
              <a:rPr b="1" lang="en-GB">
                <a:solidFill>
                  <a:srgbClr val="000000"/>
                </a:solidFill>
                <a:latin typeface="Times New Roman"/>
                <a:ea typeface="Times New Roman"/>
                <a:cs typeface="Times New Roman"/>
                <a:sym typeface="Times New Roman"/>
              </a:rPr>
              <a:t>not</a:t>
            </a:r>
            <a:r>
              <a:rPr lang="en-GB">
                <a:solidFill>
                  <a:srgbClr val="000000"/>
                </a:solidFill>
                <a:latin typeface="Times New Roman"/>
                <a:ea typeface="Times New Roman"/>
                <a:cs typeface="Times New Roman"/>
                <a:sym typeface="Times New Roman"/>
              </a:rPr>
              <a:t> need to meet timing constraints.</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2"/>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Times New Roman"/>
                <a:ea typeface="Times New Roman"/>
                <a:cs typeface="Times New Roman"/>
                <a:sym typeface="Times New Roman"/>
              </a:rPr>
              <a:t>Cell Timing Parameters</a:t>
            </a:r>
            <a:endParaRPr>
              <a:latin typeface="Times New Roman"/>
              <a:ea typeface="Times New Roman"/>
              <a:cs typeface="Times New Roman"/>
              <a:sym typeface="Times New Roman"/>
            </a:endParaRPr>
          </a:p>
        </p:txBody>
      </p:sp>
      <p:sp>
        <p:nvSpPr>
          <p:cNvPr id="223" name="Google Shape;223;p42"/>
          <p:cNvSpPr txBox="1"/>
          <p:nvPr>
            <p:ph idx="1" type="body"/>
          </p:nvPr>
        </p:nvSpPr>
        <p:spPr>
          <a:xfrm>
            <a:off x="308850" y="707325"/>
            <a:ext cx="8526300" cy="42363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pic>
        <p:nvPicPr>
          <p:cNvPr id="224" name="Google Shape;224;p42" title="Screenshot from 2025-11-18 14-01-45.png"/>
          <p:cNvPicPr preferRelativeResize="0"/>
          <p:nvPr/>
        </p:nvPicPr>
        <p:blipFill>
          <a:blip r:embed="rId3">
            <a:alphaModFix/>
          </a:blip>
          <a:stretch>
            <a:fillRect/>
          </a:stretch>
        </p:blipFill>
        <p:spPr>
          <a:xfrm>
            <a:off x="870988" y="827113"/>
            <a:ext cx="6848475" cy="3876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3"/>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0" name="Google Shape;230;p43"/>
          <p:cNvSpPr txBox="1"/>
          <p:nvPr>
            <p:ph idx="1" type="body"/>
          </p:nvPr>
        </p:nvSpPr>
        <p:spPr>
          <a:xfrm>
            <a:off x="311700" y="184400"/>
            <a:ext cx="8729700" cy="48543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l">
              <a:spcBef>
                <a:spcPts val="1200"/>
              </a:spcBef>
              <a:spcAft>
                <a:spcPts val="0"/>
              </a:spcAft>
              <a:buClr>
                <a:srgbClr val="000000"/>
              </a:buClr>
              <a:buSzPts val="1800"/>
              <a:buFont typeface="Times New Roman"/>
              <a:buChar char="●"/>
            </a:pPr>
            <a:r>
              <a:rPr b="1" lang="en-GB">
                <a:solidFill>
                  <a:srgbClr val="000000"/>
                </a:solidFill>
                <a:latin typeface="Times New Roman"/>
                <a:ea typeface="Times New Roman"/>
                <a:cs typeface="Times New Roman"/>
                <a:sym typeface="Times New Roman"/>
              </a:rPr>
              <a:t>Slack</a:t>
            </a:r>
            <a:r>
              <a:rPr lang="en-GB">
                <a:solidFill>
                  <a:srgbClr val="000000"/>
                </a:solidFill>
                <a:latin typeface="Times New Roman"/>
                <a:ea typeface="Times New Roman"/>
                <a:cs typeface="Times New Roman"/>
                <a:sym typeface="Times New Roman"/>
              </a:rPr>
              <a:t> is the difference between</a:t>
            </a:r>
            <a:r>
              <a:rPr b="1" lang="en-GB">
                <a:solidFill>
                  <a:srgbClr val="000000"/>
                </a:solidFill>
                <a:latin typeface="Times New Roman"/>
                <a:ea typeface="Times New Roman"/>
                <a:cs typeface="Times New Roman"/>
                <a:sym typeface="Times New Roman"/>
              </a:rPr>
              <a:t> required time and arrival time</a:t>
            </a:r>
            <a:r>
              <a:rPr lang="en-GB">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Arial"/>
              <a:buChar char="●"/>
            </a:pPr>
            <a:r>
              <a:rPr lang="en-GB">
                <a:solidFill>
                  <a:srgbClr val="000000"/>
                </a:solidFill>
                <a:latin typeface="Times New Roman"/>
                <a:ea typeface="Times New Roman"/>
                <a:cs typeface="Times New Roman"/>
                <a:sym typeface="Times New Roman"/>
              </a:rPr>
              <a:t>If </a:t>
            </a:r>
            <a:r>
              <a:rPr b="1" lang="en-GB">
                <a:solidFill>
                  <a:srgbClr val="000000"/>
                </a:solidFill>
                <a:latin typeface="Times New Roman"/>
                <a:ea typeface="Times New Roman"/>
                <a:cs typeface="Times New Roman"/>
                <a:sym typeface="Times New Roman"/>
              </a:rPr>
              <a:t>required time &gt; arrival time</a:t>
            </a:r>
            <a:r>
              <a:rPr lang="en-GB">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Arial"/>
              <a:buChar char="○"/>
            </a:pPr>
            <a:r>
              <a:rPr b="1" lang="en-GB" sz="1800">
                <a:solidFill>
                  <a:srgbClr val="000000"/>
                </a:solidFill>
                <a:latin typeface="Times New Roman"/>
                <a:ea typeface="Times New Roman"/>
                <a:cs typeface="Times New Roman"/>
                <a:sym typeface="Times New Roman"/>
              </a:rPr>
              <a:t>Positive slac</a:t>
            </a:r>
            <a:r>
              <a:rPr b="1" lang="en-GB" sz="1800">
                <a:solidFill>
                  <a:srgbClr val="000000"/>
                </a:solidFill>
                <a:latin typeface="Times New Roman"/>
                <a:ea typeface="Times New Roman"/>
                <a:cs typeface="Times New Roman"/>
                <a:sym typeface="Times New Roman"/>
              </a:rPr>
              <a:t>k</a:t>
            </a:r>
            <a:endParaRPr b="1" sz="1800">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Arial"/>
              <a:buChar char="○"/>
            </a:pPr>
            <a:r>
              <a:rPr lang="en-GB" sz="1800">
                <a:solidFill>
                  <a:srgbClr val="000000"/>
                </a:solidFill>
                <a:latin typeface="Times New Roman"/>
                <a:ea typeface="Times New Roman"/>
                <a:cs typeface="Times New Roman"/>
                <a:sym typeface="Times New Roman"/>
              </a:rPr>
              <a:t> Indicates that </a:t>
            </a:r>
            <a:r>
              <a:rPr b="1" lang="en-GB" sz="1800">
                <a:solidFill>
                  <a:srgbClr val="000000"/>
                </a:solidFill>
                <a:latin typeface="Times New Roman"/>
                <a:ea typeface="Times New Roman"/>
                <a:cs typeface="Times New Roman"/>
                <a:sym typeface="Times New Roman"/>
              </a:rPr>
              <a:t>timing constraints have been met.</a:t>
            </a:r>
            <a:endParaRPr b="1" sz="1800">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Arial"/>
              <a:buChar char="●"/>
            </a:pPr>
            <a:r>
              <a:rPr lang="en-GB">
                <a:solidFill>
                  <a:srgbClr val="000000"/>
                </a:solidFill>
                <a:latin typeface="Times New Roman"/>
                <a:ea typeface="Times New Roman"/>
                <a:cs typeface="Times New Roman"/>
                <a:sym typeface="Times New Roman"/>
              </a:rPr>
              <a:t>If </a:t>
            </a:r>
            <a:r>
              <a:rPr b="1" lang="en-GB">
                <a:solidFill>
                  <a:srgbClr val="000000"/>
                </a:solidFill>
                <a:latin typeface="Times New Roman"/>
                <a:ea typeface="Times New Roman"/>
                <a:cs typeface="Times New Roman"/>
                <a:sym typeface="Times New Roman"/>
              </a:rPr>
              <a:t>required time &lt; arrival time</a:t>
            </a:r>
            <a:r>
              <a:rPr lang="en-GB">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Arial"/>
              <a:buChar char="○"/>
            </a:pPr>
            <a:r>
              <a:rPr b="1" lang="en-GB" sz="1800">
                <a:solidFill>
                  <a:srgbClr val="000000"/>
                </a:solidFill>
                <a:latin typeface="Times New Roman"/>
                <a:ea typeface="Times New Roman"/>
                <a:cs typeface="Times New Roman"/>
                <a:sym typeface="Times New Roman"/>
              </a:rPr>
              <a:t>Negative slack</a:t>
            </a:r>
            <a:endParaRPr b="1" sz="1800">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Arial"/>
              <a:buChar char="○"/>
            </a:pPr>
            <a:r>
              <a:rPr lang="en-GB" sz="1800">
                <a:solidFill>
                  <a:srgbClr val="000000"/>
                </a:solidFill>
                <a:latin typeface="Times New Roman"/>
                <a:ea typeface="Times New Roman"/>
                <a:cs typeface="Times New Roman"/>
                <a:sym typeface="Times New Roman"/>
              </a:rPr>
              <a:t>Indicates that </a:t>
            </a:r>
            <a:r>
              <a:rPr b="1" lang="en-GB" sz="1800">
                <a:solidFill>
                  <a:srgbClr val="000000"/>
                </a:solidFill>
                <a:latin typeface="Times New Roman"/>
                <a:ea typeface="Times New Roman"/>
                <a:cs typeface="Times New Roman"/>
                <a:sym typeface="Times New Roman"/>
              </a:rPr>
              <a:t>timing constraints have not been met.</a:t>
            </a:r>
            <a:endParaRPr b="1" sz="1800">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Arial"/>
              <a:buChar char="○"/>
            </a:pPr>
            <a:r>
              <a:rPr lang="en-GB" sz="1800">
                <a:solidFill>
                  <a:srgbClr val="000000"/>
                </a:solidFill>
                <a:latin typeface="Times New Roman"/>
                <a:ea typeface="Times New Roman"/>
                <a:cs typeface="Times New Roman"/>
                <a:sym typeface="Times New Roman"/>
              </a:rPr>
              <a:t>Leads to </a:t>
            </a:r>
            <a:r>
              <a:rPr b="1" lang="en-GB" sz="1800">
                <a:solidFill>
                  <a:srgbClr val="000000"/>
                </a:solidFill>
                <a:latin typeface="Times New Roman"/>
                <a:ea typeface="Times New Roman"/>
                <a:cs typeface="Times New Roman"/>
                <a:sym typeface="Times New Roman"/>
              </a:rPr>
              <a:t>setup/hold violations</a:t>
            </a:r>
            <a:endParaRPr sz="1800">
              <a:solidFill>
                <a:srgbClr val="000000"/>
              </a:solidFill>
              <a:highlight>
                <a:srgbClr val="FFFFFF"/>
              </a:highlight>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b="1" lang="en-GB">
                <a:solidFill>
                  <a:srgbClr val="0A0A0A"/>
                </a:solidFill>
                <a:highlight>
                  <a:schemeClr val="lt1"/>
                </a:highlight>
                <a:latin typeface="Times New Roman"/>
                <a:ea typeface="Times New Roman"/>
                <a:cs typeface="Times New Roman"/>
                <a:sym typeface="Times New Roman"/>
              </a:rPr>
              <a:t>Clock skew:</a:t>
            </a:r>
            <a:r>
              <a:rPr lang="en-GB">
                <a:solidFill>
                  <a:srgbClr val="0A0A0A"/>
                </a:solidFill>
                <a:highlight>
                  <a:schemeClr val="lt1"/>
                </a:highlight>
                <a:latin typeface="Times New Roman"/>
                <a:ea typeface="Times New Roman"/>
                <a:cs typeface="Times New Roman"/>
                <a:sym typeface="Times New Roman"/>
              </a:rPr>
              <a:t> </a:t>
            </a:r>
            <a:r>
              <a:rPr lang="en-GB">
                <a:solidFill>
                  <a:srgbClr val="000000"/>
                </a:solidFill>
                <a:highlight>
                  <a:schemeClr val="lt1"/>
                </a:highlight>
                <a:latin typeface="Times New Roman"/>
                <a:ea typeface="Times New Roman"/>
                <a:cs typeface="Times New Roman"/>
                <a:sym typeface="Times New Roman"/>
              </a:rPr>
              <a:t>The difference in arrival times of the clock signal at any two flops which are interacting with one another is referred to as clock skew.</a:t>
            </a:r>
            <a:endParaRPr b="1">
              <a:solidFill>
                <a:srgbClr val="000000"/>
              </a:solidFill>
              <a:highlight>
                <a:srgbClr val="FFFFFF"/>
              </a:highlight>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000000"/>
              </a:buClr>
              <a:buSzPts val="2400"/>
              <a:buFont typeface="Times New Roman"/>
              <a:buChar char="●"/>
            </a:pPr>
            <a:r>
              <a:rPr b="1" lang="en-GB">
                <a:solidFill>
                  <a:srgbClr val="000000"/>
                </a:solidFill>
                <a:highlight>
                  <a:srgbClr val="FFFFFF"/>
                </a:highlight>
                <a:latin typeface="Times New Roman"/>
                <a:ea typeface="Times New Roman"/>
                <a:cs typeface="Times New Roman"/>
                <a:sym typeface="Times New Roman"/>
              </a:rPr>
              <a:t>Clock jitter</a:t>
            </a:r>
            <a:r>
              <a:rPr lang="en-GB">
                <a:solidFill>
                  <a:srgbClr val="000000"/>
                </a:solidFill>
                <a:highlight>
                  <a:srgbClr val="FFFFFF"/>
                </a:highlight>
                <a:latin typeface="Times New Roman"/>
                <a:ea typeface="Times New Roman"/>
                <a:cs typeface="Times New Roman"/>
                <a:sym typeface="Times New Roman"/>
              </a:rPr>
              <a:t> refers to the uncertainty in the clock signal’s edge due to noise or process variations.</a:t>
            </a:r>
            <a:endParaRPr>
              <a:solidFill>
                <a:srgbClr val="000000"/>
              </a:solidFill>
              <a:highlight>
                <a:srgbClr val="FFFFFF"/>
              </a:highlight>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b="1" lang="en-GB">
                <a:solidFill>
                  <a:srgbClr val="000000"/>
                </a:solidFill>
                <a:highlight>
                  <a:srgbClr val="FFFFFF"/>
                </a:highlight>
                <a:latin typeface="Times New Roman"/>
                <a:ea typeface="Times New Roman"/>
                <a:cs typeface="Times New Roman"/>
                <a:sym typeface="Times New Roman"/>
              </a:rPr>
              <a:t>Slew rate</a:t>
            </a:r>
            <a:r>
              <a:rPr lang="en-GB">
                <a:solidFill>
                  <a:srgbClr val="000000"/>
                </a:solidFill>
                <a:highlight>
                  <a:srgbClr val="FFFFFF"/>
                </a:highlight>
                <a:latin typeface="Times New Roman"/>
                <a:ea typeface="Times New Roman"/>
                <a:cs typeface="Times New Roman"/>
                <a:sym typeface="Times New Roman"/>
              </a:rPr>
              <a:t> is defined as a rate of change.</a:t>
            </a:r>
            <a:endParaRPr>
              <a:solidFill>
                <a:srgbClr val="000000"/>
              </a:solidFill>
              <a:highlight>
                <a:srgbClr val="FFFFFF"/>
              </a:highlight>
              <a:latin typeface="Times New Roman"/>
              <a:ea typeface="Times New Roman"/>
              <a:cs typeface="Times New Roman"/>
              <a:sym typeface="Times New Roman"/>
            </a:endParaRPr>
          </a:p>
          <a:p>
            <a:pPr indent="-330200" lvl="1" marL="914400" rtl="0" algn="l">
              <a:lnSpc>
                <a:spcPct val="100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Slew is typically measured in terms of the time it takes a signal to transition between two specific levels.</a:t>
            </a:r>
            <a:endParaRPr b="1">
              <a:solidFill>
                <a:srgbClr val="0A0A0A"/>
              </a:solidFill>
              <a:highlight>
                <a:srgbClr val="FFFFFF"/>
              </a:highlight>
              <a:latin typeface="Times New Roman"/>
              <a:ea typeface="Times New Roman"/>
              <a:cs typeface="Times New Roman"/>
              <a:sym typeface="Times New Roman"/>
            </a:endParaRPr>
          </a:p>
          <a:p>
            <a:pPr indent="0" lvl="0" marL="0" rtl="0" algn="l">
              <a:lnSpc>
                <a:spcPct val="150000"/>
              </a:lnSpc>
              <a:spcBef>
                <a:spcPts val="3000"/>
              </a:spcBef>
              <a:spcAft>
                <a:spcPts val="3000"/>
              </a:spcAft>
              <a:buNone/>
            </a:pPr>
            <a:r>
              <a:t/>
            </a:r>
            <a:endParaRPr>
              <a:solidFill>
                <a:srgbClr val="000000"/>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4"/>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6" name="Google Shape;236;p44"/>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55600" lvl="0" marL="457200" rtl="0" algn="just">
              <a:lnSpc>
                <a:spcPct val="115000"/>
              </a:lnSpc>
              <a:spcBef>
                <a:spcPts val="0"/>
              </a:spcBef>
              <a:spcAft>
                <a:spcPts val="0"/>
              </a:spcAft>
              <a:buClr>
                <a:srgbClr val="000000"/>
              </a:buClr>
              <a:buSzPts val="2000"/>
              <a:buFont typeface="Times New Roman"/>
              <a:buChar char="●"/>
            </a:pPr>
            <a:r>
              <a:rPr b="1" lang="en-GB" sz="2000">
                <a:solidFill>
                  <a:srgbClr val="000000"/>
                </a:solidFill>
                <a:highlight>
                  <a:srgbClr val="FFFFFF"/>
                </a:highlight>
                <a:latin typeface="Times New Roman"/>
                <a:ea typeface="Times New Roman"/>
                <a:cs typeface="Times New Roman"/>
                <a:sym typeface="Times New Roman"/>
              </a:rPr>
              <a:t>Setup time</a:t>
            </a:r>
            <a:endParaRPr b="1" sz="2000">
              <a:solidFill>
                <a:srgbClr val="000000"/>
              </a:solidFill>
              <a:highlight>
                <a:srgbClr val="FFFFFF"/>
              </a:highlight>
              <a:latin typeface="Times New Roman"/>
              <a:ea typeface="Times New Roman"/>
              <a:cs typeface="Times New Roman"/>
              <a:sym typeface="Times New Roman"/>
            </a:endParaRPr>
          </a:p>
          <a:p>
            <a:pPr indent="-336550" lvl="1" marL="914400" rtl="0" algn="just">
              <a:lnSpc>
                <a:spcPct val="115000"/>
              </a:lnSpc>
              <a:spcBef>
                <a:spcPts val="0"/>
              </a:spcBef>
              <a:spcAft>
                <a:spcPts val="0"/>
              </a:spcAft>
              <a:buClr>
                <a:srgbClr val="000000"/>
              </a:buClr>
              <a:buSzPts val="1700"/>
              <a:buFont typeface="Times New Roman"/>
              <a:buChar char="○"/>
            </a:pPr>
            <a:r>
              <a:rPr lang="en-GB" sz="1700">
                <a:solidFill>
                  <a:srgbClr val="000000"/>
                </a:solidFill>
                <a:highlight>
                  <a:srgbClr val="FFFFFF"/>
                </a:highlight>
                <a:latin typeface="Times New Roman"/>
                <a:ea typeface="Times New Roman"/>
                <a:cs typeface="Times New Roman"/>
                <a:sym typeface="Times New Roman"/>
              </a:rPr>
              <a:t>The minimum amount of time during which data signal should be stable  before the clock makes a valid transition.</a:t>
            </a:r>
            <a:endParaRPr sz="1700">
              <a:solidFill>
                <a:srgbClr val="000000"/>
              </a:solidFill>
              <a:highlight>
                <a:srgbClr val="FFFFFF"/>
              </a:highlight>
              <a:latin typeface="Times New Roman"/>
              <a:ea typeface="Times New Roman"/>
              <a:cs typeface="Times New Roman"/>
              <a:sym typeface="Times New Roman"/>
            </a:endParaRPr>
          </a:p>
          <a:p>
            <a:pPr indent="0" lvl="0" marL="914400" rtl="0" algn="just">
              <a:lnSpc>
                <a:spcPct val="115000"/>
              </a:lnSpc>
              <a:spcBef>
                <a:spcPts val="3000"/>
              </a:spcBef>
              <a:spcAft>
                <a:spcPts val="0"/>
              </a:spcAft>
              <a:buNone/>
            </a:pPr>
            <a:r>
              <a:t/>
            </a:r>
            <a:endParaRPr sz="1700">
              <a:solidFill>
                <a:srgbClr val="000000"/>
              </a:solidFill>
              <a:highlight>
                <a:srgbClr val="FFFFFF"/>
              </a:highlight>
              <a:latin typeface="Times New Roman"/>
              <a:ea typeface="Times New Roman"/>
              <a:cs typeface="Times New Roman"/>
              <a:sym typeface="Times New Roman"/>
            </a:endParaRPr>
          </a:p>
          <a:p>
            <a:pPr indent="-342900" lvl="0" marL="457200" rtl="0" algn="just">
              <a:lnSpc>
                <a:spcPct val="115000"/>
              </a:lnSpc>
              <a:spcBef>
                <a:spcPts val="3000"/>
              </a:spcBef>
              <a:spcAft>
                <a:spcPts val="0"/>
              </a:spcAft>
              <a:buClr>
                <a:srgbClr val="000000"/>
              </a:buClr>
              <a:buSzPts val="1800"/>
              <a:buFont typeface="Times New Roman"/>
              <a:buChar char="●"/>
            </a:pPr>
            <a:r>
              <a:rPr b="1" lang="en-GB" sz="2000">
                <a:solidFill>
                  <a:srgbClr val="000000"/>
                </a:solidFill>
                <a:highlight>
                  <a:schemeClr val="lt1"/>
                </a:highlight>
                <a:latin typeface="Times New Roman"/>
                <a:ea typeface="Times New Roman"/>
                <a:cs typeface="Times New Roman"/>
                <a:sym typeface="Times New Roman"/>
              </a:rPr>
              <a:t>Hold time</a:t>
            </a:r>
            <a:endParaRPr b="1">
              <a:solidFill>
                <a:srgbClr val="000000"/>
              </a:solidFill>
              <a:highlight>
                <a:srgbClr val="FFFFFF"/>
              </a:highlight>
              <a:latin typeface="Times New Roman"/>
              <a:ea typeface="Times New Roman"/>
              <a:cs typeface="Times New Roman"/>
              <a:sym typeface="Times New Roman"/>
            </a:endParaRPr>
          </a:p>
          <a:p>
            <a:pPr indent="-342900" lvl="1" marL="914400" rtl="0" algn="just">
              <a:lnSpc>
                <a:spcPct val="115000"/>
              </a:lnSpc>
              <a:spcBef>
                <a:spcPts val="0"/>
              </a:spcBef>
              <a:spcAft>
                <a:spcPts val="0"/>
              </a:spcAft>
              <a:buClr>
                <a:srgbClr val="000000"/>
              </a:buClr>
              <a:buSzPts val="1800"/>
              <a:buFont typeface="Times New Roman"/>
              <a:buChar char="○"/>
            </a:pPr>
            <a:r>
              <a:rPr lang="en-GB" sz="1800">
                <a:solidFill>
                  <a:srgbClr val="000000"/>
                </a:solidFill>
                <a:highlight>
                  <a:srgbClr val="FFFFFF"/>
                </a:highlight>
                <a:latin typeface="Times New Roman"/>
                <a:ea typeface="Times New Roman"/>
                <a:cs typeface="Times New Roman"/>
                <a:sym typeface="Times New Roman"/>
              </a:rPr>
              <a:t>The minimum amount of time during which data signal should be stable after the clock makes a valid transition.</a:t>
            </a:r>
            <a:endParaRPr>
              <a:solidFill>
                <a:srgbClr val="000000"/>
              </a:solidFill>
              <a:latin typeface="Times New Roman"/>
              <a:ea typeface="Times New Roman"/>
              <a:cs typeface="Times New Roman"/>
              <a:sym typeface="Times New Roman"/>
            </a:endParaRPr>
          </a:p>
        </p:txBody>
      </p:sp>
      <p:pic>
        <p:nvPicPr>
          <p:cNvPr id="237" name="Google Shape;237;p44" title="Screenshot from 2025-11-18 17-36-00.png"/>
          <p:cNvPicPr preferRelativeResize="0"/>
          <p:nvPr/>
        </p:nvPicPr>
        <p:blipFill>
          <a:blip r:embed="rId3">
            <a:alphaModFix/>
          </a:blip>
          <a:stretch>
            <a:fillRect/>
          </a:stretch>
        </p:blipFill>
        <p:spPr>
          <a:xfrm>
            <a:off x="4359300" y="1249625"/>
            <a:ext cx="4158700" cy="1671950"/>
          </a:xfrm>
          <a:prstGeom prst="rect">
            <a:avLst/>
          </a:prstGeom>
          <a:noFill/>
          <a:ln cap="flat" cmpd="sng" w="9525">
            <a:solidFill>
              <a:schemeClr val="dk2"/>
            </a:solidFill>
            <a:prstDash val="solid"/>
            <a:round/>
            <a:headEnd len="sm" w="sm" type="none"/>
            <a:tailEnd len="sm" w="sm" type="none"/>
          </a:ln>
        </p:spPr>
      </p:pic>
      <p:pic>
        <p:nvPicPr>
          <p:cNvPr id="238" name="Google Shape;238;p44" title="Screenshot from 2025-11-18 17-41-18.png"/>
          <p:cNvPicPr preferRelativeResize="0"/>
          <p:nvPr/>
        </p:nvPicPr>
        <p:blipFill>
          <a:blip r:embed="rId4">
            <a:alphaModFix/>
          </a:blip>
          <a:stretch>
            <a:fillRect/>
          </a:stretch>
        </p:blipFill>
        <p:spPr>
          <a:xfrm>
            <a:off x="4359300" y="3452048"/>
            <a:ext cx="4257675" cy="1496325"/>
          </a:xfrm>
          <a:prstGeom prst="rect">
            <a:avLst/>
          </a:prstGeom>
          <a:noFill/>
          <a:ln cap="flat" cmpd="sng" w="9525">
            <a:solidFill>
              <a:schemeClr val="dk2"/>
            </a:solidFill>
            <a:prstDash val="solid"/>
            <a:round/>
            <a:headEnd len="sm" w="sm" type="none"/>
            <a:tailEnd len="sm" w="sm" type="none"/>
          </a:ln>
        </p:spPr>
      </p:pic>
      <p:pic>
        <p:nvPicPr>
          <p:cNvPr id="239" name="Google Shape;239;p44" title="Screenshot from 2025-11-19 11-55-02.png"/>
          <p:cNvPicPr preferRelativeResize="0"/>
          <p:nvPr/>
        </p:nvPicPr>
        <p:blipFill>
          <a:blip r:embed="rId5">
            <a:alphaModFix/>
          </a:blip>
          <a:stretch>
            <a:fillRect/>
          </a:stretch>
        </p:blipFill>
        <p:spPr>
          <a:xfrm>
            <a:off x="1189725" y="3932475"/>
            <a:ext cx="2705100" cy="400050"/>
          </a:xfrm>
          <a:prstGeom prst="rect">
            <a:avLst/>
          </a:prstGeom>
          <a:noFill/>
          <a:ln cap="flat" cmpd="sng" w="9525">
            <a:solidFill>
              <a:schemeClr val="dk2"/>
            </a:solidFill>
            <a:prstDash val="solid"/>
            <a:round/>
            <a:headEnd len="sm" w="sm" type="none"/>
            <a:tailEnd len="sm" w="sm" type="none"/>
          </a:ln>
        </p:spPr>
      </p:pic>
      <p:pic>
        <p:nvPicPr>
          <p:cNvPr id="240" name="Google Shape;240;p44" title="Screenshot from 2025-11-19 11-54-47.png"/>
          <p:cNvPicPr preferRelativeResize="0"/>
          <p:nvPr/>
        </p:nvPicPr>
        <p:blipFill>
          <a:blip r:embed="rId6">
            <a:alphaModFix/>
          </a:blip>
          <a:stretch>
            <a:fillRect/>
          </a:stretch>
        </p:blipFill>
        <p:spPr>
          <a:xfrm>
            <a:off x="1291525" y="1834638"/>
            <a:ext cx="2686050" cy="4286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5"/>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a:t>
            </a:r>
            <a:endParaRPr/>
          </a:p>
        </p:txBody>
      </p:sp>
      <p:sp>
        <p:nvSpPr>
          <p:cNvPr id="246" name="Google Shape;246;p45"/>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800"/>
              </a:spcBef>
              <a:spcAft>
                <a:spcPts val="0"/>
              </a:spcAft>
              <a:buNone/>
            </a:pPr>
            <a:r>
              <a:rPr b="1" lang="en-GB">
                <a:solidFill>
                  <a:srgbClr val="000000"/>
                </a:solidFill>
                <a:latin typeface="Times New Roman"/>
                <a:ea typeface="Times New Roman"/>
                <a:cs typeface="Times New Roman"/>
                <a:sym typeface="Times New Roman"/>
              </a:rPr>
              <a:t>Detailed Example (Step-by-Step)</a:t>
            </a:r>
            <a:endParaRPr b="1">
              <a:solidFill>
                <a:srgbClr val="000000"/>
              </a:solidFill>
              <a:latin typeface="Times New Roman"/>
              <a:ea typeface="Times New Roman"/>
              <a:cs typeface="Times New Roman"/>
              <a:sym typeface="Times New Roman"/>
            </a:endParaRPr>
          </a:p>
          <a:p>
            <a:pPr indent="457200" lvl="0" marL="0" rtl="0" algn="l">
              <a:spcBef>
                <a:spcPts val="1400"/>
              </a:spcBef>
              <a:spcAft>
                <a:spcPts val="0"/>
              </a:spcAft>
              <a:buNone/>
            </a:pPr>
            <a:r>
              <a:rPr b="1" lang="en-GB" sz="1300">
                <a:solidFill>
                  <a:srgbClr val="000000"/>
                </a:solidFill>
                <a:latin typeface="Arial"/>
                <a:ea typeface="Arial"/>
                <a:cs typeface="Arial"/>
                <a:sym typeface="Arial"/>
              </a:rPr>
              <a:t>Given (all values in ps)</a:t>
            </a:r>
            <a:endParaRPr b="1" sz="1300">
              <a:solidFill>
                <a:srgbClr val="000000"/>
              </a:solidFill>
              <a:latin typeface="Arial"/>
              <a:ea typeface="Arial"/>
              <a:cs typeface="Arial"/>
              <a:sym typeface="Arial"/>
            </a:endParaRPr>
          </a:p>
          <a:p>
            <a:pPr indent="-330200" lvl="0" marL="457200" rtl="0" algn="l">
              <a:spcBef>
                <a:spcPts val="1200"/>
              </a:spcBef>
              <a:spcAft>
                <a:spcPts val="0"/>
              </a:spcAft>
              <a:buClr>
                <a:srgbClr val="000000"/>
              </a:buClr>
              <a:buSzPts val="1600"/>
              <a:buFont typeface="Arial"/>
              <a:buChar char="●"/>
            </a:pPr>
            <a:r>
              <a:rPr lang="en-GB" sz="1600">
                <a:solidFill>
                  <a:srgbClr val="000000"/>
                </a:solidFill>
                <a:latin typeface="Arial"/>
                <a:ea typeface="Arial"/>
                <a:cs typeface="Arial"/>
                <a:sym typeface="Arial"/>
              </a:rPr>
              <a:t>t(c→q) = 100 ps     </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GB" sz="1600">
                <a:solidFill>
                  <a:srgbClr val="000000"/>
                </a:solidFill>
                <a:latin typeface="Arial"/>
                <a:ea typeface="Arial"/>
                <a:cs typeface="Arial"/>
                <a:sym typeface="Arial"/>
              </a:rPr>
              <a:t>t_logic = 200 ps       	</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GB" sz="1600">
                <a:solidFill>
                  <a:srgbClr val="000000"/>
                </a:solidFill>
                <a:latin typeface="Arial"/>
                <a:ea typeface="Arial"/>
                <a:cs typeface="Arial"/>
                <a:sym typeface="Arial"/>
              </a:rPr>
              <a:t>t_su = 50 ps                </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GB" sz="1600">
                <a:solidFill>
                  <a:srgbClr val="000000"/>
                </a:solidFill>
                <a:latin typeface="Arial"/>
                <a:ea typeface="Arial"/>
                <a:cs typeface="Arial"/>
                <a:sym typeface="Arial"/>
              </a:rPr>
              <a:t>δ = 20 ps   </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GB" sz="1600">
                <a:solidFill>
                  <a:srgbClr val="000000"/>
                </a:solidFill>
                <a:latin typeface="Arial"/>
                <a:ea typeface="Arial"/>
                <a:cs typeface="Arial"/>
                <a:sym typeface="Arial"/>
              </a:rPr>
              <a:t>J = 10 ps</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GB" sz="1600">
                <a:solidFill>
                  <a:srgbClr val="000000"/>
                </a:solidFill>
                <a:latin typeface="Arial"/>
                <a:ea typeface="Arial"/>
                <a:cs typeface="Arial"/>
                <a:sym typeface="Arial"/>
              </a:rPr>
              <a:t>t(c→q,cd) + t(logic,cd) = 150 ps</a:t>
            </a:r>
            <a:endParaRPr sz="1600">
              <a:solidFill>
                <a:srgbClr val="000000"/>
              </a:solidFill>
              <a:latin typeface="Arial"/>
              <a:ea typeface="Arial"/>
              <a:cs typeface="Arial"/>
              <a:sym typeface="Arial"/>
            </a:endParaRPr>
          </a:p>
          <a:p>
            <a:pPr indent="0" lvl="0" marL="0" rtl="0" algn="just">
              <a:lnSpc>
                <a:spcPct val="115000"/>
              </a:lnSpc>
              <a:spcBef>
                <a:spcPts val="1200"/>
              </a:spcBef>
              <a:spcAft>
                <a:spcPts val="3000"/>
              </a:spcAft>
              <a:buNone/>
            </a:pPr>
            <a:r>
              <a:t/>
            </a:r>
            <a:endParaRPr sz="2300">
              <a:solidFill>
                <a:srgbClr val="000000"/>
              </a:solidFill>
              <a:latin typeface="Times New Roman"/>
              <a:ea typeface="Times New Roman"/>
              <a:cs typeface="Times New Roman"/>
              <a:sym typeface="Times New Roman"/>
            </a:endParaRPr>
          </a:p>
        </p:txBody>
      </p:sp>
      <p:pic>
        <p:nvPicPr>
          <p:cNvPr id="247" name="Google Shape;247;p45" title="Screenshot from 2025-11-19 12-32-02.png"/>
          <p:cNvPicPr preferRelativeResize="0"/>
          <p:nvPr/>
        </p:nvPicPr>
        <p:blipFill>
          <a:blip r:embed="rId3">
            <a:alphaModFix/>
          </a:blip>
          <a:stretch>
            <a:fillRect/>
          </a:stretch>
        </p:blipFill>
        <p:spPr>
          <a:xfrm>
            <a:off x="3836475" y="768825"/>
            <a:ext cx="4995824" cy="4214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6"/>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3" name="Google Shape;253;p46"/>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spcBef>
                <a:spcPts val="1800"/>
              </a:spcBef>
              <a:spcAft>
                <a:spcPts val="0"/>
              </a:spcAft>
              <a:buClr>
                <a:srgbClr val="000000"/>
              </a:buClr>
              <a:buSzPts val="1200"/>
              <a:buFont typeface="Times New Roman"/>
              <a:buChar char="●"/>
            </a:pPr>
            <a:r>
              <a:rPr b="1" lang="en-GB">
                <a:solidFill>
                  <a:srgbClr val="000000"/>
                </a:solidFill>
                <a:latin typeface="Times New Roman"/>
                <a:ea typeface="Times New Roman"/>
                <a:cs typeface="Times New Roman"/>
                <a:sym typeface="Times New Roman"/>
              </a:rPr>
              <a:t>Setup Calculation</a:t>
            </a:r>
            <a:endParaRPr b="1">
              <a:solidFill>
                <a:srgbClr val="000000"/>
              </a:solidFill>
              <a:latin typeface="Times New Roman"/>
              <a:ea typeface="Times New Roman"/>
              <a:cs typeface="Times New Roman"/>
              <a:sym typeface="Times New Roman"/>
            </a:endParaRPr>
          </a:p>
          <a:p>
            <a:pPr indent="-298450" lvl="1" marL="914400" rtl="0" algn="l">
              <a:lnSpc>
                <a:spcPct val="150000"/>
              </a:lnSpc>
              <a:spcBef>
                <a:spcPts val="0"/>
              </a:spcBef>
              <a:spcAft>
                <a:spcPts val="0"/>
              </a:spcAft>
              <a:buClr>
                <a:srgbClr val="000000"/>
              </a:buClr>
              <a:buSzPts val="1100"/>
              <a:buFont typeface="Arial"/>
              <a:buChar char="○"/>
            </a:pPr>
            <a:r>
              <a:rPr b="1" lang="en-GB" sz="1800">
                <a:solidFill>
                  <a:srgbClr val="000000"/>
                </a:solidFill>
                <a:latin typeface="Arial"/>
                <a:ea typeface="Arial"/>
                <a:cs typeface="Arial"/>
                <a:sym typeface="Arial"/>
              </a:rPr>
              <a:t>Equation:</a:t>
            </a:r>
            <a:r>
              <a:rPr lang="en-GB" sz="1600">
                <a:solidFill>
                  <a:srgbClr val="000000"/>
                </a:solidFill>
                <a:latin typeface="Arial"/>
                <a:ea typeface="Arial"/>
                <a:cs typeface="Arial"/>
                <a:sym typeface="Arial"/>
              </a:rPr>
              <a:t>    T ≥ t(c→q) + t_logic + t_su − δ + J</a:t>
            </a:r>
            <a:endParaRPr sz="1600">
              <a:solidFill>
                <a:srgbClr val="000000"/>
              </a:solidFill>
              <a:latin typeface="Arial"/>
              <a:ea typeface="Arial"/>
              <a:cs typeface="Arial"/>
              <a:sym typeface="Arial"/>
            </a:endParaRPr>
          </a:p>
          <a:p>
            <a:pPr indent="-298450" lvl="1" marL="914400" rtl="0" algn="l">
              <a:lnSpc>
                <a:spcPct val="150000"/>
              </a:lnSpc>
              <a:spcBef>
                <a:spcPts val="0"/>
              </a:spcBef>
              <a:spcAft>
                <a:spcPts val="0"/>
              </a:spcAft>
              <a:buClr>
                <a:srgbClr val="000000"/>
              </a:buClr>
              <a:buSzPts val="1100"/>
              <a:buFont typeface="Arial"/>
              <a:buChar char="○"/>
            </a:pPr>
            <a:r>
              <a:rPr b="1" lang="en-GB">
                <a:solidFill>
                  <a:srgbClr val="000000"/>
                </a:solidFill>
                <a:latin typeface="Arial"/>
                <a:ea typeface="Arial"/>
                <a:cs typeface="Arial"/>
                <a:sym typeface="Arial"/>
              </a:rPr>
              <a:t>Computation:  </a:t>
            </a:r>
            <a:r>
              <a:rPr lang="en-GB">
                <a:solidFill>
                  <a:srgbClr val="000000"/>
                </a:solidFill>
                <a:latin typeface="Arial"/>
                <a:ea typeface="Arial"/>
                <a:cs typeface="Arial"/>
                <a:sym typeface="Arial"/>
              </a:rPr>
              <a:t>360 ≥ 100+200+50-20+10</a:t>
            </a:r>
            <a:endParaRPr>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GB" sz="1300">
                <a:solidFill>
                  <a:srgbClr val="000000"/>
                </a:solidFill>
                <a:latin typeface="Arial"/>
                <a:ea typeface="Arial"/>
                <a:cs typeface="Arial"/>
                <a:sym typeface="Arial"/>
              </a:rPr>
              <a:t>Result:</a:t>
            </a:r>
            <a:endParaRPr b="1" sz="1300">
              <a:solidFill>
                <a:srgbClr val="000000"/>
              </a:solidFill>
              <a:latin typeface="Arial"/>
              <a:ea typeface="Arial"/>
              <a:cs typeface="Arial"/>
              <a:sym typeface="Arial"/>
            </a:endParaRPr>
          </a:p>
          <a:p>
            <a:pPr indent="-323850" lvl="1" marL="914400" rtl="0" algn="l">
              <a:lnSpc>
                <a:spcPct val="150000"/>
              </a:lnSpc>
              <a:spcBef>
                <a:spcPts val="0"/>
              </a:spcBef>
              <a:spcAft>
                <a:spcPts val="0"/>
              </a:spcAft>
              <a:buClr>
                <a:srgbClr val="000000"/>
              </a:buClr>
              <a:buSzPts val="1500"/>
              <a:buFont typeface="Arial"/>
              <a:buChar char="○"/>
            </a:pPr>
            <a:r>
              <a:rPr b="1" lang="en-GB" sz="1500">
                <a:solidFill>
                  <a:srgbClr val="000000"/>
                </a:solidFill>
                <a:latin typeface="Arial"/>
                <a:ea typeface="Arial"/>
                <a:cs typeface="Arial"/>
                <a:sym typeface="Arial"/>
              </a:rPr>
              <a:t>T_min = 340 ps</a:t>
            </a:r>
            <a:endParaRPr b="1" sz="1500">
              <a:solidFill>
                <a:srgbClr val="000000"/>
              </a:solidFill>
              <a:latin typeface="Arial"/>
              <a:ea typeface="Arial"/>
              <a:cs typeface="Arial"/>
              <a:sym typeface="Arial"/>
            </a:endParaRPr>
          </a:p>
          <a:p>
            <a:pPr indent="-323850" lvl="1" marL="914400" rtl="0" algn="l">
              <a:lnSpc>
                <a:spcPct val="150000"/>
              </a:lnSpc>
              <a:spcBef>
                <a:spcPts val="0"/>
              </a:spcBef>
              <a:spcAft>
                <a:spcPts val="0"/>
              </a:spcAft>
              <a:buClr>
                <a:srgbClr val="000000"/>
              </a:buClr>
              <a:buSzPts val="1500"/>
              <a:buFont typeface="Arial"/>
              <a:buChar char="○"/>
            </a:pPr>
            <a:r>
              <a:rPr b="1" lang="en-GB" sz="1500">
                <a:solidFill>
                  <a:srgbClr val="000000"/>
                </a:solidFill>
                <a:latin typeface="Arial"/>
                <a:ea typeface="Arial"/>
                <a:cs typeface="Arial"/>
                <a:sym typeface="Arial"/>
              </a:rPr>
              <a:t>If T = 360 ps → slack = 360 − 340 = 20 ps (safe)</a:t>
            </a:r>
            <a:endParaRPr b="1" sz="1700">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Times New Roman"/>
              <a:buChar char="●"/>
            </a:pPr>
            <a:r>
              <a:rPr b="1" lang="en-GB">
                <a:solidFill>
                  <a:srgbClr val="000000"/>
                </a:solidFill>
                <a:latin typeface="Times New Roman"/>
                <a:ea typeface="Times New Roman"/>
                <a:cs typeface="Times New Roman"/>
                <a:sym typeface="Times New Roman"/>
              </a:rPr>
              <a:t>Hold Calculation</a:t>
            </a:r>
            <a:endParaRPr b="1">
              <a:solidFill>
                <a:srgbClr val="000000"/>
              </a:solidFill>
              <a:latin typeface="Times New Roman"/>
              <a:ea typeface="Times New Roman"/>
              <a:cs typeface="Times New Roman"/>
              <a:sym typeface="Times New Roman"/>
            </a:endParaRPr>
          </a:p>
          <a:p>
            <a:pPr indent="-317500" lvl="1" marL="914400" rtl="0" algn="l">
              <a:lnSpc>
                <a:spcPct val="150000"/>
              </a:lnSpc>
              <a:spcBef>
                <a:spcPts val="0"/>
              </a:spcBef>
              <a:spcAft>
                <a:spcPts val="0"/>
              </a:spcAft>
              <a:buClr>
                <a:srgbClr val="000000"/>
              </a:buClr>
              <a:buSzPts val="1400"/>
              <a:buFont typeface="Arial"/>
              <a:buChar char="○"/>
            </a:pPr>
            <a:r>
              <a:rPr b="1" lang="en-GB" sz="1500">
                <a:solidFill>
                  <a:srgbClr val="000000"/>
                </a:solidFill>
                <a:latin typeface="Arial"/>
                <a:ea typeface="Arial"/>
                <a:cs typeface="Arial"/>
                <a:sym typeface="Arial"/>
              </a:rPr>
              <a:t>Equation:   </a:t>
            </a:r>
            <a:r>
              <a:rPr lang="en-GB" sz="1300">
                <a:solidFill>
                  <a:srgbClr val="000000"/>
                </a:solidFill>
                <a:latin typeface="Arial"/>
                <a:ea typeface="Arial"/>
                <a:cs typeface="Arial"/>
                <a:sym typeface="Arial"/>
              </a:rPr>
              <a:t>t_hold &lt; t(c→q,cd) + t(logic,cd) − δ − J</a:t>
            </a:r>
            <a:endParaRPr sz="1300">
              <a:solidFill>
                <a:srgbClr val="000000"/>
              </a:solidFill>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Char char="○"/>
            </a:pPr>
            <a:r>
              <a:rPr b="1" lang="en-GB" sz="1700">
                <a:solidFill>
                  <a:srgbClr val="000000"/>
                </a:solidFill>
                <a:latin typeface="Arial"/>
                <a:ea typeface="Arial"/>
                <a:cs typeface="Arial"/>
                <a:sym typeface="Arial"/>
              </a:rPr>
              <a:t>Computation: </a:t>
            </a:r>
            <a:r>
              <a:rPr b="1" lang="en-GB" sz="1700">
                <a:solidFill>
                  <a:srgbClr val="000000"/>
                </a:solidFill>
                <a:latin typeface="Arial"/>
                <a:ea typeface="Arial"/>
                <a:cs typeface="Arial"/>
                <a:sym typeface="Arial"/>
              </a:rPr>
              <a:t> </a:t>
            </a:r>
            <a:r>
              <a:rPr lang="en-GB" sz="1500">
                <a:solidFill>
                  <a:srgbClr val="000000"/>
                </a:solidFill>
                <a:latin typeface="Arial"/>
                <a:ea typeface="Arial"/>
                <a:cs typeface="Arial"/>
                <a:sym typeface="Arial"/>
              </a:rPr>
              <a:t>t_hold &lt; 150−20−10</a:t>
            </a:r>
            <a:endParaRPr sz="1500">
              <a:solidFill>
                <a:srgbClr val="000000"/>
              </a:solidFill>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Char char="○"/>
            </a:pPr>
            <a:r>
              <a:rPr b="1" lang="en-GB" sz="1500">
                <a:solidFill>
                  <a:srgbClr val="000000"/>
                </a:solidFill>
                <a:latin typeface="Arial"/>
                <a:ea typeface="Arial"/>
                <a:cs typeface="Arial"/>
                <a:sym typeface="Arial"/>
              </a:rPr>
              <a:t>Requirement:    </a:t>
            </a:r>
            <a:r>
              <a:rPr b="1" lang="en-GB" sz="1300">
                <a:solidFill>
                  <a:srgbClr val="000000"/>
                </a:solidFill>
                <a:latin typeface="Arial"/>
                <a:ea typeface="Arial"/>
                <a:cs typeface="Arial"/>
                <a:sym typeface="Arial"/>
              </a:rPr>
              <a:t>t_hold &lt; 120 ps   </a:t>
            </a:r>
            <a:endParaRPr sz="1300">
              <a:solidFill>
                <a:srgbClr val="000000"/>
              </a:solidFill>
              <a:latin typeface="Arial"/>
              <a:ea typeface="Arial"/>
              <a:cs typeface="Arial"/>
              <a:sym typeface="Arial"/>
            </a:endParaRPr>
          </a:p>
          <a:p>
            <a:pPr indent="0" lvl="0" marL="457200" rtl="0" algn="l">
              <a:lnSpc>
                <a:spcPct val="150000"/>
              </a:lnSpc>
              <a:spcBef>
                <a:spcPts val="1200"/>
              </a:spcBef>
              <a:spcAft>
                <a:spcPts val="0"/>
              </a:spcAft>
              <a:buNone/>
            </a:pPr>
            <a:r>
              <a:t/>
            </a:r>
            <a:endParaRPr sz="1100">
              <a:solidFill>
                <a:srgbClr val="000000"/>
              </a:solidFill>
              <a:latin typeface="Arial"/>
              <a:ea typeface="Arial"/>
              <a:cs typeface="Arial"/>
              <a:sym typeface="Arial"/>
            </a:endParaRPr>
          </a:p>
          <a:p>
            <a:pPr indent="0" lvl="0" marL="457200" rtl="0" algn="just">
              <a:lnSpc>
                <a:spcPct val="115000"/>
              </a:lnSpc>
              <a:spcBef>
                <a:spcPts val="1200"/>
              </a:spcBef>
              <a:spcAft>
                <a:spcPts val="3000"/>
              </a:spcAft>
              <a:buNone/>
            </a:pPr>
            <a:r>
              <a:t/>
            </a:r>
            <a:endParaRPr>
              <a:solidFill>
                <a:srgbClr val="000000"/>
              </a:solidFill>
              <a:latin typeface="Times New Roman"/>
              <a:ea typeface="Times New Roman"/>
              <a:cs typeface="Times New Roman"/>
              <a:sym typeface="Times New Roman"/>
            </a:endParaRPr>
          </a:p>
        </p:txBody>
      </p:sp>
      <p:sp>
        <p:nvSpPr>
          <p:cNvPr id="254" name="Google Shape;254;p46"/>
          <p:cNvSpPr txBox="1"/>
          <p:nvPr>
            <p:ph idx="1" type="body"/>
          </p:nvPr>
        </p:nvSpPr>
        <p:spPr>
          <a:xfrm>
            <a:off x="4974375" y="3421300"/>
            <a:ext cx="3796500" cy="13299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400"/>
              </a:spcBef>
              <a:spcAft>
                <a:spcPts val="0"/>
              </a:spcAft>
              <a:buNone/>
            </a:pPr>
            <a:r>
              <a:rPr b="1" lang="en-GB" sz="1300">
                <a:solidFill>
                  <a:srgbClr val="000000"/>
                </a:solidFill>
                <a:latin typeface="Arial"/>
                <a:ea typeface="Arial"/>
                <a:cs typeface="Arial"/>
                <a:sym typeface="Arial"/>
              </a:rPr>
              <a:t>Examples:</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sz="1100">
                <a:solidFill>
                  <a:srgbClr val="000000"/>
                </a:solidFill>
                <a:latin typeface="Arial"/>
                <a:ea typeface="Arial"/>
                <a:cs typeface="Arial"/>
                <a:sym typeface="Arial"/>
              </a:rPr>
              <a:t>If t_hold = 100 ps → </a:t>
            </a:r>
            <a:r>
              <a:rPr b="1" lang="en-GB" sz="1100">
                <a:solidFill>
                  <a:srgbClr val="000000"/>
                </a:solidFill>
                <a:latin typeface="Arial"/>
                <a:ea typeface="Arial"/>
                <a:cs typeface="Arial"/>
                <a:sym typeface="Arial"/>
              </a:rPr>
              <a:t>100 &lt; 120</a:t>
            </a:r>
            <a:r>
              <a:rPr lang="en-GB" sz="1100">
                <a:solidFill>
                  <a:srgbClr val="000000"/>
                </a:solidFill>
                <a:latin typeface="Arial"/>
                <a:ea typeface="Arial"/>
                <a:cs typeface="Arial"/>
                <a:sym typeface="Arial"/>
              </a:rPr>
              <a:t> ✔ Hold satisfied</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If t_hold = 125 ps → </a:t>
            </a:r>
            <a:r>
              <a:rPr b="1" lang="en-GB" sz="1100">
                <a:solidFill>
                  <a:srgbClr val="000000"/>
                </a:solidFill>
                <a:latin typeface="Arial"/>
                <a:ea typeface="Arial"/>
                <a:cs typeface="Arial"/>
                <a:sym typeface="Arial"/>
              </a:rPr>
              <a:t>125 &lt; 120</a:t>
            </a:r>
            <a:r>
              <a:rPr lang="en-GB" sz="1100">
                <a:solidFill>
                  <a:srgbClr val="000000"/>
                </a:solidFill>
                <a:latin typeface="Arial"/>
                <a:ea typeface="Arial"/>
                <a:cs typeface="Arial"/>
                <a:sym typeface="Arial"/>
              </a:rPr>
              <a:t> ✘ Hold violated </a:t>
            </a:r>
            <a:endParaRPr sz="1100">
              <a:solidFill>
                <a:srgbClr val="000000"/>
              </a:solidFill>
              <a:latin typeface="Arial"/>
              <a:ea typeface="Arial"/>
              <a:cs typeface="Arial"/>
              <a:sym typeface="Arial"/>
            </a:endParaRPr>
          </a:p>
          <a:p>
            <a:pPr indent="0" lvl="0" marL="457200" rtl="0" algn="just">
              <a:lnSpc>
                <a:spcPct val="115000"/>
              </a:lnSpc>
              <a:spcBef>
                <a:spcPts val="12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457200" rtl="0" algn="just">
              <a:lnSpc>
                <a:spcPct val="150000"/>
              </a:lnSpc>
              <a:spcBef>
                <a:spcPts val="3000"/>
              </a:spcBef>
              <a:spcAft>
                <a:spcPts val="0"/>
              </a:spcAft>
              <a:buNone/>
            </a:pPr>
            <a:r>
              <a:t/>
            </a:r>
            <a:endParaRPr>
              <a:solidFill>
                <a:srgbClr val="000000"/>
              </a:solidFill>
              <a:highlight>
                <a:srgbClr val="FFFFFF"/>
              </a:highlight>
              <a:latin typeface="Times New Roman"/>
              <a:ea typeface="Times New Roman"/>
              <a:cs typeface="Times New Roman"/>
              <a:sym typeface="Times New Roman"/>
            </a:endParaRPr>
          </a:p>
          <a:p>
            <a:pPr indent="0" lvl="0" marL="0" rtl="0" algn="just">
              <a:lnSpc>
                <a:spcPct val="100000"/>
              </a:lnSpc>
              <a:spcBef>
                <a:spcPts val="3000"/>
              </a:spcBef>
              <a:spcAft>
                <a:spcPts val="1200"/>
              </a:spcAft>
              <a:buNone/>
            </a:pPr>
            <a:r>
              <a:t/>
            </a: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7"/>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Ways to fix setup violations</a:t>
            </a:r>
            <a:endParaRPr/>
          </a:p>
          <a:p>
            <a:pPr indent="0" lvl="0" marL="0" rtl="0" algn="l">
              <a:spcBef>
                <a:spcPts val="0"/>
              </a:spcBef>
              <a:spcAft>
                <a:spcPts val="0"/>
              </a:spcAft>
              <a:buNone/>
            </a:pPr>
            <a:r>
              <a:t/>
            </a:r>
            <a:endParaRPr/>
          </a:p>
        </p:txBody>
      </p:sp>
      <p:sp>
        <p:nvSpPr>
          <p:cNvPr id="260" name="Google Shape;260;p47"/>
          <p:cNvSpPr txBox="1"/>
          <p:nvPr>
            <p:ph idx="1" type="body"/>
          </p:nvPr>
        </p:nvSpPr>
        <p:spPr>
          <a:xfrm>
            <a:off x="311700" y="522800"/>
            <a:ext cx="8729700" cy="44670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just">
              <a:lnSpc>
                <a:spcPct val="150000"/>
              </a:lnSpc>
              <a:spcBef>
                <a:spcPts val="0"/>
              </a:spcBef>
              <a:spcAft>
                <a:spcPts val="0"/>
              </a:spcAft>
              <a:buClr>
                <a:srgbClr val="000000"/>
              </a:buClr>
              <a:buSzPts val="1800"/>
              <a:buFont typeface="Times New Roman"/>
              <a:buChar char="●"/>
            </a:pPr>
            <a:r>
              <a:rPr b="1" lang="en-GB" sz="2000">
                <a:solidFill>
                  <a:srgbClr val="000000"/>
                </a:solidFill>
                <a:highlight>
                  <a:srgbClr val="FFFFFF"/>
                </a:highlight>
                <a:latin typeface="Times New Roman"/>
                <a:ea typeface="Times New Roman"/>
                <a:cs typeface="Times New Roman"/>
                <a:sym typeface="Times New Roman"/>
              </a:rPr>
              <a:t>Gate Sizing:</a:t>
            </a:r>
            <a:endParaRPr b="1" sz="2000">
              <a:solidFill>
                <a:srgbClr val="000000"/>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000000"/>
              </a:buClr>
              <a:buSzPts val="1800"/>
              <a:buFont typeface="Times New Roman"/>
              <a:buChar char="○"/>
            </a:pPr>
            <a:r>
              <a:rPr lang="en-GB" sz="1800">
                <a:solidFill>
                  <a:srgbClr val="111111"/>
                </a:solidFill>
                <a:highlight>
                  <a:srgbClr val="FFFFFF"/>
                </a:highlight>
                <a:latin typeface="Times New Roman"/>
                <a:ea typeface="Times New Roman"/>
                <a:cs typeface="Times New Roman"/>
                <a:sym typeface="Times New Roman"/>
              </a:rPr>
              <a:t>This refers to upsizing the cell to a higher drive strength cell.</a:t>
            </a:r>
            <a:endParaRPr sz="1800">
              <a:solidFill>
                <a:srgbClr val="111111"/>
              </a:solidFill>
              <a:highlight>
                <a:srgbClr val="FFFFFF"/>
              </a:highlight>
              <a:latin typeface="Times New Roman"/>
              <a:ea typeface="Times New Roman"/>
              <a:cs typeface="Times New Roman"/>
              <a:sym typeface="Times New Roman"/>
            </a:endParaRPr>
          </a:p>
          <a:p>
            <a:pPr indent="-342900" lvl="1" marL="914400" rtl="0" algn="just">
              <a:lnSpc>
                <a:spcPct val="100000"/>
              </a:lnSpc>
              <a:spcBef>
                <a:spcPts val="0"/>
              </a:spcBef>
              <a:spcAft>
                <a:spcPts val="0"/>
              </a:spcAft>
              <a:buClr>
                <a:srgbClr val="000000"/>
              </a:buClr>
              <a:buSzPts val="1800"/>
              <a:buFont typeface="Times New Roman"/>
              <a:buChar char="○"/>
            </a:pPr>
            <a:r>
              <a:rPr lang="en-GB" sz="1800">
                <a:solidFill>
                  <a:srgbClr val="111111"/>
                </a:solidFill>
                <a:highlight>
                  <a:srgbClr val="FFFFFF"/>
                </a:highlight>
                <a:latin typeface="Times New Roman"/>
                <a:ea typeface="Times New Roman"/>
                <a:cs typeface="Times New Roman"/>
                <a:sym typeface="Times New Roman"/>
              </a:rPr>
              <a:t>If a low driving strength cell is driving a higher load, it results in higher cell delay.To fix this, one can upsize the cell which will reduce cell delay and helps to meet the setup time.</a:t>
            </a:r>
            <a:endParaRPr sz="1800">
              <a:solidFill>
                <a:srgbClr val="000000"/>
              </a:solidFill>
              <a:highlight>
                <a:srgbClr val="FFFFFF"/>
              </a:highlight>
              <a:latin typeface="Times New Roman"/>
              <a:ea typeface="Times New Roman"/>
              <a:cs typeface="Times New Roman"/>
              <a:sym typeface="Times New Roman"/>
            </a:endParaRPr>
          </a:p>
          <a:p>
            <a:pPr indent="-381000" lvl="0" marL="457200" rtl="0" algn="l">
              <a:spcBef>
                <a:spcPts val="0"/>
              </a:spcBef>
              <a:spcAft>
                <a:spcPts val="0"/>
              </a:spcAft>
              <a:buClr>
                <a:srgbClr val="000000"/>
              </a:buClr>
              <a:buSzPts val="2400"/>
              <a:buFont typeface="Times New Roman"/>
              <a:buChar char="●"/>
            </a:pPr>
            <a:r>
              <a:rPr b="1" lang="en-GB" sz="2000">
                <a:solidFill>
                  <a:srgbClr val="111111"/>
                </a:solidFill>
                <a:highlight>
                  <a:srgbClr val="FFFFFF"/>
                </a:highlight>
                <a:latin typeface="Times New Roman"/>
                <a:ea typeface="Times New Roman"/>
                <a:cs typeface="Times New Roman"/>
                <a:sym typeface="Times New Roman"/>
              </a:rPr>
              <a:t>Vt Swapping:</a:t>
            </a:r>
            <a:endParaRPr b="1" sz="2000">
              <a:solidFill>
                <a:srgbClr val="111111"/>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000000"/>
              </a:buClr>
              <a:buSzPts val="1800"/>
              <a:buFont typeface="Times New Roman"/>
              <a:buChar char="○"/>
            </a:pPr>
            <a:r>
              <a:rPr lang="en-GB" sz="1800">
                <a:solidFill>
                  <a:srgbClr val="111111"/>
                </a:solidFill>
                <a:highlight>
                  <a:srgbClr val="FFFFFF"/>
                </a:highlight>
                <a:latin typeface="Times New Roman"/>
                <a:ea typeface="Times New Roman"/>
                <a:cs typeface="Times New Roman"/>
                <a:sym typeface="Times New Roman"/>
              </a:rPr>
              <a:t>The HVT cells in the data path can be swapped to LVT cells which have lesser delays for improving the arrival time.</a:t>
            </a:r>
            <a:endParaRPr sz="1800">
              <a:solidFill>
                <a:srgbClr val="111111"/>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111111"/>
              </a:buClr>
              <a:buSzPts val="1800"/>
              <a:buFont typeface="Times New Roman"/>
              <a:buChar char="○"/>
            </a:pPr>
            <a:r>
              <a:rPr lang="en-GB" sz="1800">
                <a:solidFill>
                  <a:srgbClr val="111111"/>
                </a:solidFill>
                <a:highlight>
                  <a:srgbClr val="FFFFFF"/>
                </a:highlight>
                <a:latin typeface="Times New Roman"/>
                <a:ea typeface="Times New Roman"/>
                <a:cs typeface="Times New Roman"/>
                <a:sym typeface="Times New Roman"/>
              </a:rPr>
              <a:t>This method of fixing setup is also known as threshold voltage swapping. There are three different flavors of a cell – HVT, SVT, and LVT. HVT cells have high threshold voltage whereas LVT cells have low threshold voltage.</a:t>
            </a:r>
            <a:endParaRPr sz="1800">
              <a:solidFill>
                <a:srgbClr val="111111"/>
              </a:solidFill>
              <a:highlight>
                <a:srgbClr val="FFFFFF"/>
              </a:highlight>
              <a:latin typeface="Times New Roman"/>
              <a:ea typeface="Times New Roman"/>
              <a:cs typeface="Times New Roman"/>
              <a:sym typeface="Times New Roman"/>
            </a:endParaRPr>
          </a:p>
          <a:p>
            <a:pPr indent="-342900" lvl="1" marL="914400" rtl="0" algn="just">
              <a:spcBef>
                <a:spcPts val="0"/>
              </a:spcBef>
              <a:spcAft>
                <a:spcPts val="0"/>
              </a:spcAft>
              <a:buClr>
                <a:srgbClr val="000000"/>
              </a:buClr>
              <a:buSzPts val="1800"/>
              <a:buFont typeface="Times New Roman"/>
              <a:buChar char="○"/>
            </a:pPr>
            <a:r>
              <a:rPr lang="en-GB" sz="1800">
                <a:solidFill>
                  <a:srgbClr val="111111"/>
                </a:solidFill>
                <a:highlight>
                  <a:srgbClr val="FFFFFF"/>
                </a:highlight>
                <a:latin typeface="Times New Roman"/>
                <a:ea typeface="Times New Roman"/>
                <a:cs typeface="Times New Roman"/>
                <a:sym typeface="Times New Roman"/>
              </a:rPr>
              <a:t>LVT cells require less voltage to turn ON, resulting in lesser cell delay.</a:t>
            </a:r>
            <a:endParaRPr sz="1800">
              <a:solidFill>
                <a:srgbClr val="111111"/>
              </a:solidFill>
              <a:highlight>
                <a:srgbClr val="FFFFFF"/>
              </a:highlight>
              <a:latin typeface="Times New Roman"/>
              <a:ea typeface="Times New Roman"/>
              <a:cs typeface="Times New Roman"/>
              <a:sym typeface="Times New Roman"/>
            </a:endParaRPr>
          </a:p>
          <a:p>
            <a:pPr indent="0" lvl="0" marL="457200" rtl="0" algn="l">
              <a:spcBef>
                <a:spcPts val="2600"/>
              </a:spcBef>
              <a:spcAft>
                <a:spcPts val="2600"/>
              </a:spcAft>
              <a:buNone/>
            </a:pPr>
            <a:r>
              <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8"/>
          <p:cNvSpPr txBox="1"/>
          <p:nvPr>
            <p:ph type="title"/>
          </p:nvPr>
        </p:nvSpPr>
        <p:spPr>
          <a:xfrm>
            <a:off x="243000" y="0"/>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Ways to fix setup violations</a:t>
            </a:r>
            <a:endParaRPr/>
          </a:p>
          <a:p>
            <a:pPr indent="0" lvl="0" marL="0" rtl="0" algn="l">
              <a:spcBef>
                <a:spcPts val="0"/>
              </a:spcBef>
              <a:spcAft>
                <a:spcPts val="0"/>
              </a:spcAft>
              <a:buNone/>
            </a:pPr>
            <a:r>
              <a:t/>
            </a:r>
            <a:endParaRPr/>
          </a:p>
        </p:txBody>
      </p:sp>
      <p:sp>
        <p:nvSpPr>
          <p:cNvPr id="266" name="Google Shape;266;p48"/>
          <p:cNvSpPr txBox="1"/>
          <p:nvPr>
            <p:ph idx="1" type="body"/>
          </p:nvPr>
        </p:nvSpPr>
        <p:spPr>
          <a:xfrm>
            <a:off x="311700" y="934700"/>
            <a:ext cx="8729700" cy="3724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55600" lvl="0" marL="457200" rtl="0" algn="l">
              <a:spcBef>
                <a:spcPts val="1800"/>
              </a:spcBef>
              <a:spcAft>
                <a:spcPts val="0"/>
              </a:spcAft>
              <a:buClr>
                <a:srgbClr val="000000"/>
              </a:buClr>
              <a:buSzPts val="2000"/>
              <a:buFont typeface="Times New Roman"/>
              <a:buChar char="●"/>
            </a:pPr>
            <a:r>
              <a:rPr b="1" lang="en-GB" sz="2000">
                <a:solidFill>
                  <a:srgbClr val="000000"/>
                </a:solidFill>
                <a:latin typeface="Times New Roman"/>
                <a:ea typeface="Times New Roman"/>
                <a:cs typeface="Times New Roman"/>
                <a:sym typeface="Times New Roman"/>
              </a:rPr>
              <a:t>Reduce Buffering in the Path</a:t>
            </a:r>
            <a:endParaRPr b="1" sz="2000">
              <a:solidFill>
                <a:srgbClr val="000000"/>
              </a:solidFill>
              <a:latin typeface="Times New Roman"/>
              <a:ea typeface="Times New Roman"/>
              <a:cs typeface="Times New Roman"/>
              <a:sym typeface="Times New Roman"/>
            </a:endParaRPr>
          </a:p>
          <a:p>
            <a:pPr indent="-368300" lvl="1" marL="914400" rtl="0" algn="just">
              <a:spcBef>
                <a:spcPts val="0"/>
              </a:spcBef>
              <a:spcAft>
                <a:spcPts val="0"/>
              </a:spcAft>
              <a:buClr>
                <a:srgbClr val="000000"/>
              </a:buClr>
              <a:buSzPts val="2200"/>
              <a:buFont typeface="Times New Roman"/>
              <a:buChar char="○"/>
            </a:pPr>
            <a:r>
              <a:rPr lang="en-GB" sz="1800">
                <a:solidFill>
                  <a:srgbClr val="000000"/>
                </a:solidFill>
                <a:latin typeface="Times New Roman"/>
                <a:ea typeface="Times New Roman"/>
                <a:cs typeface="Times New Roman"/>
                <a:sym typeface="Times New Roman"/>
              </a:rPr>
              <a:t>Reduce the </a:t>
            </a:r>
            <a:r>
              <a:rPr b="1" lang="en-GB" sz="1800">
                <a:solidFill>
                  <a:srgbClr val="000000"/>
                </a:solidFill>
                <a:latin typeface="Times New Roman"/>
                <a:ea typeface="Times New Roman"/>
                <a:cs typeface="Times New Roman"/>
                <a:sym typeface="Times New Roman"/>
              </a:rPr>
              <a:t>amount of buffering</a:t>
            </a:r>
            <a:r>
              <a:rPr lang="en-GB" sz="1800">
                <a:solidFill>
                  <a:srgbClr val="000000"/>
                </a:solidFill>
                <a:latin typeface="Times New Roman"/>
                <a:ea typeface="Times New Roman"/>
                <a:cs typeface="Times New Roman"/>
                <a:sym typeface="Times New Roman"/>
              </a:rPr>
              <a:t> (number of buffers) in the signal path</a:t>
            </a:r>
            <a:r>
              <a:rPr lang="en-GB" sz="1800">
                <a:solidFill>
                  <a:srgbClr val="111111"/>
                </a:solidFill>
                <a:highlight>
                  <a:schemeClr val="lt1"/>
                </a:highlight>
                <a:latin typeface="Times New Roman"/>
                <a:ea typeface="Times New Roman"/>
                <a:cs typeface="Times New Roman"/>
                <a:sym typeface="Times New Roman"/>
              </a:rPr>
              <a:t>.</a:t>
            </a:r>
            <a:endParaRPr sz="1800">
              <a:solidFill>
                <a:srgbClr val="111111"/>
              </a:solidFill>
              <a:highlight>
                <a:schemeClr val="lt1"/>
              </a:highlight>
              <a:latin typeface="Times New Roman"/>
              <a:ea typeface="Times New Roman"/>
              <a:cs typeface="Times New Roman"/>
              <a:sym typeface="Times New Roman"/>
            </a:endParaRPr>
          </a:p>
          <a:p>
            <a:pPr indent="-368300" lvl="1" marL="914400" rtl="0" algn="just">
              <a:lnSpc>
                <a:spcPct val="115000"/>
              </a:lnSpc>
              <a:spcBef>
                <a:spcPts val="0"/>
              </a:spcBef>
              <a:spcAft>
                <a:spcPts val="0"/>
              </a:spcAft>
              <a:buClr>
                <a:srgbClr val="000000"/>
              </a:buClr>
              <a:buSzPts val="2200"/>
              <a:buFont typeface="Times New Roman"/>
              <a:buChar char="○"/>
            </a:pPr>
            <a:r>
              <a:rPr lang="en-GB" sz="1800">
                <a:solidFill>
                  <a:srgbClr val="111111"/>
                </a:solidFill>
                <a:highlight>
                  <a:schemeClr val="lt1"/>
                </a:highlight>
                <a:latin typeface="Times New Roman"/>
                <a:ea typeface="Times New Roman"/>
                <a:cs typeface="Times New Roman"/>
                <a:sym typeface="Times New Roman"/>
              </a:rPr>
              <a:t>If a low driving strength cell is driving a higher load, it results in higher cell delay.To fix this, one can upsize the cell which will reduce cell delay and helps to meet the setup time.</a:t>
            </a:r>
            <a:endParaRPr b="1" sz="1800">
              <a:solidFill>
                <a:srgbClr val="000000"/>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rgbClr val="000000"/>
              </a:buClr>
              <a:buSzPts val="2000"/>
              <a:buFont typeface="Times New Roman"/>
              <a:buChar char="●"/>
            </a:pPr>
            <a:r>
              <a:rPr b="1" lang="en-GB" sz="2000">
                <a:solidFill>
                  <a:srgbClr val="000000"/>
                </a:solidFill>
                <a:latin typeface="Times New Roman"/>
                <a:ea typeface="Times New Roman"/>
                <a:cs typeface="Times New Roman"/>
                <a:sym typeface="Times New Roman"/>
              </a:rPr>
              <a:t>Replace Buffers with 2 Inverters Placed Farther Apart</a:t>
            </a:r>
            <a:endParaRPr b="1" sz="2000">
              <a:solidFill>
                <a:srgbClr val="000000"/>
              </a:solidFill>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b="1" lang="en-GB" sz="1800">
                <a:solidFill>
                  <a:srgbClr val="000000"/>
                </a:solidFill>
                <a:latin typeface="Times New Roman"/>
                <a:ea typeface="Times New Roman"/>
                <a:cs typeface="Times New Roman"/>
                <a:sym typeface="Times New Roman"/>
              </a:rPr>
              <a:t>Adding an inverter reduces transition time</a:t>
            </a:r>
            <a:r>
              <a:rPr lang="en-GB" sz="1800">
                <a:solidFill>
                  <a:srgbClr val="000000"/>
                </a:solidFill>
                <a:latin typeface="Times New Roman"/>
                <a:ea typeface="Times New Roman"/>
                <a:cs typeface="Times New Roman"/>
                <a:sym typeface="Times New Roman"/>
              </a:rPr>
              <a:t> by roughly </a:t>
            </a:r>
            <a:r>
              <a:rPr b="1" lang="en-GB" sz="1800">
                <a:solidFill>
                  <a:srgbClr val="000000"/>
                </a:solidFill>
                <a:latin typeface="Times New Roman"/>
                <a:ea typeface="Times New Roman"/>
                <a:cs typeface="Times New Roman"/>
                <a:sym typeface="Times New Roman"/>
              </a:rPr>
              <a:t>2×</a:t>
            </a:r>
            <a:r>
              <a:rPr lang="en-GB" sz="1800">
                <a:solidFill>
                  <a:srgbClr val="000000"/>
                </a:solidFill>
                <a:latin typeface="Times New Roman"/>
                <a:ea typeface="Times New Roman"/>
                <a:cs typeface="Times New Roman"/>
                <a:sym typeface="Times New Roman"/>
              </a:rPr>
              <a:t> compared to a buffer.</a:t>
            </a:r>
            <a:endParaRPr sz="1800">
              <a:solidFill>
                <a:srgbClr val="000000"/>
              </a:solidFill>
              <a:latin typeface="Times New Roman"/>
              <a:ea typeface="Times New Roman"/>
              <a:cs typeface="Times New Roman"/>
              <a:sym typeface="Times New Roman"/>
            </a:endParaRPr>
          </a:p>
          <a:p>
            <a:pPr indent="-342900" lvl="1" marL="914400" rtl="0" algn="just">
              <a:lnSpc>
                <a:spcPct val="150000"/>
              </a:lnSpc>
              <a:spcBef>
                <a:spcPts val="0"/>
              </a:spcBef>
              <a:spcAft>
                <a:spcPts val="0"/>
              </a:spcAft>
              <a:buClr>
                <a:srgbClr val="000000"/>
              </a:buClr>
              <a:buSzPts val="1800"/>
              <a:buFont typeface="Times New Roman"/>
              <a:buChar char="○"/>
            </a:pPr>
            <a:r>
              <a:rPr lang="en-GB" sz="1800">
                <a:solidFill>
                  <a:srgbClr val="000000"/>
                </a:solidFill>
                <a:latin typeface="Times New Roman"/>
                <a:ea typeface="Times New Roman"/>
                <a:cs typeface="Times New Roman"/>
                <a:sym typeface="Times New Roman"/>
              </a:rPr>
              <a:t>Lower transition time → </a:t>
            </a:r>
            <a:r>
              <a:rPr b="1" lang="en-GB" sz="1800">
                <a:solidFill>
                  <a:srgbClr val="000000"/>
                </a:solidFill>
                <a:latin typeface="Times New Roman"/>
                <a:ea typeface="Times New Roman"/>
                <a:cs typeface="Times New Roman"/>
                <a:sym typeface="Times New Roman"/>
              </a:rPr>
              <a:t>reduced RC (interconnect) delay</a:t>
            </a:r>
            <a:r>
              <a:rPr lang="en-GB" sz="1800">
                <a:solidFill>
                  <a:srgbClr val="000000"/>
                </a:solidFill>
                <a:latin typeface="Times New Roman"/>
                <a:ea typeface="Times New Roman"/>
                <a:cs typeface="Times New Roman"/>
                <a:sym typeface="Times New Roman"/>
              </a:rPr>
              <a:t> on the wire.</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9"/>
          <p:cNvSpPr txBox="1"/>
          <p:nvPr>
            <p:ph type="title"/>
          </p:nvPr>
        </p:nvSpPr>
        <p:spPr>
          <a:xfrm>
            <a:off x="277350" y="370625"/>
            <a:ext cx="8589300" cy="43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Ways to fix hold violations</a:t>
            </a:r>
            <a:endParaRPr/>
          </a:p>
          <a:p>
            <a:pPr indent="0" lvl="0" marL="0" rtl="0" algn="l">
              <a:spcBef>
                <a:spcPts val="0"/>
              </a:spcBef>
              <a:spcAft>
                <a:spcPts val="0"/>
              </a:spcAft>
              <a:buNone/>
            </a:pPr>
            <a:r>
              <a:t/>
            </a:r>
            <a:endParaRPr/>
          </a:p>
        </p:txBody>
      </p:sp>
      <p:sp>
        <p:nvSpPr>
          <p:cNvPr id="272" name="Google Shape;272;p49"/>
          <p:cNvSpPr txBox="1"/>
          <p:nvPr>
            <p:ph idx="1" type="body"/>
          </p:nvPr>
        </p:nvSpPr>
        <p:spPr>
          <a:xfrm>
            <a:off x="311700" y="1169725"/>
            <a:ext cx="8729700" cy="33447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457200" rtl="0" algn="l">
              <a:spcBef>
                <a:spcPts val="1800"/>
              </a:spcBef>
              <a:spcAft>
                <a:spcPts val="0"/>
              </a:spcAft>
              <a:buNone/>
            </a:pPr>
            <a:r>
              <a:t/>
            </a:r>
            <a:endParaRPr b="1" sz="2000">
              <a:solidFill>
                <a:srgbClr val="000000"/>
              </a:solidFill>
              <a:latin typeface="Times New Roman"/>
              <a:ea typeface="Times New Roman"/>
              <a:cs typeface="Times New Roman"/>
              <a:sym typeface="Times New Roman"/>
            </a:endParaRPr>
          </a:p>
          <a:p>
            <a:pPr indent="-355600" lvl="0" marL="457200" rtl="0" algn="l">
              <a:spcBef>
                <a:spcPts val="1800"/>
              </a:spcBef>
              <a:spcAft>
                <a:spcPts val="0"/>
              </a:spcAft>
              <a:buClr>
                <a:srgbClr val="000000"/>
              </a:buClr>
              <a:buSzPts val="2000"/>
              <a:buFont typeface="Times New Roman"/>
              <a:buChar char="●"/>
            </a:pPr>
            <a:r>
              <a:rPr b="1" lang="en-GB" sz="2000">
                <a:solidFill>
                  <a:srgbClr val="000000"/>
                </a:solidFill>
                <a:latin typeface="Times New Roman"/>
                <a:ea typeface="Times New Roman"/>
                <a:cs typeface="Times New Roman"/>
                <a:sym typeface="Times New Roman"/>
              </a:rPr>
              <a:t> By Adding delays</a:t>
            </a:r>
            <a:endParaRPr b="1" sz="2000">
              <a:solidFill>
                <a:srgbClr val="000000"/>
              </a:solidFill>
              <a:latin typeface="Times New Roman"/>
              <a:ea typeface="Times New Roman"/>
              <a:cs typeface="Times New Roman"/>
              <a:sym typeface="Times New Roman"/>
            </a:endParaRPr>
          </a:p>
          <a:p>
            <a:pPr indent="-342900" lvl="1" marL="914400" rtl="0" algn="just">
              <a:spcBef>
                <a:spcPts val="0"/>
              </a:spcBef>
              <a:spcAft>
                <a:spcPts val="0"/>
              </a:spcAft>
              <a:buClr>
                <a:srgbClr val="000000"/>
              </a:buClr>
              <a:buSzPts val="1800"/>
              <a:buFont typeface="Times New Roman"/>
              <a:buChar char="○"/>
            </a:pPr>
            <a:r>
              <a:rPr lang="en-GB" sz="1800">
                <a:solidFill>
                  <a:srgbClr val="000000"/>
                </a:solidFill>
                <a:latin typeface="Times New Roman"/>
                <a:ea typeface="Times New Roman"/>
                <a:cs typeface="Times New Roman"/>
                <a:sym typeface="Times New Roman"/>
              </a:rPr>
              <a:t>Adding buffer / inverter pairs / delay cells to the data path helps to fix the hold violation.	</a:t>
            </a:r>
            <a:endParaRPr b="1" sz="1800">
              <a:solidFill>
                <a:srgbClr val="000000"/>
              </a:solidFill>
              <a:latin typeface="Times New Roman"/>
              <a:ea typeface="Times New Roman"/>
              <a:cs typeface="Times New Roman"/>
              <a:sym typeface="Times New Roman"/>
            </a:endParaRPr>
          </a:p>
          <a:p>
            <a:pPr indent="-355600" lvl="0" marL="457200" rtl="0" algn="l">
              <a:spcBef>
                <a:spcPts val="0"/>
              </a:spcBef>
              <a:spcAft>
                <a:spcPts val="0"/>
              </a:spcAft>
              <a:buClr>
                <a:srgbClr val="000000"/>
              </a:buClr>
              <a:buSzPts val="2000"/>
              <a:buFont typeface="Times New Roman"/>
              <a:buChar char="●"/>
            </a:pPr>
            <a:r>
              <a:rPr b="1" lang="en-GB" sz="2000">
                <a:solidFill>
                  <a:srgbClr val="000000"/>
                </a:solidFill>
                <a:latin typeface="Times New Roman"/>
                <a:ea typeface="Times New Roman"/>
                <a:cs typeface="Times New Roman"/>
                <a:sym typeface="Times New Roman"/>
              </a:rPr>
              <a:t>Decreasing the size of certain cells in the data path</a:t>
            </a:r>
            <a:endParaRPr b="1" sz="2000">
              <a:solidFill>
                <a:srgbClr val="000000"/>
              </a:solidFill>
              <a:latin typeface="Times New Roman"/>
              <a:ea typeface="Times New Roman"/>
              <a:cs typeface="Times New Roman"/>
              <a:sym typeface="Times New Roman"/>
            </a:endParaRPr>
          </a:p>
          <a:p>
            <a:pPr indent="-342900" lvl="1" marL="914400" rtl="0" algn="just">
              <a:spcBef>
                <a:spcPts val="0"/>
              </a:spcBef>
              <a:spcAft>
                <a:spcPts val="0"/>
              </a:spcAft>
              <a:buClr>
                <a:srgbClr val="000000"/>
              </a:buClr>
              <a:buSzPts val="1800"/>
              <a:buFont typeface="Arial"/>
              <a:buChar char="○"/>
            </a:pPr>
            <a:r>
              <a:rPr lang="en-GB" sz="1800">
                <a:solidFill>
                  <a:srgbClr val="000000"/>
                </a:solidFill>
                <a:latin typeface="Times New Roman"/>
                <a:ea typeface="Times New Roman"/>
                <a:cs typeface="Times New Roman"/>
                <a:sym typeface="Times New Roman"/>
              </a:rPr>
              <a:t>It is better to reduce the cells closer to the capture flip-flop because there is less likelihood of affecting other paths and causing new errors.</a:t>
            </a:r>
            <a:endParaRPr b="1" sz="1800">
              <a:solidFill>
                <a:srgbClr val="000000"/>
              </a:solidFill>
              <a:latin typeface="Arial"/>
              <a:ea typeface="Arial"/>
              <a:cs typeface="Arial"/>
              <a:sym typeface="Arial"/>
            </a:endParaRPr>
          </a:p>
          <a:p>
            <a:pPr indent="0" lvl="0" marL="0" rtl="0" algn="l">
              <a:spcBef>
                <a:spcPts val="600"/>
              </a:spcBef>
              <a:spcAft>
                <a:spcPts val="2600"/>
              </a:spcAft>
              <a:buNone/>
            </a:pPr>
            <a:r>
              <a:t/>
            </a:r>
            <a:endParaRPr sz="2300">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0"/>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